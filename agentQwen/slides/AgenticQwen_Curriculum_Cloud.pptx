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64c9122a2b24113" /><Relationship Type="http://schemas.openxmlformats.org/officeDocument/2006/relationships/extended-properties" Target="/docProps/app.xml" Id="Re5006dccca6a459a" /><Relationship Type="http://schemas.openxmlformats.org/officeDocument/2006/relationships/officeDocument" Target="/ppt/presentation.xml" Id="R6f7043c0a8ae488c" /></Relationships>
</file>

<file path=ppt/presentation.xml><?xml version="1.0" encoding="utf-8"?>
<p:presentation xmlns:p="http://schemas.openxmlformats.org/presentationml/2006/main">
  <p:sldMasterIdLst>
    <p:sldMasterId xmlns:r="http://schemas.openxmlformats.org/officeDocument/2006/relationships" id="2147483648" r:id="R880e99608aa04f4e"/>
  </p:sldMasterIdLst>
  <p:notesMasterIdLst>
    <p:notesMasterId xmlns:r="http://schemas.openxmlformats.org/officeDocument/2006/relationships" r:id="Rd26f16bfbc1f418b"/>
  </p:notesMasterIdLst>
  <p:sldIdLst>
    <p:sldId xmlns:r="http://schemas.openxmlformats.org/officeDocument/2006/relationships" id="256" r:id="Rb5b826654473407a"/>
    <p:sldId xmlns:r="http://schemas.openxmlformats.org/officeDocument/2006/relationships" id="257" r:id="R26a1343413de475c"/>
    <p:sldId xmlns:r="http://schemas.openxmlformats.org/officeDocument/2006/relationships" id="258" r:id="R1ede489ba94e4ef2"/>
    <p:sldId xmlns:r="http://schemas.openxmlformats.org/officeDocument/2006/relationships" id="259" r:id="R6930b5f871814cb1"/>
    <p:sldId xmlns:r="http://schemas.openxmlformats.org/officeDocument/2006/relationships" id="260" r:id="Rec25083f1abd41da"/>
    <p:sldId xmlns:r="http://schemas.openxmlformats.org/officeDocument/2006/relationships" id="261" r:id="R47ca4fb817504079"/>
    <p:sldId xmlns:r="http://schemas.openxmlformats.org/officeDocument/2006/relationships" id="262" r:id="Rc8b9aa54ca084025"/>
    <p:sldId xmlns:r="http://schemas.openxmlformats.org/officeDocument/2006/relationships" id="263" r:id="Ref3165b762ce4a7c"/>
    <p:sldId xmlns:r="http://schemas.openxmlformats.org/officeDocument/2006/relationships" id="264" r:id="R344be8668f574bb4"/>
    <p:sldId xmlns:r="http://schemas.openxmlformats.org/officeDocument/2006/relationships" id="265" r:id="R2b27153c0e2b4ffa"/>
    <p:sldId xmlns:r="http://schemas.openxmlformats.org/officeDocument/2006/relationships" id="266" r:id="R2afc83f7cec34c05"/>
    <p:sldId xmlns:r="http://schemas.openxmlformats.org/officeDocument/2006/relationships" id="267" r:id="Rfbc105726e8c426d"/>
    <p:sldId xmlns:r="http://schemas.openxmlformats.org/officeDocument/2006/relationships" id="268" r:id="R33b973cf6b404f42"/>
    <p:sldId xmlns:r="http://schemas.openxmlformats.org/officeDocument/2006/relationships" id="269" r:id="Rea829d39129a4689"/>
    <p:sldId xmlns:r="http://schemas.openxmlformats.org/officeDocument/2006/relationships" id="270" r:id="R7971f623aa5844d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cad2f83170b4c5a" /><Relationship Type="http://schemas.openxmlformats.org/officeDocument/2006/relationships/slideMaster" Target="/ppt/slideMasters/slideMaster1.xml" Id="R880e99608aa04f4e" /><Relationship Type="http://schemas.openxmlformats.org/officeDocument/2006/relationships/notesMaster" Target="/ppt/notesMasters/notesMaster1.xml" Id="Rd26f16bfbc1f418b" /><Relationship Type="http://schemas.openxmlformats.org/officeDocument/2006/relationships/presProps" Target="/ppt/presProps.xml" Id="R7275c09ca25f40d4" /><Relationship Type="http://schemas.openxmlformats.org/officeDocument/2006/relationships/tableStyles" Target="/ppt/tableStyles.xml" Id="Rd07b793e8bf74919" /><Relationship Type="http://schemas.openxmlformats.org/officeDocument/2006/relationships/slide" Target="/ppt/slides/slide1.xml" Id="Rb5b826654473407a" /><Relationship Type="http://schemas.openxmlformats.org/officeDocument/2006/relationships/slide" Target="/ppt/slides/slide2.xml" Id="R26a1343413de475c" /><Relationship Type="http://schemas.openxmlformats.org/officeDocument/2006/relationships/slide" Target="/ppt/slides/slide3.xml" Id="R1ede489ba94e4ef2" /><Relationship Type="http://schemas.openxmlformats.org/officeDocument/2006/relationships/slide" Target="/ppt/slides/slide4.xml" Id="R6930b5f871814cb1" /><Relationship Type="http://schemas.openxmlformats.org/officeDocument/2006/relationships/slide" Target="/ppt/slides/slide5.xml" Id="Rec25083f1abd41da" /><Relationship Type="http://schemas.openxmlformats.org/officeDocument/2006/relationships/slide" Target="/ppt/slides/slide6.xml" Id="R47ca4fb817504079" /><Relationship Type="http://schemas.openxmlformats.org/officeDocument/2006/relationships/slide" Target="/ppt/slides/slide7.xml" Id="Rc8b9aa54ca084025" /><Relationship Type="http://schemas.openxmlformats.org/officeDocument/2006/relationships/slide" Target="/ppt/slides/slide8.xml" Id="Ref3165b762ce4a7c" /><Relationship Type="http://schemas.openxmlformats.org/officeDocument/2006/relationships/slide" Target="/ppt/slides/slide9.xml" Id="R344be8668f574bb4" /><Relationship Type="http://schemas.openxmlformats.org/officeDocument/2006/relationships/slide" Target="/ppt/slides/slide10.xml" Id="R2b27153c0e2b4ffa" /><Relationship Type="http://schemas.openxmlformats.org/officeDocument/2006/relationships/slide" Target="/ppt/slides/slide11.xml" Id="R2afc83f7cec34c05" /><Relationship Type="http://schemas.openxmlformats.org/officeDocument/2006/relationships/slide" Target="/ppt/slides/slide12.xml" Id="Rfbc105726e8c426d" /><Relationship Type="http://schemas.openxmlformats.org/officeDocument/2006/relationships/slide" Target="/ppt/slides/slide13.xml" Id="R33b973cf6b404f42" /><Relationship Type="http://schemas.openxmlformats.org/officeDocument/2006/relationships/slide" Target="/ppt/slides/slide14.xml" Id="Rea829d39129a4689" /><Relationship Type="http://schemas.openxmlformats.org/officeDocument/2006/relationships/slide" Target="/ppt/slides/slide15.xml" Id="R7971f623aa5844d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024797d8f0249f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3d0af50e256456a" /><Relationship Type="http://schemas.openxmlformats.org/officeDocument/2006/relationships/notesMaster" Target="/ppt/notesMasters/notesMaster1.xml" Id="R43a8e3ae66de4ae5" /></Relationships>
</file>

<file path=ppt/notesSlides/_rels/notesSlide2.xml.rels>&#65279;<?xml version="1.0" encoding="utf-8"?><Relationships xmlns="http://schemas.openxmlformats.org/package/2006/relationships"><Relationship Type="http://schemas.openxmlformats.org/officeDocument/2006/relationships/slide" Target="/ppt/slides/slide2.xml" Id="Rff520e056bf84ddc" /><Relationship Type="http://schemas.openxmlformats.org/officeDocument/2006/relationships/notesMaster" Target="/ppt/notesMasters/notesMaster1.xml" Id="Rba1c0036531d48f7" /></Relationships>
</file>

<file path=ppt/notesSlides/_rels/notesSlide3.xml.rels>&#65279;<?xml version="1.0" encoding="utf-8"?><Relationships xmlns="http://schemas.openxmlformats.org/package/2006/relationships"><Relationship Type="http://schemas.openxmlformats.org/officeDocument/2006/relationships/slide" Target="/ppt/slides/slide3.xml" Id="R4286ecbb3bb44319" /><Relationship Type="http://schemas.openxmlformats.org/officeDocument/2006/relationships/notesMaster" Target="/ppt/notesMasters/notesMaster1.xml" Id="Rfe720e0c764647b4" /></Relationships>
</file>

<file path=ppt/notesSlides/_rels/notesSlide4.xml.rels>&#65279;<?xml version="1.0" encoding="utf-8"?><Relationships xmlns="http://schemas.openxmlformats.org/package/2006/relationships"><Relationship Type="http://schemas.openxmlformats.org/officeDocument/2006/relationships/slide" Target="/ppt/slides/slide4.xml" Id="R4ceae2ff21e14cb0" /><Relationship Type="http://schemas.openxmlformats.org/officeDocument/2006/relationships/notesMaster" Target="/ppt/notesMasters/notesMaster1.xml" Id="R88623eb4cd104d7d" /></Relationships>
</file>

<file path=ppt/notesSlides/_rels/notesSlide5.xml.rels>&#65279;<?xml version="1.0" encoding="utf-8"?><Relationships xmlns="http://schemas.openxmlformats.org/package/2006/relationships"><Relationship Type="http://schemas.openxmlformats.org/officeDocument/2006/relationships/slide" Target="/ppt/slides/slide5.xml" Id="R0a7058c820b14bc1" /><Relationship Type="http://schemas.openxmlformats.org/officeDocument/2006/relationships/notesMaster" Target="/ppt/notesMasters/notesMaster1.xml" Id="R9e4667cee4b14547" /></Relationships>
</file>

<file path=ppt/notesSlides/_rels/notesSlide6.xml.rels>&#65279;<?xml version="1.0" encoding="utf-8"?><Relationships xmlns="http://schemas.openxmlformats.org/package/2006/relationships"><Relationship Type="http://schemas.openxmlformats.org/officeDocument/2006/relationships/slide" Target="/ppt/slides/slide6.xml" Id="R8cab2154acf744a3" /><Relationship Type="http://schemas.openxmlformats.org/officeDocument/2006/relationships/notesMaster" Target="/ppt/notesMasters/notesMaster1.xml" Id="Ra65330a733d04cc2" /></Relationships>
</file>

<file path=ppt/notesSlides/_rels/notesSlide7.xml.rels>&#65279;<?xml version="1.0" encoding="utf-8"?><Relationships xmlns="http://schemas.openxmlformats.org/package/2006/relationships"><Relationship Type="http://schemas.openxmlformats.org/officeDocument/2006/relationships/slide" Target="/ppt/slides/slide7.xml" Id="Rf4938422f4eb4c40" /><Relationship Type="http://schemas.openxmlformats.org/officeDocument/2006/relationships/notesMaster" Target="/ppt/notesMasters/notesMaster1.xml" Id="R8a3e4cfb13b34130" /></Relationships>
</file>

<file path=ppt/notesSlides/_rels/notesSlide8.xml.rels>&#65279;<?xml version="1.0" encoding="utf-8"?><Relationships xmlns="http://schemas.openxmlformats.org/package/2006/relationships"><Relationship Type="http://schemas.openxmlformats.org/officeDocument/2006/relationships/slide" Target="/ppt/slides/slide8.xml" Id="R5c85d90248b649fd" /><Relationship Type="http://schemas.openxmlformats.org/officeDocument/2006/relationships/notesMaster" Target="/ppt/notesMasters/notesMaster1.xml" Id="Re81e7481d3ce419d" /></Relationships>
</file>

<file path=ppt/notesSlides/_rels/notesSlide9.xml.rels>&#65279;<?xml version="1.0" encoding="utf-8"?><Relationships xmlns="http://schemas.openxmlformats.org/package/2006/relationships"><Relationship Type="http://schemas.openxmlformats.org/officeDocument/2006/relationships/slide" Target="/ppt/slides/slide9.xml" Id="R740ee9614d7d4aa4" /><Relationship Type="http://schemas.openxmlformats.org/officeDocument/2006/relationships/notesMaster" Target="/ppt/notesMasters/notesMaster1.xml" Id="R831ceca9f6b64d3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bb07fbdac6b40a7" /><Relationship Type="http://schemas.openxmlformats.org/officeDocument/2006/relationships/notesMaster" Target="/ppt/notesMasters/notesMaster1.xml" Id="R604e24384a47410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f8728d0be324252" /><Relationship Type="http://schemas.openxmlformats.org/officeDocument/2006/relationships/notesMaster" Target="/ppt/notesMasters/notesMaster1.xml" Id="R42cf4d33c8d64a7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bd2070b00cd4c4b" /><Relationship Type="http://schemas.openxmlformats.org/officeDocument/2006/relationships/notesMaster" Target="/ppt/notesMasters/notesMaster1.xml" Id="R8f820fa6dd664e1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481f198dd844cfa" /><Relationship Type="http://schemas.openxmlformats.org/officeDocument/2006/relationships/notesMaster" Target="/ppt/notesMasters/notesMaster1.xml" Id="R2e8e2139474c456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c5116c1ce8b405f" /><Relationship Type="http://schemas.openxmlformats.org/officeDocument/2006/relationships/notesMaster" Target="/ppt/notesMasters/notesMaster1.xml" Id="R1ee4acf65c4549c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e7e85d7104b4398" /><Relationship Type="http://schemas.openxmlformats.org/officeDocument/2006/relationships/notesMaster" Target="/ppt/notesMasters/notesMaster1.xml" Id="R0c09b4adb9a94c1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开场先讲清证据边界：这是一次真实小规模云端训练闭环，不是论文八卡/100K 数据指标复刻。</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/Users/hongbo/Documents/Codex/2026-08-02/https-yyhdbl-github-io/outputs/agenticqwen-reproduction/artifacts/cloud_runs/qwen3-8b-qlora-20260804-v2/evidence/run_summary.json</a:t>
            </a:r>
          </a:p>
          <a:p xmlns:a="http://schemas.openxmlformats.org/drawingml/2006/main">
            <a:r>
              <a:t>- /Users/hongbo/Documents/Codex/2026-08-02/https-yyhdbl-github-io/outputs/agenticqwen-reproduction/artifacts/cloud_runs/qwen3-8b-qlora-20260804-v2/evidence/verification.json</a:t>
            </a:r>
          </a:p>
          <a:p xmlns:a="http://schemas.openxmlformats.org/drawingml/2006/main">
            <a:r>
              <a:t>- https://arxiv.org/abs/2604.21590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这是给入门同学的总地图。后面的每一页都落到这四层中的一个证据问题。</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/Users/hongbo/Documents/Codex/2026-08-02/https-yyhdbl-github-io/outputs/agenticqwen-reproduction/docs/curriculum_protocol.md</a:t>
            </a:r>
          </a:p>
          <a:p xmlns:a="http://schemas.openxmlformats.org/drawingml/2006/main">
            <a:r>
              <a:t>- /Users/hongbo/Documents/Codex/2026-08-02/https-yyhdbl-github-io/outputs/agenticqwen-reproduction/artifacts/cloud_runs/qwen3-8b-qlora-20260804-v2/evidence/resolved_config.json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先比较论文与本项目尺度，避免把工程闭环 PASS 误解成论文分数复现。</a:t>
            </a:r>
          </a:p>
          <a:p xmlns:a="http://schemas.openxmlformats.org/drawingml/2006/main">
            <a:r>
              <a:t/>
            </a:r>
          </a:p>
          <a:p xmlns:a="http://schemas.openxmlformats.org/drawingml/2006/main">
            <a:r>
              <a:t>[Sources]</a:t>
            </a:r>
          </a:p>
          <a:p xmlns:a="http://schemas.openxmlformats.org/drawingml/2006/main">
            <a:r>
              <a:t>- https://arxiv.org/abs/2604.21590</a:t>
            </a:r>
          </a:p>
          <a:p xmlns:a="http://schemas.openxmlformats.org/drawingml/2006/main">
            <a:r>
              <a:t>- /Users/hongbo/Documents/Codex/2026-08-02/https-yyhdbl-github-io/outputs/agenticqwen-reproduction/artifacts/cloud_runs/qwen3-8b-qlora-20260804-v2/evidence/resolved_config.json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强调模型只生成动作，环境负责执行，reward 从最终状态读取。</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/Users/hongbo/Documents/Codex/2026-08-02/https-yyhdbl-github-io/outputs/agenticqwen-reproduction/src/agentic_repro/curriculum_env.py</a:t>
            </a:r>
          </a:p>
          <a:p xmlns:a="http://schemas.openxmlformats.org/drawingml/2006/main">
            <a:r>
              <a:t>- /Users/hongbo/Documents/Codex/2026-08-02/https-yyhdbl-github-io/outputs/agenticqwen-reproduction/src/agentic_repro/curriculum_train.py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这页适合面试时讲 environment design：不可逆动作由代码硬门控制，模型无法通过语言绕过。</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/Users/hongbo/Documents/Codex/2026-08-02/https-yyhdbl-github-io/outputs/agenticqwen-reproduction/src/agentic_repro/curriculum_env.py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response-token 是本次相对早期单 token demo 的关键升级：整个 assistant completion 参与策略优化。</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/Users/hongbo/Documents/Codex/2026-08-02/https-yyhdbl-github-io/outputs/agenticqwen-reproduction/artifacts/cloud_runs/qwen3-8b-qlora-20260804-v2/evidence/resolved_config.json</a:t>
            </a:r>
          </a:p>
          <a:p xmlns:a="http://schemas.openxmlformats.org/drawingml/2006/main">
            <a:r>
              <a:t>- https://huggingface.co/docs/trl/en/grpo_trainer</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第二章切入用户最关心的 curriculum：训练—失败—合成更难数据—再训练。</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/Users/hongbo/Documents/Codex/2026-08-02/https-yyhdbl-github-io/outputs/agenticqwen-reproduction/artifacts/cloud_runs/qwen3-8b-qlora-20260804-v2/evidence/stage2/synthesis_manifest.json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Stage 1 后在冻结 probe 上生成轨迹并分类 terminal state；该 trace 的 hash 是合成输入证据。</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/Users/hongbo/Documents/Codex/2026-08-02/https-yyhdbl-github-io/outputs/agenticqwen-reproduction/artifacts/cloud_runs/qwen3-8b-qlora-20260804-v2/evidence/stage1/summary.json</a:t>
            </a:r>
          </a:p>
          <a:p xmlns:a="http://schemas.openxmlformats.org/drawingml/2006/main">
            <a:r>
              <a:t>- /Users/hongbo/Documents/Codex/2026-08-02/https-yyhdbl-github-io/outputs/agenticqwen-reproduction/artifacts/cloud_runs/qwen3-8b-qlora-20260804-v2/evidence/stage1/eval_probe_traces.jsonl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此页是 curriculum 的核心：failure category 到 task perturbation 的确定性映射，并保留 trace/data hash。</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/Users/hongbo/Documents/Codex/2026-08-02/https-yyhdbl-github-io/outputs/agenticqwen-reproduction/artifacts/cloud_runs/qwen3-8b-qlora-20260804-v2/evidence/stage2/synthesis_manifest.json</a:t>
            </a:r>
          </a:p>
          <a:p xmlns:a="http://schemas.openxmlformats.org/drawingml/2006/main">
            <a:r>
              <a:t>- /Users/hongbo/Documents/Codex/2026-08-02/https-yyhdbl-github-io/outputs/agenticqwen-reproduction/artifacts/cloud_runs/qwen3-8b-qlora-20260804-v2/evidence/tasks/stage2_hard.jsonl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结果页必须如实展示正负 delta；不要用完整性 PASS 替代性能提升。</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/Users/hongbo/Documents/Codex/2026-08-02/https-yyhdbl-github-io/outputs/agenticqwen-reproduction/artifacts/cloud_runs/qwen3-8b-qlora-20260804-v2/evidence/stage2/summary.json</a:t>
            </a:r>
          </a:p>
          <a:p xmlns:a="http://schemas.openxmlformats.org/drawingml/2006/main">
            <a:r>
              <a:t>- /Users/hongbo/Documents/Codex/2026-08-02/https-yyhdbl-github-io/outputs/agenticqwen-reproduction/artifacts/cloud_runs/qwen3-8b-qlora-20260804-v2/evidence/fresh_replay/summary.json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轨迹页用 environment event ledger，而不是模型自述，证明每次读写、observation 和最终状态。</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/Users/hongbo/Documents/Codex/2026-08-02/https-yyhdbl-github-io/outputs/agenticqwen-reproduction/artifacts/cloud_runs/qwen3-8b-qlora-20260804-v2/evidence/stage2/eval_final_traces.jsonl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这页主动声明 BFCL 未运行；代码就绪不等于实验完成。</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/Users/hongbo/Documents/Codex/2026-08-02/https-yyhdbl-github-io/outputs/agenticqwen-reproduction/docs/benchmark_protocol.md</a:t>
            </a:r>
          </a:p>
          <a:p xmlns:a="http://schemas.openxmlformats.org/drawingml/2006/main">
            <a:r>
              <a:t>- https://github.com/ShishirPatil/gorilla/tree/main/berkeley-function-call-leaderboard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审计门覆盖 adapter、权重变化、Stage-2 继承、数据隔离、轨迹、计划步数和真正的子进程重载。</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/Users/hongbo/Documents/Codex/2026-08-02/https-yyhdbl-github-io/outputs/agenticqwen-reproduction/artifacts/cloud_runs/qwen3-8b-qlora-20260804-v2/evidence/verification.json</a:t>
            </a:r>
          </a:p>
          <a:p xmlns:a="http://schemas.openxmlformats.org/drawingml/2006/main">
            <a:r>
              <a:t>- /Users/hongbo/Documents/Codex/2026-08-02/https-yyhdbl-github-io/outputs/agenticqwen-reproduction/artifacts/cloud_runs/qwen3-8b-qlora-20260804-v2/evidence/stage1/summary.json</a:t>
            </a:r>
          </a:p>
          <a:p xmlns:a="http://schemas.openxmlformats.org/drawingml/2006/main">
            <a:r>
              <a:t>- /Users/hongbo/Documents/Codex/2026-08-02/https-yyhdbl-github-io/outputs/agenticqwen-reproduction/artifacts/cloud_runs/qwen3-8b-qlora-20260804-v2/evidence/stage2/summary.json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面试时最可信的讲法：先讲闭环与证据，再主动说 paper-scale 没做，最后给出扩展实验。</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/Users/hongbo/Documents/Codex/2026-08-02/https-yyhdbl-github-io/outputs/agenticqwen-reproduction/artifacts/cloud_runs/qwen3-8b-qlora-20260804-v2/evidence/run_summary.json</a:t>
            </a:r>
          </a:p>
          <a:p xmlns:a="http://schemas.openxmlformats.org/drawingml/2006/main">
            <a:r>
              <a:t>- /Users/hongbo/Documents/Codex/2026-08-02/https-yyhdbl-github-io/outputs/agenticqwen-reproduction/README.md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结尾把项目浓缩成一句可用于简历和面试、但不越过证据边界的话。</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/Users/hongbo/Documents/Codex/2026-08-02/https-yyhdbl-github-io/outputs/agenticqwen-reproduction/artifacts/cloud_runs/qwen3-8b-qlora-20260804-v2/evidence/verification.json</a:t>
            </a:r>
          </a:p>
          <a:p xmlns:a="http://schemas.openxmlformats.org/drawingml/2006/main">
            <a:r>
              <a:t>- /Users/hongbo/Documents/Codex/2026-08-02/https-yyhdbl-github-io/outputs/agenticqwen-reproduction/docs/benchmark_protocol.md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f8516930f70472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f97b846692c4720" /><Relationship Type="http://schemas.openxmlformats.org/officeDocument/2006/relationships/slideLayout" Target="/ppt/slideLayouts/slideLayout1.xml" Id="R769bcf70e3d94bd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69bcf70e3d94bd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7fa7eada0a04ee9" /><Relationship Type="http://schemas.openxmlformats.org/officeDocument/2006/relationships/notesSlide" Target="/ppt/notesSlides/notesSlide1.xml" Id="R940585a7573f405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cf5c05ca7844c53" /><Relationship Type="http://schemas.openxmlformats.org/officeDocument/2006/relationships/notesSlide" Target="/ppt/notesSlides/notesSlide2.xml" Id="R7848ad230ee84be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355f333e4e9476f" /><Relationship Type="http://schemas.openxmlformats.org/officeDocument/2006/relationships/image" Target="/ppt/media/image.png" Id="Radd9a3baef614888" /><Relationship Type="http://schemas.openxmlformats.org/officeDocument/2006/relationships/notesSlide" Target="/ppt/notesSlides/notesSlide3.xml" Id="R8617359d889f408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46f5bdc118b4b0b" /><Relationship Type="http://schemas.openxmlformats.org/officeDocument/2006/relationships/notesSlide" Target="/ppt/notesSlides/notesSlide4.xml" Id="Ra2528f678e42439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7b89b62c21347c7" /><Relationship Type="http://schemas.openxmlformats.org/officeDocument/2006/relationships/notesSlide" Target="/ppt/notesSlides/notesSlide5.xml" Id="Re1832ccab994484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b4099a9ec5e4c10" /><Relationship Type="http://schemas.openxmlformats.org/officeDocument/2006/relationships/notesSlide" Target="/ppt/notesSlides/notesSlide6.xml" Id="R24aab748dfac422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ebd855eca224924" /><Relationship Type="http://schemas.openxmlformats.org/officeDocument/2006/relationships/notesSlide" Target="/ppt/notesSlides/notesSlide7.xml" Id="Ra09cfbf45b1346c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de8bdcb708840e7" /><Relationship Type="http://schemas.openxmlformats.org/officeDocument/2006/relationships/notesSlide" Target="/ppt/notesSlides/notesSlide8.xml" Id="Re7847c78f62a41d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111ed4179344cee" /><Relationship Type="http://schemas.openxmlformats.org/officeDocument/2006/relationships/notesSlide" Target="/ppt/notesSlides/notesSlide9.xml" Id="Rb03ce427a7ba4be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a45178970dd4ca2" /><Relationship Type="http://schemas.openxmlformats.org/officeDocument/2006/relationships/notesSlide" Target="/ppt/notesSlides/notesSlide10.xml" Id="R5ff61b81c63e416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196a7606169456a" /><Relationship Type="http://schemas.openxmlformats.org/officeDocument/2006/relationships/notesSlide" Target="/ppt/notesSlides/notesSlide11.xml" Id="R1e84b3f3829e4a1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bc6086d1738449c" /><Relationship Type="http://schemas.openxmlformats.org/officeDocument/2006/relationships/notesSlide" Target="/ppt/notesSlides/notesSlide12.xml" Id="Reaf5d7636a374f1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c83c01078f24d29" /><Relationship Type="http://schemas.openxmlformats.org/officeDocument/2006/relationships/notesSlide" Target="/ppt/notesSlides/notesSlide13.xml" Id="Rafb92de61ef549f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1a02f0ad25f4acf" /><Relationship Type="http://schemas.openxmlformats.org/officeDocument/2006/relationships/notesSlide" Target="/ppt/notesSlides/notesSlide14.xml" Id="R8ab1ba7cad1c4fd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f690883a92744a9" /><Relationship Type="http://schemas.openxmlformats.org/officeDocument/2006/relationships/notesSlide" Target="/ppt/notesSlides/notesSlide15.xml" Id="R4a826c444b564801" /></Relationships>
</file>

<file path=ppt/slides/slide1.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14" name="cover-copper">
            <a:extLst xmlns:a="http://schemas.openxmlformats.org/drawingml/2006/main">
              <a:ext uri="{FF2B5EF4-FFF2-40B4-BE49-F238E27FC236}">
                <a16:creationId xmlns:a16="http://schemas.microsoft.com/office/drawing/2014/main" id="{FD35BC74-7746-4487-8A3E-F04C07C1B12C}"/>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C56D4A"/>
          </a:solidFill>
          <a:ln xmlns:a="http://schemas.openxmlformats.org/drawingml/2006/main" w="0">
            <a:solidFill>
              <a:srgbClr val="C56D4A"/>
            </a:solidFill>
            <a:prstDash val="solid"/>
          </a:ln>
        </p:spPr>
      </p:sp>
      <p:sp>
        <p:nvSpPr>
          <p:cNvPr id="2" name="cover-teal">
            <a:extLst xmlns:a="http://schemas.openxmlformats.org/drawingml/2006/main">
              <a:ext uri="{FF2B5EF4-FFF2-40B4-BE49-F238E27FC236}">
                <a16:creationId xmlns:a16="http://schemas.microsoft.com/office/drawing/2014/main" id="{83194C1F-7493-4DC6-998B-B3557F9A3A2E}"/>
              </a:ext>
            </a:extLst>
          </p:cNvPr>
          <p:cNvSpPr>
            <a:spLocks xmlns:a="http://schemas.openxmlformats.org/drawingml/2006/main" noGrp="1"/>
          </p:cNvSpPr>
          <p:nvPr/>
        </p:nvSpPr>
        <p:spPr>
          <a:xfrm xmlns:a="http://schemas.openxmlformats.org/drawingml/2006/main">
            <a:off x="9620250" y="0"/>
            <a:ext cx="2571750" cy="6858000"/>
          </a:xfrm>
          <a:prstGeom xmlns:a="http://schemas.openxmlformats.org/drawingml/2006/main" prst="rect">
            <a:avLst/>
          </a:prstGeom>
          <a:solidFill xmlns:a="http://schemas.openxmlformats.org/drawingml/2006/main">
            <a:srgbClr val="0E2B3D"/>
          </a:solidFill>
          <a:ln xmlns:a="http://schemas.openxmlformats.org/drawingml/2006/main" w="0">
            <a:solidFill>
              <a:srgbClr val="0E2B3D"/>
            </a:solidFill>
            <a:prstDash val="solid"/>
          </a:ln>
        </p:spPr>
      </p:sp>
      <p:sp>
        <p:nvSpPr>
          <p:cNvPr id="3" name="cover-flourish">
            <a:extLst xmlns:a="http://schemas.openxmlformats.org/drawingml/2006/main">
              <a:ext uri="{FF2B5EF4-FFF2-40B4-BE49-F238E27FC236}">
                <a16:creationId xmlns:a16="http://schemas.microsoft.com/office/drawing/2014/main" id="{489F3E91-BA60-4766-A347-5B2D0D9F3554}"/>
              </a:ext>
            </a:extLst>
          </p:cNvPr>
          <p:cNvSpPr>
            <a:spLocks xmlns:a="http://schemas.openxmlformats.org/drawingml/2006/main" noGrp="1"/>
          </p:cNvSpPr>
          <p:nvPr/>
        </p:nvSpPr>
        <p:spPr>
          <a:xfrm xmlns:a="http://schemas.openxmlformats.org/drawingml/2006/main">
            <a:off x="800100" y="590550"/>
            <a:ext cx="619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325" b="1">
                <a:solidFill>
                  <a:srgbClr val="D6A84B"/>
                </a:solidFill>
              </a:defRPr>
            </a:pPr>
            <a:r>
              <a:rPr sz="2325" b="1">
                <a:solidFill>
                  <a:srgbClr val="D6A84B"/>
                </a:solidFill>
              </a:rPr>
              <a:t>长程多轮智能体强化学习</a:t>
            </a:r>
          </a:p>
        </p:txBody>
      </p:sp>
      <p:sp>
        <p:nvSpPr>
          <p:cNvPr id="4" name="">
            <a:extLst xmlns:a="http://schemas.openxmlformats.org/drawingml/2006/main">
              <a:ext uri="{FF2B5EF4-FFF2-40B4-BE49-F238E27FC236}">
                <a16:creationId xmlns:a16="http://schemas.microsoft.com/office/drawing/2014/main" id="{EAECF42B-C44F-4277-9976-6BDD098BB282}"/>
              </a:ext>
            </a:extLst>
          </p:cNvPr>
          <p:cNvSpPr>
            <a:spLocks xmlns:a="http://schemas.openxmlformats.org/drawingml/2006/main" noGrp="1"/>
          </p:cNvSpPr>
          <p:nvPr/>
        </p:nvSpPr>
        <p:spPr>
          <a:xfrm xmlns:a="http://schemas.openxmlformats.org/drawingml/2006/main">
            <a:off x="819150" y="1466850"/>
            <a:ext cx="1762125" cy="0"/>
          </a:xfrm>
          <a:prstGeom xmlns:a="http://schemas.openxmlformats.org/drawingml/2006/main" prst="line">
            <a:avLst/>
          </a:prstGeom>
          <a:noFill xmlns:a="http://schemas.openxmlformats.org/drawingml/2006/main"/>
          <a:ln xmlns:a="http://schemas.openxmlformats.org/drawingml/2006/main" w="47625">
            <a:solidFill>
              <a:srgbClr val="C56D4A"/>
            </a:solidFill>
            <a:prstDash val="solid"/>
          </a:ln>
        </p:spPr>
      </p:sp>
      <p:sp>
        <p:nvSpPr>
          <p:cNvPr id="5" name="cover-title">
            <a:extLst xmlns:a="http://schemas.openxmlformats.org/drawingml/2006/main">
              <a:ext uri="{FF2B5EF4-FFF2-40B4-BE49-F238E27FC236}">
                <a16:creationId xmlns:a16="http://schemas.microsoft.com/office/drawing/2014/main" id="{38C4524A-B234-40EE-97BD-8349B74197E2}"/>
              </a:ext>
            </a:extLst>
          </p:cNvPr>
          <p:cNvSpPr>
            <a:spLocks xmlns:a="http://schemas.openxmlformats.org/drawingml/2006/main" noGrp="1"/>
          </p:cNvSpPr>
          <p:nvPr/>
        </p:nvSpPr>
        <p:spPr>
          <a:xfrm xmlns:a="http://schemas.openxmlformats.org/drawingml/2006/main">
            <a:off x="762000" y="1857375"/>
            <a:ext cx="7620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nSpc>
                <a:spcPct val="92000"/>
              </a:lnSpc>
              <a:buNone/>
              <a:defRPr sz="5250" b="1">
                <a:solidFill>
                  <a:srgbClr val="F7F1E8"/>
                </a:solidFill>
              </a:defRPr>
            </a:pPr>
            <a:r>
              <a:rPr sz="5250" b="1">
                <a:solidFill>
                  <a:srgbClr val="F7F1E8"/>
                </a:solidFill>
              </a:rPr>
              <a:t>AgenticQwen</a:t>
            </a:r>
          </a:p>
          <a:p xmlns:a="http://schemas.openxmlformats.org/drawingml/2006/main">
            <a:pPr>
              <a:lnSpc>
                <a:spcPct val="92000"/>
              </a:lnSpc>
              <a:buNone/>
              <a:defRPr sz="5250" b="1">
                <a:solidFill>
                  <a:srgbClr val="F7F1E8"/>
                </a:solidFill>
              </a:defRPr>
            </a:pPr>
            <a:r>
              <a:rPr sz="5250" b="1">
                <a:solidFill>
                  <a:srgbClr val="F7F1E8"/>
                </a:solidFill>
              </a:rPr>
              <a:t>Curriculum Lab</a:t>
            </a:r>
          </a:p>
        </p:txBody>
      </p:sp>
      <p:sp>
        <p:nvSpPr>
          <p:cNvPr id="6" name="cover-sub">
            <a:extLst xmlns:a="http://schemas.openxmlformats.org/drawingml/2006/main">
              <a:ext uri="{FF2B5EF4-FFF2-40B4-BE49-F238E27FC236}">
                <a16:creationId xmlns:a16="http://schemas.microsoft.com/office/drawing/2014/main" id="{F7D2DB93-1CEE-454A-9470-3B3E91DB6280}"/>
              </a:ext>
            </a:extLst>
          </p:cNvPr>
          <p:cNvSpPr>
            <a:spLocks xmlns:a="http://schemas.openxmlformats.org/drawingml/2006/main" noGrp="1"/>
          </p:cNvSpPr>
          <p:nvPr/>
        </p:nvSpPr>
        <p:spPr>
          <a:xfrm xmlns:a="http://schemas.openxmlformats.org/drawingml/2006/main">
            <a:off x="819150" y="3733800"/>
            <a:ext cx="752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025" b="1">
                <a:solidFill>
                  <a:srgbClr val="FFFFFF"/>
                </a:solidFill>
              </a:defRPr>
            </a:pPr>
            <a:r>
              <a:rPr sz="2025" b="1">
                <a:solidFill>
                  <a:srgbClr val="FFFFFF"/>
                </a:solidFill>
              </a:rPr>
              <a:t>训练 → 失败诊断 → 困难数据合成 → 再训练</a:t>
            </a:r>
          </a:p>
        </p:txBody>
      </p:sp>
      <p:sp>
        <p:nvSpPr>
          <p:cNvPr id="7" name="cover-meta">
            <a:extLst xmlns:a="http://schemas.openxmlformats.org/drawingml/2006/main">
              <a:ext uri="{FF2B5EF4-FFF2-40B4-BE49-F238E27FC236}">
                <a16:creationId xmlns:a16="http://schemas.microsoft.com/office/drawing/2014/main" id="{F5634DEC-90F3-4251-8744-50FBC65AC7D0}"/>
              </a:ext>
            </a:extLst>
          </p:cNvPr>
          <p:cNvSpPr>
            <a:spLocks xmlns:a="http://schemas.openxmlformats.org/drawingml/2006/main" noGrp="1"/>
          </p:cNvSpPr>
          <p:nvPr/>
        </p:nvSpPr>
        <p:spPr>
          <a:xfrm xmlns:a="http://schemas.openxmlformats.org/drawingml/2006/main">
            <a:off x="838200" y="4533900"/>
            <a:ext cx="7524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ADC3CC"/>
                </a:solidFill>
              </a:defRPr>
            </a:pPr>
            <a:r>
              <a:rPr sz="1200">
                <a:solidFill>
                  <a:srgbClr val="ADC3CC"/>
                </a:solidFill>
              </a:rPr>
              <a:t>Qwen3-8B · response-token QLoRA-GRPO · NVIDIA RTX PRO 6000 Blackwell Server Edition</a:t>
            </a:r>
          </a:p>
          <a:p xmlns:a="http://schemas.openxmlformats.org/drawingml/2006/main">
            <a:pPr>
              <a:defRPr sz="1200">
                <a:solidFill>
                  <a:srgbClr val="ADC3CC"/>
                </a:solidFill>
              </a:defRPr>
            </a:pPr>
            <a:r>
              <a:rPr sz="1200">
                <a:solidFill>
                  <a:srgbClr val="ADC3CC"/>
                </a:solidFill>
              </a:rPr>
              <a:t>/root/autodl-tmp/runs/agenticqwen-qwen3-8b-qlora-v2/qwen3-8b-qlora-20260804-v2</a:t>
            </a:r>
          </a:p>
        </p:txBody>
      </p:sp>
      <p:sp>
        <p:nvSpPr>
          <p:cNvPr id="8" name="cover-02">
            <a:extLst xmlns:a="http://schemas.openxmlformats.org/drawingml/2006/main">
              <a:ext uri="{FF2B5EF4-FFF2-40B4-BE49-F238E27FC236}">
                <a16:creationId xmlns:a16="http://schemas.microsoft.com/office/drawing/2014/main" id="{8579F04E-2C40-4A6B-81DC-87043EA82EAA}"/>
              </a:ext>
            </a:extLst>
          </p:cNvPr>
          <p:cNvSpPr>
            <a:spLocks xmlns:a="http://schemas.openxmlformats.org/drawingml/2006/main" noGrp="1"/>
          </p:cNvSpPr>
          <p:nvPr/>
        </p:nvSpPr>
        <p:spPr>
          <a:xfrm xmlns:a="http://schemas.openxmlformats.org/drawingml/2006/main">
            <a:off x="9906000" y="857250"/>
            <a:ext cx="16192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0" b="1">
                <a:solidFill>
                  <a:srgbClr val="18A6A6"/>
                </a:solidFill>
              </a:defRPr>
            </a:pPr>
            <a:r>
              <a:rPr sz="9000" b="1">
                <a:solidFill>
                  <a:srgbClr val="18A6A6"/>
                </a:solidFill>
              </a:rPr>
              <a:t>02</a:t>
            </a:r>
          </a:p>
        </p:txBody>
      </p:sp>
      <p:sp>
        <p:nvSpPr>
          <p:cNvPr id="9" name="cover-side">
            <a:extLst xmlns:a="http://schemas.openxmlformats.org/drawingml/2006/main">
              <a:ext uri="{FF2B5EF4-FFF2-40B4-BE49-F238E27FC236}">
                <a16:creationId xmlns:a16="http://schemas.microsoft.com/office/drawing/2014/main" id="{AC742A20-9477-421A-B8D6-702E6AC90996}"/>
              </a:ext>
            </a:extLst>
          </p:cNvPr>
          <p:cNvSpPr>
            <a:spLocks xmlns:a="http://schemas.openxmlformats.org/drawingml/2006/main" noGrp="1"/>
          </p:cNvSpPr>
          <p:nvPr/>
        </p:nvSpPr>
        <p:spPr>
          <a:xfrm xmlns:a="http://schemas.openxmlformats.org/drawingml/2006/main">
            <a:off x="9810750" y="3143250"/>
            <a:ext cx="1857375"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25000"/>
              </a:lnSpc>
              <a:buNone/>
              <a:defRPr sz="1500" b="1">
                <a:solidFill>
                  <a:srgbClr val="F7F1E8"/>
                </a:solidFill>
              </a:defRPr>
            </a:pPr>
            <a:r>
              <a:rPr sz="1500" b="1">
                <a:solidFill>
                  <a:srgbClr val="F7F1E8"/>
                </a:solidFill>
              </a:rPr>
              <a:t>REAL RUN</a:t>
            </a:r>
          </a:p>
          <a:p xmlns:a="http://schemas.openxmlformats.org/drawingml/2006/main">
            <a:pPr algn="ctr">
              <a:lnSpc>
                <a:spcPct val="125000"/>
              </a:lnSpc>
              <a:buNone/>
              <a:defRPr sz="1500" b="1">
                <a:solidFill>
                  <a:srgbClr val="F7F1E8"/>
                </a:solidFill>
              </a:defRPr>
            </a:pPr>
            <a:r>
              <a:rPr sz="1500" b="1">
                <a:solidFill>
                  <a:srgbClr val="F7F1E8"/>
                </a:solidFill>
              </a:rPr>
              <a:t>FAILURE LOOP</a:t>
            </a:r>
          </a:p>
          <a:p xmlns:a="http://schemas.openxmlformats.org/drawingml/2006/main">
            <a:pPr algn="ctr">
              <a:lnSpc>
                <a:spcPct val="125000"/>
              </a:lnSpc>
              <a:buNone/>
              <a:defRPr sz="1500" b="1">
                <a:solidFill>
                  <a:srgbClr val="F7F1E8"/>
                </a:solidFill>
              </a:defRPr>
            </a:pPr>
            <a:r>
              <a:rPr sz="1500" b="1">
                <a:solidFill>
                  <a:srgbClr val="F7F1E8"/>
                </a:solidFill>
              </a:rPr>
              <a:t>AUDITED</a:t>
            </a:r>
          </a:p>
        </p:txBody>
      </p:sp>
      <p:sp>
        <p:nvSpPr>
          <p:cNvPr id="10" name="cover-pass-bg">
            <a:extLst xmlns:a="http://schemas.openxmlformats.org/drawingml/2006/main">
              <a:ext uri="{FF2B5EF4-FFF2-40B4-BE49-F238E27FC236}">
                <a16:creationId xmlns:a16="http://schemas.microsoft.com/office/drawing/2014/main" id="{CAB7573E-54F8-4293-A600-E4C80EF5588C}"/>
              </a:ext>
            </a:extLst>
          </p:cNvPr>
          <p:cNvSpPr>
            <a:spLocks xmlns:a="http://schemas.openxmlformats.org/drawingml/2006/main" noGrp="1"/>
          </p:cNvSpPr>
          <p:nvPr/>
        </p:nvSpPr>
        <p:spPr>
          <a:xfrm xmlns:a="http://schemas.openxmlformats.org/drawingml/2006/main">
            <a:off x="819150" y="5772150"/>
            <a:ext cx="1809750" cy="2857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11" name="cover-pass-text">
            <a:extLst xmlns:a="http://schemas.openxmlformats.org/drawingml/2006/main">
              <a:ext uri="{FF2B5EF4-FFF2-40B4-BE49-F238E27FC236}">
                <a16:creationId xmlns:a16="http://schemas.microsoft.com/office/drawing/2014/main" id="{4F33983F-AF54-47BC-9AC4-DE57CC990BCA}"/>
              </a:ext>
            </a:extLst>
          </p:cNvPr>
          <p:cNvSpPr>
            <a:spLocks xmlns:a="http://schemas.openxmlformats.org/drawingml/2006/main" noGrp="1"/>
          </p:cNvSpPr>
          <p:nvPr/>
        </p:nvSpPr>
        <p:spPr>
          <a:xfrm xmlns:a="http://schemas.openxmlformats.org/drawingml/2006/main">
            <a:off x="914400" y="5819775"/>
            <a:ext cx="1619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CURRICULUM PASS</a:t>
            </a:r>
          </a:p>
        </p:txBody>
      </p:sp>
      <p:sp>
        <p:nvSpPr>
          <p:cNvPr id="12" name="cover-bfcl-bg">
            <a:extLst xmlns:a="http://schemas.openxmlformats.org/drawingml/2006/main">
              <a:ext uri="{FF2B5EF4-FFF2-40B4-BE49-F238E27FC236}">
                <a16:creationId xmlns:a16="http://schemas.microsoft.com/office/drawing/2014/main" id="{2B293DFF-2F96-4820-9CC1-1C886D8DB215}"/>
              </a:ext>
            </a:extLst>
          </p:cNvPr>
          <p:cNvSpPr>
            <a:spLocks xmlns:a="http://schemas.openxmlformats.org/drawingml/2006/main" noGrp="1"/>
          </p:cNvSpPr>
          <p:nvPr/>
        </p:nvSpPr>
        <p:spPr>
          <a:xfrm xmlns:a="http://schemas.openxmlformats.org/drawingml/2006/main">
            <a:off x="2800350" y="5772150"/>
            <a:ext cx="1809750" cy="285750"/>
          </a:xfrm>
          <a:prstGeom xmlns:a="http://schemas.openxmlformats.org/drawingml/2006/main" prst="roundRect">
            <a:avLst>
              <a:gd name="adj" fmla="val 50000"/>
            </a:avLst>
          </a:prstGeom>
          <a:solidFill xmlns:a="http://schemas.openxmlformats.org/drawingml/2006/main">
            <a:srgbClr val="C56D4A"/>
          </a:solidFill>
          <a:ln xmlns:a="http://schemas.openxmlformats.org/drawingml/2006/main" w="0">
            <a:solidFill>
              <a:srgbClr val="C56D4A"/>
            </a:solidFill>
            <a:prstDash val="solid"/>
          </a:ln>
        </p:spPr>
      </p:sp>
      <p:sp>
        <p:nvSpPr>
          <p:cNvPr id="13" name="cover-bfcl-text">
            <a:extLst xmlns:a="http://schemas.openxmlformats.org/drawingml/2006/main">
              <a:ext uri="{FF2B5EF4-FFF2-40B4-BE49-F238E27FC236}">
                <a16:creationId xmlns:a16="http://schemas.microsoft.com/office/drawing/2014/main" id="{46350DC8-648D-42DA-B767-6629A4CD1EAA}"/>
              </a:ext>
            </a:extLst>
          </p:cNvPr>
          <p:cNvSpPr>
            <a:spLocks xmlns:a="http://schemas.openxmlformats.org/drawingml/2006/main" noGrp="1"/>
          </p:cNvSpPr>
          <p:nvPr/>
        </p:nvSpPr>
        <p:spPr>
          <a:xfrm xmlns:a="http://schemas.openxmlformats.org/drawingml/2006/main">
            <a:off x="2895600" y="5819775"/>
            <a:ext cx="1619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BFCL NOT RUN</a:t>
            </a:r>
          </a:p>
        </p:txBody>
      </p:sp>
    </p:spTree>
    <p:extLst>
      <p:ext uri="{BB962C8B-B14F-4D97-AF65-F5344CB8AC3E}">
        <p14:creationId xmlns:p14="http://schemas.microsoft.com/office/powerpoint/2010/main" val="326812905"/>
      </p:ext>
    </p:extLst>
  </p:cSld>
</p:sld>
</file>

<file path=ppt/slides/slide2.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25" name="rail-2">
            <a:extLst xmlns:a="http://schemas.openxmlformats.org/drawingml/2006/main">
              <a:ext uri="{FF2B5EF4-FFF2-40B4-BE49-F238E27FC236}">
                <a16:creationId xmlns:a16="http://schemas.microsoft.com/office/drawing/2014/main" id="{2451B014-88DA-4D9C-9503-7EA5C6C7C0C2}"/>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2">
            <a:extLst xmlns:a="http://schemas.openxmlformats.org/drawingml/2006/main">
              <a:ext uri="{FF2B5EF4-FFF2-40B4-BE49-F238E27FC236}">
                <a16:creationId xmlns:a16="http://schemas.microsoft.com/office/drawing/2014/main" id="{2B28CBB1-B6B0-4E62-B2C9-7C64E781548D}"/>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2">
            <a:extLst xmlns:a="http://schemas.openxmlformats.org/drawingml/2006/main">
              <a:ext uri="{FF2B5EF4-FFF2-40B4-BE49-F238E27FC236}">
                <a16:creationId xmlns:a16="http://schemas.microsoft.com/office/drawing/2014/main" id="{A8AFC2B8-D691-4B27-9FE8-9AB95CE5068E}"/>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PROJECT MAP</a:t>
            </a:r>
          </a:p>
        </p:txBody>
      </p:sp>
      <p:sp>
        <p:nvSpPr>
          <p:cNvPr id="4" name="title-2">
            <a:extLst xmlns:a="http://schemas.openxmlformats.org/drawingml/2006/main">
              <a:ext uri="{FF2B5EF4-FFF2-40B4-BE49-F238E27FC236}">
                <a16:creationId xmlns:a16="http://schemas.microsoft.com/office/drawing/2014/main" id="{12B308CF-7673-45F0-BA67-04F949810DE0}"/>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拿到这个项目，你应该先建立四层心智模型</a:t>
            </a:r>
          </a:p>
        </p:txBody>
      </p:sp>
      <p:sp>
        <p:nvSpPr>
          <p:cNvPr id="5" name="subtitle-2">
            <a:extLst xmlns:a="http://schemas.openxmlformats.org/drawingml/2006/main">
              <a:ext uri="{FF2B5EF4-FFF2-40B4-BE49-F238E27FC236}">
                <a16:creationId xmlns:a16="http://schemas.microsoft.com/office/drawing/2014/main" id="{6CF5E43A-8B02-4389-BF1B-0785611C171A}"/>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Agentic RL 不是“模型会调工具”这一件事，而是 policy、environment、reward、curriculum 的闭环。</a:t>
            </a:r>
          </a:p>
        </p:txBody>
      </p:sp>
      <p:sp>
        <p:nvSpPr>
          <p:cNvPr id="6" name="">
            <a:extLst xmlns:a="http://schemas.openxmlformats.org/drawingml/2006/main">
              <a:ext uri="{FF2B5EF4-FFF2-40B4-BE49-F238E27FC236}">
                <a16:creationId xmlns:a16="http://schemas.microsoft.com/office/drawing/2014/main" id="{04776EDC-A859-4377-9CC5-3FCC0384F1BE}"/>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2">
            <a:extLst xmlns:a="http://schemas.openxmlformats.org/drawingml/2006/main">
              <a:ext uri="{FF2B5EF4-FFF2-40B4-BE49-F238E27FC236}">
                <a16:creationId xmlns:a16="http://schemas.microsoft.com/office/drawing/2014/main" id="{BB85206D-5267-42C4-B0AF-56B5820950AF}"/>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02</a:t>
            </a:r>
          </a:p>
        </p:txBody>
      </p:sp>
      <p:sp>
        <p:nvSpPr>
          <p:cNvPr id="8" name="map-0">
            <a:extLst xmlns:a="http://schemas.openxmlformats.org/drawingml/2006/main">
              <a:ext uri="{FF2B5EF4-FFF2-40B4-BE49-F238E27FC236}">
                <a16:creationId xmlns:a16="http://schemas.microsoft.com/office/drawing/2014/main" id="{EC4650B3-DF64-406D-AFA1-5CA72913B3B1}"/>
              </a:ext>
            </a:extLst>
          </p:cNvPr>
          <p:cNvSpPr>
            <a:spLocks xmlns:a="http://schemas.openxmlformats.org/drawingml/2006/main" noGrp="1"/>
          </p:cNvSpPr>
          <p:nvPr/>
        </p:nvSpPr>
        <p:spPr>
          <a:xfrm xmlns:a="http://schemas.openxmlformats.org/drawingml/2006/main">
            <a:off x="685800" y="2266950"/>
            <a:ext cx="2324100" cy="2781300"/>
          </a:xfrm>
          <a:prstGeom xmlns:a="http://schemas.openxmlformats.org/drawingml/2006/main" prst="roundRect">
            <a:avLst>
              <a:gd name="adj" fmla="val 4098"/>
            </a:avLst>
          </a:prstGeom>
          <a:solidFill xmlns:a="http://schemas.openxmlformats.org/drawingml/2006/main">
            <a:srgbClr val="FFFDFC"/>
          </a:solidFill>
          <a:ln xmlns:a="http://schemas.openxmlformats.org/drawingml/2006/main" w="9525">
            <a:solidFill>
              <a:srgbClr val="18A6A6"/>
            </a:solidFill>
            <a:prstDash val="solid"/>
          </a:ln>
        </p:spPr>
      </p:sp>
      <p:sp>
        <p:nvSpPr>
          <p:cNvPr id="9" name="map-num-0">
            <a:extLst xmlns:a="http://schemas.openxmlformats.org/drawingml/2006/main">
              <a:ext uri="{FF2B5EF4-FFF2-40B4-BE49-F238E27FC236}">
                <a16:creationId xmlns:a16="http://schemas.microsoft.com/office/drawing/2014/main" id="{D8710FB8-9682-4A20-B7C7-600E151BA4AA}"/>
              </a:ext>
            </a:extLst>
          </p:cNvPr>
          <p:cNvSpPr>
            <a:spLocks xmlns:a="http://schemas.openxmlformats.org/drawingml/2006/main" noGrp="1"/>
          </p:cNvSpPr>
          <p:nvPr/>
        </p:nvSpPr>
        <p:spPr>
          <a:xfrm xmlns:a="http://schemas.openxmlformats.org/drawingml/2006/main">
            <a:off x="876300" y="2457450"/>
            <a:ext cx="619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875" b="1">
                <a:solidFill>
                  <a:srgbClr val="18A6A6"/>
                </a:solidFill>
              </a:defRPr>
            </a:pPr>
            <a:r>
              <a:rPr sz="1875" b="1">
                <a:solidFill>
                  <a:srgbClr val="18A6A6"/>
                </a:solidFill>
              </a:rPr>
              <a:t>01</a:t>
            </a:r>
          </a:p>
        </p:txBody>
      </p:sp>
      <p:sp>
        <p:nvSpPr>
          <p:cNvPr id="10" name="map-name-0">
            <a:extLst xmlns:a="http://schemas.openxmlformats.org/drawingml/2006/main">
              <a:ext uri="{FF2B5EF4-FFF2-40B4-BE49-F238E27FC236}">
                <a16:creationId xmlns:a16="http://schemas.microsoft.com/office/drawing/2014/main" id="{5F91B682-6092-4A4E-A924-E2B450E787A1}"/>
              </a:ext>
            </a:extLst>
          </p:cNvPr>
          <p:cNvSpPr>
            <a:spLocks xmlns:a="http://schemas.openxmlformats.org/drawingml/2006/main" noGrp="1"/>
          </p:cNvSpPr>
          <p:nvPr/>
        </p:nvSpPr>
        <p:spPr>
          <a:xfrm xmlns:a="http://schemas.openxmlformats.org/drawingml/2006/main">
            <a:off x="876300" y="3067050"/>
            <a:ext cx="19431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350" b="1">
                <a:solidFill>
                  <a:srgbClr val="071A2B"/>
                </a:solidFill>
              </a:defRPr>
            </a:pPr>
            <a:r>
              <a:rPr sz="1350" b="1">
                <a:solidFill>
                  <a:srgbClr val="071A2B"/>
                </a:solidFill>
              </a:rPr>
              <a:t>POLICY</a:t>
            </a:r>
          </a:p>
        </p:txBody>
      </p:sp>
      <p:sp>
        <p:nvSpPr>
          <p:cNvPr id="11" name="map-body-0">
            <a:extLst xmlns:a="http://schemas.openxmlformats.org/drawingml/2006/main">
              <a:ext uri="{FF2B5EF4-FFF2-40B4-BE49-F238E27FC236}">
                <a16:creationId xmlns:a16="http://schemas.microsoft.com/office/drawing/2014/main" id="{45D593F5-274A-4475-A617-3EAC506B750A}"/>
              </a:ext>
            </a:extLst>
          </p:cNvPr>
          <p:cNvSpPr>
            <a:spLocks xmlns:a="http://schemas.openxmlformats.org/drawingml/2006/main" noGrp="1"/>
          </p:cNvSpPr>
          <p:nvPr/>
        </p:nvSpPr>
        <p:spPr>
          <a:xfrm xmlns:a="http://schemas.openxmlformats.org/drawingml/2006/main">
            <a:off x="876300" y="3714750"/>
            <a:ext cx="19431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nSpc>
                <a:spcPct val="120000"/>
              </a:lnSpc>
              <a:buNone/>
              <a:defRPr sz="1350" b="1">
                <a:solidFill>
                  <a:srgbClr val="64747B"/>
                </a:solidFill>
              </a:defRPr>
            </a:pPr>
            <a:r>
              <a:rPr sz="1350" b="1">
                <a:solidFill>
                  <a:srgbClr val="64747B"/>
                </a:solidFill>
              </a:rPr>
              <a:t>Qwen3-8B 生成完整 assistant response 与工具调用</a:t>
            </a:r>
          </a:p>
        </p:txBody>
      </p:sp>
      <p:sp>
        <p:nvSpPr>
          <p:cNvPr id="12" name="map-1">
            <a:extLst xmlns:a="http://schemas.openxmlformats.org/drawingml/2006/main">
              <a:ext uri="{FF2B5EF4-FFF2-40B4-BE49-F238E27FC236}">
                <a16:creationId xmlns:a16="http://schemas.microsoft.com/office/drawing/2014/main" id="{0F25DEA1-A305-47A4-972F-44491F23AD35}"/>
              </a:ext>
            </a:extLst>
          </p:cNvPr>
          <p:cNvSpPr>
            <a:spLocks xmlns:a="http://schemas.openxmlformats.org/drawingml/2006/main" noGrp="1"/>
          </p:cNvSpPr>
          <p:nvPr/>
        </p:nvSpPr>
        <p:spPr>
          <a:xfrm xmlns:a="http://schemas.openxmlformats.org/drawingml/2006/main">
            <a:off x="3371850" y="2266950"/>
            <a:ext cx="2324100" cy="2781300"/>
          </a:xfrm>
          <a:prstGeom xmlns:a="http://schemas.openxmlformats.org/drawingml/2006/main" prst="roundRect">
            <a:avLst>
              <a:gd name="adj" fmla="val 4098"/>
            </a:avLst>
          </a:prstGeom>
          <a:solidFill xmlns:a="http://schemas.openxmlformats.org/drawingml/2006/main">
            <a:srgbClr val="F7F1E8"/>
          </a:solidFill>
          <a:ln xmlns:a="http://schemas.openxmlformats.org/drawingml/2006/main" w="9525">
            <a:solidFill>
              <a:srgbClr val="C56D4A"/>
            </a:solidFill>
            <a:prstDash val="solid"/>
          </a:ln>
        </p:spPr>
      </p:sp>
      <p:sp>
        <p:nvSpPr>
          <p:cNvPr id="13" name="map-num-1">
            <a:extLst xmlns:a="http://schemas.openxmlformats.org/drawingml/2006/main">
              <a:ext uri="{FF2B5EF4-FFF2-40B4-BE49-F238E27FC236}">
                <a16:creationId xmlns:a16="http://schemas.microsoft.com/office/drawing/2014/main" id="{C6B4D170-BB84-44CE-8B85-ED4FB99B00B9}"/>
              </a:ext>
            </a:extLst>
          </p:cNvPr>
          <p:cNvSpPr>
            <a:spLocks xmlns:a="http://schemas.openxmlformats.org/drawingml/2006/main" noGrp="1"/>
          </p:cNvSpPr>
          <p:nvPr/>
        </p:nvSpPr>
        <p:spPr>
          <a:xfrm xmlns:a="http://schemas.openxmlformats.org/drawingml/2006/main">
            <a:off x="3562350" y="2457450"/>
            <a:ext cx="619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875" b="1">
                <a:solidFill>
                  <a:srgbClr val="C56D4A"/>
                </a:solidFill>
              </a:defRPr>
            </a:pPr>
            <a:r>
              <a:rPr sz="1875" b="1">
                <a:solidFill>
                  <a:srgbClr val="C56D4A"/>
                </a:solidFill>
              </a:rPr>
              <a:t>02</a:t>
            </a:r>
          </a:p>
        </p:txBody>
      </p:sp>
      <p:sp>
        <p:nvSpPr>
          <p:cNvPr id="14" name="map-name-1">
            <a:extLst xmlns:a="http://schemas.openxmlformats.org/drawingml/2006/main">
              <a:ext uri="{FF2B5EF4-FFF2-40B4-BE49-F238E27FC236}">
                <a16:creationId xmlns:a16="http://schemas.microsoft.com/office/drawing/2014/main" id="{361BE20F-A506-4760-A291-4233AC2F3C2F}"/>
              </a:ext>
            </a:extLst>
          </p:cNvPr>
          <p:cNvSpPr>
            <a:spLocks xmlns:a="http://schemas.openxmlformats.org/drawingml/2006/main" noGrp="1"/>
          </p:cNvSpPr>
          <p:nvPr/>
        </p:nvSpPr>
        <p:spPr>
          <a:xfrm xmlns:a="http://schemas.openxmlformats.org/drawingml/2006/main">
            <a:off x="3562350" y="3067050"/>
            <a:ext cx="19431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350" b="1">
                <a:solidFill>
                  <a:srgbClr val="071A2B"/>
                </a:solidFill>
              </a:defRPr>
            </a:pPr>
            <a:r>
              <a:rPr sz="1350" b="1">
                <a:solidFill>
                  <a:srgbClr val="071A2B"/>
                </a:solidFill>
              </a:rPr>
              <a:t>ENVIRONMENT</a:t>
            </a:r>
          </a:p>
        </p:txBody>
      </p:sp>
      <p:sp>
        <p:nvSpPr>
          <p:cNvPr id="15" name="map-body-1">
            <a:extLst xmlns:a="http://schemas.openxmlformats.org/drawingml/2006/main">
              <a:ext uri="{FF2B5EF4-FFF2-40B4-BE49-F238E27FC236}">
                <a16:creationId xmlns:a16="http://schemas.microsoft.com/office/drawing/2014/main" id="{D168189B-D7FB-4A3A-BDF9-D3895090EBBC}"/>
              </a:ext>
            </a:extLst>
          </p:cNvPr>
          <p:cNvSpPr>
            <a:spLocks xmlns:a="http://schemas.openxmlformats.org/drawingml/2006/main" noGrp="1"/>
          </p:cNvSpPr>
          <p:nvPr/>
        </p:nvSpPr>
        <p:spPr>
          <a:xfrm xmlns:a="http://schemas.openxmlformats.org/drawingml/2006/main">
            <a:off x="3562350" y="3714750"/>
            <a:ext cx="19431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nSpc>
                <a:spcPct val="120000"/>
              </a:lnSpc>
              <a:buNone/>
              <a:defRPr sz="1350" b="1">
                <a:solidFill>
                  <a:srgbClr val="64747B"/>
                </a:solidFill>
              </a:defRPr>
            </a:pPr>
            <a:r>
              <a:rPr sz="1350" b="1">
                <a:solidFill>
                  <a:srgbClr val="64747B"/>
                </a:solidFill>
              </a:rPr>
              <a:t>七个 stateful tools 执行读写与真实状态转移</a:t>
            </a:r>
          </a:p>
        </p:txBody>
      </p:sp>
      <p:sp>
        <p:nvSpPr>
          <p:cNvPr id="16" name="map-2">
            <a:extLst xmlns:a="http://schemas.openxmlformats.org/drawingml/2006/main">
              <a:ext uri="{FF2B5EF4-FFF2-40B4-BE49-F238E27FC236}">
                <a16:creationId xmlns:a16="http://schemas.microsoft.com/office/drawing/2014/main" id="{E7493912-05E5-4BE2-8405-6746E7EAFFB5}"/>
              </a:ext>
            </a:extLst>
          </p:cNvPr>
          <p:cNvSpPr>
            <a:spLocks xmlns:a="http://schemas.openxmlformats.org/drawingml/2006/main" noGrp="1"/>
          </p:cNvSpPr>
          <p:nvPr/>
        </p:nvSpPr>
        <p:spPr>
          <a:xfrm xmlns:a="http://schemas.openxmlformats.org/drawingml/2006/main">
            <a:off x="6057900" y="2266950"/>
            <a:ext cx="2324100" cy="2781300"/>
          </a:xfrm>
          <a:prstGeom xmlns:a="http://schemas.openxmlformats.org/drawingml/2006/main" prst="roundRect">
            <a:avLst>
              <a:gd name="adj" fmla="val 4098"/>
            </a:avLst>
          </a:prstGeom>
          <a:solidFill xmlns:a="http://schemas.openxmlformats.org/drawingml/2006/main">
            <a:srgbClr val="FFFDFC"/>
          </a:solidFill>
          <a:ln xmlns:a="http://schemas.openxmlformats.org/drawingml/2006/main" w="9525">
            <a:solidFill>
              <a:srgbClr val="D6A84B"/>
            </a:solidFill>
            <a:prstDash val="solid"/>
          </a:ln>
        </p:spPr>
      </p:sp>
      <p:sp>
        <p:nvSpPr>
          <p:cNvPr id="17" name="map-num-2">
            <a:extLst xmlns:a="http://schemas.openxmlformats.org/drawingml/2006/main">
              <a:ext uri="{FF2B5EF4-FFF2-40B4-BE49-F238E27FC236}">
                <a16:creationId xmlns:a16="http://schemas.microsoft.com/office/drawing/2014/main" id="{842B5C57-ECD2-48B6-8352-BB089F398CA3}"/>
              </a:ext>
            </a:extLst>
          </p:cNvPr>
          <p:cNvSpPr>
            <a:spLocks xmlns:a="http://schemas.openxmlformats.org/drawingml/2006/main" noGrp="1"/>
          </p:cNvSpPr>
          <p:nvPr/>
        </p:nvSpPr>
        <p:spPr>
          <a:xfrm xmlns:a="http://schemas.openxmlformats.org/drawingml/2006/main">
            <a:off x="6248400" y="2457450"/>
            <a:ext cx="619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875" b="1">
                <a:solidFill>
                  <a:srgbClr val="D6A84B"/>
                </a:solidFill>
              </a:defRPr>
            </a:pPr>
            <a:r>
              <a:rPr sz="1875" b="1">
                <a:solidFill>
                  <a:srgbClr val="D6A84B"/>
                </a:solidFill>
              </a:rPr>
              <a:t>03</a:t>
            </a:r>
          </a:p>
        </p:txBody>
      </p:sp>
      <p:sp>
        <p:nvSpPr>
          <p:cNvPr id="18" name="map-name-2">
            <a:extLst xmlns:a="http://schemas.openxmlformats.org/drawingml/2006/main">
              <a:ext uri="{FF2B5EF4-FFF2-40B4-BE49-F238E27FC236}">
                <a16:creationId xmlns:a16="http://schemas.microsoft.com/office/drawing/2014/main" id="{AD834ED3-E732-4DE4-AD05-43C806CA24C4}"/>
              </a:ext>
            </a:extLst>
          </p:cNvPr>
          <p:cNvSpPr>
            <a:spLocks xmlns:a="http://schemas.openxmlformats.org/drawingml/2006/main" noGrp="1"/>
          </p:cNvSpPr>
          <p:nvPr/>
        </p:nvSpPr>
        <p:spPr>
          <a:xfrm xmlns:a="http://schemas.openxmlformats.org/drawingml/2006/main">
            <a:off x="6248400" y="3067050"/>
            <a:ext cx="19431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350" b="1">
                <a:solidFill>
                  <a:srgbClr val="071A2B"/>
                </a:solidFill>
              </a:defRPr>
            </a:pPr>
            <a:r>
              <a:rPr sz="1350" b="1">
                <a:solidFill>
                  <a:srgbClr val="071A2B"/>
                </a:solidFill>
              </a:rPr>
              <a:t>REWARD</a:t>
            </a:r>
          </a:p>
        </p:txBody>
      </p:sp>
      <p:sp>
        <p:nvSpPr>
          <p:cNvPr id="19" name="map-body-2">
            <a:extLst xmlns:a="http://schemas.openxmlformats.org/drawingml/2006/main">
              <a:ext uri="{FF2B5EF4-FFF2-40B4-BE49-F238E27FC236}">
                <a16:creationId xmlns:a16="http://schemas.microsoft.com/office/drawing/2014/main" id="{125620DE-6CB8-45A5-A8C5-A69DDA0ABD59}"/>
              </a:ext>
            </a:extLst>
          </p:cNvPr>
          <p:cNvSpPr>
            <a:spLocks xmlns:a="http://schemas.openxmlformats.org/drawingml/2006/main" noGrp="1"/>
          </p:cNvSpPr>
          <p:nvPr/>
        </p:nvSpPr>
        <p:spPr>
          <a:xfrm xmlns:a="http://schemas.openxmlformats.org/drawingml/2006/main">
            <a:off x="6248400" y="3714750"/>
            <a:ext cx="19431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nSpc>
                <a:spcPct val="120000"/>
              </a:lnSpc>
              <a:buNone/>
              <a:defRPr sz="1350" b="1">
                <a:solidFill>
                  <a:srgbClr val="64747B"/>
                </a:solidFill>
              </a:defRPr>
            </a:pPr>
            <a:r>
              <a:rPr sz="1350" b="1">
                <a:solidFill>
                  <a:srgbClr val="64747B"/>
                </a:solidFill>
              </a:rPr>
              <a:t>exact outcome + process shaping，按 group 求相对优势</a:t>
            </a:r>
          </a:p>
        </p:txBody>
      </p:sp>
      <p:sp>
        <p:nvSpPr>
          <p:cNvPr id="20" name="map-3">
            <a:extLst xmlns:a="http://schemas.openxmlformats.org/drawingml/2006/main">
              <a:ext uri="{FF2B5EF4-FFF2-40B4-BE49-F238E27FC236}">
                <a16:creationId xmlns:a16="http://schemas.microsoft.com/office/drawing/2014/main" id="{27F0D8A3-26F1-4ABA-928E-1356E18CCCAC}"/>
              </a:ext>
            </a:extLst>
          </p:cNvPr>
          <p:cNvSpPr>
            <a:spLocks xmlns:a="http://schemas.openxmlformats.org/drawingml/2006/main" noGrp="1"/>
          </p:cNvSpPr>
          <p:nvPr/>
        </p:nvSpPr>
        <p:spPr>
          <a:xfrm xmlns:a="http://schemas.openxmlformats.org/drawingml/2006/main">
            <a:off x="8743950" y="2266950"/>
            <a:ext cx="2324100" cy="2781300"/>
          </a:xfrm>
          <a:prstGeom xmlns:a="http://schemas.openxmlformats.org/drawingml/2006/main" prst="roundRect">
            <a:avLst>
              <a:gd name="adj" fmla="val 4098"/>
            </a:avLst>
          </a:prstGeom>
          <a:solidFill xmlns:a="http://schemas.openxmlformats.org/drawingml/2006/main">
            <a:srgbClr val="F7F1E8"/>
          </a:solidFill>
          <a:ln xmlns:a="http://schemas.openxmlformats.org/drawingml/2006/main" w="9525">
            <a:solidFill>
              <a:srgbClr val="228B67"/>
            </a:solidFill>
            <a:prstDash val="solid"/>
          </a:ln>
        </p:spPr>
      </p:sp>
      <p:sp>
        <p:nvSpPr>
          <p:cNvPr id="21" name="map-num-3">
            <a:extLst xmlns:a="http://schemas.openxmlformats.org/drawingml/2006/main">
              <a:ext uri="{FF2B5EF4-FFF2-40B4-BE49-F238E27FC236}">
                <a16:creationId xmlns:a16="http://schemas.microsoft.com/office/drawing/2014/main" id="{0CBFA913-8A82-46F8-A724-251CCAC3750E}"/>
              </a:ext>
            </a:extLst>
          </p:cNvPr>
          <p:cNvSpPr>
            <a:spLocks xmlns:a="http://schemas.openxmlformats.org/drawingml/2006/main" noGrp="1"/>
          </p:cNvSpPr>
          <p:nvPr/>
        </p:nvSpPr>
        <p:spPr>
          <a:xfrm xmlns:a="http://schemas.openxmlformats.org/drawingml/2006/main">
            <a:off x="8934450" y="2457450"/>
            <a:ext cx="619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875" b="1">
                <a:solidFill>
                  <a:srgbClr val="228B67"/>
                </a:solidFill>
              </a:defRPr>
            </a:pPr>
            <a:r>
              <a:rPr sz="1875" b="1">
                <a:solidFill>
                  <a:srgbClr val="228B67"/>
                </a:solidFill>
              </a:rPr>
              <a:t>04</a:t>
            </a:r>
          </a:p>
        </p:txBody>
      </p:sp>
      <p:sp>
        <p:nvSpPr>
          <p:cNvPr id="22" name="map-name-3">
            <a:extLst xmlns:a="http://schemas.openxmlformats.org/drawingml/2006/main">
              <a:ext uri="{FF2B5EF4-FFF2-40B4-BE49-F238E27FC236}">
                <a16:creationId xmlns:a16="http://schemas.microsoft.com/office/drawing/2014/main" id="{84588DB2-6F94-40DC-8756-61D320771697}"/>
              </a:ext>
            </a:extLst>
          </p:cNvPr>
          <p:cNvSpPr>
            <a:spLocks xmlns:a="http://schemas.openxmlformats.org/drawingml/2006/main" noGrp="1"/>
          </p:cNvSpPr>
          <p:nvPr/>
        </p:nvSpPr>
        <p:spPr>
          <a:xfrm xmlns:a="http://schemas.openxmlformats.org/drawingml/2006/main">
            <a:off x="8934450" y="3067050"/>
            <a:ext cx="19431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350" b="1">
                <a:solidFill>
                  <a:srgbClr val="071A2B"/>
                </a:solidFill>
              </a:defRPr>
            </a:pPr>
            <a:r>
              <a:rPr sz="1350" b="1">
                <a:solidFill>
                  <a:srgbClr val="071A2B"/>
                </a:solidFill>
              </a:rPr>
              <a:t>CURRICULUM</a:t>
            </a:r>
          </a:p>
        </p:txBody>
      </p:sp>
      <p:sp>
        <p:nvSpPr>
          <p:cNvPr id="23" name="map-body-3">
            <a:extLst xmlns:a="http://schemas.openxmlformats.org/drawingml/2006/main">
              <a:ext uri="{FF2B5EF4-FFF2-40B4-BE49-F238E27FC236}">
                <a16:creationId xmlns:a16="http://schemas.microsoft.com/office/drawing/2014/main" id="{05F2D8F4-CBAC-4E92-BA52-AA51E4DA8338}"/>
              </a:ext>
            </a:extLst>
          </p:cNvPr>
          <p:cNvSpPr>
            <a:spLocks xmlns:a="http://schemas.openxmlformats.org/drawingml/2006/main" noGrp="1"/>
          </p:cNvSpPr>
          <p:nvPr/>
        </p:nvSpPr>
        <p:spPr>
          <a:xfrm xmlns:a="http://schemas.openxmlformats.org/drawingml/2006/main">
            <a:off x="8934450" y="3714750"/>
            <a:ext cx="19431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nSpc>
                <a:spcPct val="120000"/>
              </a:lnSpc>
              <a:buNone/>
              <a:defRPr sz="1350" b="1">
                <a:solidFill>
                  <a:srgbClr val="64747B"/>
                </a:solidFill>
              </a:defRPr>
            </a:pPr>
            <a:r>
              <a:rPr sz="1350" b="1">
                <a:solidFill>
                  <a:srgbClr val="64747B"/>
                </a:solidFill>
              </a:rPr>
              <a:t>从真实失败类型制造 decoy、timeout 与 replay</a:t>
            </a:r>
          </a:p>
        </p:txBody>
      </p:sp>
      <p:sp>
        <p:nvSpPr>
          <p:cNvPr id="24" name="map-foot">
            <a:extLst xmlns:a="http://schemas.openxmlformats.org/drawingml/2006/main">
              <a:ext uri="{FF2B5EF4-FFF2-40B4-BE49-F238E27FC236}">
                <a16:creationId xmlns:a16="http://schemas.microsoft.com/office/drawing/2014/main" id="{41C63D9A-D182-41C4-B56C-38A3B065B381}"/>
              </a:ext>
            </a:extLst>
          </p:cNvPr>
          <p:cNvSpPr>
            <a:spLocks xmlns:a="http://schemas.openxmlformats.org/drawingml/2006/main" noGrp="1"/>
          </p:cNvSpPr>
          <p:nvPr/>
        </p:nvSpPr>
        <p:spPr>
          <a:xfrm xmlns:a="http://schemas.openxmlformats.org/drawingml/2006/main">
            <a:off x="1143000" y="5562600"/>
            <a:ext cx="962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0B797B"/>
                </a:solidFill>
              </a:defRPr>
            </a:pPr>
            <a:r>
              <a:rPr sz="1350" b="1">
                <a:solidFill>
                  <a:srgbClr val="0B797B"/>
                </a:solidFill>
              </a:rPr>
              <a:t>训练完整性的证据链：trajectory → reward → optimizer step → adapter hash → fresh-process replay</a:t>
            </a:r>
          </a:p>
        </p:txBody>
      </p:sp>
    </p:spTree>
    <p:extLst>
      <p:ext uri="{BB962C8B-B14F-4D97-AF65-F5344CB8AC3E}">
        <p14:creationId xmlns:p14="http://schemas.microsoft.com/office/powerpoint/2010/main" val="94759145"/>
      </p:ext>
    </p:extLst>
  </p:cSld>
</p:sld>
</file>

<file path=ppt/slides/slide3.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21" name="rail-3">
            <a:extLst xmlns:a="http://schemas.openxmlformats.org/drawingml/2006/main">
              <a:ext uri="{FF2B5EF4-FFF2-40B4-BE49-F238E27FC236}">
                <a16:creationId xmlns:a16="http://schemas.microsoft.com/office/drawing/2014/main" id="{14EBD430-1ED8-40DE-B01A-184CC17CD11B}"/>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3">
            <a:extLst xmlns:a="http://schemas.openxmlformats.org/drawingml/2006/main">
              <a:ext uri="{FF2B5EF4-FFF2-40B4-BE49-F238E27FC236}">
                <a16:creationId xmlns:a16="http://schemas.microsoft.com/office/drawing/2014/main" id="{4BFF832F-1BDF-4413-B65C-6AD4A5047DD2}"/>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3">
            <a:extLst xmlns:a="http://schemas.openxmlformats.org/drawingml/2006/main">
              <a:ext uri="{FF2B5EF4-FFF2-40B4-BE49-F238E27FC236}">
                <a16:creationId xmlns:a16="http://schemas.microsoft.com/office/drawing/2014/main" id="{17A1AACD-CCD3-4C1E-BCF0-C1509B97A14B}"/>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PAPER → PROJECT</a:t>
            </a:r>
          </a:p>
        </p:txBody>
      </p:sp>
      <p:sp>
        <p:nvSpPr>
          <p:cNvPr id="4" name="title-3">
            <a:extLst xmlns:a="http://schemas.openxmlformats.org/drawingml/2006/main">
              <a:ext uri="{FF2B5EF4-FFF2-40B4-BE49-F238E27FC236}">
                <a16:creationId xmlns:a16="http://schemas.microsoft.com/office/drawing/2014/main" id="{EF88651F-7D95-4D2B-9344-FBF61EEEFDFA}"/>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论文方法如何被拆成一条可执行的工程链路</a:t>
            </a:r>
          </a:p>
        </p:txBody>
      </p:sp>
      <p:sp>
        <p:nvSpPr>
          <p:cNvPr id="5" name="subtitle-3">
            <a:extLst xmlns:a="http://schemas.openxmlformats.org/drawingml/2006/main">
              <a:ext uri="{FF2B5EF4-FFF2-40B4-BE49-F238E27FC236}">
                <a16:creationId xmlns:a16="http://schemas.microsoft.com/office/drawing/2014/main" id="{92B55FAA-5E5A-4015-9E7E-79AC9260B4D5}"/>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保留双飞轮的因果结构，缩小模型、数据和 benchmark 规模，并明确不支持的 claim。</a:t>
            </a:r>
          </a:p>
        </p:txBody>
      </p:sp>
      <p:sp>
        <p:nvSpPr>
          <p:cNvPr id="6" name="">
            <a:extLst xmlns:a="http://schemas.openxmlformats.org/drawingml/2006/main">
              <a:ext uri="{FF2B5EF4-FFF2-40B4-BE49-F238E27FC236}">
                <a16:creationId xmlns:a16="http://schemas.microsoft.com/office/drawing/2014/main" id="{0ABDCF44-E232-4807-A4D4-1BAFC3AFE5C2}"/>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3">
            <a:extLst xmlns:a="http://schemas.openxmlformats.org/drawingml/2006/main">
              <a:ext uri="{FF2B5EF4-FFF2-40B4-BE49-F238E27FC236}">
                <a16:creationId xmlns:a16="http://schemas.microsoft.com/office/drawing/2014/main" id="{C46813BC-CD4F-4BDA-A8B5-4CA88CA243D7}"/>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03</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add9a3baef614888"/>
          <a:stretch xmlns:a="http://schemas.openxmlformats.org/drawingml/2006/main"/>
        </p:blipFill>
        <p:spPr>
          <a:xfrm xmlns:a="http://schemas.openxmlformats.org/drawingml/2006/main">
            <a:off x="666750" y="2117031"/>
            <a:ext cx="5429250" cy="3081137"/>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75771650-356C-4417-BB5F-82AEA2A3942F}"/>
              </a:ext>
            </a:extLst>
          </p:cNvPr>
          <p:cNvSpPr>
            <a:spLocks xmlns:a="http://schemas.openxmlformats.org/drawingml/2006/main" noGrp="1"/>
          </p:cNvSpPr>
          <p:nvPr/>
        </p:nvSpPr>
        <p:spPr>
          <a:xfrm xmlns:a="http://schemas.openxmlformats.org/drawingml/2006/main">
            <a:off x="6667500" y="2209800"/>
            <a:ext cx="342900" cy="0"/>
          </a:xfrm>
          <a:prstGeom xmlns:a="http://schemas.openxmlformats.org/drawingml/2006/main" prst="line">
            <a:avLst/>
          </a:prstGeom>
          <a:noFill xmlns:a="http://schemas.openxmlformats.org/drawingml/2006/main"/>
          <a:ln xmlns:a="http://schemas.openxmlformats.org/drawingml/2006/main" w="47625">
            <a:solidFill>
              <a:srgbClr val="C56D4A"/>
            </a:solidFill>
            <a:prstDash val="solid"/>
          </a:ln>
        </p:spPr>
      </p:sp>
      <p:sp>
        <p:nvSpPr>
          <p:cNvPr id="10" name="paper-k-0">
            <a:extLst xmlns:a="http://schemas.openxmlformats.org/drawingml/2006/main">
              <a:ext uri="{FF2B5EF4-FFF2-40B4-BE49-F238E27FC236}">
                <a16:creationId xmlns:a16="http://schemas.microsoft.com/office/drawing/2014/main" id="{4E192D67-969D-4DEA-BC14-C374B2F8264A}"/>
              </a:ext>
            </a:extLst>
          </p:cNvPr>
          <p:cNvSpPr>
            <a:spLocks xmlns:a="http://schemas.openxmlformats.org/drawingml/2006/main" noGrp="1"/>
          </p:cNvSpPr>
          <p:nvPr/>
        </p:nvSpPr>
        <p:spPr>
          <a:xfrm xmlns:a="http://schemas.openxmlformats.org/drawingml/2006/main">
            <a:off x="7219950" y="209550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论文</a:t>
            </a:r>
          </a:p>
        </p:txBody>
      </p:sp>
      <p:sp>
        <p:nvSpPr>
          <p:cNvPr id="11" name="paper-v-0">
            <a:extLst xmlns:a="http://schemas.openxmlformats.org/drawingml/2006/main">
              <a:ext uri="{FF2B5EF4-FFF2-40B4-BE49-F238E27FC236}">
                <a16:creationId xmlns:a16="http://schemas.microsoft.com/office/drawing/2014/main" id="{F1D94B29-D9C5-4FCC-B9D5-298C85E2CC49}"/>
              </a:ext>
            </a:extLst>
          </p:cNvPr>
          <p:cNvSpPr>
            <a:spLocks xmlns:a="http://schemas.openxmlformats.org/drawingml/2006/main" noGrp="1"/>
          </p:cNvSpPr>
          <p:nvPr/>
        </p:nvSpPr>
        <p:spPr>
          <a:xfrm xmlns:a="http://schemas.openxmlformats.org/drawingml/2006/main">
            <a:off x="7219950" y="2428875"/>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64747B"/>
                </a:solidFill>
              </a:defRPr>
            </a:pPr>
            <a:r>
              <a:rPr sz="1200" b="1">
                <a:solidFill>
                  <a:srgbClr val="64747B"/>
                </a:solidFill>
              </a:rPr>
              <a:t>≈100K 数据 · 235B simulator/judge · 8×H100</a:t>
            </a:r>
          </a:p>
        </p:txBody>
      </p:sp>
      <p:sp>
        <p:nvSpPr>
          <p:cNvPr id="12" name="">
            <a:extLst xmlns:a="http://schemas.openxmlformats.org/drawingml/2006/main">
              <a:ext uri="{FF2B5EF4-FFF2-40B4-BE49-F238E27FC236}">
                <a16:creationId xmlns:a16="http://schemas.microsoft.com/office/drawing/2014/main" id="{52CF862F-4F23-4D39-AADC-C533D4AB34BB}"/>
              </a:ext>
            </a:extLst>
          </p:cNvPr>
          <p:cNvSpPr>
            <a:spLocks xmlns:a="http://schemas.openxmlformats.org/drawingml/2006/main" noGrp="1"/>
          </p:cNvSpPr>
          <p:nvPr/>
        </p:nvSpPr>
        <p:spPr>
          <a:xfrm xmlns:a="http://schemas.openxmlformats.org/drawingml/2006/main">
            <a:off x="6667500" y="3105150"/>
            <a:ext cx="342900" cy="0"/>
          </a:xfrm>
          <a:prstGeom xmlns:a="http://schemas.openxmlformats.org/drawingml/2006/main" prst="line">
            <a:avLst/>
          </a:prstGeom>
          <a:noFill xmlns:a="http://schemas.openxmlformats.org/drawingml/2006/main"/>
          <a:ln xmlns:a="http://schemas.openxmlformats.org/drawingml/2006/main" w="47625">
            <a:solidFill>
              <a:srgbClr val="18A6A6"/>
            </a:solidFill>
            <a:prstDash val="solid"/>
          </a:ln>
        </p:spPr>
      </p:sp>
      <p:sp>
        <p:nvSpPr>
          <p:cNvPr id="13" name="paper-k-1">
            <a:extLst xmlns:a="http://schemas.openxmlformats.org/drawingml/2006/main">
              <a:ext uri="{FF2B5EF4-FFF2-40B4-BE49-F238E27FC236}">
                <a16:creationId xmlns:a16="http://schemas.microsoft.com/office/drawing/2014/main" id="{943D1EFB-0BB8-47ED-818A-6C664745829E}"/>
              </a:ext>
            </a:extLst>
          </p:cNvPr>
          <p:cNvSpPr>
            <a:spLocks xmlns:a="http://schemas.openxmlformats.org/drawingml/2006/main" noGrp="1"/>
          </p:cNvSpPr>
          <p:nvPr/>
        </p:nvSpPr>
        <p:spPr>
          <a:xfrm xmlns:a="http://schemas.openxmlformats.org/drawingml/2006/main">
            <a:off x="7219950" y="29908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18A6A6"/>
                </a:solidFill>
              </a:defRPr>
            </a:pPr>
            <a:r>
              <a:rPr sz="1500" b="1">
                <a:solidFill>
                  <a:srgbClr val="18A6A6"/>
                </a:solidFill>
              </a:rPr>
              <a:t>本次</a:t>
            </a:r>
          </a:p>
        </p:txBody>
      </p:sp>
      <p:sp>
        <p:nvSpPr>
          <p:cNvPr id="14" name="paper-v-1">
            <a:extLst xmlns:a="http://schemas.openxmlformats.org/drawingml/2006/main">
              <a:ext uri="{FF2B5EF4-FFF2-40B4-BE49-F238E27FC236}">
                <a16:creationId xmlns:a16="http://schemas.microsoft.com/office/drawing/2014/main" id="{1B1AD8E6-6CAF-41B8-9B5E-8A95E5185815}"/>
              </a:ext>
            </a:extLst>
          </p:cNvPr>
          <p:cNvSpPr>
            <a:spLocks xmlns:a="http://schemas.openxmlformats.org/drawingml/2006/main" noGrp="1"/>
          </p:cNvSpPr>
          <p:nvPr/>
        </p:nvSpPr>
        <p:spPr>
          <a:xfrm xmlns:a="http://schemas.openxmlformats.org/drawingml/2006/main">
            <a:off x="7219950" y="3324225"/>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64747B"/>
                </a:solidFill>
              </a:defRPr>
            </a:pPr>
            <a:r>
              <a:rPr sz="1200" b="1">
                <a:solidFill>
                  <a:srgbClr val="64747B"/>
                </a:solidFill>
              </a:rPr>
              <a:t>8+12 训练任务 · 24 optimizer steps · 1×NVIDIA RTX PRO 6000 Blackwell Server Edition</a:t>
            </a:r>
          </a:p>
        </p:txBody>
      </p:sp>
      <p:sp>
        <p:nvSpPr>
          <p:cNvPr id="15" name="">
            <a:extLst xmlns:a="http://schemas.openxmlformats.org/drawingml/2006/main">
              <a:ext uri="{FF2B5EF4-FFF2-40B4-BE49-F238E27FC236}">
                <a16:creationId xmlns:a16="http://schemas.microsoft.com/office/drawing/2014/main" id="{17F21CBB-C933-4934-A726-7DBDDAE7651E}"/>
              </a:ext>
            </a:extLst>
          </p:cNvPr>
          <p:cNvSpPr>
            <a:spLocks xmlns:a="http://schemas.openxmlformats.org/drawingml/2006/main" noGrp="1"/>
          </p:cNvSpPr>
          <p:nvPr/>
        </p:nvSpPr>
        <p:spPr>
          <a:xfrm xmlns:a="http://schemas.openxmlformats.org/drawingml/2006/main">
            <a:off x="6667500" y="4000500"/>
            <a:ext cx="342900" cy="0"/>
          </a:xfrm>
          <a:prstGeom xmlns:a="http://schemas.openxmlformats.org/drawingml/2006/main" prst="line">
            <a:avLst/>
          </a:prstGeom>
          <a:noFill xmlns:a="http://schemas.openxmlformats.org/drawingml/2006/main"/>
          <a:ln xmlns:a="http://schemas.openxmlformats.org/drawingml/2006/main" w="47625">
            <a:solidFill>
              <a:srgbClr val="228B67"/>
            </a:solidFill>
            <a:prstDash val="solid"/>
          </a:ln>
        </p:spPr>
      </p:sp>
      <p:sp>
        <p:nvSpPr>
          <p:cNvPr id="16" name="paper-k-2">
            <a:extLst xmlns:a="http://schemas.openxmlformats.org/drawingml/2006/main">
              <a:ext uri="{FF2B5EF4-FFF2-40B4-BE49-F238E27FC236}">
                <a16:creationId xmlns:a16="http://schemas.microsoft.com/office/drawing/2014/main" id="{A76499DA-FDE8-4837-BD0D-A1ED09CBBBCB}"/>
              </a:ext>
            </a:extLst>
          </p:cNvPr>
          <p:cNvSpPr>
            <a:spLocks xmlns:a="http://schemas.openxmlformats.org/drawingml/2006/main" noGrp="1"/>
          </p:cNvSpPr>
          <p:nvPr/>
        </p:nvSpPr>
        <p:spPr>
          <a:xfrm xmlns:a="http://schemas.openxmlformats.org/drawingml/2006/main">
            <a:off x="7219950" y="388620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228B67"/>
                </a:solidFill>
              </a:defRPr>
            </a:pPr>
            <a:r>
              <a:rPr sz="1500" b="1">
                <a:solidFill>
                  <a:srgbClr val="228B67"/>
                </a:solidFill>
              </a:rPr>
              <a:t>保留</a:t>
            </a:r>
          </a:p>
        </p:txBody>
      </p:sp>
      <p:sp>
        <p:nvSpPr>
          <p:cNvPr id="17" name="paper-v-2">
            <a:extLst xmlns:a="http://schemas.openxmlformats.org/drawingml/2006/main">
              <a:ext uri="{FF2B5EF4-FFF2-40B4-BE49-F238E27FC236}">
                <a16:creationId xmlns:a16="http://schemas.microsoft.com/office/drawing/2014/main" id="{2A1E1737-2F14-4B8A-9948-24F70E51B7EF}"/>
              </a:ext>
            </a:extLst>
          </p:cNvPr>
          <p:cNvSpPr>
            <a:spLocks xmlns:a="http://schemas.openxmlformats.org/drawingml/2006/main" noGrp="1"/>
          </p:cNvSpPr>
          <p:nvPr/>
        </p:nvSpPr>
        <p:spPr>
          <a:xfrm xmlns:a="http://schemas.openxmlformats.org/drawingml/2006/main">
            <a:off x="7219950" y="4219575"/>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64747B"/>
                </a:solidFill>
              </a:defRPr>
            </a:pPr>
            <a:r>
              <a:rPr sz="1200" b="1">
                <a:solidFill>
                  <a:srgbClr val="64747B"/>
                </a:solidFill>
              </a:rPr>
              <a:t>多轮 response token · stateful tools · GRPO · failure loop</a:t>
            </a:r>
          </a:p>
        </p:txBody>
      </p:sp>
      <p:sp>
        <p:nvSpPr>
          <p:cNvPr id="18" name="">
            <a:extLst xmlns:a="http://schemas.openxmlformats.org/drawingml/2006/main">
              <a:ext uri="{FF2B5EF4-FFF2-40B4-BE49-F238E27FC236}">
                <a16:creationId xmlns:a16="http://schemas.microsoft.com/office/drawing/2014/main" id="{920946B0-50B0-492D-9B77-A0F56876B66A}"/>
              </a:ext>
            </a:extLst>
          </p:cNvPr>
          <p:cNvSpPr>
            <a:spLocks xmlns:a="http://schemas.openxmlformats.org/drawingml/2006/main" noGrp="1"/>
          </p:cNvSpPr>
          <p:nvPr/>
        </p:nvSpPr>
        <p:spPr>
          <a:xfrm xmlns:a="http://schemas.openxmlformats.org/drawingml/2006/main">
            <a:off x="6667500" y="4895850"/>
            <a:ext cx="342900" cy="0"/>
          </a:xfrm>
          <a:prstGeom xmlns:a="http://schemas.openxmlformats.org/drawingml/2006/main" prst="line">
            <a:avLst/>
          </a:prstGeom>
          <a:noFill xmlns:a="http://schemas.openxmlformats.org/drawingml/2006/main"/>
          <a:ln xmlns:a="http://schemas.openxmlformats.org/drawingml/2006/main" w="47625">
            <a:solidFill>
              <a:srgbClr val="B44C4C"/>
            </a:solidFill>
            <a:prstDash val="solid"/>
          </a:ln>
        </p:spPr>
      </p:sp>
      <p:sp>
        <p:nvSpPr>
          <p:cNvPr id="19" name="paper-k-3">
            <a:extLst xmlns:a="http://schemas.openxmlformats.org/drawingml/2006/main">
              <a:ext uri="{FF2B5EF4-FFF2-40B4-BE49-F238E27FC236}">
                <a16:creationId xmlns:a16="http://schemas.microsoft.com/office/drawing/2014/main" id="{73358AF8-423E-43D7-9118-E46275471CFF}"/>
              </a:ext>
            </a:extLst>
          </p:cNvPr>
          <p:cNvSpPr>
            <a:spLocks xmlns:a="http://schemas.openxmlformats.org/drawingml/2006/main" noGrp="1"/>
          </p:cNvSpPr>
          <p:nvPr/>
        </p:nvSpPr>
        <p:spPr>
          <a:xfrm xmlns:a="http://schemas.openxmlformats.org/drawingml/2006/main">
            <a:off x="7219950" y="47815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B44C4C"/>
                </a:solidFill>
              </a:defRPr>
            </a:pPr>
            <a:r>
              <a:rPr sz="1500" b="1">
                <a:solidFill>
                  <a:srgbClr val="B44C4C"/>
                </a:solidFill>
              </a:rPr>
              <a:t>不声称</a:t>
            </a:r>
          </a:p>
        </p:txBody>
      </p:sp>
      <p:sp>
        <p:nvSpPr>
          <p:cNvPr id="20" name="paper-v-3">
            <a:extLst xmlns:a="http://schemas.openxmlformats.org/drawingml/2006/main">
              <a:ext uri="{FF2B5EF4-FFF2-40B4-BE49-F238E27FC236}">
                <a16:creationId xmlns:a16="http://schemas.microsoft.com/office/drawing/2014/main" id="{D9C18988-2B4D-4B45-AD1C-9A34007FB7F4}"/>
              </a:ext>
            </a:extLst>
          </p:cNvPr>
          <p:cNvSpPr>
            <a:spLocks xmlns:a="http://schemas.openxmlformats.org/drawingml/2006/main" noGrp="1"/>
          </p:cNvSpPr>
          <p:nvPr/>
        </p:nvSpPr>
        <p:spPr>
          <a:xfrm xmlns:a="http://schemas.openxmlformats.org/drawingml/2006/main">
            <a:off x="7219950" y="5114925"/>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64747B"/>
                </a:solidFill>
              </a:defRPr>
            </a:pPr>
            <a:r>
              <a:rPr sz="1200" b="1">
                <a:solidFill>
                  <a:srgbClr val="64747B"/>
                </a:solidFill>
              </a:rPr>
              <a:t>论文 47.4 平均分 · 全量 TAU-2/BFCL · 统计显著性</a:t>
            </a:r>
          </a:p>
        </p:txBody>
      </p:sp>
    </p:spTree>
    <p:extLst>
      <p:ext uri="{BB962C8B-B14F-4D97-AF65-F5344CB8AC3E}">
        <p14:creationId xmlns:p14="http://schemas.microsoft.com/office/powerpoint/2010/main" val="2015676381"/>
      </p:ext>
    </p:extLst>
  </p:cSld>
</p:sld>
</file>

<file path=ppt/slides/slide4.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40" name="rail-4">
            <a:extLst xmlns:a="http://schemas.openxmlformats.org/drawingml/2006/main">
              <a:ext uri="{FF2B5EF4-FFF2-40B4-BE49-F238E27FC236}">
                <a16:creationId xmlns:a16="http://schemas.microsoft.com/office/drawing/2014/main" id="{588669C9-DB02-4493-A0D7-538E265E2856}"/>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4">
            <a:extLst xmlns:a="http://schemas.openxmlformats.org/drawingml/2006/main">
              <a:ext uri="{FF2B5EF4-FFF2-40B4-BE49-F238E27FC236}">
                <a16:creationId xmlns:a16="http://schemas.microsoft.com/office/drawing/2014/main" id="{78A3B7C3-02A1-4D96-9863-A908B8FB449E}"/>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4">
            <a:extLst xmlns:a="http://schemas.openxmlformats.org/drawingml/2006/main">
              <a:ext uri="{FF2B5EF4-FFF2-40B4-BE49-F238E27FC236}">
                <a16:creationId xmlns:a16="http://schemas.microsoft.com/office/drawing/2014/main" id="{DAB71A8A-BF1B-4E3B-9BA9-28A3D432F28C}"/>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SYSTEM ARCHITECTURE</a:t>
            </a:r>
          </a:p>
        </p:txBody>
      </p:sp>
      <p:sp>
        <p:nvSpPr>
          <p:cNvPr id="4" name="title-4">
            <a:extLst xmlns:a="http://schemas.openxmlformats.org/drawingml/2006/main">
              <a:ext uri="{FF2B5EF4-FFF2-40B4-BE49-F238E27FC236}">
                <a16:creationId xmlns:a16="http://schemas.microsoft.com/office/drawing/2014/main" id="{B228C582-AAA7-4E46-AC5C-E01863B7CCB8}"/>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一次 rollout 究竟发生了什么？</a:t>
            </a:r>
          </a:p>
        </p:txBody>
      </p:sp>
      <p:sp>
        <p:nvSpPr>
          <p:cNvPr id="5" name="subtitle-4">
            <a:extLst xmlns:a="http://schemas.openxmlformats.org/drawingml/2006/main">
              <a:ext uri="{FF2B5EF4-FFF2-40B4-BE49-F238E27FC236}">
                <a16:creationId xmlns:a16="http://schemas.microsoft.com/office/drawing/2014/main" id="{D8DD4F4F-6BBA-49B1-BFDB-60A87F184138}"/>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模型不能直接改业务状态；所有 side effect 都经过工具、先决条件和 verifier。</a:t>
            </a:r>
          </a:p>
        </p:txBody>
      </p:sp>
      <p:sp>
        <p:nvSpPr>
          <p:cNvPr id="6" name="">
            <a:extLst xmlns:a="http://schemas.openxmlformats.org/drawingml/2006/main">
              <a:ext uri="{FF2B5EF4-FFF2-40B4-BE49-F238E27FC236}">
                <a16:creationId xmlns:a16="http://schemas.microsoft.com/office/drawing/2014/main" id="{33D3D404-4E90-469C-B05B-1B8CD5297778}"/>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4">
            <a:extLst xmlns:a="http://schemas.openxmlformats.org/drawingml/2006/main">
              <a:ext uri="{FF2B5EF4-FFF2-40B4-BE49-F238E27FC236}">
                <a16:creationId xmlns:a16="http://schemas.microsoft.com/office/drawing/2014/main" id="{4A42D60B-B7F5-4972-9327-8BBCA348FBE2}"/>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04</a:t>
            </a:r>
          </a:p>
        </p:txBody>
      </p:sp>
      <p:sp>
        <p:nvSpPr>
          <p:cNvPr id="8" name="">
            <a:extLst xmlns:a="http://schemas.openxmlformats.org/drawingml/2006/main">
              <a:ext uri="{FF2B5EF4-FFF2-40B4-BE49-F238E27FC236}">
                <a16:creationId xmlns:a16="http://schemas.microsoft.com/office/drawing/2014/main" id="{5F7B6185-15AE-459D-88F2-C7C65681A9FC}"/>
              </a:ext>
            </a:extLst>
          </p:cNvPr>
          <p:cNvSpPr>
            <a:spLocks xmlns:a="http://schemas.openxmlformats.org/drawingml/2006/main" noGrp="1"/>
          </p:cNvSpPr>
          <p:nvPr/>
        </p:nvSpPr>
        <p:spPr>
          <a:xfrm xmlns:a="http://schemas.openxmlformats.org/drawingml/2006/main">
            <a:off x="2381250" y="3438525"/>
            <a:ext cx="514350" cy="0"/>
          </a:xfrm>
          <a:prstGeom xmlns:a="http://schemas.openxmlformats.org/drawingml/2006/main" prst="line">
            <a:avLst/>
          </a:prstGeom>
          <a:noFill xmlns:a="http://schemas.openxmlformats.org/drawingml/2006/main"/>
          <a:ln xmlns:a="http://schemas.openxmlformats.org/drawingml/2006/main" w="19050">
            <a:solidFill>
              <a:srgbClr val="0B797B"/>
            </a:solidFill>
            <a:prstDash val="solid"/>
          </a:ln>
        </p:spPr>
      </p:sp>
      <p:sp>
        <p:nvSpPr>
          <p:cNvPr id="9" name="">
            <a:extLst xmlns:a="http://schemas.openxmlformats.org/drawingml/2006/main">
              <a:ext uri="{FF2B5EF4-FFF2-40B4-BE49-F238E27FC236}">
                <a16:creationId xmlns:a16="http://schemas.microsoft.com/office/drawing/2014/main" id="{2D463DB2-37FA-40A7-BFA9-345D02252A75}"/>
              </a:ext>
            </a:extLst>
          </p:cNvPr>
          <p:cNvSpPr>
            <a:spLocks xmlns:a="http://schemas.openxmlformats.org/drawingml/2006/main" noGrp="1"/>
          </p:cNvSpPr>
          <p:nvPr/>
        </p:nvSpPr>
        <p:spPr>
          <a:xfrm xmlns:a="http://schemas.openxmlformats.org/drawingml/2006/main">
            <a:off x="4533900" y="3438525"/>
            <a:ext cx="685800" cy="0"/>
          </a:xfrm>
          <a:prstGeom xmlns:a="http://schemas.openxmlformats.org/drawingml/2006/main" prst="line">
            <a:avLst/>
          </a:prstGeom>
          <a:noFill xmlns:a="http://schemas.openxmlformats.org/drawingml/2006/main"/>
          <a:ln xmlns:a="http://schemas.openxmlformats.org/drawingml/2006/main" w="19050">
            <a:solidFill>
              <a:srgbClr val="0B797B"/>
            </a:solidFill>
            <a:prstDash val="solid"/>
          </a:ln>
        </p:spPr>
      </p:sp>
      <p:sp>
        <p:nvSpPr>
          <p:cNvPr id="10" name="">
            <a:extLst xmlns:a="http://schemas.openxmlformats.org/drawingml/2006/main">
              <a:ext uri="{FF2B5EF4-FFF2-40B4-BE49-F238E27FC236}">
                <a16:creationId xmlns:a16="http://schemas.microsoft.com/office/drawing/2014/main" id="{16AB56DE-84A4-444D-B75C-C69C9CCE560D}"/>
              </a:ext>
            </a:extLst>
          </p:cNvPr>
          <p:cNvSpPr>
            <a:spLocks xmlns:a="http://schemas.openxmlformats.org/drawingml/2006/main" noGrp="1"/>
          </p:cNvSpPr>
          <p:nvPr/>
        </p:nvSpPr>
        <p:spPr>
          <a:xfrm xmlns:a="http://schemas.openxmlformats.org/drawingml/2006/main">
            <a:off x="6858000" y="3438525"/>
            <a:ext cx="685800" cy="0"/>
          </a:xfrm>
          <a:prstGeom xmlns:a="http://schemas.openxmlformats.org/drawingml/2006/main" prst="line">
            <a:avLst/>
          </a:prstGeom>
          <a:noFill xmlns:a="http://schemas.openxmlformats.org/drawingml/2006/main"/>
          <a:ln xmlns:a="http://schemas.openxmlformats.org/drawingml/2006/main" w="19050">
            <a:solidFill>
              <a:srgbClr val="0B797B"/>
            </a:solidFill>
            <a:prstDash val="solid"/>
          </a:ln>
        </p:spPr>
      </p:sp>
      <p:sp>
        <p:nvSpPr>
          <p:cNvPr id="11" name="">
            <a:extLst xmlns:a="http://schemas.openxmlformats.org/drawingml/2006/main">
              <a:ext uri="{FF2B5EF4-FFF2-40B4-BE49-F238E27FC236}">
                <a16:creationId xmlns:a16="http://schemas.microsoft.com/office/drawing/2014/main" id="{24B8291A-DCC8-4571-830E-733CB84EF1EE}"/>
              </a:ext>
            </a:extLst>
          </p:cNvPr>
          <p:cNvSpPr>
            <a:spLocks xmlns:a="http://schemas.openxmlformats.org/drawingml/2006/main" noGrp="1"/>
          </p:cNvSpPr>
          <p:nvPr/>
        </p:nvSpPr>
        <p:spPr>
          <a:xfrm xmlns:a="http://schemas.openxmlformats.org/drawingml/2006/main">
            <a:off x="9182100" y="3438525"/>
            <a:ext cx="685800" cy="0"/>
          </a:xfrm>
          <a:prstGeom xmlns:a="http://schemas.openxmlformats.org/drawingml/2006/main" prst="line">
            <a:avLst/>
          </a:prstGeom>
          <a:noFill xmlns:a="http://schemas.openxmlformats.org/drawingml/2006/main"/>
          <a:ln xmlns:a="http://schemas.openxmlformats.org/drawingml/2006/main" w="19050">
            <a:solidFill>
              <a:srgbClr val="0B797B"/>
            </a:solidFill>
            <a:prstDash val="solid"/>
          </a:ln>
        </p:spPr>
      </p:sp>
      <p:sp>
        <p:nvSpPr>
          <p:cNvPr id="12" name="arch-0">
            <a:extLst xmlns:a="http://schemas.openxmlformats.org/drawingml/2006/main">
              <a:ext uri="{FF2B5EF4-FFF2-40B4-BE49-F238E27FC236}">
                <a16:creationId xmlns:a16="http://schemas.microsoft.com/office/drawing/2014/main" id="{14924BCD-5D81-4D54-AB19-6ABFCB3BB668}"/>
              </a:ext>
            </a:extLst>
          </p:cNvPr>
          <p:cNvSpPr>
            <a:spLocks xmlns:a="http://schemas.openxmlformats.org/drawingml/2006/main" noGrp="1"/>
          </p:cNvSpPr>
          <p:nvPr/>
        </p:nvSpPr>
        <p:spPr>
          <a:xfrm xmlns:a="http://schemas.openxmlformats.org/drawingml/2006/main">
            <a:off x="742950" y="2714625"/>
            <a:ext cx="1638300" cy="1447800"/>
          </a:xfrm>
          <a:prstGeom xmlns:a="http://schemas.openxmlformats.org/drawingml/2006/main" prst="roundRect">
            <a:avLst>
              <a:gd name="adj" fmla="val 7895"/>
            </a:avLst>
          </a:prstGeom>
          <a:solidFill xmlns:a="http://schemas.openxmlformats.org/drawingml/2006/main">
            <a:srgbClr val="F7F1E8"/>
          </a:solidFill>
          <a:ln xmlns:a="http://schemas.openxmlformats.org/drawingml/2006/main" w="9525">
            <a:solidFill>
              <a:srgbClr val="CAD9D8"/>
            </a:solidFill>
            <a:prstDash val="solid"/>
          </a:ln>
        </p:spPr>
      </p:sp>
      <p:sp>
        <p:nvSpPr>
          <p:cNvPr id="13" name="arch-k-0">
            <a:extLst xmlns:a="http://schemas.openxmlformats.org/drawingml/2006/main">
              <a:ext uri="{FF2B5EF4-FFF2-40B4-BE49-F238E27FC236}">
                <a16:creationId xmlns:a16="http://schemas.microsoft.com/office/drawing/2014/main" id="{CBEA8915-D124-4511-979D-98B45C320210}"/>
              </a:ext>
            </a:extLst>
          </p:cNvPr>
          <p:cNvSpPr>
            <a:spLocks xmlns:a="http://schemas.openxmlformats.org/drawingml/2006/main" noGrp="1"/>
          </p:cNvSpPr>
          <p:nvPr/>
        </p:nvSpPr>
        <p:spPr>
          <a:xfrm xmlns:a="http://schemas.openxmlformats.org/drawingml/2006/main">
            <a:off x="885825" y="2924175"/>
            <a:ext cx="13525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0B797B"/>
                </a:solidFill>
              </a:defRPr>
            </a:pPr>
            <a:r>
              <a:rPr sz="1050" b="1">
                <a:solidFill>
                  <a:srgbClr val="0B797B"/>
                </a:solidFill>
              </a:rPr>
              <a:t>PROMPT</a:t>
            </a:r>
          </a:p>
        </p:txBody>
      </p:sp>
      <p:sp>
        <p:nvSpPr>
          <p:cNvPr id="14" name="arch-v-0">
            <a:extLst xmlns:a="http://schemas.openxmlformats.org/drawingml/2006/main">
              <a:ext uri="{FF2B5EF4-FFF2-40B4-BE49-F238E27FC236}">
                <a16:creationId xmlns:a16="http://schemas.microsoft.com/office/drawing/2014/main" id="{08263594-99AA-454A-80F7-F17493DFE61E}"/>
              </a:ext>
            </a:extLst>
          </p:cNvPr>
          <p:cNvSpPr>
            <a:spLocks xmlns:a="http://schemas.openxmlformats.org/drawingml/2006/main" noGrp="1"/>
          </p:cNvSpPr>
          <p:nvPr/>
        </p:nvSpPr>
        <p:spPr>
          <a:xfrm xmlns:a="http://schemas.openxmlformats.org/drawingml/2006/main">
            <a:off x="885825" y="3381375"/>
            <a:ext cx="1352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071A2B"/>
                </a:solidFill>
              </a:defRPr>
            </a:pPr>
            <a:r>
              <a:rPr sz="1350" b="1">
                <a:solidFill>
                  <a:srgbClr val="071A2B"/>
                </a:solidFill>
              </a:rPr>
              <a:t>模糊退款诉求</a:t>
            </a:r>
          </a:p>
        </p:txBody>
      </p:sp>
      <p:sp>
        <p:nvSpPr>
          <p:cNvPr id="15" name="arch-1">
            <a:extLst xmlns:a="http://schemas.openxmlformats.org/drawingml/2006/main">
              <a:ext uri="{FF2B5EF4-FFF2-40B4-BE49-F238E27FC236}">
                <a16:creationId xmlns:a16="http://schemas.microsoft.com/office/drawing/2014/main" id="{2E7012E5-E512-4B92-992D-65E85FEC7AAB}"/>
              </a:ext>
            </a:extLst>
          </p:cNvPr>
          <p:cNvSpPr>
            <a:spLocks xmlns:a="http://schemas.openxmlformats.org/drawingml/2006/main" noGrp="1"/>
          </p:cNvSpPr>
          <p:nvPr/>
        </p:nvSpPr>
        <p:spPr>
          <a:xfrm xmlns:a="http://schemas.openxmlformats.org/drawingml/2006/main">
            <a:off x="2895600" y="2714625"/>
            <a:ext cx="1638300" cy="1447800"/>
          </a:xfrm>
          <a:prstGeom xmlns:a="http://schemas.openxmlformats.org/drawingml/2006/main" prst="roundRect">
            <a:avLst>
              <a:gd name="adj" fmla="val 7895"/>
            </a:avLst>
          </a:prstGeom>
          <a:solidFill xmlns:a="http://schemas.openxmlformats.org/drawingml/2006/main">
            <a:srgbClr val="E5F5F3"/>
          </a:solidFill>
          <a:ln xmlns:a="http://schemas.openxmlformats.org/drawingml/2006/main" w="9525">
            <a:solidFill>
              <a:srgbClr val="CAD9D8"/>
            </a:solidFill>
            <a:prstDash val="solid"/>
          </a:ln>
        </p:spPr>
      </p:sp>
      <p:sp>
        <p:nvSpPr>
          <p:cNvPr id="16" name="arch-k-1">
            <a:extLst xmlns:a="http://schemas.openxmlformats.org/drawingml/2006/main">
              <a:ext uri="{FF2B5EF4-FFF2-40B4-BE49-F238E27FC236}">
                <a16:creationId xmlns:a16="http://schemas.microsoft.com/office/drawing/2014/main" id="{A337F2BC-522E-418C-9649-96505B44E996}"/>
              </a:ext>
            </a:extLst>
          </p:cNvPr>
          <p:cNvSpPr>
            <a:spLocks xmlns:a="http://schemas.openxmlformats.org/drawingml/2006/main" noGrp="1"/>
          </p:cNvSpPr>
          <p:nvPr/>
        </p:nvSpPr>
        <p:spPr>
          <a:xfrm xmlns:a="http://schemas.openxmlformats.org/drawingml/2006/main">
            <a:off x="3038475" y="2924175"/>
            <a:ext cx="13525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0B797B"/>
                </a:solidFill>
              </a:defRPr>
            </a:pPr>
            <a:r>
              <a:rPr sz="1050" b="1">
                <a:solidFill>
                  <a:srgbClr val="0B797B"/>
                </a:solidFill>
              </a:rPr>
              <a:t>POLICY</a:t>
            </a:r>
          </a:p>
        </p:txBody>
      </p:sp>
      <p:sp>
        <p:nvSpPr>
          <p:cNvPr id="17" name="arch-v-1">
            <a:extLst xmlns:a="http://schemas.openxmlformats.org/drawingml/2006/main">
              <a:ext uri="{FF2B5EF4-FFF2-40B4-BE49-F238E27FC236}">
                <a16:creationId xmlns:a16="http://schemas.microsoft.com/office/drawing/2014/main" id="{4BF46644-2B63-4452-9862-569668D5092B}"/>
              </a:ext>
            </a:extLst>
          </p:cNvPr>
          <p:cNvSpPr>
            <a:spLocks xmlns:a="http://schemas.openxmlformats.org/drawingml/2006/main" noGrp="1"/>
          </p:cNvSpPr>
          <p:nvPr/>
        </p:nvSpPr>
        <p:spPr>
          <a:xfrm xmlns:a="http://schemas.openxmlformats.org/drawingml/2006/main">
            <a:off x="3038475" y="3381375"/>
            <a:ext cx="1352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071A2B"/>
                </a:solidFill>
              </a:defRPr>
            </a:pPr>
            <a:r>
              <a:rPr sz="1350" b="1">
                <a:solidFill>
                  <a:srgbClr val="071A2B"/>
                </a:solidFill>
              </a:rPr>
              <a:t>Qwen3-8B</a:t>
            </a:r>
          </a:p>
          <a:p xmlns:a="http://schemas.openxmlformats.org/drawingml/2006/main">
            <a:pPr algn="ctr">
              <a:defRPr sz="1350" b="1">
                <a:solidFill>
                  <a:srgbClr val="071A2B"/>
                </a:solidFill>
              </a:defRPr>
            </a:pPr>
            <a:r>
              <a:rPr sz="1350" b="1">
                <a:solidFill>
                  <a:srgbClr val="071A2B"/>
                </a:solidFill>
              </a:rPr>
              <a:t>response tokens</a:t>
            </a:r>
          </a:p>
        </p:txBody>
      </p:sp>
      <p:sp>
        <p:nvSpPr>
          <p:cNvPr id="18" name="arch-2">
            <a:extLst xmlns:a="http://schemas.openxmlformats.org/drawingml/2006/main">
              <a:ext uri="{FF2B5EF4-FFF2-40B4-BE49-F238E27FC236}">
                <a16:creationId xmlns:a16="http://schemas.microsoft.com/office/drawing/2014/main" id="{C64D1B21-FA90-4377-9F72-F61848414D34}"/>
              </a:ext>
            </a:extLst>
          </p:cNvPr>
          <p:cNvSpPr>
            <a:spLocks xmlns:a="http://schemas.openxmlformats.org/drawingml/2006/main" noGrp="1"/>
          </p:cNvSpPr>
          <p:nvPr/>
        </p:nvSpPr>
        <p:spPr>
          <a:xfrm xmlns:a="http://schemas.openxmlformats.org/drawingml/2006/main">
            <a:off x="5219700" y="2714625"/>
            <a:ext cx="1638300" cy="1447800"/>
          </a:xfrm>
          <a:prstGeom xmlns:a="http://schemas.openxmlformats.org/drawingml/2006/main" prst="roundRect">
            <a:avLst>
              <a:gd name="adj" fmla="val 7895"/>
            </a:avLst>
          </a:prstGeom>
          <a:solidFill xmlns:a="http://schemas.openxmlformats.org/drawingml/2006/main">
            <a:srgbClr val="FAF2DE"/>
          </a:solidFill>
          <a:ln xmlns:a="http://schemas.openxmlformats.org/drawingml/2006/main" w="9525">
            <a:solidFill>
              <a:srgbClr val="CAD9D8"/>
            </a:solidFill>
            <a:prstDash val="solid"/>
          </a:ln>
        </p:spPr>
      </p:sp>
      <p:sp>
        <p:nvSpPr>
          <p:cNvPr id="19" name="arch-k-2">
            <a:extLst xmlns:a="http://schemas.openxmlformats.org/drawingml/2006/main">
              <a:ext uri="{FF2B5EF4-FFF2-40B4-BE49-F238E27FC236}">
                <a16:creationId xmlns:a16="http://schemas.microsoft.com/office/drawing/2014/main" id="{CD98464F-4943-4D02-92C8-A415FE505D6E}"/>
              </a:ext>
            </a:extLst>
          </p:cNvPr>
          <p:cNvSpPr>
            <a:spLocks xmlns:a="http://schemas.openxmlformats.org/drawingml/2006/main" noGrp="1"/>
          </p:cNvSpPr>
          <p:nvPr/>
        </p:nvSpPr>
        <p:spPr>
          <a:xfrm xmlns:a="http://schemas.openxmlformats.org/drawingml/2006/main">
            <a:off x="5362575" y="2924175"/>
            <a:ext cx="13525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0B797B"/>
                </a:solidFill>
              </a:defRPr>
            </a:pPr>
            <a:r>
              <a:rPr sz="1050" b="1">
                <a:solidFill>
                  <a:srgbClr val="0B797B"/>
                </a:solidFill>
              </a:rPr>
              <a:t>TOOLS</a:t>
            </a:r>
          </a:p>
        </p:txBody>
      </p:sp>
      <p:sp>
        <p:nvSpPr>
          <p:cNvPr id="20" name="arch-v-2">
            <a:extLst xmlns:a="http://schemas.openxmlformats.org/drawingml/2006/main">
              <a:ext uri="{FF2B5EF4-FFF2-40B4-BE49-F238E27FC236}">
                <a16:creationId xmlns:a16="http://schemas.microsoft.com/office/drawing/2014/main" id="{88B29030-693A-4BF1-AD88-65D5A3A401EA}"/>
              </a:ext>
            </a:extLst>
          </p:cNvPr>
          <p:cNvSpPr>
            <a:spLocks xmlns:a="http://schemas.openxmlformats.org/drawingml/2006/main" noGrp="1"/>
          </p:cNvSpPr>
          <p:nvPr/>
        </p:nvSpPr>
        <p:spPr>
          <a:xfrm xmlns:a="http://schemas.openxmlformats.org/drawingml/2006/main">
            <a:off x="5362575" y="3381375"/>
            <a:ext cx="1352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071A2B"/>
                </a:solidFill>
              </a:defRPr>
            </a:pPr>
            <a:r>
              <a:rPr sz="1350" b="1">
                <a:solidFill>
                  <a:srgbClr val="071A2B"/>
                </a:solidFill>
              </a:rPr>
              <a:t>7 个工具</a:t>
            </a:r>
          </a:p>
          <a:p xmlns:a="http://schemas.openxmlformats.org/drawingml/2006/main">
            <a:pPr algn="ctr">
              <a:defRPr sz="1350" b="1">
                <a:solidFill>
                  <a:srgbClr val="071A2B"/>
                </a:solidFill>
              </a:defRPr>
            </a:pPr>
            <a:r>
              <a:rPr sz="1350" b="1">
                <a:solidFill>
                  <a:srgbClr val="071A2B"/>
                </a:solidFill>
              </a:rPr>
              <a:t>observation</a:t>
            </a:r>
          </a:p>
        </p:txBody>
      </p:sp>
      <p:sp>
        <p:nvSpPr>
          <p:cNvPr id="21" name="arch-3">
            <a:extLst xmlns:a="http://schemas.openxmlformats.org/drawingml/2006/main">
              <a:ext uri="{FF2B5EF4-FFF2-40B4-BE49-F238E27FC236}">
                <a16:creationId xmlns:a16="http://schemas.microsoft.com/office/drawing/2014/main" id="{877845EC-B627-464D-8310-B8135E8F8FAF}"/>
              </a:ext>
            </a:extLst>
          </p:cNvPr>
          <p:cNvSpPr>
            <a:spLocks xmlns:a="http://schemas.openxmlformats.org/drawingml/2006/main" noGrp="1"/>
          </p:cNvSpPr>
          <p:nvPr/>
        </p:nvSpPr>
        <p:spPr>
          <a:xfrm xmlns:a="http://schemas.openxmlformats.org/drawingml/2006/main">
            <a:off x="7543800" y="2714625"/>
            <a:ext cx="1638300" cy="1447800"/>
          </a:xfrm>
          <a:prstGeom xmlns:a="http://schemas.openxmlformats.org/drawingml/2006/main" prst="roundRect">
            <a:avLst>
              <a:gd name="adj" fmla="val 7895"/>
            </a:avLst>
          </a:prstGeom>
          <a:solidFill xmlns:a="http://schemas.openxmlformats.org/drawingml/2006/main">
            <a:srgbClr val="E5F5F3"/>
          </a:solidFill>
          <a:ln xmlns:a="http://schemas.openxmlformats.org/drawingml/2006/main" w="9525">
            <a:solidFill>
              <a:srgbClr val="CAD9D8"/>
            </a:solidFill>
            <a:prstDash val="solid"/>
          </a:ln>
        </p:spPr>
      </p:sp>
      <p:sp>
        <p:nvSpPr>
          <p:cNvPr id="22" name="arch-k-3">
            <a:extLst xmlns:a="http://schemas.openxmlformats.org/drawingml/2006/main">
              <a:ext uri="{FF2B5EF4-FFF2-40B4-BE49-F238E27FC236}">
                <a16:creationId xmlns:a16="http://schemas.microsoft.com/office/drawing/2014/main" id="{A47A0070-8FE6-4649-AF09-76006CA512AD}"/>
              </a:ext>
            </a:extLst>
          </p:cNvPr>
          <p:cNvSpPr>
            <a:spLocks xmlns:a="http://schemas.openxmlformats.org/drawingml/2006/main" noGrp="1"/>
          </p:cNvSpPr>
          <p:nvPr/>
        </p:nvSpPr>
        <p:spPr>
          <a:xfrm xmlns:a="http://schemas.openxmlformats.org/drawingml/2006/main">
            <a:off x="7686675" y="2924175"/>
            <a:ext cx="13525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0B797B"/>
                </a:solidFill>
              </a:defRPr>
            </a:pPr>
            <a:r>
              <a:rPr sz="1050" b="1">
                <a:solidFill>
                  <a:srgbClr val="0B797B"/>
                </a:solidFill>
              </a:rPr>
              <a:t>STATE</a:t>
            </a:r>
          </a:p>
        </p:txBody>
      </p:sp>
      <p:sp>
        <p:nvSpPr>
          <p:cNvPr id="23" name="arch-v-3">
            <a:extLst xmlns:a="http://schemas.openxmlformats.org/drawingml/2006/main">
              <a:ext uri="{FF2B5EF4-FFF2-40B4-BE49-F238E27FC236}">
                <a16:creationId xmlns:a16="http://schemas.microsoft.com/office/drawing/2014/main" id="{D22B7718-E33A-4A3A-8805-694792D37079}"/>
              </a:ext>
            </a:extLst>
          </p:cNvPr>
          <p:cNvSpPr>
            <a:spLocks xmlns:a="http://schemas.openxmlformats.org/drawingml/2006/main" noGrp="1"/>
          </p:cNvSpPr>
          <p:nvPr/>
        </p:nvSpPr>
        <p:spPr>
          <a:xfrm xmlns:a="http://schemas.openxmlformats.org/drawingml/2006/main">
            <a:off x="7686675" y="3381375"/>
            <a:ext cx="1352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071A2B"/>
                </a:solidFill>
              </a:defRPr>
            </a:pPr>
            <a:r>
              <a:rPr sz="1350" b="1">
                <a:solidFill>
                  <a:srgbClr val="071A2B"/>
                </a:solidFill>
              </a:rPr>
              <a:t>身份/订单/支付</a:t>
            </a:r>
          </a:p>
          <a:p xmlns:a="http://schemas.openxmlformats.org/drawingml/2006/main">
            <a:pPr algn="ctr">
              <a:defRPr sz="1350" b="1">
                <a:solidFill>
                  <a:srgbClr val="071A2B"/>
                </a:solidFill>
              </a:defRPr>
            </a:pPr>
            <a:r>
              <a:rPr sz="1350" b="1">
                <a:solidFill>
                  <a:srgbClr val="071A2B"/>
                </a:solidFill>
              </a:rPr>
              <a:t>确认/退款</a:t>
            </a:r>
          </a:p>
        </p:txBody>
      </p:sp>
      <p:sp>
        <p:nvSpPr>
          <p:cNvPr id="24" name="arch-4">
            <a:extLst xmlns:a="http://schemas.openxmlformats.org/drawingml/2006/main">
              <a:ext uri="{FF2B5EF4-FFF2-40B4-BE49-F238E27FC236}">
                <a16:creationId xmlns:a16="http://schemas.microsoft.com/office/drawing/2014/main" id="{301427D7-580D-4866-AE12-F434C7820624}"/>
              </a:ext>
            </a:extLst>
          </p:cNvPr>
          <p:cNvSpPr>
            <a:spLocks xmlns:a="http://schemas.openxmlformats.org/drawingml/2006/main" noGrp="1"/>
          </p:cNvSpPr>
          <p:nvPr/>
        </p:nvSpPr>
        <p:spPr>
          <a:xfrm xmlns:a="http://schemas.openxmlformats.org/drawingml/2006/main">
            <a:off x="9867900" y="2714625"/>
            <a:ext cx="1638300" cy="1447800"/>
          </a:xfrm>
          <a:prstGeom xmlns:a="http://schemas.openxmlformats.org/drawingml/2006/main" prst="roundRect">
            <a:avLst>
              <a:gd name="adj" fmla="val 7895"/>
            </a:avLst>
          </a:prstGeom>
          <a:solidFill xmlns:a="http://schemas.openxmlformats.org/drawingml/2006/main">
            <a:srgbClr val="F9E9E6"/>
          </a:solidFill>
          <a:ln xmlns:a="http://schemas.openxmlformats.org/drawingml/2006/main" w="9525">
            <a:solidFill>
              <a:srgbClr val="C56D4A"/>
            </a:solidFill>
            <a:prstDash val="solid"/>
          </a:ln>
        </p:spPr>
      </p:sp>
      <p:sp>
        <p:nvSpPr>
          <p:cNvPr id="25" name="arch-k-4">
            <a:extLst xmlns:a="http://schemas.openxmlformats.org/drawingml/2006/main">
              <a:ext uri="{FF2B5EF4-FFF2-40B4-BE49-F238E27FC236}">
                <a16:creationId xmlns:a16="http://schemas.microsoft.com/office/drawing/2014/main" id="{B73DC8C2-452D-4602-9114-61416BAA9760}"/>
              </a:ext>
            </a:extLst>
          </p:cNvPr>
          <p:cNvSpPr>
            <a:spLocks xmlns:a="http://schemas.openxmlformats.org/drawingml/2006/main" noGrp="1"/>
          </p:cNvSpPr>
          <p:nvPr/>
        </p:nvSpPr>
        <p:spPr>
          <a:xfrm xmlns:a="http://schemas.openxmlformats.org/drawingml/2006/main">
            <a:off x="10010775" y="2924175"/>
            <a:ext cx="13525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C56D4A"/>
                </a:solidFill>
              </a:defRPr>
            </a:pPr>
            <a:r>
              <a:rPr sz="1050" b="1">
                <a:solidFill>
                  <a:srgbClr val="C56D4A"/>
                </a:solidFill>
              </a:rPr>
              <a:t>REWARD</a:t>
            </a:r>
          </a:p>
        </p:txBody>
      </p:sp>
      <p:sp>
        <p:nvSpPr>
          <p:cNvPr id="26" name="arch-v-4">
            <a:extLst xmlns:a="http://schemas.openxmlformats.org/drawingml/2006/main">
              <a:ext uri="{FF2B5EF4-FFF2-40B4-BE49-F238E27FC236}">
                <a16:creationId xmlns:a16="http://schemas.microsoft.com/office/drawing/2014/main" id="{A81E2F08-6E6B-4254-99D8-806B008AB344}"/>
              </a:ext>
            </a:extLst>
          </p:cNvPr>
          <p:cNvSpPr>
            <a:spLocks xmlns:a="http://schemas.openxmlformats.org/drawingml/2006/main" noGrp="1"/>
          </p:cNvSpPr>
          <p:nvPr/>
        </p:nvSpPr>
        <p:spPr>
          <a:xfrm xmlns:a="http://schemas.openxmlformats.org/drawingml/2006/main">
            <a:off x="10010775" y="3381375"/>
            <a:ext cx="1352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071A2B"/>
                </a:solidFill>
              </a:defRPr>
            </a:pPr>
            <a:r>
              <a:rPr sz="1350" b="1">
                <a:solidFill>
                  <a:srgbClr val="071A2B"/>
                </a:solidFill>
              </a:rPr>
              <a:t>outcome +</a:t>
            </a:r>
          </a:p>
          <a:p xmlns:a="http://schemas.openxmlformats.org/drawingml/2006/main">
            <a:pPr algn="ctr">
              <a:defRPr sz="1350" b="1">
                <a:solidFill>
                  <a:srgbClr val="071A2B"/>
                </a:solidFill>
              </a:defRPr>
            </a:pPr>
            <a:r>
              <a:rPr sz="1350" b="1">
                <a:solidFill>
                  <a:srgbClr val="071A2B"/>
                </a:solidFill>
              </a:rPr>
              <a:t>0.30 process</a:t>
            </a:r>
          </a:p>
        </p:txBody>
      </p:sp>
      <p:sp>
        <p:nvSpPr>
          <p:cNvPr id="27" name="arch-loop">
            <a:extLst xmlns:a="http://schemas.openxmlformats.org/drawingml/2006/main">
              <a:ext uri="{FF2B5EF4-FFF2-40B4-BE49-F238E27FC236}">
                <a16:creationId xmlns:a16="http://schemas.microsoft.com/office/drawing/2014/main" id="{223B8CE2-F957-4B74-B362-77AB82FFD73A}"/>
              </a:ext>
            </a:extLst>
          </p:cNvPr>
          <p:cNvSpPr>
            <a:spLocks xmlns:a="http://schemas.openxmlformats.org/drawingml/2006/main" noGrp="1"/>
          </p:cNvSpPr>
          <p:nvPr/>
        </p:nvSpPr>
        <p:spPr>
          <a:xfrm xmlns:a="http://schemas.openxmlformats.org/drawingml/2006/main">
            <a:off x="2952750" y="4762500"/>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C56D4A"/>
                </a:solidFill>
              </a:defRPr>
            </a:pPr>
            <a:r>
              <a:rPr sz="1500" b="1">
                <a:solidFill>
                  <a:srgbClr val="C56D4A"/>
                </a:solidFill>
              </a:rPr>
              <a:t>↺ tool observation 回到同一对话，直到完成或 10 次上限</a:t>
            </a:r>
          </a:p>
        </p:txBody>
      </p:sp>
      <p:sp>
        <p:nvSpPr>
          <p:cNvPr id="28" name="">
            <a:extLst xmlns:a="http://schemas.openxmlformats.org/drawingml/2006/main">
              <a:ext uri="{FF2B5EF4-FFF2-40B4-BE49-F238E27FC236}">
                <a16:creationId xmlns:a16="http://schemas.microsoft.com/office/drawing/2014/main" id="{B6ACEB31-24A3-41B1-BCF8-A85950D98DEB}"/>
              </a:ext>
            </a:extLst>
          </p:cNvPr>
          <p:cNvSpPr>
            <a:spLocks xmlns:a="http://schemas.openxmlformats.org/drawingml/2006/main" noGrp="1"/>
          </p:cNvSpPr>
          <p:nvPr/>
        </p:nvSpPr>
        <p:spPr>
          <a:xfrm xmlns:a="http://schemas.openxmlformats.org/drawingml/2006/main">
            <a:off x="1619250" y="5429250"/>
            <a:ext cx="2000250" cy="0"/>
          </a:xfrm>
          <a:prstGeom xmlns:a="http://schemas.openxmlformats.org/drawingml/2006/main" prst="line">
            <a:avLst/>
          </a:prstGeom>
          <a:noFill xmlns:a="http://schemas.openxmlformats.org/drawingml/2006/main"/>
          <a:ln xmlns:a="http://schemas.openxmlformats.org/drawingml/2006/main" w="38100">
            <a:solidFill>
              <a:srgbClr val="18A6A6"/>
            </a:solidFill>
            <a:prstDash val="solid"/>
          </a:ln>
        </p:spPr>
      </p:sp>
      <p:sp>
        <p:nvSpPr>
          <p:cNvPr id="29" name="arch-tools-value">
            <a:extLst xmlns:a="http://schemas.openxmlformats.org/drawingml/2006/main">
              <a:ext uri="{FF2B5EF4-FFF2-40B4-BE49-F238E27FC236}">
                <a16:creationId xmlns:a16="http://schemas.microsoft.com/office/drawing/2014/main" id="{545A30A7-99DB-4C47-A589-CD1D360A64DC}"/>
              </a:ext>
            </a:extLst>
          </p:cNvPr>
          <p:cNvSpPr>
            <a:spLocks xmlns:a="http://schemas.openxmlformats.org/drawingml/2006/main" noGrp="1"/>
          </p:cNvSpPr>
          <p:nvPr/>
        </p:nvSpPr>
        <p:spPr>
          <a:xfrm xmlns:a="http://schemas.openxmlformats.org/drawingml/2006/main">
            <a:off x="1619250" y="5600700"/>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7</a:t>
            </a:r>
          </a:p>
        </p:txBody>
      </p:sp>
      <p:sp>
        <p:nvSpPr>
          <p:cNvPr id="30" name="arch-tools-label">
            <a:extLst xmlns:a="http://schemas.openxmlformats.org/drawingml/2006/main">
              <a:ext uri="{FF2B5EF4-FFF2-40B4-BE49-F238E27FC236}">
                <a16:creationId xmlns:a16="http://schemas.microsoft.com/office/drawing/2014/main" id="{603BD7EA-3143-47D6-A549-F00664AF229E}"/>
              </a:ext>
            </a:extLst>
          </p:cNvPr>
          <p:cNvSpPr>
            <a:spLocks xmlns:a="http://schemas.openxmlformats.org/drawingml/2006/main" noGrp="1"/>
          </p:cNvSpPr>
          <p:nvPr/>
        </p:nvSpPr>
        <p:spPr>
          <a:xfrm xmlns:a="http://schemas.openxmlformats.org/drawingml/2006/main">
            <a:off x="1619250" y="6172200"/>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typed tools</a:t>
            </a:r>
          </a:p>
        </p:txBody>
      </p:sp>
      <p:sp>
        <p:nvSpPr>
          <p:cNvPr id="31" name="">
            <a:extLst xmlns:a="http://schemas.openxmlformats.org/drawingml/2006/main">
              <a:ext uri="{FF2B5EF4-FFF2-40B4-BE49-F238E27FC236}">
                <a16:creationId xmlns:a16="http://schemas.microsoft.com/office/drawing/2014/main" id="{7484981D-1F04-4264-BE74-3826E1F344CB}"/>
              </a:ext>
            </a:extLst>
          </p:cNvPr>
          <p:cNvSpPr>
            <a:spLocks xmlns:a="http://schemas.openxmlformats.org/drawingml/2006/main" noGrp="1"/>
          </p:cNvSpPr>
          <p:nvPr/>
        </p:nvSpPr>
        <p:spPr>
          <a:xfrm xmlns:a="http://schemas.openxmlformats.org/drawingml/2006/main">
            <a:off x="4286250" y="5429250"/>
            <a:ext cx="2000250" cy="0"/>
          </a:xfrm>
          <a:prstGeom xmlns:a="http://schemas.openxmlformats.org/drawingml/2006/main" prst="line">
            <a:avLst/>
          </a:prstGeom>
          <a:noFill xmlns:a="http://schemas.openxmlformats.org/drawingml/2006/main"/>
          <a:ln xmlns:a="http://schemas.openxmlformats.org/drawingml/2006/main" w="38100">
            <a:solidFill>
              <a:srgbClr val="C56D4A"/>
            </a:solidFill>
            <a:prstDash val="solid"/>
          </a:ln>
        </p:spPr>
      </p:sp>
      <p:sp>
        <p:nvSpPr>
          <p:cNvPr id="32" name="arch-group-value">
            <a:extLst xmlns:a="http://schemas.openxmlformats.org/drawingml/2006/main">
              <a:ext uri="{FF2B5EF4-FFF2-40B4-BE49-F238E27FC236}">
                <a16:creationId xmlns:a16="http://schemas.microsoft.com/office/drawing/2014/main" id="{CEEB4AB8-EE32-4421-AE4A-90A78D8B96A9}"/>
              </a:ext>
            </a:extLst>
          </p:cNvPr>
          <p:cNvSpPr>
            <a:spLocks xmlns:a="http://schemas.openxmlformats.org/drawingml/2006/main" noGrp="1"/>
          </p:cNvSpPr>
          <p:nvPr/>
        </p:nvSpPr>
        <p:spPr>
          <a:xfrm xmlns:a="http://schemas.openxmlformats.org/drawingml/2006/main">
            <a:off x="4286250" y="5600700"/>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4</a:t>
            </a:r>
          </a:p>
        </p:txBody>
      </p:sp>
      <p:sp>
        <p:nvSpPr>
          <p:cNvPr id="33" name="arch-group-label">
            <a:extLst xmlns:a="http://schemas.openxmlformats.org/drawingml/2006/main">
              <a:ext uri="{FF2B5EF4-FFF2-40B4-BE49-F238E27FC236}">
                <a16:creationId xmlns:a16="http://schemas.microsoft.com/office/drawing/2014/main" id="{8046CB6B-E89B-4359-9B04-AAAAE544A4F1}"/>
              </a:ext>
            </a:extLst>
          </p:cNvPr>
          <p:cNvSpPr>
            <a:spLocks xmlns:a="http://schemas.openxmlformats.org/drawingml/2006/main" noGrp="1"/>
          </p:cNvSpPr>
          <p:nvPr/>
        </p:nvSpPr>
        <p:spPr>
          <a:xfrm xmlns:a="http://schemas.openxmlformats.org/drawingml/2006/main">
            <a:off x="4286250" y="6172200"/>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rollouts / group</a:t>
            </a:r>
          </a:p>
        </p:txBody>
      </p:sp>
      <p:sp>
        <p:nvSpPr>
          <p:cNvPr id="34" name="">
            <a:extLst xmlns:a="http://schemas.openxmlformats.org/drawingml/2006/main">
              <a:ext uri="{FF2B5EF4-FFF2-40B4-BE49-F238E27FC236}">
                <a16:creationId xmlns:a16="http://schemas.microsoft.com/office/drawing/2014/main" id="{2842E2F8-A32C-44C1-95B0-636201624C06}"/>
              </a:ext>
            </a:extLst>
          </p:cNvPr>
          <p:cNvSpPr>
            <a:spLocks xmlns:a="http://schemas.openxmlformats.org/drawingml/2006/main" noGrp="1"/>
          </p:cNvSpPr>
          <p:nvPr/>
        </p:nvSpPr>
        <p:spPr>
          <a:xfrm xmlns:a="http://schemas.openxmlformats.org/drawingml/2006/main">
            <a:off x="6953250" y="5429250"/>
            <a:ext cx="2000250" cy="0"/>
          </a:xfrm>
          <a:prstGeom xmlns:a="http://schemas.openxmlformats.org/drawingml/2006/main" prst="line">
            <a:avLst/>
          </a:prstGeom>
          <a:noFill xmlns:a="http://schemas.openxmlformats.org/drawingml/2006/main"/>
          <a:ln xmlns:a="http://schemas.openxmlformats.org/drawingml/2006/main" w="38100">
            <a:solidFill>
              <a:srgbClr val="D6A84B"/>
            </a:solidFill>
            <a:prstDash val="solid"/>
          </a:ln>
        </p:spPr>
      </p:sp>
      <p:sp>
        <p:nvSpPr>
          <p:cNvPr id="35" name="arch-max-value">
            <a:extLst xmlns:a="http://schemas.openxmlformats.org/drawingml/2006/main">
              <a:ext uri="{FF2B5EF4-FFF2-40B4-BE49-F238E27FC236}">
                <a16:creationId xmlns:a16="http://schemas.microsoft.com/office/drawing/2014/main" id="{3AFC8C1F-61AA-4851-9A03-D5321C652605}"/>
              </a:ext>
            </a:extLst>
          </p:cNvPr>
          <p:cNvSpPr>
            <a:spLocks xmlns:a="http://schemas.openxmlformats.org/drawingml/2006/main" noGrp="1"/>
          </p:cNvSpPr>
          <p:nvPr/>
        </p:nvSpPr>
        <p:spPr>
          <a:xfrm xmlns:a="http://schemas.openxmlformats.org/drawingml/2006/main">
            <a:off x="6953250" y="5600700"/>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10</a:t>
            </a:r>
          </a:p>
        </p:txBody>
      </p:sp>
      <p:sp>
        <p:nvSpPr>
          <p:cNvPr id="36" name="arch-max-label">
            <a:extLst xmlns:a="http://schemas.openxmlformats.org/drawingml/2006/main">
              <a:ext uri="{FF2B5EF4-FFF2-40B4-BE49-F238E27FC236}">
                <a16:creationId xmlns:a16="http://schemas.microsoft.com/office/drawing/2014/main" id="{7C4990C8-66E3-43FE-8D74-47EB35E2DABB}"/>
              </a:ext>
            </a:extLst>
          </p:cNvPr>
          <p:cNvSpPr>
            <a:spLocks xmlns:a="http://schemas.openxmlformats.org/drawingml/2006/main" noGrp="1"/>
          </p:cNvSpPr>
          <p:nvPr/>
        </p:nvSpPr>
        <p:spPr>
          <a:xfrm xmlns:a="http://schemas.openxmlformats.org/drawingml/2006/main">
            <a:off x="6953250" y="6172200"/>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max tool turns</a:t>
            </a:r>
          </a:p>
        </p:txBody>
      </p:sp>
      <p:sp>
        <p:nvSpPr>
          <p:cNvPr id="37" name="">
            <a:extLst xmlns:a="http://schemas.openxmlformats.org/drawingml/2006/main">
              <a:ext uri="{FF2B5EF4-FFF2-40B4-BE49-F238E27FC236}">
                <a16:creationId xmlns:a16="http://schemas.microsoft.com/office/drawing/2014/main" id="{1BE631E6-9713-4358-AC41-91F79D49A9C3}"/>
              </a:ext>
            </a:extLst>
          </p:cNvPr>
          <p:cNvSpPr>
            <a:spLocks xmlns:a="http://schemas.openxmlformats.org/drawingml/2006/main" noGrp="1"/>
          </p:cNvSpPr>
          <p:nvPr/>
        </p:nvSpPr>
        <p:spPr>
          <a:xfrm xmlns:a="http://schemas.openxmlformats.org/drawingml/2006/main">
            <a:off x="9620250" y="5429250"/>
            <a:ext cx="2000250" cy="0"/>
          </a:xfrm>
          <a:prstGeom xmlns:a="http://schemas.openxmlformats.org/drawingml/2006/main" prst="line">
            <a:avLst/>
          </a:prstGeom>
          <a:noFill xmlns:a="http://schemas.openxmlformats.org/drawingml/2006/main"/>
          <a:ln xmlns:a="http://schemas.openxmlformats.org/drawingml/2006/main" w="38100">
            <a:solidFill>
              <a:srgbClr val="228B67"/>
            </a:solidFill>
            <a:prstDash val="solid"/>
          </a:ln>
        </p:spPr>
      </p:sp>
      <p:sp>
        <p:nvSpPr>
          <p:cNvPr id="38" name="arch-token-value">
            <a:extLst xmlns:a="http://schemas.openxmlformats.org/drawingml/2006/main">
              <a:ext uri="{FF2B5EF4-FFF2-40B4-BE49-F238E27FC236}">
                <a16:creationId xmlns:a16="http://schemas.microsoft.com/office/drawing/2014/main" id="{7510D2DD-2F8F-4BBF-BB58-7AF9C4A5C412}"/>
              </a:ext>
            </a:extLst>
          </p:cNvPr>
          <p:cNvSpPr>
            <a:spLocks xmlns:a="http://schemas.openxmlformats.org/drawingml/2006/main" noGrp="1"/>
          </p:cNvSpPr>
          <p:nvPr/>
        </p:nvSpPr>
        <p:spPr>
          <a:xfrm xmlns:a="http://schemas.openxmlformats.org/drawingml/2006/main">
            <a:off x="9620250" y="5600700"/>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1,400</a:t>
            </a:r>
          </a:p>
        </p:txBody>
      </p:sp>
      <p:sp>
        <p:nvSpPr>
          <p:cNvPr id="39" name="arch-token-label">
            <a:extLst xmlns:a="http://schemas.openxmlformats.org/drawingml/2006/main">
              <a:ext uri="{FF2B5EF4-FFF2-40B4-BE49-F238E27FC236}">
                <a16:creationId xmlns:a16="http://schemas.microsoft.com/office/drawing/2014/main" id="{425EB80B-744E-41CC-BFAC-04F2B2E7D14E}"/>
              </a:ext>
            </a:extLst>
          </p:cNvPr>
          <p:cNvSpPr>
            <a:spLocks xmlns:a="http://schemas.openxmlformats.org/drawingml/2006/main" noGrp="1"/>
          </p:cNvSpPr>
          <p:nvPr/>
        </p:nvSpPr>
        <p:spPr>
          <a:xfrm xmlns:a="http://schemas.openxmlformats.org/drawingml/2006/main">
            <a:off x="9620250" y="6172200"/>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max completion tokens</a:t>
            </a:r>
          </a:p>
        </p:txBody>
      </p:sp>
    </p:spTree>
    <p:extLst>
      <p:ext uri="{BB962C8B-B14F-4D97-AF65-F5344CB8AC3E}">
        <p14:creationId xmlns:p14="http://schemas.microsoft.com/office/powerpoint/2010/main" val="688070056"/>
      </p:ext>
    </p:extLst>
  </p:cSld>
</p:sld>
</file>

<file path=ppt/slides/slide5.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37" name="rail-5">
            <a:extLst xmlns:a="http://schemas.openxmlformats.org/drawingml/2006/main">
              <a:ext uri="{FF2B5EF4-FFF2-40B4-BE49-F238E27FC236}">
                <a16:creationId xmlns:a16="http://schemas.microsoft.com/office/drawing/2014/main" id="{3A74F872-C670-4F15-9480-C55151C7F33A}"/>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5">
            <a:extLst xmlns:a="http://schemas.openxmlformats.org/drawingml/2006/main">
              <a:ext uri="{FF2B5EF4-FFF2-40B4-BE49-F238E27FC236}">
                <a16:creationId xmlns:a16="http://schemas.microsoft.com/office/drawing/2014/main" id="{5CE8E187-E4E4-4906-9EBF-11397CAD2C8A}"/>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5">
            <a:extLst xmlns:a="http://schemas.openxmlformats.org/drawingml/2006/main">
              <a:ext uri="{FF2B5EF4-FFF2-40B4-BE49-F238E27FC236}">
                <a16:creationId xmlns:a16="http://schemas.microsoft.com/office/drawing/2014/main" id="{00A2A3EA-C134-46B1-8753-01B56E3B6F81}"/>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STATE MACHINE</a:t>
            </a:r>
          </a:p>
        </p:txBody>
      </p:sp>
      <p:sp>
        <p:nvSpPr>
          <p:cNvPr id="4" name="title-5">
            <a:extLst xmlns:a="http://schemas.openxmlformats.org/drawingml/2006/main">
              <a:ext uri="{FF2B5EF4-FFF2-40B4-BE49-F238E27FC236}">
                <a16:creationId xmlns:a16="http://schemas.microsoft.com/office/drawing/2014/main" id="{F79E6CFA-114A-488B-A259-88C70C5D7717}"/>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退款不是一句话：它是一条受约束的状态机</a:t>
            </a:r>
          </a:p>
        </p:txBody>
      </p:sp>
      <p:sp>
        <p:nvSpPr>
          <p:cNvPr id="5" name="subtitle-5">
            <a:extLst xmlns:a="http://schemas.openxmlformats.org/drawingml/2006/main">
              <a:ext uri="{FF2B5EF4-FFF2-40B4-BE49-F238E27FC236}">
                <a16:creationId xmlns:a16="http://schemas.microsoft.com/office/drawing/2014/main" id="{26EA4B09-87FE-42B9-B8BD-1C9BC3DC4AB6}"/>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训练目标既包含任务成功，也包含 read-before-write、精确确认和错误恢复。</a:t>
            </a:r>
          </a:p>
        </p:txBody>
      </p:sp>
      <p:sp>
        <p:nvSpPr>
          <p:cNvPr id="6" name="">
            <a:extLst xmlns:a="http://schemas.openxmlformats.org/drawingml/2006/main">
              <a:ext uri="{FF2B5EF4-FFF2-40B4-BE49-F238E27FC236}">
                <a16:creationId xmlns:a16="http://schemas.microsoft.com/office/drawing/2014/main" id="{D695CE43-D5E9-4D48-9B17-A42C1D5698E9}"/>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5">
            <a:extLst xmlns:a="http://schemas.openxmlformats.org/drawingml/2006/main">
              <a:ext uri="{FF2B5EF4-FFF2-40B4-BE49-F238E27FC236}">
                <a16:creationId xmlns:a16="http://schemas.microsoft.com/office/drawing/2014/main" id="{17AFAC49-7760-49E9-8AFC-2599EB44DB65}"/>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05</a:t>
            </a:r>
          </a:p>
        </p:txBody>
      </p:sp>
      <p:sp>
        <p:nvSpPr>
          <p:cNvPr id="8" name="">
            <a:extLst xmlns:a="http://schemas.openxmlformats.org/drawingml/2006/main">
              <a:ext uri="{FF2B5EF4-FFF2-40B4-BE49-F238E27FC236}">
                <a16:creationId xmlns:a16="http://schemas.microsoft.com/office/drawing/2014/main" id="{78C12FA4-061C-4967-966A-227B3B0E91A9}"/>
              </a:ext>
            </a:extLst>
          </p:cNvPr>
          <p:cNvSpPr>
            <a:spLocks xmlns:a="http://schemas.openxmlformats.org/drawingml/2006/main" noGrp="1"/>
          </p:cNvSpPr>
          <p:nvPr/>
        </p:nvSpPr>
        <p:spPr>
          <a:xfrm xmlns:a="http://schemas.openxmlformats.org/drawingml/2006/main">
            <a:off x="1295400" y="3133725"/>
            <a:ext cx="952500" cy="0"/>
          </a:xfrm>
          <a:prstGeom xmlns:a="http://schemas.openxmlformats.org/drawingml/2006/main" prst="line">
            <a:avLst/>
          </a:prstGeom>
          <a:noFill xmlns:a="http://schemas.openxmlformats.org/drawingml/2006/main"/>
          <a:ln xmlns:a="http://schemas.openxmlformats.org/drawingml/2006/main" w="28575">
            <a:solidFill>
              <a:srgbClr val="18A6A6"/>
            </a:solidFill>
            <a:prstDash val="solid"/>
          </a:ln>
        </p:spPr>
      </p:sp>
      <p:sp>
        <p:nvSpPr>
          <p:cNvPr id="9" name="">
            <a:extLst xmlns:a="http://schemas.openxmlformats.org/drawingml/2006/main">
              <a:ext uri="{FF2B5EF4-FFF2-40B4-BE49-F238E27FC236}">
                <a16:creationId xmlns:a16="http://schemas.microsoft.com/office/drawing/2014/main" id="{685A1F7F-C5E0-4A4B-8E4E-35888BECD8FC}"/>
              </a:ext>
            </a:extLst>
          </p:cNvPr>
          <p:cNvSpPr>
            <a:spLocks xmlns:a="http://schemas.openxmlformats.org/drawingml/2006/main" noGrp="1"/>
          </p:cNvSpPr>
          <p:nvPr/>
        </p:nvSpPr>
        <p:spPr>
          <a:xfrm xmlns:a="http://schemas.openxmlformats.org/drawingml/2006/main">
            <a:off x="2800350" y="3133725"/>
            <a:ext cx="952500" cy="0"/>
          </a:xfrm>
          <a:prstGeom xmlns:a="http://schemas.openxmlformats.org/drawingml/2006/main" prst="line">
            <a:avLst/>
          </a:prstGeom>
          <a:noFill xmlns:a="http://schemas.openxmlformats.org/drawingml/2006/main"/>
          <a:ln xmlns:a="http://schemas.openxmlformats.org/drawingml/2006/main" w="28575">
            <a:solidFill>
              <a:srgbClr val="18A6A6"/>
            </a:solidFill>
            <a:prstDash val="solid"/>
          </a:ln>
        </p:spPr>
      </p:sp>
      <p:sp>
        <p:nvSpPr>
          <p:cNvPr id="10" name="">
            <a:extLst xmlns:a="http://schemas.openxmlformats.org/drawingml/2006/main">
              <a:ext uri="{FF2B5EF4-FFF2-40B4-BE49-F238E27FC236}">
                <a16:creationId xmlns:a16="http://schemas.microsoft.com/office/drawing/2014/main" id="{8E8FB40F-691D-4460-BD34-3A3D581351D0}"/>
              </a:ext>
            </a:extLst>
          </p:cNvPr>
          <p:cNvSpPr>
            <a:spLocks xmlns:a="http://schemas.openxmlformats.org/drawingml/2006/main" noGrp="1"/>
          </p:cNvSpPr>
          <p:nvPr/>
        </p:nvSpPr>
        <p:spPr>
          <a:xfrm xmlns:a="http://schemas.openxmlformats.org/drawingml/2006/main">
            <a:off x="4305300" y="3133725"/>
            <a:ext cx="952500" cy="0"/>
          </a:xfrm>
          <a:prstGeom xmlns:a="http://schemas.openxmlformats.org/drawingml/2006/main" prst="line">
            <a:avLst/>
          </a:prstGeom>
          <a:noFill xmlns:a="http://schemas.openxmlformats.org/drawingml/2006/main"/>
          <a:ln xmlns:a="http://schemas.openxmlformats.org/drawingml/2006/main" w="28575">
            <a:solidFill>
              <a:srgbClr val="18A6A6"/>
            </a:solidFill>
            <a:prstDash val="solid"/>
          </a:ln>
        </p:spPr>
      </p:sp>
      <p:sp>
        <p:nvSpPr>
          <p:cNvPr id="11" name="">
            <a:extLst xmlns:a="http://schemas.openxmlformats.org/drawingml/2006/main">
              <a:ext uri="{FF2B5EF4-FFF2-40B4-BE49-F238E27FC236}">
                <a16:creationId xmlns:a16="http://schemas.microsoft.com/office/drawing/2014/main" id="{F06FEE12-231B-4DAF-B7F1-E2EDC9D08C35}"/>
              </a:ext>
            </a:extLst>
          </p:cNvPr>
          <p:cNvSpPr>
            <a:spLocks xmlns:a="http://schemas.openxmlformats.org/drawingml/2006/main" noGrp="1"/>
          </p:cNvSpPr>
          <p:nvPr/>
        </p:nvSpPr>
        <p:spPr>
          <a:xfrm xmlns:a="http://schemas.openxmlformats.org/drawingml/2006/main">
            <a:off x="5810250" y="3133725"/>
            <a:ext cx="952500" cy="0"/>
          </a:xfrm>
          <a:prstGeom xmlns:a="http://schemas.openxmlformats.org/drawingml/2006/main" prst="line">
            <a:avLst/>
          </a:prstGeom>
          <a:noFill xmlns:a="http://schemas.openxmlformats.org/drawingml/2006/main"/>
          <a:ln xmlns:a="http://schemas.openxmlformats.org/drawingml/2006/main" w="28575">
            <a:solidFill>
              <a:srgbClr val="18A6A6"/>
            </a:solidFill>
            <a:prstDash val="solid"/>
          </a:ln>
        </p:spPr>
      </p:sp>
      <p:sp>
        <p:nvSpPr>
          <p:cNvPr id="12" name="">
            <a:extLst xmlns:a="http://schemas.openxmlformats.org/drawingml/2006/main">
              <a:ext uri="{FF2B5EF4-FFF2-40B4-BE49-F238E27FC236}">
                <a16:creationId xmlns:a16="http://schemas.microsoft.com/office/drawing/2014/main" id="{097FF737-6068-4907-9192-577DF5E88624}"/>
              </a:ext>
            </a:extLst>
          </p:cNvPr>
          <p:cNvSpPr>
            <a:spLocks xmlns:a="http://schemas.openxmlformats.org/drawingml/2006/main" noGrp="1"/>
          </p:cNvSpPr>
          <p:nvPr/>
        </p:nvSpPr>
        <p:spPr>
          <a:xfrm xmlns:a="http://schemas.openxmlformats.org/drawingml/2006/main">
            <a:off x="7315200" y="3133725"/>
            <a:ext cx="952500" cy="0"/>
          </a:xfrm>
          <a:prstGeom xmlns:a="http://schemas.openxmlformats.org/drawingml/2006/main" prst="line">
            <a:avLst/>
          </a:prstGeom>
          <a:noFill xmlns:a="http://schemas.openxmlformats.org/drawingml/2006/main"/>
          <a:ln xmlns:a="http://schemas.openxmlformats.org/drawingml/2006/main" w="28575">
            <a:solidFill>
              <a:srgbClr val="C56D4A"/>
            </a:solidFill>
            <a:prstDash val="solid"/>
          </a:ln>
        </p:spPr>
      </p:sp>
      <p:sp>
        <p:nvSpPr>
          <p:cNvPr id="13" name="">
            <a:extLst xmlns:a="http://schemas.openxmlformats.org/drawingml/2006/main">
              <a:ext uri="{FF2B5EF4-FFF2-40B4-BE49-F238E27FC236}">
                <a16:creationId xmlns:a16="http://schemas.microsoft.com/office/drawing/2014/main" id="{09C3E5F3-7A00-47AA-AA94-0558ACDA6142}"/>
              </a:ext>
            </a:extLst>
          </p:cNvPr>
          <p:cNvSpPr>
            <a:spLocks xmlns:a="http://schemas.openxmlformats.org/drawingml/2006/main" noGrp="1"/>
          </p:cNvSpPr>
          <p:nvPr/>
        </p:nvSpPr>
        <p:spPr>
          <a:xfrm xmlns:a="http://schemas.openxmlformats.org/drawingml/2006/main">
            <a:off x="8820150" y="3133725"/>
            <a:ext cx="952500" cy="0"/>
          </a:xfrm>
          <a:prstGeom xmlns:a="http://schemas.openxmlformats.org/drawingml/2006/main" prst="line">
            <a:avLst/>
          </a:prstGeom>
          <a:noFill xmlns:a="http://schemas.openxmlformats.org/drawingml/2006/main"/>
          <a:ln xmlns:a="http://schemas.openxmlformats.org/drawingml/2006/main" w="28575">
            <a:solidFill>
              <a:srgbClr val="C56D4A"/>
            </a:solidFill>
            <a:prstDash val="solid"/>
          </a:ln>
        </p:spPr>
      </p:sp>
      <p:sp>
        <p:nvSpPr>
          <p:cNvPr id="14" name="state-dot-0">
            <a:extLst xmlns:a="http://schemas.openxmlformats.org/drawingml/2006/main">
              <a:ext uri="{FF2B5EF4-FFF2-40B4-BE49-F238E27FC236}">
                <a16:creationId xmlns:a16="http://schemas.microsoft.com/office/drawing/2014/main" id="{AF414D62-4530-4080-B365-BD936C71236D}"/>
              </a:ext>
            </a:extLst>
          </p:cNvPr>
          <p:cNvSpPr>
            <a:spLocks xmlns:a="http://schemas.openxmlformats.org/drawingml/2006/main" noGrp="1"/>
          </p:cNvSpPr>
          <p:nvPr/>
        </p:nvSpPr>
        <p:spPr>
          <a:xfrm xmlns:a="http://schemas.openxmlformats.org/drawingml/2006/main">
            <a:off x="742950" y="2857500"/>
            <a:ext cx="552450" cy="552450"/>
          </a:xfrm>
          <a:prstGeom xmlns:a="http://schemas.openxmlformats.org/drawingml/2006/main" prst="roundRect">
            <a:avLst>
              <a:gd name="adj" fmla="val 50000"/>
            </a:avLst>
          </a:prstGeom>
          <a:solidFill xmlns:a="http://schemas.openxmlformats.org/drawingml/2006/main">
            <a:srgbClr val="071A2B"/>
          </a:solidFill>
          <a:ln xmlns:a="http://schemas.openxmlformats.org/drawingml/2006/main" w="0">
            <a:solidFill>
              <a:srgbClr val="071A2B"/>
            </a:solidFill>
            <a:prstDash val="solid"/>
          </a:ln>
        </p:spPr>
      </p:sp>
      <p:sp>
        <p:nvSpPr>
          <p:cNvPr id="15" name="state-n-0">
            <a:extLst xmlns:a="http://schemas.openxmlformats.org/drawingml/2006/main">
              <a:ext uri="{FF2B5EF4-FFF2-40B4-BE49-F238E27FC236}">
                <a16:creationId xmlns:a16="http://schemas.microsoft.com/office/drawing/2014/main" id="{19DFA6DF-05B4-4D4F-AD95-608878CE10CA}"/>
              </a:ext>
            </a:extLst>
          </p:cNvPr>
          <p:cNvSpPr>
            <a:spLocks xmlns:a="http://schemas.openxmlformats.org/drawingml/2006/main" noGrp="1"/>
          </p:cNvSpPr>
          <p:nvPr/>
        </p:nvSpPr>
        <p:spPr>
          <a:xfrm xmlns:a="http://schemas.openxmlformats.org/drawingml/2006/main">
            <a:off x="742950" y="29718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FFFFFF"/>
                </a:solidFill>
              </a:defRPr>
            </a:pPr>
            <a:r>
              <a:rPr sz="1500" b="1">
                <a:solidFill>
                  <a:srgbClr val="FFFFFF"/>
                </a:solidFill>
              </a:rPr>
              <a:t>1</a:t>
            </a:r>
          </a:p>
        </p:txBody>
      </p:sp>
      <p:sp>
        <p:nvSpPr>
          <p:cNvPr id="16" name="state-label-0">
            <a:extLst xmlns:a="http://schemas.openxmlformats.org/drawingml/2006/main">
              <a:ext uri="{FF2B5EF4-FFF2-40B4-BE49-F238E27FC236}">
                <a16:creationId xmlns:a16="http://schemas.microsoft.com/office/drawing/2014/main" id="{7DDF5CB5-E9AA-41C8-9DD5-2801AB49B2CC}"/>
              </a:ext>
            </a:extLst>
          </p:cNvPr>
          <p:cNvSpPr>
            <a:spLocks xmlns:a="http://schemas.openxmlformats.org/drawingml/2006/main" noGrp="1"/>
          </p:cNvSpPr>
          <p:nvPr/>
        </p:nvSpPr>
        <p:spPr>
          <a:xfrm xmlns:a="http://schemas.openxmlformats.org/drawingml/2006/main">
            <a:off x="495300" y="3667125"/>
            <a:ext cx="1066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1">
                <a:solidFill>
                  <a:srgbClr val="102330"/>
                </a:solidFill>
              </a:defRPr>
            </a:pPr>
            <a:r>
              <a:rPr sz="1200" b="1">
                <a:solidFill>
                  <a:srgbClr val="102330"/>
                </a:solidFill>
              </a:rPr>
              <a:t>索取身份</a:t>
            </a:r>
          </a:p>
        </p:txBody>
      </p:sp>
      <p:sp>
        <p:nvSpPr>
          <p:cNvPr id="17" name="state-dot-1">
            <a:extLst xmlns:a="http://schemas.openxmlformats.org/drawingml/2006/main">
              <a:ext uri="{FF2B5EF4-FFF2-40B4-BE49-F238E27FC236}">
                <a16:creationId xmlns:a16="http://schemas.microsoft.com/office/drawing/2014/main" id="{1094E079-9A5C-41C7-80DD-D174DD29AA3D}"/>
              </a:ext>
            </a:extLst>
          </p:cNvPr>
          <p:cNvSpPr>
            <a:spLocks xmlns:a="http://schemas.openxmlformats.org/drawingml/2006/main" noGrp="1"/>
          </p:cNvSpPr>
          <p:nvPr/>
        </p:nvSpPr>
        <p:spPr>
          <a:xfrm xmlns:a="http://schemas.openxmlformats.org/drawingml/2006/main">
            <a:off x="2247900" y="2857500"/>
            <a:ext cx="552450" cy="552450"/>
          </a:xfrm>
          <a:prstGeom xmlns:a="http://schemas.openxmlformats.org/drawingml/2006/main" prst="roundRect">
            <a:avLst>
              <a:gd name="adj" fmla="val 50000"/>
            </a:avLst>
          </a:prstGeom>
          <a:solidFill xmlns:a="http://schemas.openxmlformats.org/drawingml/2006/main">
            <a:srgbClr val="071A2B"/>
          </a:solidFill>
          <a:ln xmlns:a="http://schemas.openxmlformats.org/drawingml/2006/main" w="0">
            <a:solidFill>
              <a:srgbClr val="071A2B"/>
            </a:solidFill>
            <a:prstDash val="solid"/>
          </a:ln>
        </p:spPr>
      </p:sp>
      <p:sp>
        <p:nvSpPr>
          <p:cNvPr id="18" name="state-n-1">
            <a:extLst xmlns:a="http://schemas.openxmlformats.org/drawingml/2006/main">
              <a:ext uri="{FF2B5EF4-FFF2-40B4-BE49-F238E27FC236}">
                <a16:creationId xmlns:a16="http://schemas.microsoft.com/office/drawing/2014/main" id="{DD00628E-54BF-4704-A056-0A8F72F36C07}"/>
              </a:ext>
            </a:extLst>
          </p:cNvPr>
          <p:cNvSpPr>
            <a:spLocks xmlns:a="http://schemas.openxmlformats.org/drawingml/2006/main" noGrp="1"/>
          </p:cNvSpPr>
          <p:nvPr/>
        </p:nvSpPr>
        <p:spPr>
          <a:xfrm xmlns:a="http://schemas.openxmlformats.org/drawingml/2006/main">
            <a:off x="2247900" y="29718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FFFFFF"/>
                </a:solidFill>
              </a:defRPr>
            </a:pPr>
            <a:r>
              <a:rPr sz="1500" b="1">
                <a:solidFill>
                  <a:srgbClr val="FFFFFF"/>
                </a:solidFill>
              </a:rPr>
              <a:t>2</a:t>
            </a:r>
          </a:p>
        </p:txBody>
      </p:sp>
      <p:sp>
        <p:nvSpPr>
          <p:cNvPr id="19" name="state-label-1">
            <a:extLst xmlns:a="http://schemas.openxmlformats.org/drawingml/2006/main">
              <a:ext uri="{FF2B5EF4-FFF2-40B4-BE49-F238E27FC236}">
                <a16:creationId xmlns:a16="http://schemas.microsoft.com/office/drawing/2014/main" id="{F3AFFD08-C6CF-4316-8B80-7FC62B382B47}"/>
              </a:ext>
            </a:extLst>
          </p:cNvPr>
          <p:cNvSpPr>
            <a:spLocks xmlns:a="http://schemas.openxmlformats.org/drawingml/2006/main" noGrp="1"/>
          </p:cNvSpPr>
          <p:nvPr/>
        </p:nvSpPr>
        <p:spPr>
          <a:xfrm xmlns:a="http://schemas.openxmlformats.org/drawingml/2006/main">
            <a:off x="2000250" y="3667125"/>
            <a:ext cx="1066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1">
                <a:solidFill>
                  <a:srgbClr val="102330"/>
                </a:solidFill>
              </a:defRPr>
            </a:pPr>
            <a:r>
              <a:rPr sz="1200" b="1">
                <a:solidFill>
                  <a:srgbClr val="102330"/>
                </a:solidFill>
              </a:rPr>
              <a:t>验证客户</a:t>
            </a:r>
          </a:p>
        </p:txBody>
      </p:sp>
      <p:sp>
        <p:nvSpPr>
          <p:cNvPr id="20" name="state-dot-2">
            <a:extLst xmlns:a="http://schemas.openxmlformats.org/drawingml/2006/main">
              <a:ext uri="{FF2B5EF4-FFF2-40B4-BE49-F238E27FC236}">
                <a16:creationId xmlns:a16="http://schemas.microsoft.com/office/drawing/2014/main" id="{8EE0DD5A-765B-4061-AE22-1635FF7C6DF4}"/>
              </a:ext>
            </a:extLst>
          </p:cNvPr>
          <p:cNvSpPr>
            <a:spLocks xmlns:a="http://schemas.openxmlformats.org/drawingml/2006/main" noGrp="1"/>
          </p:cNvSpPr>
          <p:nvPr/>
        </p:nvSpPr>
        <p:spPr>
          <a:xfrm xmlns:a="http://schemas.openxmlformats.org/drawingml/2006/main">
            <a:off x="3752850" y="2857500"/>
            <a:ext cx="552450" cy="552450"/>
          </a:xfrm>
          <a:prstGeom xmlns:a="http://schemas.openxmlformats.org/drawingml/2006/main" prst="roundRect">
            <a:avLst>
              <a:gd name="adj" fmla="val 50000"/>
            </a:avLst>
          </a:prstGeom>
          <a:solidFill xmlns:a="http://schemas.openxmlformats.org/drawingml/2006/main">
            <a:srgbClr val="071A2B"/>
          </a:solidFill>
          <a:ln xmlns:a="http://schemas.openxmlformats.org/drawingml/2006/main" w="0">
            <a:solidFill>
              <a:srgbClr val="071A2B"/>
            </a:solidFill>
            <a:prstDash val="solid"/>
          </a:ln>
        </p:spPr>
      </p:sp>
      <p:sp>
        <p:nvSpPr>
          <p:cNvPr id="21" name="state-n-2">
            <a:extLst xmlns:a="http://schemas.openxmlformats.org/drawingml/2006/main">
              <a:ext uri="{FF2B5EF4-FFF2-40B4-BE49-F238E27FC236}">
                <a16:creationId xmlns:a16="http://schemas.microsoft.com/office/drawing/2014/main" id="{C90C3C4B-F79D-4307-B0F2-8EAA6D26BECF}"/>
              </a:ext>
            </a:extLst>
          </p:cNvPr>
          <p:cNvSpPr>
            <a:spLocks xmlns:a="http://schemas.openxmlformats.org/drawingml/2006/main" noGrp="1"/>
          </p:cNvSpPr>
          <p:nvPr/>
        </p:nvSpPr>
        <p:spPr>
          <a:xfrm xmlns:a="http://schemas.openxmlformats.org/drawingml/2006/main">
            <a:off x="3752850" y="29718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FFFFFF"/>
                </a:solidFill>
              </a:defRPr>
            </a:pPr>
            <a:r>
              <a:rPr sz="1500" b="1">
                <a:solidFill>
                  <a:srgbClr val="FFFFFF"/>
                </a:solidFill>
              </a:rPr>
              <a:t>3</a:t>
            </a:r>
          </a:p>
        </p:txBody>
      </p:sp>
      <p:sp>
        <p:nvSpPr>
          <p:cNvPr id="22" name="state-label-2">
            <a:extLst xmlns:a="http://schemas.openxmlformats.org/drawingml/2006/main">
              <a:ext uri="{FF2B5EF4-FFF2-40B4-BE49-F238E27FC236}">
                <a16:creationId xmlns:a16="http://schemas.microsoft.com/office/drawing/2014/main" id="{462DA47A-61F3-4853-B82F-D48BB8F8F375}"/>
              </a:ext>
            </a:extLst>
          </p:cNvPr>
          <p:cNvSpPr>
            <a:spLocks xmlns:a="http://schemas.openxmlformats.org/drawingml/2006/main" noGrp="1"/>
          </p:cNvSpPr>
          <p:nvPr/>
        </p:nvSpPr>
        <p:spPr>
          <a:xfrm xmlns:a="http://schemas.openxmlformats.org/drawingml/2006/main">
            <a:off x="3505200" y="3667125"/>
            <a:ext cx="1066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1">
                <a:solidFill>
                  <a:srgbClr val="102330"/>
                </a:solidFill>
              </a:defRPr>
            </a:pPr>
            <a:r>
              <a:rPr sz="1200" b="1">
                <a:solidFill>
                  <a:srgbClr val="102330"/>
                </a:solidFill>
              </a:rPr>
              <a:t>读取订单</a:t>
            </a:r>
          </a:p>
        </p:txBody>
      </p:sp>
      <p:sp>
        <p:nvSpPr>
          <p:cNvPr id="23" name="state-dot-3">
            <a:extLst xmlns:a="http://schemas.openxmlformats.org/drawingml/2006/main">
              <a:ext uri="{FF2B5EF4-FFF2-40B4-BE49-F238E27FC236}">
                <a16:creationId xmlns:a16="http://schemas.microsoft.com/office/drawing/2014/main" id="{5F0FCD80-E599-49F8-BA8B-C061F3EF661C}"/>
              </a:ext>
            </a:extLst>
          </p:cNvPr>
          <p:cNvSpPr>
            <a:spLocks xmlns:a="http://schemas.openxmlformats.org/drawingml/2006/main" noGrp="1"/>
          </p:cNvSpPr>
          <p:nvPr/>
        </p:nvSpPr>
        <p:spPr>
          <a:xfrm xmlns:a="http://schemas.openxmlformats.org/drawingml/2006/main">
            <a:off x="5257800" y="2857500"/>
            <a:ext cx="552450" cy="552450"/>
          </a:xfrm>
          <a:prstGeom xmlns:a="http://schemas.openxmlformats.org/drawingml/2006/main" prst="roundRect">
            <a:avLst>
              <a:gd name="adj" fmla="val 50000"/>
            </a:avLst>
          </a:prstGeom>
          <a:solidFill xmlns:a="http://schemas.openxmlformats.org/drawingml/2006/main">
            <a:srgbClr val="071A2B"/>
          </a:solidFill>
          <a:ln xmlns:a="http://schemas.openxmlformats.org/drawingml/2006/main" w="0">
            <a:solidFill>
              <a:srgbClr val="071A2B"/>
            </a:solidFill>
            <a:prstDash val="solid"/>
          </a:ln>
        </p:spPr>
      </p:sp>
      <p:sp>
        <p:nvSpPr>
          <p:cNvPr id="24" name="state-n-3">
            <a:extLst xmlns:a="http://schemas.openxmlformats.org/drawingml/2006/main">
              <a:ext uri="{FF2B5EF4-FFF2-40B4-BE49-F238E27FC236}">
                <a16:creationId xmlns:a16="http://schemas.microsoft.com/office/drawing/2014/main" id="{A9C2A606-3E8D-401C-9286-9F1F5FBBFAD0}"/>
              </a:ext>
            </a:extLst>
          </p:cNvPr>
          <p:cNvSpPr>
            <a:spLocks xmlns:a="http://schemas.openxmlformats.org/drawingml/2006/main" noGrp="1"/>
          </p:cNvSpPr>
          <p:nvPr/>
        </p:nvSpPr>
        <p:spPr>
          <a:xfrm xmlns:a="http://schemas.openxmlformats.org/drawingml/2006/main">
            <a:off x="5257800" y="29718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FFFFFF"/>
                </a:solidFill>
              </a:defRPr>
            </a:pPr>
            <a:r>
              <a:rPr sz="1500" b="1">
                <a:solidFill>
                  <a:srgbClr val="FFFFFF"/>
                </a:solidFill>
              </a:rPr>
              <a:t>4</a:t>
            </a:r>
          </a:p>
        </p:txBody>
      </p:sp>
      <p:sp>
        <p:nvSpPr>
          <p:cNvPr id="25" name="state-label-3">
            <a:extLst xmlns:a="http://schemas.openxmlformats.org/drawingml/2006/main">
              <a:ext uri="{FF2B5EF4-FFF2-40B4-BE49-F238E27FC236}">
                <a16:creationId xmlns:a16="http://schemas.microsoft.com/office/drawing/2014/main" id="{514D7991-C161-4A32-8F48-230853865F69}"/>
              </a:ext>
            </a:extLst>
          </p:cNvPr>
          <p:cNvSpPr>
            <a:spLocks xmlns:a="http://schemas.openxmlformats.org/drawingml/2006/main" noGrp="1"/>
          </p:cNvSpPr>
          <p:nvPr/>
        </p:nvSpPr>
        <p:spPr>
          <a:xfrm xmlns:a="http://schemas.openxmlformats.org/drawingml/2006/main">
            <a:off x="5010150" y="3667125"/>
            <a:ext cx="1066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1">
                <a:solidFill>
                  <a:srgbClr val="102330"/>
                </a:solidFill>
              </a:defRPr>
            </a:pPr>
            <a:r>
              <a:rPr sz="1200" b="1">
                <a:solidFill>
                  <a:srgbClr val="102330"/>
                </a:solidFill>
              </a:rPr>
              <a:t>检查支付</a:t>
            </a:r>
          </a:p>
        </p:txBody>
      </p:sp>
      <p:sp>
        <p:nvSpPr>
          <p:cNvPr id="26" name="state-dot-4">
            <a:extLst xmlns:a="http://schemas.openxmlformats.org/drawingml/2006/main">
              <a:ext uri="{FF2B5EF4-FFF2-40B4-BE49-F238E27FC236}">
                <a16:creationId xmlns:a16="http://schemas.microsoft.com/office/drawing/2014/main" id="{94196B6C-5C5B-4C93-9DE3-9873168811ED}"/>
              </a:ext>
            </a:extLst>
          </p:cNvPr>
          <p:cNvSpPr>
            <a:spLocks xmlns:a="http://schemas.openxmlformats.org/drawingml/2006/main" noGrp="1"/>
          </p:cNvSpPr>
          <p:nvPr/>
        </p:nvSpPr>
        <p:spPr>
          <a:xfrm xmlns:a="http://schemas.openxmlformats.org/drawingml/2006/main">
            <a:off x="6762750" y="2857500"/>
            <a:ext cx="552450" cy="552450"/>
          </a:xfrm>
          <a:prstGeom xmlns:a="http://schemas.openxmlformats.org/drawingml/2006/main" prst="roundRect">
            <a:avLst>
              <a:gd name="adj" fmla="val 50000"/>
            </a:avLst>
          </a:prstGeom>
          <a:solidFill xmlns:a="http://schemas.openxmlformats.org/drawingml/2006/main">
            <a:srgbClr val="071A2B"/>
          </a:solidFill>
          <a:ln xmlns:a="http://schemas.openxmlformats.org/drawingml/2006/main" w="0">
            <a:solidFill>
              <a:srgbClr val="071A2B"/>
            </a:solidFill>
            <a:prstDash val="solid"/>
          </a:ln>
        </p:spPr>
      </p:sp>
      <p:sp>
        <p:nvSpPr>
          <p:cNvPr id="27" name="state-n-4">
            <a:extLst xmlns:a="http://schemas.openxmlformats.org/drawingml/2006/main">
              <a:ext uri="{FF2B5EF4-FFF2-40B4-BE49-F238E27FC236}">
                <a16:creationId xmlns:a16="http://schemas.microsoft.com/office/drawing/2014/main" id="{A7EA4D3F-5E8D-40CB-B94F-BC30CE996A63}"/>
              </a:ext>
            </a:extLst>
          </p:cNvPr>
          <p:cNvSpPr>
            <a:spLocks xmlns:a="http://schemas.openxmlformats.org/drawingml/2006/main" noGrp="1"/>
          </p:cNvSpPr>
          <p:nvPr/>
        </p:nvSpPr>
        <p:spPr>
          <a:xfrm xmlns:a="http://schemas.openxmlformats.org/drawingml/2006/main">
            <a:off x="6762750" y="29718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FFFFFF"/>
                </a:solidFill>
              </a:defRPr>
            </a:pPr>
            <a:r>
              <a:rPr sz="1500" b="1">
                <a:solidFill>
                  <a:srgbClr val="FFFFFF"/>
                </a:solidFill>
              </a:rPr>
              <a:t>5</a:t>
            </a:r>
          </a:p>
        </p:txBody>
      </p:sp>
      <p:sp>
        <p:nvSpPr>
          <p:cNvPr id="28" name="state-label-4">
            <a:extLst xmlns:a="http://schemas.openxmlformats.org/drawingml/2006/main">
              <a:ext uri="{FF2B5EF4-FFF2-40B4-BE49-F238E27FC236}">
                <a16:creationId xmlns:a16="http://schemas.microsoft.com/office/drawing/2014/main" id="{1D2FE167-C437-42AD-8A24-5DECF82BC86F}"/>
              </a:ext>
            </a:extLst>
          </p:cNvPr>
          <p:cNvSpPr>
            <a:spLocks xmlns:a="http://schemas.openxmlformats.org/drawingml/2006/main" noGrp="1"/>
          </p:cNvSpPr>
          <p:nvPr/>
        </p:nvSpPr>
        <p:spPr>
          <a:xfrm xmlns:a="http://schemas.openxmlformats.org/drawingml/2006/main">
            <a:off x="6515100" y="3667125"/>
            <a:ext cx="1066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1">
                <a:solidFill>
                  <a:srgbClr val="102330"/>
                </a:solidFill>
              </a:defRPr>
            </a:pPr>
            <a:r>
              <a:rPr sz="1200" b="1">
                <a:solidFill>
                  <a:srgbClr val="102330"/>
                </a:solidFill>
              </a:rPr>
              <a:t>读取政策</a:t>
            </a:r>
          </a:p>
        </p:txBody>
      </p:sp>
      <p:sp>
        <p:nvSpPr>
          <p:cNvPr id="29" name="state-dot-5">
            <a:extLst xmlns:a="http://schemas.openxmlformats.org/drawingml/2006/main">
              <a:ext uri="{FF2B5EF4-FFF2-40B4-BE49-F238E27FC236}">
                <a16:creationId xmlns:a16="http://schemas.microsoft.com/office/drawing/2014/main" id="{EF1B6584-466E-47B2-911E-F04FA571145F}"/>
              </a:ext>
            </a:extLst>
          </p:cNvPr>
          <p:cNvSpPr>
            <a:spLocks xmlns:a="http://schemas.openxmlformats.org/drawingml/2006/main" noGrp="1"/>
          </p:cNvSpPr>
          <p:nvPr/>
        </p:nvSpPr>
        <p:spPr>
          <a:xfrm xmlns:a="http://schemas.openxmlformats.org/drawingml/2006/main">
            <a:off x="8267700" y="2857500"/>
            <a:ext cx="552450" cy="552450"/>
          </a:xfrm>
          <a:prstGeom xmlns:a="http://schemas.openxmlformats.org/drawingml/2006/main" prst="roundRect">
            <a:avLst>
              <a:gd name="adj" fmla="val 50000"/>
            </a:avLst>
          </a:prstGeom>
          <a:solidFill xmlns:a="http://schemas.openxmlformats.org/drawingml/2006/main">
            <a:srgbClr val="071A2B"/>
          </a:solidFill>
          <a:ln xmlns:a="http://schemas.openxmlformats.org/drawingml/2006/main" w="0">
            <a:solidFill>
              <a:srgbClr val="071A2B"/>
            </a:solidFill>
            <a:prstDash val="solid"/>
          </a:ln>
        </p:spPr>
      </p:sp>
      <p:sp>
        <p:nvSpPr>
          <p:cNvPr id="30" name="state-n-5">
            <a:extLst xmlns:a="http://schemas.openxmlformats.org/drawingml/2006/main">
              <a:ext uri="{FF2B5EF4-FFF2-40B4-BE49-F238E27FC236}">
                <a16:creationId xmlns:a16="http://schemas.microsoft.com/office/drawing/2014/main" id="{BDA35F32-F4CA-4D13-A211-D43610AE3E41}"/>
              </a:ext>
            </a:extLst>
          </p:cNvPr>
          <p:cNvSpPr>
            <a:spLocks xmlns:a="http://schemas.openxmlformats.org/drawingml/2006/main" noGrp="1"/>
          </p:cNvSpPr>
          <p:nvPr/>
        </p:nvSpPr>
        <p:spPr>
          <a:xfrm xmlns:a="http://schemas.openxmlformats.org/drawingml/2006/main">
            <a:off x="8267700" y="29718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FFFFFF"/>
                </a:solidFill>
              </a:defRPr>
            </a:pPr>
            <a:r>
              <a:rPr sz="1500" b="1">
                <a:solidFill>
                  <a:srgbClr val="FFFFFF"/>
                </a:solidFill>
              </a:rPr>
              <a:t>6</a:t>
            </a:r>
          </a:p>
        </p:txBody>
      </p:sp>
      <p:sp>
        <p:nvSpPr>
          <p:cNvPr id="31" name="state-label-5">
            <a:extLst xmlns:a="http://schemas.openxmlformats.org/drawingml/2006/main">
              <a:ext uri="{FF2B5EF4-FFF2-40B4-BE49-F238E27FC236}">
                <a16:creationId xmlns:a16="http://schemas.microsoft.com/office/drawing/2014/main" id="{0484C9BC-F208-4559-9ED0-10E7FE6AC3B3}"/>
              </a:ext>
            </a:extLst>
          </p:cNvPr>
          <p:cNvSpPr>
            <a:spLocks xmlns:a="http://schemas.openxmlformats.org/drawingml/2006/main" noGrp="1"/>
          </p:cNvSpPr>
          <p:nvPr/>
        </p:nvSpPr>
        <p:spPr>
          <a:xfrm xmlns:a="http://schemas.openxmlformats.org/drawingml/2006/main">
            <a:off x="8020050" y="3667125"/>
            <a:ext cx="1066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1">
                <a:solidFill>
                  <a:srgbClr val="102330"/>
                </a:solidFill>
              </a:defRPr>
            </a:pPr>
            <a:r>
              <a:rPr sz="1200" b="1">
                <a:solidFill>
                  <a:srgbClr val="102330"/>
                </a:solidFill>
              </a:rPr>
              <a:t>精确确认</a:t>
            </a:r>
          </a:p>
        </p:txBody>
      </p:sp>
      <p:sp>
        <p:nvSpPr>
          <p:cNvPr id="32" name="state-dot-6">
            <a:extLst xmlns:a="http://schemas.openxmlformats.org/drawingml/2006/main">
              <a:ext uri="{FF2B5EF4-FFF2-40B4-BE49-F238E27FC236}">
                <a16:creationId xmlns:a16="http://schemas.microsoft.com/office/drawing/2014/main" id="{523A666A-3BA1-4B3F-B322-7AE45CD51CAB}"/>
              </a:ext>
            </a:extLst>
          </p:cNvPr>
          <p:cNvSpPr>
            <a:spLocks xmlns:a="http://schemas.openxmlformats.org/drawingml/2006/main" noGrp="1"/>
          </p:cNvSpPr>
          <p:nvPr/>
        </p:nvSpPr>
        <p:spPr>
          <a:xfrm xmlns:a="http://schemas.openxmlformats.org/drawingml/2006/main">
            <a:off x="9772650" y="2857500"/>
            <a:ext cx="552450" cy="5524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33" name="state-n-6">
            <a:extLst xmlns:a="http://schemas.openxmlformats.org/drawingml/2006/main">
              <a:ext uri="{FF2B5EF4-FFF2-40B4-BE49-F238E27FC236}">
                <a16:creationId xmlns:a16="http://schemas.microsoft.com/office/drawing/2014/main" id="{3A038B71-7CE3-417C-93DC-FB1089AF732A}"/>
              </a:ext>
            </a:extLst>
          </p:cNvPr>
          <p:cNvSpPr>
            <a:spLocks xmlns:a="http://schemas.openxmlformats.org/drawingml/2006/main" noGrp="1"/>
          </p:cNvSpPr>
          <p:nvPr/>
        </p:nvSpPr>
        <p:spPr>
          <a:xfrm xmlns:a="http://schemas.openxmlformats.org/drawingml/2006/main">
            <a:off x="9772650" y="29718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FFFFFF"/>
                </a:solidFill>
              </a:defRPr>
            </a:pPr>
            <a:r>
              <a:rPr sz="1500" b="1">
                <a:solidFill>
                  <a:srgbClr val="FFFFFF"/>
                </a:solidFill>
              </a:rPr>
              <a:t>7</a:t>
            </a:r>
          </a:p>
        </p:txBody>
      </p:sp>
      <p:sp>
        <p:nvSpPr>
          <p:cNvPr id="34" name="state-label-6">
            <a:extLst xmlns:a="http://schemas.openxmlformats.org/drawingml/2006/main">
              <a:ext uri="{FF2B5EF4-FFF2-40B4-BE49-F238E27FC236}">
                <a16:creationId xmlns:a16="http://schemas.microsoft.com/office/drawing/2014/main" id="{02F891A4-25DA-4D8A-A7DB-AF832B19E304}"/>
              </a:ext>
            </a:extLst>
          </p:cNvPr>
          <p:cNvSpPr>
            <a:spLocks xmlns:a="http://schemas.openxmlformats.org/drawingml/2006/main" noGrp="1"/>
          </p:cNvSpPr>
          <p:nvPr/>
        </p:nvSpPr>
        <p:spPr>
          <a:xfrm xmlns:a="http://schemas.openxmlformats.org/drawingml/2006/main">
            <a:off x="9525000" y="3667125"/>
            <a:ext cx="1066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1">
                <a:solidFill>
                  <a:srgbClr val="102330"/>
                </a:solidFill>
              </a:defRPr>
            </a:pPr>
            <a:r>
              <a:rPr sz="1200" b="1">
                <a:solidFill>
                  <a:srgbClr val="102330"/>
                </a:solidFill>
              </a:rPr>
              <a:t>幂等退款</a:t>
            </a:r>
          </a:p>
        </p:txBody>
      </p:sp>
      <p:sp>
        <p:nvSpPr>
          <p:cNvPr id="35" name="state-guard">
            <a:extLst xmlns:a="http://schemas.openxmlformats.org/drawingml/2006/main">
              <a:ext uri="{FF2B5EF4-FFF2-40B4-BE49-F238E27FC236}">
                <a16:creationId xmlns:a16="http://schemas.microsoft.com/office/drawing/2014/main" id="{FDC6088C-BB60-4B17-8E29-A8B417B7E926}"/>
              </a:ext>
            </a:extLst>
          </p:cNvPr>
          <p:cNvSpPr>
            <a:spLocks xmlns:a="http://schemas.openxmlformats.org/drawingml/2006/main" noGrp="1"/>
          </p:cNvSpPr>
          <p:nvPr/>
        </p:nvSpPr>
        <p:spPr>
          <a:xfrm xmlns:a="http://schemas.openxmlformats.org/drawingml/2006/main">
            <a:off x="1238250" y="4762500"/>
            <a:ext cx="9715500" cy="876300"/>
          </a:xfrm>
          <a:prstGeom xmlns:a="http://schemas.openxmlformats.org/drawingml/2006/main" prst="roundRect">
            <a:avLst>
              <a:gd name="adj" fmla="val 10870"/>
            </a:avLst>
          </a:prstGeom>
          <a:solidFill xmlns:a="http://schemas.openxmlformats.org/drawingml/2006/main">
            <a:srgbClr val="071A2B"/>
          </a:solidFill>
          <a:ln xmlns:a="http://schemas.openxmlformats.org/drawingml/2006/main" w="0">
            <a:solidFill>
              <a:srgbClr val="071A2B"/>
            </a:solidFill>
            <a:prstDash val="solid"/>
          </a:ln>
        </p:spPr>
      </p:sp>
      <p:sp>
        <p:nvSpPr>
          <p:cNvPr id="36" name="state-guard-text">
            <a:extLst xmlns:a="http://schemas.openxmlformats.org/drawingml/2006/main">
              <a:ext uri="{FF2B5EF4-FFF2-40B4-BE49-F238E27FC236}">
                <a16:creationId xmlns:a16="http://schemas.microsoft.com/office/drawing/2014/main" id="{1DC9B8BE-0193-45A2-BC8A-FE316A815142}"/>
              </a:ext>
            </a:extLst>
          </p:cNvPr>
          <p:cNvSpPr>
            <a:spLocks xmlns:a="http://schemas.openxmlformats.org/drawingml/2006/main" noGrp="1"/>
          </p:cNvSpPr>
          <p:nvPr/>
        </p:nvSpPr>
        <p:spPr>
          <a:xfrm xmlns:a="http://schemas.openxmlformats.org/drawingml/2006/main">
            <a:off x="1571625" y="4991100"/>
            <a:ext cx="9048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1">
                <a:solidFill>
                  <a:srgbClr val="F7F1E8"/>
                </a:solidFill>
              </a:defRPr>
            </a:pPr>
            <a:r>
              <a:rPr sz="1125" b="1">
                <a:solidFill>
                  <a:srgbClr val="F7F1E8"/>
                </a:solidFill>
              </a:rPr>
              <a:t>WRITE GUARD  ·  verified identity ∧ orders read ∧ payment read ∧ policy read ∧ exact confirmation ∧ duplicate charge ∧ exact amount ∧ idempotency key</a:t>
            </a:r>
          </a:p>
        </p:txBody>
      </p:sp>
    </p:spTree>
    <p:extLst>
      <p:ext uri="{BB962C8B-B14F-4D97-AF65-F5344CB8AC3E}">
        <p14:creationId xmlns:p14="http://schemas.microsoft.com/office/powerpoint/2010/main" val="741672697"/>
      </p:ext>
    </p:extLst>
  </p:cSld>
</p:sld>
</file>

<file path=ppt/slides/slide6.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24" name="rail-6">
            <a:extLst xmlns:a="http://schemas.openxmlformats.org/drawingml/2006/main">
              <a:ext uri="{FF2B5EF4-FFF2-40B4-BE49-F238E27FC236}">
                <a16:creationId xmlns:a16="http://schemas.microsoft.com/office/drawing/2014/main" id="{6483D5D0-1A39-4526-BA5B-BAE372C80ECD}"/>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6">
            <a:extLst xmlns:a="http://schemas.openxmlformats.org/drawingml/2006/main">
              <a:ext uri="{FF2B5EF4-FFF2-40B4-BE49-F238E27FC236}">
                <a16:creationId xmlns:a16="http://schemas.microsoft.com/office/drawing/2014/main" id="{91F4854A-08E3-4DAF-B5BD-58C129E36FE0}"/>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6">
            <a:extLst xmlns:a="http://schemas.openxmlformats.org/drawingml/2006/main">
              <a:ext uri="{FF2B5EF4-FFF2-40B4-BE49-F238E27FC236}">
                <a16:creationId xmlns:a16="http://schemas.microsoft.com/office/drawing/2014/main" id="{7C762449-6DCF-4B4C-AAEA-2E5EB347E033}"/>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OPTIMIZATION</a:t>
            </a:r>
          </a:p>
        </p:txBody>
      </p:sp>
      <p:sp>
        <p:nvSpPr>
          <p:cNvPr id="4" name="title-6">
            <a:extLst xmlns:a="http://schemas.openxmlformats.org/drawingml/2006/main">
              <a:ext uri="{FF2B5EF4-FFF2-40B4-BE49-F238E27FC236}">
                <a16:creationId xmlns:a16="http://schemas.microsoft.com/office/drawing/2014/main" id="{79BD756C-A0BE-4D43-8438-0BA31C2A9E72}"/>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为什么用 response-token GRPO，而不是动作分类？</a:t>
            </a:r>
          </a:p>
        </p:txBody>
      </p:sp>
      <p:sp>
        <p:nvSpPr>
          <p:cNvPr id="5" name="subtitle-6">
            <a:extLst xmlns:a="http://schemas.openxmlformats.org/drawingml/2006/main">
              <a:ext uri="{FF2B5EF4-FFF2-40B4-BE49-F238E27FC236}">
                <a16:creationId xmlns:a16="http://schemas.microsoft.com/office/drawing/2014/main" id="{6152B6C1-8BBC-4A5E-8C37-FCF8147A2FA5}"/>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每个样本是一条完整多轮轨迹；梯度只覆盖 assistant completion token。</a:t>
            </a:r>
          </a:p>
        </p:txBody>
      </p:sp>
      <p:sp>
        <p:nvSpPr>
          <p:cNvPr id="6" name="">
            <a:extLst xmlns:a="http://schemas.openxmlformats.org/drawingml/2006/main">
              <a:ext uri="{FF2B5EF4-FFF2-40B4-BE49-F238E27FC236}">
                <a16:creationId xmlns:a16="http://schemas.microsoft.com/office/drawing/2014/main" id="{EF9AD9DB-8714-4A3E-AB15-49A4BC0BB2E6}"/>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6">
            <a:extLst xmlns:a="http://schemas.openxmlformats.org/drawingml/2006/main">
              <a:ext uri="{FF2B5EF4-FFF2-40B4-BE49-F238E27FC236}">
                <a16:creationId xmlns:a16="http://schemas.microsoft.com/office/drawing/2014/main" id="{34E30512-6AF0-41B4-BBE8-34A0DC4D03B3}"/>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06</a:t>
            </a:r>
          </a:p>
        </p:txBody>
      </p:sp>
      <p:sp>
        <p:nvSpPr>
          <p:cNvPr id="8" name="grpo-formula">
            <a:extLst xmlns:a="http://schemas.openxmlformats.org/drawingml/2006/main">
              <a:ext uri="{FF2B5EF4-FFF2-40B4-BE49-F238E27FC236}">
                <a16:creationId xmlns:a16="http://schemas.microsoft.com/office/drawing/2014/main" id="{3C7BCB56-31E8-41BC-BB4B-7773D64611DA}"/>
              </a:ext>
            </a:extLst>
          </p:cNvPr>
          <p:cNvSpPr>
            <a:spLocks xmlns:a="http://schemas.openxmlformats.org/drawingml/2006/main" noGrp="1"/>
          </p:cNvSpPr>
          <p:nvPr/>
        </p:nvSpPr>
        <p:spPr>
          <a:xfrm xmlns:a="http://schemas.openxmlformats.org/drawingml/2006/main">
            <a:off x="714375" y="2190750"/>
            <a:ext cx="4953000" cy="2857500"/>
          </a:xfrm>
          <a:prstGeom xmlns:a="http://schemas.openxmlformats.org/drawingml/2006/main" prst="roundRect">
            <a:avLst>
              <a:gd name="adj" fmla="val 4000"/>
            </a:avLst>
          </a:prstGeom>
          <a:solidFill xmlns:a="http://schemas.openxmlformats.org/drawingml/2006/main">
            <a:srgbClr val="071A2B"/>
          </a:solidFill>
          <a:ln xmlns:a="http://schemas.openxmlformats.org/drawingml/2006/main" w="0">
            <a:solidFill>
              <a:srgbClr val="071A2B"/>
            </a:solidFill>
            <a:prstDash val="solid"/>
          </a:ln>
        </p:spPr>
      </p:sp>
      <p:sp>
        <p:nvSpPr>
          <p:cNvPr id="9" name="grpo-formula-title">
            <a:extLst xmlns:a="http://schemas.openxmlformats.org/drawingml/2006/main">
              <a:ext uri="{FF2B5EF4-FFF2-40B4-BE49-F238E27FC236}">
                <a16:creationId xmlns:a16="http://schemas.microsoft.com/office/drawing/2014/main" id="{73B7A8F2-82D4-44BC-9AE5-8F6AAE9A3C09}"/>
              </a:ext>
            </a:extLst>
          </p:cNvPr>
          <p:cNvSpPr>
            <a:spLocks xmlns:a="http://schemas.openxmlformats.org/drawingml/2006/main" noGrp="1"/>
          </p:cNvSpPr>
          <p:nvPr/>
        </p:nvSpPr>
        <p:spPr>
          <a:xfrm xmlns:a="http://schemas.openxmlformats.org/drawingml/2006/main">
            <a:off x="1047750" y="2476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1">
                <a:solidFill>
                  <a:srgbClr val="D6A84B"/>
                </a:solidFill>
              </a:defRPr>
            </a:pPr>
            <a:r>
              <a:rPr sz="1275" b="1">
                <a:solidFill>
                  <a:srgbClr val="D6A84B"/>
                </a:solidFill>
              </a:rPr>
              <a:t>GROUP-RELATIVE ADVANTAGE</a:t>
            </a:r>
          </a:p>
        </p:txBody>
      </p:sp>
      <p:sp>
        <p:nvSpPr>
          <p:cNvPr id="10" name="grpo-formula-main">
            <a:extLst xmlns:a="http://schemas.openxmlformats.org/drawingml/2006/main">
              <a:ext uri="{FF2B5EF4-FFF2-40B4-BE49-F238E27FC236}">
                <a16:creationId xmlns:a16="http://schemas.microsoft.com/office/drawing/2014/main" id="{A414BB40-803E-400D-B029-C908785187E4}"/>
              </a:ext>
            </a:extLst>
          </p:cNvPr>
          <p:cNvSpPr>
            <a:spLocks xmlns:a="http://schemas.openxmlformats.org/drawingml/2006/main" noGrp="1"/>
          </p:cNvSpPr>
          <p:nvPr/>
        </p:nvSpPr>
        <p:spPr>
          <a:xfrm xmlns:a="http://schemas.openxmlformats.org/drawingml/2006/main">
            <a:off x="1000125" y="3209925"/>
            <a:ext cx="4381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1">
                <a:solidFill>
                  <a:srgbClr val="FFFFFF"/>
                </a:solidFill>
              </a:defRPr>
            </a:pPr>
            <a:r>
              <a:rPr sz="2250" b="1">
                <a:solidFill>
                  <a:srgbClr val="FFFFFF"/>
                </a:solidFill>
              </a:rPr>
              <a:t>Aᵢ = (Rᵢ − μgroup) / (σgroup + ε)</a:t>
            </a:r>
          </a:p>
        </p:txBody>
      </p:sp>
      <p:sp>
        <p:nvSpPr>
          <p:cNvPr id="11" name="grpo-reward">
            <a:extLst xmlns:a="http://schemas.openxmlformats.org/drawingml/2006/main">
              <a:ext uri="{FF2B5EF4-FFF2-40B4-BE49-F238E27FC236}">
                <a16:creationId xmlns:a16="http://schemas.microsoft.com/office/drawing/2014/main" id="{6D26D211-03BD-455D-A32E-71CA6CDD379F}"/>
              </a:ext>
            </a:extLst>
          </p:cNvPr>
          <p:cNvSpPr>
            <a:spLocks xmlns:a="http://schemas.openxmlformats.org/drawingml/2006/main" noGrp="1"/>
          </p:cNvSpPr>
          <p:nvPr/>
        </p:nvSpPr>
        <p:spPr>
          <a:xfrm xmlns:a="http://schemas.openxmlformats.org/drawingml/2006/main">
            <a:off x="1047750" y="4076700"/>
            <a:ext cx="4286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a:solidFill>
                  <a:srgbClr val="BFD9DD"/>
                </a:solidFill>
              </a:defRPr>
            </a:pPr>
            <a:r>
              <a:rPr sz="1500">
                <a:solidFill>
                  <a:srgbClr val="BFD9DD"/>
                </a:solidFill>
              </a:rPr>
              <a:t>R = 𝟙[exact outcome] + 0.30 × Rprocess</a:t>
            </a:r>
          </a:p>
        </p:txBody>
      </p:sp>
      <p:sp>
        <p:nvSpPr>
          <p:cNvPr id="12" name="grpo-num-0">
            <a:extLst xmlns:a="http://schemas.openxmlformats.org/drawingml/2006/main">
              <a:ext uri="{FF2B5EF4-FFF2-40B4-BE49-F238E27FC236}">
                <a16:creationId xmlns:a16="http://schemas.microsoft.com/office/drawing/2014/main" id="{3C49B0F7-5240-444D-BBE1-4BB70AD2FE0F}"/>
              </a:ext>
            </a:extLst>
          </p:cNvPr>
          <p:cNvSpPr>
            <a:spLocks xmlns:a="http://schemas.openxmlformats.org/drawingml/2006/main" noGrp="1"/>
          </p:cNvSpPr>
          <p:nvPr/>
        </p:nvSpPr>
        <p:spPr>
          <a:xfrm xmlns:a="http://schemas.openxmlformats.org/drawingml/2006/main">
            <a:off x="6429375" y="2162175"/>
            <a:ext cx="523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350" b="1">
                <a:solidFill>
                  <a:srgbClr val="18A6A6"/>
                </a:solidFill>
              </a:defRPr>
            </a:pPr>
            <a:r>
              <a:rPr sz="1350" b="1">
                <a:solidFill>
                  <a:srgbClr val="18A6A6"/>
                </a:solidFill>
              </a:rPr>
              <a:t>01</a:t>
            </a:r>
          </a:p>
        </p:txBody>
      </p:sp>
      <p:sp>
        <p:nvSpPr>
          <p:cNvPr id="13" name="grpo-head-0">
            <a:extLst xmlns:a="http://schemas.openxmlformats.org/drawingml/2006/main">
              <a:ext uri="{FF2B5EF4-FFF2-40B4-BE49-F238E27FC236}">
                <a16:creationId xmlns:a16="http://schemas.microsoft.com/office/drawing/2014/main" id="{74DA4F65-B6F7-41DE-8A72-B74092F15DC8}"/>
              </a:ext>
            </a:extLst>
          </p:cNvPr>
          <p:cNvSpPr>
            <a:spLocks xmlns:a="http://schemas.openxmlformats.org/drawingml/2006/main" noGrp="1"/>
          </p:cNvSpPr>
          <p:nvPr/>
        </p:nvSpPr>
        <p:spPr>
          <a:xfrm xmlns:a="http://schemas.openxmlformats.org/drawingml/2006/main">
            <a:off x="7067550" y="213360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425" b="1">
                <a:solidFill>
                  <a:srgbClr val="071A2B"/>
                </a:solidFill>
              </a:defRPr>
            </a:pPr>
            <a:r>
              <a:rPr sz="1425" b="1">
                <a:solidFill>
                  <a:srgbClr val="071A2B"/>
                </a:solidFill>
              </a:rPr>
              <a:t>同 prompt 采样 4 条 trajectory</a:t>
            </a:r>
          </a:p>
        </p:txBody>
      </p:sp>
      <p:sp>
        <p:nvSpPr>
          <p:cNvPr id="14" name="grpo-sub-0">
            <a:extLst xmlns:a="http://schemas.openxmlformats.org/drawingml/2006/main">
              <a:ext uri="{FF2B5EF4-FFF2-40B4-BE49-F238E27FC236}">
                <a16:creationId xmlns:a16="http://schemas.microsoft.com/office/drawing/2014/main" id="{784E2192-A030-46C8-8D21-14221C95DA37}"/>
              </a:ext>
            </a:extLst>
          </p:cNvPr>
          <p:cNvSpPr>
            <a:spLocks xmlns:a="http://schemas.openxmlformats.org/drawingml/2006/main" noGrp="1"/>
          </p:cNvSpPr>
          <p:nvPr/>
        </p:nvSpPr>
        <p:spPr>
          <a:xfrm xmlns:a="http://schemas.openxmlformats.org/drawingml/2006/main">
            <a:off x="7067550" y="248602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125">
                <a:solidFill>
                  <a:srgbClr val="64747B"/>
                </a:solidFill>
              </a:defRPr>
            </a:pPr>
            <a:r>
              <a:rPr sz="1125">
                <a:solidFill>
                  <a:srgbClr val="64747B"/>
                </a:solidFill>
              </a:rPr>
              <a:t>不依赖单独 value model</a:t>
            </a:r>
          </a:p>
        </p:txBody>
      </p:sp>
      <p:sp>
        <p:nvSpPr>
          <p:cNvPr id="15" name="grpo-num-1">
            <a:extLst xmlns:a="http://schemas.openxmlformats.org/drawingml/2006/main">
              <a:ext uri="{FF2B5EF4-FFF2-40B4-BE49-F238E27FC236}">
                <a16:creationId xmlns:a16="http://schemas.microsoft.com/office/drawing/2014/main" id="{E9363982-FE77-4E89-8C68-A462A9E4270F}"/>
              </a:ext>
            </a:extLst>
          </p:cNvPr>
          <p:cNvSpPr>
            <a:spLocks xmlns:a="http://schemas.openxmlformats.org/drawingml/2006/main" noGrp="1"/>
          </p:cNvSpPr>
          <p:nvPr/>
        </p:nvSpPr>
        <p:spPr>
          <a:xfrm xmlns:a="http://schemas.openxmlformats.org/drawingml/2006/main">
            <a:off x="6429375" y="3019425"/>
            <a:ext cx="523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350" b="1">
                <a:solidFill>
                  <a:srgbClr val="C56D4A"/>
                </a:solidFill>
              </a:defRPr>
            </a:pPr>
            <a:r>
              <a:rPr sz="1350" b="1">
                <a:solidFill>
                  <a:srgbClr val="C56D4A"/>
                </a:solidFill>
              </a:rPr>
              <a:t>02</a:t>
            </a:r>
          </a:p>
        </p:txBody>
      </p:sp>
      <p:sp>
        <p:nvSpPr>
          <p:cNvPr id="16" name="grpo-head-1">
            <a:extLst xmlns:a="http://schemas.openxmlformats.org/drawingml/2006/main">
              <a:ext uri="{FF2B5EF4-FFF2-40B4-BE49-F238E27FC236}">
                <a16:creationId xmlns:a16="http://schemas.microsoft.com/office/drawing/2014/main" id="{7BFFD635-737E-44F0-A6DC-8601304C829B}"/>
              </a:ext>
            </a:extLst>
          </p:cNvPr>
          <p:cNvSpPr>
            <a:spLocks xmlns:a="http://schemas.openxmlformats.org/drawingml/2006/main" noGrp="1"/>
          </p:cNvSpPr>
          <p:nvPr/>
        </p:nvSpPr>
        <p:spPr>
          <a:xfrm xmlns:a="http://schemas.openxmlformats.org/drawingml/2006/main">
            <a:off x="7067550" y="299085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425" b="1">
                <a:solidFill>
                  <a:srgbClr val="071A2B"/>
                </a:solidFill>
              </a:defRPr>
            </a:pPr>
            <a:r>
              <a:rPr sz="1425" b="1">
                <a:solidFill>
                  <a:srgbClr val="071A2B"/>
                </a:solidFill>
              </a:rPr>
              <a:t>DAPO-style clipped objective</a:t>
            </a:r>
          </a:p>
        </p:txBody>
      </p:sp>
      <p:sp>
        <p:nvSpPr>
          <p:cNvPr id="17" name="grpo-sub-1">
            <a:extLst xmlns:a="http://schemas.openxmlformats.org/drawingml/2006/main">
              <a:ext uri="{FF2B5EF4-FFF2-40B4-BE49-F238E27FC236}">
                <a16:creationId xmlns:a16="http://schemas.microsoft.com/office/drawing/2014/main" id="{3AAEFD1D-5F32-4DDB-9D4C-A2EE631413C4}"/>
              </a:ext>
            </a:extLst>
          </p:cNvPr>
          <p:cNvSpPr>
            <a:spLocks xmlns:a="http://schemas.openxmlformats.org/drawingml/2006/main" noGrp="1"/>
          </p:cNvSpPr>
          <p:nvPr/>
        </p:nvSpPr>
        <p:spPr>
          <a:xfrm xmlns:a="http://schemas.openxmlformats.org/drawingml/2006/main">
            <a:off x="7067550" y="334327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125">
                <a:solidFill>
                  <a:srgbClr val="64747B"/>
                </a:solidFill>
              </a:defRPr>
            </a:pPr>
            <a:r>
              <a:rPr sz="1125">
                <a:solidFill>
                  <a:srgbClr val="64747B"/>
                </a:solidFill>
              </a:rPr>
              <a:t>LoRA 更新 Q/K/V/O + MLP</a:t>
            </a:r>
          </a:p>
        </p:txBody>
      </p:sp>
      <p:sp>
        <p:nvSpPr>
          <p:cNvPr id="18" name="grpo-num-2">
            <a:extLst xmlns:a="http://schemas.openxmlformats.org/drawingml/2006/main">
              <a:ext uri="{FF2B5EF4-FFF2-40B4-BE49-F238E27FC236}">
                <a16:creationId xmlns:a16="http://schemas.microsoft.com/office/drawing/2014/main" id="{715A6099-023B-4003-84F5-D253062D4601}"/>
              </a:ext>
            </a:extLst>
          </p:cNvPr>
          <p:cNvSpPr>
            <a:spLocks xmlns:a="http://schemas.openxmlformats.org/drawingml/2006/main" noGrp="1"/>
          </p:cNvSpPr>
          <p:nvPr/>
        </p:nvSpPr>
        <p:spPr>
          <a:xfrm xmlns:a="http://schemas.openxmlformats.org/drawingml/2006/main">
            <a:off x="6429375" y="3876675"/>
            <a:ext cx="523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350" b="1">
                <a:solidFill>
                  <a:srgbClr val="18A6A6"/>
                </a:solidFill>
              </a:defRPr>
            </a:pPr>
            <a:r>
              <a:rPr sz="1350" b="1">
                <a:solidFill>
                  <a:srgbClr val="18A6A6"/>
                </a:solidFill>
              </a:rPr>
              <a:t>03</a:t>
            </a:r>
          </a:p>
        </p:txBody>
      </p:sp>
      <p:sp>
        <p:nvSpPr>
          <p:cNvPr id="19" name="grpo-head-2">
            <a:extLst xmlns:a="http://schemas.openxmlformats.org/drawingml/2006/main">
              <a:ext uri="{FF2B5EF4-FFF2-40B4-BE49-F238E27FC236}">
                <a16:creationId xmlns:a16="http://schemas.microsoft.com/office/drawing/2014/main" id="{63906E79-1150-466B-A685-6DB62A2B2240}"/>
              </a:ext>
            </a:extLst>
          </p:cNvPr>
          <p:cNvSpPr>
            <a:spLocks xmlns:a="http://schemas.openxmlformats.org/drawingml/2006/main" noGrp="1"/>
          </p:cNvSpPr>
          <p:nvPr/>
        </p:nvSpPr>
        <p:spPr>
          <a:xfrm xmlns:a="http://schemas.openxmlformats.org/drawingml/2006/main">
            <a:off x="7067550" y="384810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425" b="1">
                <a:solidFill>
                  <a:srgbClr val="071A2B"/>
                </a:solidFill>
              </a:defRPr>
            </a:pPr>
            <a:r>
              <a:rPr sz="1425" b="1">
                <a:solidFill>
                  <a:srgbClr val="071A2B"/>
                </a:solidFill>
              </a:rPr>
              <a:t>NF4 base + BF16 compute</a:t>
            </a:r>
          </a:p>
        </p:txBody>
      </p:sp>
      <p:sp>
        <p:nvSpPr>
          <p:cNvPr id="20" name="grpo-sub-2">
            <a:extLst xmlns:a="http://schemas.openxmlformats.org/drawingml/2006/main">
              <a:ext uri="{FF2B5EF4-FFF2-40B4-BE49-F238E27FC236}">
                <a16:creationId xmlns:a16="http://schemas.microsoft.com/office/drawing/2014/main" id="{8272B02D-F35C-4CD1-B70F-9CFF2DF9D0AA}"/>
              </a:ext>
            </a:extLst>
          </p:cNvPr>
          <p:cNvSpPr>
            <a:spLocks xmlns:a="http://schemas.openxmlformats.org/drawingml/2006/main" noGrp="1"/>
          </p:cNvSpPr>
          <p:nvPr/>
        </p:nvSpPr>
        <p:spPr>
          <a:xfrm xmlns:a="http://schemas.openxmlformats.org/drawingml/2006/main">
            <a:off x="7067550" y="420052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125">
                <a:solidFill>
                  <a:srgbClr val="64747B"/>
                </a:solidFill>
              </a:defRPr>
            </a:pPr>
            <a:r>
              <a:rPr sz="1125">
                <a:solidFill>
                  <a:srgbClr val="64747B"/>
                </a:solidFill>
              </a:rPr>
              <a:t>在单张 NVIDIA RTX PRO 6000 Blackwell Server Edition 上完成</a:t>
            </a:r>
          </a:p>
        </p:txBody>
      </p:sp>
      <p:sp>
        <p:nvSpPr>
          <p:cNvPr id="21" name="grpo-num-3">
            <a:extLst xmlns:a="http://schemas.openxmlformats.org/drawingml/2006/main">
              <a:ext uri="{FF2B5EF4-FFF2-40B4-BE49-F238E27FC236}">
                <a16:creationId xmlns:a16="http://schemas.microsoft.com/office/drawing/2014/main" id="{206E68D6-30C1-4A12-B50C-FD838D847774}"/>
              </a:ext>
            </a:extLst>
          </p:cNvPr>
          <p:cNvSpPr>
            <a:spLocks xmlns:a="http://schemas.openxmlformats.org/drawingml/2006/main" noGrp="1"/>
          </p:cNvSpPr>
          <p:nvPr/>
        </p:nvSpPr>
        <p:spPr>
          <a:xfrm xmlns:a="http://schemas.openxmlformats.org/drawingml/2006/main">
            <a:off x="6429375" y="4733925"/>
            <a:ext cx="523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350" b="1">
                <a:solidFill>
                  <a:srgbClr val="C56D4A"/>
                </a:solidFill>
              </a:defRPr>
            </a:pPr>
            <a:r>
              <a:rPr sz="1350" b="1">
                <a:solidFill>
                  <a:srgbClr val="C56D4A"/>
                </a:solidFill>
              </a:rPr>
              <a:t>04</a:t>
            </a:r>
          </a:p>
        </p:txBody>
      </p:sp>
      <p:sp>
        <p:nvSpPr>
          <p:cNvPr id="22" name="grpo-head-3">
            <a:extLst xmlns:a="http://schemas.openxmlformats.org/drawingml/2006/main">
              <a:ext uri="{FF2B5EF4-FFF2-40B4-BE49-F238E27FC236}">
                <a16:creationId xmlns:a16="http://schemas.microsoft.com/office/drawing/2014/main" id="{D932FE98-9770-454F-9E44-8AB70EDF8503}"/>
              </a:ext>
            </a:extLst>
          </p:cNvPr>
          <p:cNvSpPr>
            <a:spLocks xmlns:a="http://schemas.openxmlformats.org/drawingml/2006/main" noGrp="1"/>
          </p:cNvSpPr>
          <p:nvPr/>
        </p:nvSpPr>
        <p:spPr>
          <a:xfrm xmlns:a="http://schemas.openxmlformats.org/drawingml/2006/main">
            <a:off x="7067550" y="470535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425" b="1">
                <a:solidFill>
                  <a:srgbClr val="071A2B"/>
                </a:solidFill>
              </a:defRPr>
            </a:pPr>
            <a:r>
              <a:rPr sz="1425" b="1">
                <a:solidFill>
                  <a:srgbClr val="071A2B"/>
                </a:solidFill>
              </a:rPr>
              <a:t>过程分只打破失败平局</a:t>
            </a:r>
          </a:p>
        </p:txBody>
      </p:sp>
      <p:sp>
        <p:nvSpPr>
          <p:cNvPr id="23" name="grpo-sub-3">
            <a:extLst xmlns:a="http://schemas.openxmlformats.org/drawingml/2006/main">
              <a:ext uri="{FF2B5EF4-FFF2-40B4-BE49-F238E27FC236}">
                <a16:creationId xmlns:a16="http://schemas.microsoft.com/office/drawing/2014/main" id="{3A217642-FDB8-494F-AFC1-5F38451C780C}"/>
              </a:ext>
            </a:extLst>
          </p:cNvPr>
          <p:cNvSpPr>
            <a:spLocks xmlns:a="http://schemas.openxmlformats.org/drawingml/2006/main" noGrp="1"/>
          </p:cNvSpPr>
          <p:nvPr/>
        </p:nvSpPr>
        <p:spPr>
          <a:xfrm xmlns:a="http://schemas.openxmlformats.org/drawingml/2006/main">
            <a:off x="7067550" y="505777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125">
                <a:solidFill>
                  <a:srgbClr val="64747B"/>
                </a:solidFill>
              </a:defRPr>
            </a:pPr>
            <a:r>
              <a:rPr sz="1125">
                <a:solidFill>
                  <a:srgbClr val="64747B"/>
                </a:solidFill>
              </a:rPr>
              <a:t>exact outcome 仍是主目标</a:t>
            </a:r>
          </a:p>
        </p:txBody>
      </p:sp>
    </p:spTree>
    <p:extLst>
      <p:ext uri="{BB962C8B-B14F-4D97-AF65-F5344CB8AC3E}">
        <p14:creationId xmlns:p14="http://schemas.microsoft.com/office/powerpoint/2010/main" val="1165603200"/>
      </p:ext>
    </p:extLst>
  </p:cSld>
</p:sld>
</file>

<file path=ppt/slides/slide7.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10" name="copper-7">
            <a:extLst xmlns:a="http://schemas.openxmlformats.org/drawingml/2006/main">
              <a:ext uri="{FF2B5EF4-FFF2-40B4-BE49-F238E27FC236}">
                <a16:creationId xmlns:a16="http://schemas.microsoft.com/office/drawing/2014/main" id="{65A51076-7086-4826-84A5-F41DF1F416BD}"/>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C56D4A"/>
          </a:solidFill>
          <a:ln xmlns:a="http://schemas.openxmlformats.org/drawingml/2006/main" w="0">
            <a:solidFill>
              <a:srgbClr val="C56D4A"/>
            </a:solidFill>
            <a:prstDash val="solid"/>
          </a:ln>
        </p:spPr>
      </p:sp>
      <p:sp>
        <p:nvSpPr>
          <p:cNvPr id="2" name="chapter-script-7">
            <a:extLst xmlns:a="http://schemas.openxmlformats.org/drawingml/2006/main">
              <a:ext uri="{FF2B5EF4-FFF2-40B4-BE49-F238E27FC236}">
                <a16:creationId xmlns:a16="http://schemas.microsoft.com/office/drawing/2014/main" id="{74E139B3-8CA1-4FEC-8777-CD0F624B9E4B}"/>
              </a:ext>
            </a:extLst>
          </p:cNvPr>
          <p:cNvSpPr>
            <a:spLocks xmlns:a="http://schemas.openxmlformats.org/drawingml/2006/main" noGrp="1"/>
          </p:cNvSpPr>
          <p:nvPr/>
        </p:nvSpPr>
        <p:spPr>
          <a:xfrm xmlns:a="http://schemas.openxmlformats.org/drawingml/2006/main">
            <a:off x="800100" y="647700"/>
            <a:ext cx="4762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175" b="1">
                <a:solidFill>
                  <a:srgbClr val="D6A84B"/>
                </a:solidFill>
              </a:defRPr>
            </a:pPr>
            <a:r>
              <a:rPr sz="2175" b="1">
                <a:solidFill>
                  <a:srgbClr val="D6A84B"/>
                </a:solidFill>
              </a:rPr>
              <a:t>长程智能体 · 强化学习</a:t>
            </a:r>
          </a:p>
        </p:txBody>
      </p:sp>
      <p:sp>
        <p:nvSpPr>
          <p:cNvPr id="3" name="roman-7">
            <a:extLst xmlns:a="http://schemas.openxmlformats.org/drawingml/2006/main">
              <a:ext uri="{FF2B5EF4-FFF2-40B4-BE49-F238E27FC236}">
                <a16:creationId xmlns:a16="http://schemas.microsoft.com/office/drawing/2014/main" id="{64C9BE2B-5695-4301-BA32-316C1446C64B}"/>
              </a:ext>
            </a:extLst>
          </p:cNvPr>
          <p:cNvSpPr>
            <a:spLocks xmlns:a="http://schemas.openxmlformats.org/drawingml/2006/main" noGrp="1"/>
          </p:cNvSpPr>
          <p:nvPr/>
        </p:nvSpPr>
        <p:spPr>
          <a:xfrm xmlns:a="http://schemas.openxmlformats.org/drawingml/2006/main">
            <a:off x="8001000" y="323850"/>
            <a:ext cx="30480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2450" b="1">
                <a:solidFill>
                  <a:srgbClr val="0E2B3D"/>
                </a:solidFill>
              </a:defRPr>
            </a:pPr>
            <a:r>
              <a:rPr sz="12450" b="1">
                <a:solidFill>
                  <a:srgbClr val="0E2B3D"/>
                </a:solidFill>
              </a:rPr>
              <a:t>II</a:t>
            </a:r>
          </a:p>
        </p:txBody>
      </p:sp>
      <p:sp>
        <p:nvSpPr>
          <p:cNvPr id="4" name="">
            <a:extLst xmlns:a="http://schemas.openxmlformats.org/drawingml/2006/main">
              <a:ext uri="{FF2B5EF4-FFF2-40B4-BE49-F238E27FC236}">
                <a16:creationId xmlns:a16="http://schemas.microsoft.com/office/drawing/2014/main" id="{9FD69108-2055-4276-8CDA-4667BE41A62D}"/>
              </a:ext>
            </a:extLst>
          </p:cNvPr>
          <p:cNvSpPr>
            <a:spLocks xmlns:a="http://schemas.openxmlformats.org/drawingml/2006/main" noGrp="1"/>
          </p:cNvSpPr>
          <p:nvPr/>
        </p:nvSpPr>
        <p:spPr>
          <a:xfrm xmlns:a="http://schemas.openxmlformats.org/drawingml/2006/main">
            <a:off x="819150" y="1628775"/>
            <a:ext cx="1619250" cy="0"/>
          </a:xfrm>
          <a:prstGeom xmlns:a="http://schemas.openxmlformats.org/drawingml/2006/main" prst="line">
            <a:avLst/>
          </a:prstGeom>
          <a:noFill xmlns:a="http://schemas.openxmlformats.org/drawingml/2006/main"/>
          <a:ln xmlns:a="http://schemas.openxmlformats.org/drawingml/2006/main" w="47625">
            <a:solidFill>
              <a:srgbClr val="C56D4A"/>
            </a:solidFill>
            <a:prstDash val="solid"/>
          </a:ln>
        </p:spPr>
      </p:sp>
      <p:sp>
        <p:nvSpPr>
          <p:cNvPr id="5" name="zh-7">
            <a:extLst xmlns:a="http://schemas.openxmlformats.org/drawingml/2006/main">
              <a:ext uri="{FF2B5EF4-FFF2-40B4-BE49-F238E27FC236}">
                <a16:creationId xmlns:a16="http://schemas.microsoft.com/office/drawing/2014/main" id="{66B918FA-D4A2-4196-8F19-A75D8B574220}"/>
              </a:ext>
            </a:extLst>
          </p:cNvPr>
          <p:cNvSpPr>
            <a:spLocks xmlns:a="http://schemas.openxmlformats.org/drawingml/2006/main" noGrp="1"/>
          </p:cNvSpPr>
          <p:nvPr/>
        </p:nvSpPr>
        <p:spPr>
          <a:xfrm xmlns:a="http://schemas.openxmlformats.org/drawingml/2006/main">
            <a:off x="781050" y="2038350"/>
            <a:ext cx="7620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4275" b="1">
                <a:solidFill>
                  <a:srgbClr val="F7F1E8"/>
                </a:solidFill>
              </a:defRPr>
            </a:pPr>
            <a:r>
              <a:rPr sz="4275" b="1">
                <a:solidFill>
                  <a:srgbClr val="F7F1E8"/>
                </a:solidFill>
              </a:rPr>
              <a:t>课程学习闭环</a:t>
            </a:r>
          </a:p>
        </p:txBody>
      </p:sp>
      <p:sp>
        <p:nvSpPr>
          <p:cNvPr id="6" name="en-7">
            <a:extLst xmlns:a="http://schemas.openxmlformats.org/drawingml/2006/main">
              <a:ext uri="{FF2B5EF4-FFF2-40B4-BE49-F238E27FC236}">
                <a16:creationId xmlns:a16="http://schemas.microsoft.com/office/drawing/2014/main" id="{3B3DE3BC-DC21-42D2-8A87-0AFFD04258B0}"/>
              </a:ext>
            </a:extLst>
          </p:cNvPr>
          <p:cNvSpPr>
            <a:spLocks xmlns:a="http://schemas.openxmlformats.org/drawingml/2006/main" noGrp="1"/>
          </p:cNvSpPr>
          <p:nvPr/>
        </p:nvSpPr>
        <p:spPr>
          <a:xfrm xmlns:a="http://schemas.openxmlformats.org/drawingml/2006/main">
            <a:off x="828675" y="3028950"/>
            <a:ext cx="857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800" b="1">
                <a:solidFill>
                  <a:srgbClr val="18A6A6"/>
                </a:solidFill>
              </a:defRPr>
            </a:pPr>
            <a:r>
              <a:rPr sz="1800" b="1">
                <a:solidFill>
                  <a:srgbClr val="18A6A6"/>
                </a:solidFill>
              </a:rPr>
              <a:t>DIAGNOSE → SYNTHESIZE → RETRAIN</a:t>
            </a:r>
          </a:p>
        </p:txBody>
      </p:sp>
      <p:sp>
        <p:nvSpPr>
          <p:cNvPr id="7" name="body-7">
            <a:extLst xmlns:a="http://schemas.openxmlformats.org/drawingml/2006/main">
              <a:ext uri="{FF2B5EF4-FFF2-40B4-BE49-F238E27FC236}">
                <a16:creationId xmlns:a16="http://schemas.microsoft.com/office/drawing/2014/main" id="{09C29923-C049-442C-9536-860F1BC94BE4}"/>
              </a:ext>
            </a:extLst>
          </p:cNvPr>
          <p:cNvSpPr>
            <a:spLocks xmlns:a="http://schemas.openxmlformats.org/drawingml/2006/main" noGrp="1"/>
          </p:cNvSpPr>
          <p:nvPr/>
        </p:nvSpPr>
        <p:spPr>
          <a:xfrm xmlns:a="http://schemas.openxmlformats.org/drawingml/2006/main">
            <a:off x="828675" y="3905250"/>
            <a:ext cx="7905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nSpc>
                <a:spcPct val="118000"/>
              </a:lnSpc>
              <a:buNone/>
              <a:defRPr sz="1575">
                <a:solidFill>
                  <a:srgbClr val="C7D6DC"/>
                </a:solidFill>
              </a:defRPr>
            </a:pPr>
            <a:r>
              <a:rPr sz="1575">
                <a:solidFill>
                  <a:srgbClr val="C7D6DC"/>
                </a:solidFill>
              </a:rPr>
              <a:t>真正有价值的不是“又训了一遍”，而是把第一次训练后的残余失败或能力边界变成下一轮可验证的数据分布。</a:t>
            </a:r>
          </a:p>
        </p:txBody>
      </p:sp>
      <p:sp>
        <p:nvSpPr>
          <p:cNvPr id="8" name="chapter-pill-7-bg">
            <a:extLst xmlns:a="http://schemas.openxmlformats.org/drawingml/2006/main">
              <a:ext uri="{FF2B5EF4-FFF2-40B4-BE49-F238E27FC236}">
                <a16:creationId xmlns:a16="http://schemas.microsoft.com/office/drawing/2014/main" id="{3A2D8987-D30D-4138-86F6-D095BC329116}"/>
              </a:ext>
            </a:extLst>
          </p:cNvPr>
          <p:cNvSpPr>
            <a:spLocks xmlns:a="http://schemas.openxmlformats.org/drawingml/2006/main" noGrp="1"/>
          </p:cNvSpPr>
          <p:nvPr/>
        </p:nvSpPr>
        <p:spPr>
          <a:xfrm xmlns:a="http://schemas.openxmlformats.org/drawingml/2006/main">
            <a:off x="828675" y="5638800"/>
            <a:ext cx="1428750" cy="285750"/>
          </a:xfrm>
          <a:prstGeom xmlns:a="http://schemas.openxmlformats.org/drawingml/2006/main" prst="roundRect">
            <a:avLst>
              <a:gd name="adj" fmla="val 50000"/>
            </a:avLst>
          </a:prstGeom>
          <a:solidFill xmlns:a="http://schemas.openxmlformats.org/drawingml/2006/main">
            <a:srgbClr val="C56D4A"/>
          </a:solidFill>
          <a:ln xmlns:a="http://schemas.openxmlformats.org/drawingml/2006/main" w="0">
            <a:solidFill>
              <a:srgbClr val="C56D4A"/>
            </a:solidFill>
            <a:prstDash val="solid"/>
          </a:ln>
        </p:spPr>
      </p:sp>
      <p:sp>
        <p:nvSpPr>
          <p:cNvPr id="9" name="chapter-pill-7-text">
            <a:extLst xmlns:a="http://schemas.openxmlformats.org/drawingml/2006/main">
              <a:ext uri="{FF2B5EF4-FFF2-40B4-BE49-F238E27FC236}">
                <a16:creationId xmlns:a16="http://schemas.microsoft.com/office/drawing/2014/main" id="{8B0BBDE6-95FB-4B95-83D5-83AFAF085851}"/>
              </a:ext>
            </a:extLst>
          </p:cNvPr>
          <p:cNvSpPr>
            <a:spLocks xmlns:a="http://schemas.openxmlformats.org/drawingml/2006/main" noGrp="1"/>
          </p:cNvSpPr>
          <p:nvPr/>
        </p:nvSpPr>
        <p:spPr>
          <a:xfrm xmlns:a="http://schemas.openxmlformats.org/drawingml/2006/main">
            <a:off x="923925" y="5686425"/>
            <a:ext cx="1238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CHAPTER 07</a:t>
            </a:r>
          </a:p>
        </p:txBody>
      </p:sp>
    </p:spTree>
    <p:extLst>
      <p:ext uri="{BB962C8B-B14F-4D97-AF65-F5344CB8AC3E}">
        <p14:creationId xmlns:p14="http://schemas.microsoft.com/office/powerpoint/2010/main" val="156891840"/>
      </p:ext>
    </p:extLst>
  </p:cSld>
</p:sld>
</file>

<file path=ppt/slides/slide8.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26" name="rail-8">
            <a:extLst xmlns:a="http://schemas.openxmlformats.org/drawingml/2006/main">
              <a:ext uri="{FF2B5EF4-FFF2-40B4-BE49-F238E27FC236}">
                <a16:creationId xmlns:a16="http://schemas.microsoft.com/office/drawing/2014/main" id="{FCFD8B8F-161F-4F20-BC65-E209046BDB27}"/>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8">
            <a:extLst xmlns:a="http://schemas.openxmlformats.org/drawingml/2006/main">
              <a:ext uri="{FF2B5EF4-FFF2-40B4-BE49-F238E27FC236}">
                <a16:creationId xmlns:a16="http://schemas.microsoft.com/office/drawing/2014/main" id="{5DA072C7-8907-4ECC-BAD2-7ACF68264C99}"/>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8">
            <a:extLst xmlns:a="http://schemas.openxmlformats.org/drawingml/2006/main">
              <a:ext uri="{FF2B5EF4-FFF2-40B4-BE49-F238E27FC236}">
                <a16:creationId xmlns:a16="http://schemas.microsoft.com/office/drawing/2014/main" id="{36547C24-23B8-4823-8505-0ED5D8EE56FB}"/>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STAGE 1</a:t>
            </a:r>
          </a:p>
        </p:txBody>
      </p:sp>
      <p:sp>
        <p:nvSpPr>
          <p:cNvPr id="4" name="title-8">
            <a:extLst xmlns:a="http://schemas.openxmlformats.org/drawingml/2006/main">
              <a:ext uri="{FF2B5EF4-FFF2-40B4-BE49-F238E27FC236}">
                <a16:creationId xmlns:a16="http://schemas.microsoft.com/office/drawing/2014/main" id="{2D0177BB-F830-4452-A87C-0A6DC371AE12}"/>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第一次训练之后，模型在哪里失败？</a:t>
            </a:r>
          </a:p>
        </p:txBody>
      </p:sp>
      <p:sp>
        <p:nvSpPr>
          <p:cNvPr id="5" name="subtitle-8">
            <a:extLst xmlns:a="http://schemas.openxmlformats.org/drawingml/2006/main">
              <a:ext uri="{FF2B5EF4-FFF2-40B4-BE49-F238E27FC236}">
                <a16:creationId xmlns:a16="http://schemas.microsoft.com/office/drawing/2014/main" id="{7DCBE2CC-44D1-4C8E-8C09-57A357353B13}"/>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报告保留负结果：成功率下降也不会被隐藏，curriculum 依据 failure composition 而不是漂亮样例。</a:t>
            </a:r>
          </a:p>
        </p:txBody>
      </p:sp>
      <p:sp>
        <p:nvSpPr>
          <p:cNvPr id="6" name="">
            <a:extLst xmlns:a="http://schemas.openxmlformats.org/drawingml/2006/main">
              <a:ext uri="{FF2B5EF4-FFF2-40B4-BE49-F238E27FC236}">
                <a16:creationId xmlns:a16="http://schemas.microsoft.com/office/drawing/2014/main" id="{B75CA810-585E-4C4B-925B-2C9CB95A202E}"/>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8">
            <a:extLst xmlns:a="http://schemas.openxmlformats.org/drawingml/2006/main">
              <a:ext uri="{FF2B5EF4-FFF2-40B4-BE49-F238E27FC236}">
                <a16:creationId xmlns:a16="http://schemas.microsoft.com/office/drawing/2014/main" id="{EA32342B-CD61-4B63-84A8-51CB4EFDA3EB}"/>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08</a:t>
            </a:r>
          </a:p>
        </p:txBody>
      </p:sp>
      <p:sp>
        <p:nvSpPr>
          <p:cNvPr id="8" name="">
            <a:extLst xmlns:a="http://schemas.openxmlformats.org/drawingml/2006/main">
              <a:ext uri="{FF2B5EF4-FFF2-40B4-BE49-F238E27FC236}">
                <a16:creationId xmlns:a16="http://schemas.microsoft.com/office/drawing/2014/main" id="{62B89628-912C-4676-901C-34C0E95F7115}"/>
              </a:ext>
            </a:extLst>
          </p:cNvPr>
          <p:cNvSpPr>
            <a:spLocks xmlns:a="http://schemas.openxmlformats.org/drawingml/2006/main" noGrp="1"/>
          </p:cNvSpPr>
          <p:nvPr/>
        </p:nvSpPr>
        <p:spPr>
          <a:xfrm xmlns:a="http://schemas.openxmlformats.org/drawingml/2006/main">
            <a:off x="809625" y="2238375"/>
            <a:ext cx="2000250" cy="0"/>
          </a:xfrm>
          <a:prstGeom xmlns:a="http://schemas.openxmlformats.org/drawingml/2006/main" prst="line">
            <a:avLst/>
          </a:prstGeom>
          <a:noFill xmlns:a="http://schemas.openxmlformats.org/drawingml/2006/main"/>
          <a:ln xmlns:a="http://schemas.openxmlformats.org/drawingml/2006/main" w="38100">
            <a:solidFill>
              <a:srgbClr val="64747B"/>
            </a:solidFill>
            <a:prstDash val="solid"/>
          </a:ln>
        </p:spPr>
      </p:sp>
      <p:sp>
        <p:nvSpPr>
          <p:cNvPr id="9" name="s1-before-value">
            <a:extLst xmlns:a="http://schemas.openxmlformats.org/drawingml/2006/main">
              <a:ext uri="{FF2B5EF4-FFF2-40B4-BE49-F238E27FC236}">
                <a16:creationId xmlns:a16="http://schemas.microsoft.com/office/drawing/2014/main" id="{9CDF49D3-851C-4B8E-9618-32F8196CEAEB}"/>
              </a:ext>
            </a:extLst>
          </p:cNvPr>
          <p:cNvSpPr>
            <a:spLocks xmlns:a="http://schemas.openxmlformats.org/drawingml/2006/main" noGrp="1"/>
          </p:cNvSpPr>
          <p:nvPr/>
        </p:nvSpPr>
        <p:spPr>
          <a:xfrm xmlns:a="http://schemas.openxmlformats.org/drawingml/2006/main">
            <a:off x="809625" y="2409825"/>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75.0%</a:t>
            </a:r>
          </a:p>
        </p:txBody>
      </p:sp>
      <p:sp>
        <p:nvSpPr>
          <p:cNvPr id="10" name="s1-before-label">
            <a:extLst xmlns:a="http://schemas.openxmlformats.org/drawingml/2006/main">
              <a:ext uri="{FF2B5EF4-FFF2-40B4-BE49-F238E27FC236}">
                <a16:creationId xmlns:a16="http://schemas.microsoft.com/office/drawing/2014/main" id="{F5E7F416-DCD5-4DA9-9FCB-82C45E63A1BA}"/>
              </a:ext>
            </a:extLst>
          </p:cNvPr>
          <p:cNvSpPr>
            <a:spLocks xmlns:a="http://schemas.openxmlformats.org/drawingml/2006/main" noGrp="1"/>
          </p:cNvSpPr>
          <p:nvPr/>
        </p:nvSpPr>
        <p:spPr>
          <a:xfrm xmlns:a="http://schemas.openxmlformats.org/drawingml/2006/main">
            <a:off x="809625" y="2981325"/>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probe success · before</a:t>
            </a:r>
          </a:p>
        </p:txBody>
      </p:sp>
      <p:sp>
        <p:nvSpPr>
          <p:cNvPr id="11" name="">
            <a:extLst xmlns:a="http://schemas.openxmlformats.org/drawingml/2006/main">
              <a:ext uri="{FF2B5EF4-FFF2-40B4-BE49-F238E27FC236}">
                <a16:creationId xmlns:a16="http://schemas.microsoft.com/office/drawing/2014/main" id="{07506367-7D55-45C7-966C-C5D417D97689}"/>
              </a:ext>
            </a:extLst>
          </p:cNvPr>
          <p:cNvSpPr>
            <a:spLocks xmlns:a="http://schemas.openxmlformats.org/drawingml/2006/main" noGrp="1"/>
          </p:cNvSpPr>
          <p:nvPr/>
        </p:nvSpPr>
        <p:spPr>
          <a:xfrm xmlns:a="http://schemas.openxmlformats.org/drawingml/2006/main">
            <a:off x="3286125" y="2238375"/>
            <a:ext cx="2000250" cy="0"/>
          </a:xfrm>
          <a:prstGeom xmlns:a="http://schemas.openxmlformats.org/drawingml/2006/main" prst="line">
            <a:avLst/>
          </a:prstGeom>
          <a:noFill xmlns:a="http://schemas.openxmlformats.org/drawingml/2006/main"/>
          <a:ln xmlns:a="http://schemas.openxmlformats.org/drawingml/2006/main" w="38100">
            <a:solidFill>
              <a:srgbClr val="18A6A6"/>
            </a:solidFill>
            <a:prstDash val="solid"/>
          </a:ln>
        </p:spPr>
      </p:sp>
      <p:sp>
        <p:nvSpPr>
          <p:cNvPr id="12" name="s1-after-value">
            <a:extLst xmlns:a="http://schemas.openxmlformats.org/drawingml/2006/main">
              <a:ext uri="{FF2B5EF4-FFF2-40B4-BE49-F238E27FC236}">
                <a16:creationId xmlns:a16="http://schemas.microsoft.com/office/drawing/2014/main" id="{D53D13D7-0D0E-4A97-B964-5CA802D441C1}"/>
              </a:ext>
            </a:extLst>
          </p:cNvPr>
          <p:cNvSpPr>
            <a:spLocks xmlns:a="http://schemas.openxmlformats.org/drawingml/2006/main" noGrp="1"/>
          </p:cNvSpPr>
          <p:nvPr/>
        </p:nvSpPr>
        <p:spPr>
          <a:xfrm xmlns:a="http://schemas.openxmlformats.org/drawingml/2006/main">
            <a:off x="3286125" y="2409825"/>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100.0%</a:t>
            </a:r>
          </a:p>
        </p:txBody>
      </p:sp>
      <p:sp>
        <p:nvSpPr>
          <p:cNvPr id="13" name="s1-after-label">
            <a:extLst xmlns:a="http://schemas.openxmlformats.org/drawingml/2006/main">
              <a:ext uri="{FF2B5EF4-FFF2-40B4-BE49-F238E27FC236}">
                <a16:creationId xmlns:a16="http://schemas.microsoft.com/office/drawing/2014/main" id="{3EC8BC32-F39F-4E04-ADA0-DF06C1B27803}"/>
              </a:ext>
            </a:extLst>
          </p:cNvPr>
          <p:cNvSpPr>
            <a:spLocks xmlns:a="http://schemas.openxmlformats.org/drawingml/2006/main" noGrp="1"/>
          </p:cNvSpPr>
          <p:nvPr/>
        </p:nvSpPr>
        <p:spPr>
          <a:xfrm xmlns:a="http://schemas.openxmlformats.org/drawingml/2006/main">
            <a:off x="3286125" y="2981325"/>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probe success · after</a:t>
            </a:r>
          </a:p>
        </p:txBody>
      </p:sp>
      <p:sp>
        <p:nvSpPr>
          <p:cNvPr id="14" name="">
            <a:extLst xmlns:a="http://schemas.openxmlformats.org/drawingml/2006/main">
              <a:ext uri="{FF2B5EF4-FFF2-40B4-BE49-F238E27FC236}">
                <a16:creationId xmlns:a16="http://schemas.microsoft.com/office/drawing/2014/main" id="{6E23BF0E-8CE9-4E03-B380-296E94D9CEEB}"/>
              </a:ext>
            </a:extLst>
          </p:cNvPr>
          <p:cNvSpPr>
            <a:spLocks xmlns:a="http://schemas.openxmlformats.org/drawingml/2006/main" noGrp="1"/>
          </p:cNvSpPr>
          <p:nvPr/>
        </p:nvSpPr>
        <p:spPr>
          <a:xfrm xmlns:a="http://schemas.openxmlformats.org/drawingml/2006/main">
            <a:off x="5762625" y="2238375"/>
            <a:ext cx="2000250" cy="0"/>
          </a:xfrm>
          <a:prstGeom xmlns:a="http://schemas.openxmlformats.org/drawingml/2006/main" prst="line">
            <a:avLst/>
          </a:prstGeom>
          <a:noFill xmlns:a="http://schemas.openxmlformats.org/drawingml/2006/main"/>
          <a:ln xmlns:a="http://schemas.openxmlformats.org/drawingml/2006/main" w="38100">
            <a:solidFill>
              <a:srgbClr val="228B67"/>
            </a:solidFill>
            <a:prstDash val="solid"/>
          </a:ln>
        </p:spPr>
      </p:sp>
      <p:sp>
        <p:nvSpPr>
          <p:cNvPr id="15" name="s1-delta-value">
            <a:extLst xmlns:a="http://schemas.openxmlformats.org/drawingml/2006/main">
              <a:ext uri="{FF2B5EF4-FFF2-40B4-BE49-F238E27FC236}">
                <a16:creationId xmlns:a16="http://schemas.microsoft.com/office/drawing/2014/main" id="{3C6AA3C6-30E8-4D7C-8C9C-08FB48D1F968}"/>
              </a:ext>
            </a:extLst>
          </p:cNvPr>
          <p:cNvSpPr>
            <a:spLocks xmlns:a="http://schemas.openxmlformats.org/drawingml/2006/main" noGrp="1"/>
          </p:cNvSpPr>
          <p:nvPr/>
        </p:nvSpPr>
        <p:spPr>
          <a:xfrm xmlns:a="http://schemas.openxmlformats.org/drawingml/2006/main">
            <a:off x="5762625" y="2409825"/>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+25.0 pt</a:t>
            </a:r>
          </a:p>
        </p:txBody>
      </p:sp>
      <p:sp>
        <p:nvSpPr>
          <p:cNvPr id="16" name="s1-delta-label">
            <a:extLst xmlns:a="http://schemas.openxmlformats.org/drawingml/2006/main">
              <a:ext uri="{FF2B5EF4-FFF2-40B4-BE49-F238E27FC236}">
                <a16:creationId xmlns:a16="http://schemas.microsoft.com/office/drawing/2014/main" id="{8EC582B2-208F-4FA1-BE3F-A7616D6C9AFA}"/>
              </a:ext>
            </a:extLst>
          </p:cNvPr>
          <p:cNvSpPr>
            <a:spLocks xmlns:a="http://schemas.openxmlformats.org/drawingml/2006/main" noGrp="1"/>
          </p:cNvSpPr>
          <p:nvPr/>
        </p:nvSpPr>
        <p:spPr>
          <a:xfrm xmlns:a="http://schemas.openxmlformats.org/drawingml/2006/main">
            <a:off x="5762625" y="2981325"/>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success delta</a:t>
            </a:r>
          </a:p>
        </p:txBody>
      </p:sp>
      <p:sp>
        <p:nvSpPr>
          <p:cNvPr id="17" name="">
            <a:extLst xmlns:a="http://schemas.openxmlformats.org/drawingml/2006/main">
              <a:ext uri="{FF2B5EF4-FFF2-40B4-BE49-F238E27FC236}">
                <a16:creationId xmlns:a16="http://schemas.microsoft.com/office/drawing/2014/main" id="{7DA03FDD-CA67-4C38-AC6F-457A63F91AE1}"/>
              </a:ext>
            </a:extLst>
          </p:cNvPr>
          <p:cNvSpPr>
            <a:spLocks xmlns:a="http://schemas.openxmlformats.org/drawingml/2006/main" noGrp="1"/>
          </p:cNvSpPr>
          <p:nvPr/>
        </p:nvSpPr>
        <p:spPr>
          <a:xfrm xmlns:a="http://schemas.openxmlformats.org/drawingml/2006/main">
            <a:off x="8239125" y="2238375"/>
            <a:ext cx="2000250" cy="0"/>
          </a:xfrm>
          <a:prstGeom xmlns:a="http://schemas.openxmlformats.org/drawingml/2006/main" prst="line">
            <a:avLst/>
          </a:prstGeom>
          <a:noFill xmlns:a="http://schemas.openxmlformats.org/drawingml/2006/main"/>
          <a:ln xmlns:a="http://schemas.openxmlformats.org/drawingml/2006/main" w="38100">
            <a:solidFill>
              <a:srgbClr val="C56D4A"/>
            </a:solidFill>
            <a:prstDash val="solid"/>
          </a:ln>
        </p:spPr>
      </p:sp>
      <p:sp>
        <p:nvSpPr>
          <p:cNvPr id="18" name="s1-steps-value">
            <a:extLst xmlns:a="http://schemas.openxmlformats.org/drawingml/2006/main">
              <a:ext uri="{FF2B5EF4-FFF2-40B4-BE49-F238E27FC236}">
                <a16:creationId xmlns:a16="http://schemas.microsoft.com/office/drawing/2014/main" id="{FEFDAD11-B1AE-4F74-A013-BE664D2A398A}"/>
              </a:ext>
            </a:extLst>
          </p:cNvPr>
          <p:cNvSpPr>
            <a:spLocks xmlns:a="http://schemas.openxmlformats.org/drawingml/2006/main" noGrp="1"/>
          </p:cNvSpPr>
          <p:nvPr/>
        </p:nvSpPr>
        <p:spPr>
          <a:xfrm xmlns:a="http://schemas.openxmlformats.org/drawingml/2006/main">
            <a:off x="8239125" y="2409825"/>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12</a:t>
            </a:r>
          </a:p>
        </p:txBody>
      </p:sp>
      <p:sp>
        <p:nvSpPr>
          <p:cNvPr id="19" name="s1-steps-label">
            <a:extLst xmlns:a="http://schemas.openxmlformats.org/drawingml/2006/main">
              <a:ext uri="{FF2B5EF4-FFF2-40B4-BE49-F238E27FC236}">
                <a16:creationId xmlns:a16="http://schemas.microsoft.com/office/drawing/2014/main" id="{42B92875-411C-415E-AFF9-482873BA565B}"/>
              </a:ext>
            </a:extLst>
          </p:cNvPr>
          <p:cNvSpPr>
            <a:spLocks xmlns:a="http://schemas.openxmlformats.org/drawingml/2006/main" noGrp="1"/>
          </p:cNvSpPr>
          <p:nvPr/>
        </p:nvSpPr>
        <p:spPr>
          <a:xfrm xmlns:a="http://schemas.openxmlformats.org/drawingml/2006/main">
            <a:off x="8239125" y="2981325"/>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optimizer steps</a:t>
            </a:r>
          </a:p>
        </p:txBody>
      </p:sp>
      <p:sp>
        <p:nvSpPr>
          <p:cNvPr id="20" name="failure-head">
            <a:extLst xmlns:a="http://schemas.openxmlformats.org/drawingml/2006/main">
              <a:ext uri="{FF2B5EF4-FFF2-40B4-BE49-F238E27FC236}">
                <a16:creationId xmlns:a16="http://schemas.microsoft.com/office/drawing/2014/main" id="{B9D44BCE-C3FD-4DA6-A070-62DD973B2E92}"/>
              </a:ext>
            </a:extLst>
          </p:cNvPr>
          <p:cNvSpPr>
            <a:spLocks xmlns:a="http://schemas.openxmlformats.org/drawingml/2006/main" noGrp="1"/>
          </p:cNvSpPr>
          <p:nvPr/>
        </p:nvSpPr>
        <p:spPr>
          <a:xfrm xmlns:a="http://schemas.openxmlformats.org/drawingml/2006/main">
            <a:off x="838200" y="390525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125" b="1">
                <a:solidFill>
                  <a:srgbClr val="C56D4A"/>
                </a:solidFill>
              </a:defRPr>
            </a:pPr>
            <a:r>
              <a:rPr sz="1125" b="1">
                <a:solidFill>
                  <a:srgbClr val="C56D4A"/>
                </a:solidFill>
              </a:rPr>
              <a:t>TERMINAL FAILURE TAXONOMY</a:t>
            </a:r>
          </a:p>
        </p:txBody>
      </p:sp>
      <p:sp>
        <p:nvSpPr>
          <p:cNvPr id="21" name="failure-name-0">
            <a:extLst xmlns:a="http://schemas.openxmlformats.org/drawingml/2006/main">
              <a:ext uri="{FF2B5EF4-FFF2-40B4-BE49-F238E27FC236}">
                <a16:creationId xmlns:a16="http://schemas.microsoft.com/office/drawing/2014/main" id="{D6D33F69-6F25-4E9F-A1FD-32817536AB00}"/>
              </a:ext>
            </a:extLst>
          </p:cNvPr>
          <p:cNvSpPr>
            <a:spLocks xmlns:a="http://schemas.openxmlformats.org/drawingml/2006/main" noGrp="1"/>
          </p:cNvSpPr>
          <p:nvPr/>
        </p:nvSpPr>
        <p:spPr>
          <a:xfrm xmlns:a="http://schemas.openxmlformats.org/drawingml/2006/main">
            <a:off x="876300" y="4362450"/>
            <a:ext cx="3619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a:solidFill>
                  <a:srgbClr val="102330"/>
                </a:solidFill>
              </a:defRPr>
            </a:pPr>
            <a:r>
              <a:rPr sz="1050">
                <a:solidFill>
                  <a:srgbClr val="102330"/>
                </a:solidFill>
              </a:rPr>
              <a:t>POLICY_NOT_INSPECTED</a:t>
            </a:r>
          </a:p>
        </p:txBody>
      </p:sp>
      <p:sp>
        <p:nvSpPr>
          <p:cNvPr id="22" name="failure-track-0">
            <a:extLst xmlns:a="http://schemas.openxmlformats.org/drawingml/2006/main">
              <a:ext uri="{FF2B5EF4-FFF2-40B4-BE49-F238E27FC236}">
                <a16:creationId xmlns:a16="http://schemas.microsoft.com/office/drawing/2014/main" id="{8252CD06-17F0-4CF0-90AD-1C271FA2F3BB}"/>
              </a:ext>
            </a:extLst>
          </p:cNvPr>
          <p:cNvSpPr>
            <a:spLocks xmlns:a="http://schemas.openxmlformats.org/drawingml/2006/main" noGrp="1"/>
          </p:cNvSpPr>
          <p:nvPr/>
        </p:nvSpPr>
        <p:spPr>
          <a:xfrm xmlns:a="http://schemas.openxmlformats.org/drawingml/2006/main">
            <a:off x="4667250" y="4391025"/>
            <a:ext cx="4762500" cy="133350"/>
          </a:xfrm>
          <a:prstGeom xmlns:a="http://schemas.openxmlformats.org/drawingml/2006/main" prst="roundRect">
            <a:avLst>
              <a:gd name="adj" fmla="val 50000"/>
            </a:avLst>
          </a:prstGeom>
          <a:solidFill xmlns:a="http://schemas.openxmlformats.org/drawingml/2006/main">
            <a:srgbClr val="E8F0F0"/>
          </a:solidFill>
          <a:ln xmlns:a="http://schemas.openxmlformats.org/drawingml/2006/main" w="0">
            <a:solidFill>
              <a:srgbClr val="E8F0F0"/>
            </a:solidFill>
            <a:prstDash val="solid"/>
          </a:ln>
        </p:spPr>
      </p:sp>
      <p:sp>
        <p:nvSpPr>
          <p:cNvPr id="23" name="failure-before-0">
            <a:extLst xmlns:a="http://schemas.openxmlformats.org/drawingml/2006/main">
              <a:ext uri="{FF2B5EF4-FFF2-40B4-BE49-F238E27FC236}">
                <a16:creationId xmlns:a16="http://schemas.microsoft.com/office/drawing/2014/main" id="{4E5699EE-70B7-4A90-8BF7-9560C5EC92A3}"/>
              </a:ext>
            </a:extLst>
          </p:cNvPr>
          <p:cNvSpPr>
            <a:spLocks xmlns:a="http://schemas.openxmlformats.org/drawingml/2006/main" noGrp="1"/>
          </p:cNvSpPr>
          <p:nvPr/>
        </p:nvSpPr>
        <p:spPr>
          <a:xfrm xmlns:a="http://schemas.openxmlformats.org/drawingml/2006/main">
            <a:off x="4667250" y="4391025"/>
            <a:ext cx="1666875" cy="133350"/>
          </a:xfrm>
          <a:prstGeom xmlns:a="http://schemas.openxmlformats.org/drawingml/2006/main" prst="roundRect">
            <a:avLst>
              <a:gd name="adj" fmla="val 50000"/>
            </a:avLst>
          </a:prstGeom>
          <a:solidFill xmlns:a="http://schemas.openxmlformats.org/drawingml/2006/main">
            <a:srgbClr val="9AA8AD"/>
          </a:solidFill>
          <a:ln xmlns:a="http://schemas.openxmlformats.org/drawingml/2006/main" w="0">
            <a:solidFill>
              <a:srgbClr val="9AA8AD"/>
            </a:solidFill>
            <a:prstDash val="solid"/>
          </a:ln>
        </p:spPr>
      </p:sp>
      <p:sp>
        <p:nvSpPr>
          <p:cNvPr id="24" name="failure-after-0">
            <a:extLst xmlns:a="http://schemas.openxmlformats.org/drawingml/2006/main">
              <a:ext uri="{FF2B5EF4-FFF2-40B4-BE49-F238E27FC236}">
                <a16:creationId xmlns:a16="http://schemas.microsoft.com/office/drawing/2014/main" id="{68BC575F-2B82-4C63-93ED-5AA1A66B86D3}"/>
              </a:ext>
            </a:extLst>
          </p:cNvPr>
          <p:cNvSpPr>
            <a:spLocks xmlns:a="http://schemas.openxmlformats.org/drawingml/2006/main" noGrp="1"/>
          </p:cNvSpPr>
          <p:nvPr/>
        </p:nvSpPr>
        <p:spPr>
          <a:xfrm xmlns:a="http://schemas.openxmlformats.org/drawingml/2006/main">
            <a:off x="6572250" y="4391025"/>
            <a:ext cx="47625" cy="133350"/>
          </a:xfrm>
          <a:prstGeom xmlns:a="http://schemas.openxmlformats.org/drawingml/2006/main" prst="roundRect">
            <a:avLst>
              <a:gd name="adj" fmla="val 50000"/>
            </a:avLst>
          </a:prstGeom>
          <a:solidFill xmlns:a="http://schemas.openxmlformats.org/drawingml/2006/main">
            <a:srgbClr val="C56D4A"/>
          </a:solidFill>
          <a:ln xmlns:a="http://schemas.openxmlformats.org/drawingml/2006/main" w="0">
            <a:solidFill>
              <a:srgbClr val="C56D4A"/>
            </a:solidFill>
            <a:prstDash val="solid"/>
          </a:ln>
        </p:spPr>
      </p:sp>
      <p:sp>
        <p:nvSpPr>
          <p:cNvPr id="25" name="failure-count-0">
            <a:extLst xmlns:a="http://schemas.openxmlformats.org/drawingml/2006/main">
              <a:ext uri="{FF2B5EF4-FFF2-40B4-BE49-F238E27FC236}">
                <a16:creationId xmlns:a16="http://schemas.microsoft.com/office/drawing/2014/main" id="{86F0BDEC-6630-4D7E-8B91-7601484059BB}"/>
              </a:ext>
            </a:extLst>
          </p:cNvPr>
          <p:cNvSpPr>
            <a:spLocks xmlns:a="http://schemas.openxmlformats.org/drawingml/2006/main" noGrp="1"/>
          </p:cNvSpPr>
          <p:nvPr/>
        </p:nvSpPr>
        <p:spPr>
          <a:xfrm xmlns:a="http://schemas.openxmlformats.org/drawingml/2006/main">
            <a:off x="9715500" y="4343400"/>
            <a:ext cx="857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125" b="1">
                <a:solidFill>
                  <a:srgbClr val="071A2B"/>
                </a:solidFill>
              </a:defRPr>
            </a:pPr>
            <a:r>
              <a:rPr sz="1125" b="1">
                <a:solidFill>
                  <a:srgbClr val="071A2B"/>
                </a:solidFill>
              </a:rPr>
              <a:t>1 → 0</a:t>
            </a:r>
          </a:p>
        </p:txBody>
      </p:sp>
    </p:spTree>
    <p:extLst>
      <p:ext uri="{BB962C8B-B14F-4D97-AF65-F5344CB8AC3E}">
        <p14:creationId xmlns:p14="http://schemas.microsoft.com/office/powerpoint/2010/main" val="889108465"/>
      </p:ext>
    </p:extLst>
  </p:cSld>
</p:sld>
</file>

<file path=ppt/slides/slide9.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20" name="rail-9">
            <a:extLst xmlns:a="http://schemas.openxmlformats.org/drawingml/2006/main">
              <a:ext uri="{FF2B5EF4-FFF2-40B4-BE49-F238E27FC236}">
                <a16:creationId xmlns:a16="http://schemas.microsoft.com/office/drawing/2014/main" id="{10BB12B0-2537-467C-83B8-58E18BA2A688}"/>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9">
            <a:extLst xmlns:a="http://schemas.openxmlformats.org/drawingml/2006/main">
              <a:ext uri="{FF2B5EF4-FFF2-40B4-BE49-F238E27FC236}">
                <a16:creationId xmlns:a16="http://schemas.microsoft.com/office/drawing/2014/main" id="{6C1702A2-CB10-47D6-B645-F2256FA8AF5D}"/>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9">
            <a:extLst xmlns:a="http://schemas.openxmlformats.org/drawingml/2006/main">
              <a:ext uri="{FF2B5EF4-FFF2-40B4-BE49-F238E27FC236}">
                <a16:creationId xmlns:a16="http://schemas.microsoft.com/office/drawing/2014/main" id="{7CFCA27B-F31A-4BD1-AD40-3565C8648702}"/>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HARD-DATA SYNTHESIS</a:t>
            </a:r>
          </a:p>
        </p:txBody>
      </p:sp>
      <p:sp>
        <p:nvSpPr>
          <p:cNvPr id="4" name="title-9">
            <a:extLst xmlns:a="http://schemas.openxmlformats.org/drawingml/2006/main">
              <a:ext uri="{FF2B5EF4-FFF2-40B4-BE49-F238E27FC236}">
                <a16:creationId xmlns:a16="http://schemas.microsoft.com/office/drawing/2014/main" id="{20D6013B-E2B1-4722-97C9-662C1A5AC548}"/>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残余失败或能力边界，都会进入下一轮数据生成器</a:t>
            </a:r>
          </a:p>
        </p:txBody>
      </p:sp>
      <p:sp>
        <p:nvSpPr>
          <p:cNvPr id="5" name="subtitle-9">
            <a:extLst xmlns:a="http://schemas.openxmlformats.org/drawingml/2006/main">
              <a:ext uri="{FF2B5EF4-FFF2-40B4-BE49-F238E27FC236}">
                <a16:creationId xmlns:a16="http://schemas.microsoft.com/office/drawing/2014/main" id="{0CCC5819-D85D-4E13-831D-5479AD78DA45}"/>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ground truth 由确定性代码生成；模型自然语言永远不充当 charge、amount 或 verifier target。</a:t>
            </a:r>
          </a:p>
        </p:txBody>
      </p:sp>
      <p:sp>
        <p:nvSpPr>
          <p:cNvPr id="6" name="">
            <a:extLst xmlns:a="http://schemas.openxmlformats.org/drawingml/2006/main">
              <a:ext uri="{FF2B5EF4-FFF2-40B4-BE49-F238E27FC236}">
                <a16:creationId xmlns:a16="http://schemas.microsoft.com/office/drawing/2014/main" id="{D4DA101F-4F85-4E24-ABEA-73A437DAF51C}"/>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9">
            <a:extLst xmlns:a="http://schemas.openxmlformats.org/drawingml/2006/main">
              <a:ext uri="{FF2B5EF4-FFF2-40B4-BE49-F238E27FC236}">
                <a16:creationId xmlns:a16="http://schemas.microsoft.com/office/drawing/2014/main" id="{53499129-E926-49B3-BEBF-45F8F9443283}"/>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09</a:t>
            </a:r>
          </a:p>
        </p:txBody>
      </p:sp>
      <p:sp>
        <p:nvSpPr>
          <p:cNvPr id="8" name="">
            <a:extLst xmlns:a="http://schemas.openxmlformats.org/drawingml/2006/main">
              <a:ext uri="{FF2B5EF4-FFF2-40B4-BE49-F238E27FC236}">
                <a16:creationId xmlns:a16="http://schemas.microsoft.com/office/drawing/2014/main" id="{6843CBA0-58EC-48B1-B06E-168A196D864F}"/>
              </a:ext>
            </a:extLst>
          </p:cNvPr>
          <p:cNvSpPr>
            <a:spLocks xmlns:a="http://schemas.openxmlformats.org/drawingml/2006/main" noGrp="1"/>
          </p:cNvSpPr>
          <p:nvPr/>
        </p:nvSpPr>
        <p:spPr>
          <a:xfrm xmlns:a="http://schemas.openxmlformats.org/drawingml/2006/main">
            <a:off x="3571875" y="3714750"/>
            <a:ext cx="1095375" cy="0"/>
          </a:xfrm>
          <a:prstGeom xmlns:a="http://schemas.openxmlformats.org/drawingml/2006/main" prst="line">
            <a:avLst/>
          </a:prstGeom>
          <a:noFill xmlns:a="http://schemas.openxmlformats.org/drawingml/2006/main"/>
          <a:ln xmlns:a="http://schemas.openxmlformats.org/drawingml/2006/main" w="28575">
            <a:solidFill>
              <a:srgbClr val="C56D4A"/>
            </a:solidFill>
            <a:prstDash val="solid"/>
          </a:ln>
        </p:spPr>
      </p:sp>
      <p:sp>
        <p:nvSpPr>
          <p:cNvPr id="9" name="">
            <a:extLst xmlns:a="http://schemas.openxmlformats.org/drawingml/2006/main">
              <a:ext uri="{FF2B5EF4-FFF2-40B4-BE49-F238E27FC236}">
                <a16:creationId xmlns:a16="http://schemas.microsoft.com/office/drawing/2014/main" id="{30AFF141-A396-42AA-8366-791CACC2DE23}"/>
              </a:ext>
            </a:extLst>
          </p:cNvPr>
          <p:cNvSpPr>
            <a:spLocks xmlns:a="http://schemas.openxmlformats.org/drawingml/2006/main" noGrp="1"/>
          </p:cNvSpPr>
          <p:nvPr/>
        </p:nvSpPr>
        <p:spPr>
          <a:xfrm xmlns:a="http://schemas.openxmlformats.org/drawingml/2006/main">
            <a:off x="7524750" y="3714750"/>
            <a:ext cx="1095375" cy="0"/>
          </a:xfrm>
          <a:prstGeom xmlns:a="http://schemas.openxmlformats.org/drawingml/2006/main" prst="line">
            <a:avLst/>
          </a:prstGeom>
          <a:noFill xmlns:a="http://schemas.openxmlformats.org/drawingml/2006/main"/>
          <a:ln xmlns:a="http://schemas.openxmlformats.org/drawingml/2006/main" w="28575">
            <a:solidFill>
              <a:srgbClr val="18A6A6"/>
            </a:solidFill>
            <a:prstDash val="solid"/>
          </a:ln>
        </p:spPr>
      </p:sp>
      <p:sp>
        <p:nvSpPr>
          <p:cNvPr id="10" name="synth-left">
            <a:extLst xmlns:a="http://schemas.openxmlformats.org/drawingml/2006/main">
              <a:ext uri="{FF2B5EF4-FFF2-40B4-BE49-F238E27FC236}">
                <a16:creationId xmlns:a16="http://schemas.microsoft.com/office/drawing/2014/main" id="{84E98836-CB5E-4448-803F-57927E4F43B5}"/>
              </a:ext>
            </a:extLst>
          </p:cNvPr>
          <p:cNvSpPr>
            <a:spLocks xmlns:a="http://schemas.openxmlformats.org/drawingml/2006/main" noGrp="1"/>
          </p:cNvSpPr>
          <p:nvPr/>
        </p:nvSpPr>
        <p:spPr>
          <a:xfrm xmlns:a="http://schemas.openxmlformats.org/drawingml/2006/main">
            <a:off x="714375" y="2286000"/>
            <a:ext cx="2857500" cy="2857500"/>
          </a:xfrm>
          <a:prstGeom xmlns:a="http://schemas.openxmlformats.org/drawingml/2006/main" prst="roundRect">
            <a:avLst>
              <a:gd name="adj" fmla="val 4000"/>
            </a:avLst>
          </a:prstGeom>
          <a:solidFill xmlns:a="http://schemas.openxmlformats.org/drawingml/2006/main">
            <a:srgbClr val="F9E9E6"/>
          </a:solidFill>
          <a:ln xmlns:a="http://schemas.openxmlformats.org/drawingml/2006/main" w="9525">
            <a:solidFill>
              <a:srgbClr val="C56D4A"/>
            </a:solidFill>
            <a:prstDash val="solid"/>
          </a:ln>
        </p:spPr>
      </p:sp>
      <p:sp>
        <p:nvSpPr>
          <p:cNvPr id="11" name="synth-mid">
            <a:extLst xmlns:a="http://schemas.openxmlformats.org/drawingml/2006/main">
              <a:ext uri="{FF2B5EF4-FFF2-40B4-BE49-F238E27FC236}">
                <a16:creationId xmlns:a16="http://schemas.microsoft.com/office/drawing/2014/main" id="{C45EC3E3-DB86-42D5-9912-E6CCC5340702}"/>
              </a:ext>
            </a:extLst>
          </p:cNvPr>
          <p:cNvSpPr>
            <a:spLocks xmlns:a="http://schemas.openxmlformats.org/drawingml/2006/main" noGrp="1"/>
          </p:cNvSpPr>
          <p:nvPr/>
        </p:nvSpPr>
        <p:spPr>
          <a:xfrm xmlns:a="http://schemas.openxmlformats.org/drawingml/2006/main">
            <a:off x="4667250" y="2286000"/>
            <a:ext cx="2857500" cy="2857500"/>
          </a:xfrm>
          <a:prstGeom xmlns:a="http://schemas.openxmlformats.org/drawingml/2006/main" prst="roundRect">
            <a:avLst>
              <a:gd name="adj" fmla="val 4000"/>
            </a:avLst>
          </a:prstGeom>
          <a:solidFill xmlns:a="http://schemas.openxmlformats.org/drawingml/2006/main">
            <a:srgbClr val="071A2B"/>
          </a:solidFill>
          <a:ln xmlns:a="http://schemas.openxmlformats.org/drawingml/2006/main" w="0">
            <a:solidFill>
              <a:srgbClr val="071A2B"/>
            </a:solidFill>
            <a:prstDash val="solid"/>
          </a:ln>
        </p:spPr>
      </p:sp>
      <p:sp>
        <p:nvSpPr>
          <p:cNvPr id="12" name="synth-right">
            <a:extLst xmlns:a="http://schemas.openxmlformats.org/drawingml/2006/main">
              <a:ext uri="{FF2B5EF4-FFF2-40B4-BE49-F238E27FC236}">
                <a16:creationId xmlns:a16="http://schemas.microsoft.com/office/drawing/2014/main" id="{021BF42E-3B40-4820-97F4-8759FB364343}"/>
              </a:ext>
            </a:extLst>
          </p:cNvPr>
          <p:cNvSpPr>
            <a:spLocks xmlns:a="http://schemas.openxmlformats.org/drawingml/2006/main" noGrp="1"/>
          </p:cNvSpPr>
          <p:nvPr/>
        </p:nvSpPr>
        <p:spPr>
          <a:xfrm xmlns:a="http://schemas.openxmlformats.org/drawingml/2006/main">
            <a:off x="8620125" y="2286000"/>
            <a:ext cx="2857500" cy="2857500"/>
          </a:xfrm>
          <a:prstGeom xmlns:a="http://schemas.openxmlformats.org/drawingml/2006/main" prst="roundRect">
            <a:avLst>
              <a:gd name="adj" fmla="val 4000"/>
            </a:avLst>
          </a:prstGeom>
          <a:solidFill xmlns:a="http://schemas.openxmlformats.org/drawingml/2006/main">
            <a:srgbClr val="E5F5F3"/>
          </a:solidFill>
          <a:ln xmlns:a="http://schemas.openxmlformats.org/drawingml/2006/main" w="9525">
            <a:solidFill>
              <a:srgbClr val="18A6A6"/>
            </a:solidFill>
            <a:prstDash val="solid"/>
          </a:ln>
        </p:spPr>
      </p:sp>
      <p:sp>
        <p:nvSpPr>
          <p:cNvPr id="13" name="synth-left-k">
            <a:extLst xmlns:a="http://schemas.openxmlformats.org/drawingml/2006/main">
              <a:ext uri="{FF2B5EF4-FFF2-40B4-BE49-F238E27FC236}">
                <a16:creationId xmlns:a16="http://schemas.microsoft.com/office/drawing/2014/main" id="{74DD8B50-450D-4218-8100-4D0AE3FB01CD}"/>
              </a:ext>
            </a:extLst>
          </p:cNvPr>
          <p:cNvSpPr>
            <a:spLocks xmlns:a="http://schemas.openxmlformats.org/drawingml/2006/main" noGrp="1"/>
          </p:cNvSpPr>
          <p:nvPr/>
        </p:nvSpPr>
        <p:spPr>
          <a:xfrm xmlns:a="http://schemas.openxmlformats.org/drawingml/2006/main">
            <a:off x="1000125" y="257175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1">
                <a:solidFill>
                  <a:srgbClr val="C56D4A"/>
                </a:solidFill>
              </a:defRPr>
            </a:pPr>
            <a:r>
              <a:rPr sz="1125" b="1">
                <a:solidFill>
                  <a:srgbClr val="C56D4A"/>
                </a:solidFill>
              </a:rPr>
              <a:t>OBSERVED FAILURES</a:t>
            </a:r>
          </a:p>
        </p:txBody>
      </p:sp>
      <p:sp>
        <p:nvSpPr>
          <p:cNvPr id="14" name="synth-left-v">
            <a:extLst xmlns:a="http://schemas.openxmlformats.org/drawingml/2006/main">
              <a:ext uri="{FF2B5EF4-FFF2-40B4-BE49-F238E27FC236}">
                <a16:creationId xmlns:a16="http://schemas.microsoft.com/office/drawing/2014/main" id="{A2815C15-D902-4125-8BA1-8B9922001A7E}"/>
              </a:ext>
            </a:extLst>
          </p:cNvPr>
          <p:cNvSpPr>
            <a:spLocks xmlns:a="http://schemas.openxmlformats.org/drawingml/2006/main" noGrp="1"/>
          </p:cNvSpPr>
          <p:nvPr/>
        </p:nvSpPr>
        <p:spPr>
          <a:xfrm xmlns:a="http://schemas.openxmlformats.org/drawingml/2006/main">
            <a:off x="1000125" y="3143250"/>
            <a:ext cx="228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a:solidFill>
                  <a:srgbClr val="102330"/>
                </a:solidFill>
              </a:defRPr>
            </a:pPr>
            <a:r>
              <a:rPr sz="1050">
                <a:solidFill>
                  <a:srgbClr val="102330"/>
                </a:solidFill>
              </a:rPr>
              <a:t>no observed failure</a:t>
            </a:r>
          </a:p>
          <a:p xmlns:a="http://schemas.openxmlformats.org/drawingml/2006/main">
            <a:pPr algn="ctr">
              <a:defRPr sz="1050">
                <a:solidFill>
                  <a:srgbClr val="102330"/>
                </a:solidFill>
              </a:defRPr>
            </a:pPr>
            <a:r>
              <a:rPr sz="1050">
                <a:solidFill>
                  <a:srgbClr val="102330"/>
                </a:solidFill>
              </a:rPr>
              <a:t>→ fallback taxonomy</a:t>
            </a:r>
          </a:p>
        </p:txBody>
      </p:sp>
      <p:sp>
        <p:nvSpPr>
          <p:cNvPr id="15" name="synth-mid-k">
            <a:extLst xmlns:a="http://schemas.openxmlformats.org/drawingml/2006/main">
              <a:ext uri="{FF2B5EF4-FFF2-40B4-BE49-F238E27FC236}">
                <a16:creationId xmlns:a16="http://schemas.microsoft.com/office/drawing/2014/main" id="{DE96780C-4F4F-4310-8B1F-567B143103B3}"/>
              </a:ext>
            </a:extLst>
          </p:cNvPr>
          <p:cNvSpPr>
            <a:spLocks xmlns:a="http://schemas.openxmlformats.org/drawingml/2006/main" noGrp="1"/>
          </p:cNvSpPr>
          <p:nvPr/>
        </p:nvSpPr>
        <p:spPr>
          <a:xfrm xmlns:a="http://schemas.openxmlformats.org/drawingml/2006/main">
            <a:off x="5048250" y="2590800"/>
            <a:ext cx="2095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1">
                <a:solidFill>
                  <a:srgbClr val="D6A84B"/>
                </a:solidFill>
              </a:defRPr>
            </a:pPr>
            <a:r>
              <a:rPr sz="1200" b="1">
                <a:solidFill>
                  <a:srgbClr val="D6A84B"/>
                </a:solidFill>
              </a:rPr>
              <a:t>DETERMINISTIC</a:t>
            </a:r>
          </a:p>
          <a:p xmlns:a="http://schemas.openxmlformats.org/drawingml/2006/main">
            <a:pPr algn="ctr">
              <a:defRPr sz="1200" b="1">
                <a:solidFill>
                  <a:srgbClr val="D6A84B"/>
                </a:solidFill>
              </a:defRPr>
            </a:pPr>
            <a:r>
              <a:rPr sz="1200" b="1">
                <a:solidFill>
                  <a:srgbClr val="D6A84B"/>
                </a:solidFill>
              </a:rPr>
              <a:t>TRANSFORMS</a:t>
            </a:r>
          </a:p>
        </p:txBody>
      </p:sp>
      <p:sp>
        <p:nvSpPr>
          <p:cNvPr id="16" name="synth-mid-v">
            <a:extLst xmlns:a="http://schemas.openxmlformats.org/drawingml/2006/main">
              <a:ext uri="{FF2B5EF4-FFF2-40B4-BE49-F238E27FC236}">
                <a16:creationId xmlns:a16="http://schemas.microsoft.com/office/drawing/2014/main" id="{476B322D-357D-4B66-AAEE-EC24E66D3098}"/>
              </a:ext>
            </a:extLst>
          </p:cNvPr>
          <p:cNvSpPr>
            <a:spLocks xmlns:a="http://schemas.openxmlformats.org/drawingml/2006/main" noGrp="1"/>
          </p:cNvSpPr>
          <p:nvPr/>
        </p:nvSpPr>
        <p:spPr>
          <a:xfrm xmlns:a="http://schemas.openxmlformats.org/drawingml/2006/main">
            <a:off x="5095875" y="3429000"/>
            <a:ext cx="2000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20000"/>
              </a:lnSpc>
              <a:buNone/>
              <a:defRPr sz="1350" b="1">
                <a:solidFill>
                  <a:srgbClr val="FFFFFF"/>
                </a:solidFill>
              </a:defRPr>
            </a:pPr>
            <a:r>
              <a:rPr sz="1350" b="1">
                <a:solidFill>
                  <a:srgbClr val="FFFFFF"/>
                </a:solidFill>
              </a:rPr>
              <a:t>+ decoy orders</a:t>
            </a:r>
          </a:p>
          <a:p xmlns:a="http://schemas.openxmlformats.org/drawingml/2006/main">
            <a:pPr algn="ctr">
              <a:lnSpc>
                <a:spcPct val="120000"/>
              </a:lnSpc>
              <a:buNone/>
              <a:defRPr sz="1350" b="1">
                <a:solidFill>
                  <a:srgbClr val="FFFFFF"/>
                </a:solidFill>
              </a:defRPr>
            </a:pPr>
            <a:r>
              <a:rPr sz="1350" b="1">
                <a:solidFill>
                  <a:srgbClr val="FFFFFF"/>
                </a:solidFill>
              </a:rPr>
              <a:t>+ transient timeout</a:t>
            </a:r>
          </a:p>
          <a:p xmlns:a="http://schemas.openxmlformats.org/drawingml/2006/main">
            <a:pPr algn="ctr">
              <a:lnSpc>
                <a:spcPct val="120000"/>
              </a:lnSpc>
              <a:buNone/>
              <a:defRPr sz="1350" b="1">
                <a:solidFill>
                  <a:srgbClr val="FFFFFF"/>
                </a:solidFill>
              </a:defRPr>
            </a:pPr>
            <a:r>
              <a:rPr sz="1350" b="1">
                <a:solidFill>
                  <a:srgbClr val="FFFFFF"/>
                </a:solidFill>
              </a:rPr>
              <a:t>+ exact confirmation</a:t>
            </a:r>
          </a:p>
          <a:p xmlns:a="http://schemas.openxmlformats.org/drawingml/2006/main">
            <a:pPr algn="ctr">
              <a:lnSpc>
                <a:spcPct val="120000"/>
              </a:lnSpc>
              <a:buNone/>
              <a:defRPr sz="1350" b="1">
                <a:solidFill>
                  <a:srgbClr val="FFFFFF"/>
                </a:solidFill>
              </a:defRPr>
            </a:pPr>
            <a:r>
              <a:rPr sz="1350" b="1">
                <a:solidFill>
                  <a:srgbClr val="FFFFFF"/>
                </a:solidFill>
              </a:rPr>
              <a:t>+ old-task replay</a:t>
            </a:r>
          </a:p>
        </p:txBody>
      </p:sp>
      <p:sp>
        <p:nvSpPr>
          <p:cNvPr id="17" name="synth-right-k">
            <a:extLst xmlns:a="http://schemas.openxmlformats.org/drawingml/2006/main">
              <a:ext uri="{FF2B5EF4-FFF2-40B4-BE49-F238E27FC236}">
                <a16:creationId xmlns:a16="http://schemas.microsoft.com/office/drawing/2014/main" id="{44811041-E9F1-4FDA-853E-3BEE61B67C5D}"/>
              </a:ext>
            </a:extLst>
          </p:cNvPr>
          <p:cNvSpPr>
            <a:spLocks xmlns:a="http://schemas.openxmlformats.org/drawingml/2006/main" noGrp="1"/>
          </p:cNvSpPr>
          <p:nvPr/>
        </p:nvSpPr>
        <p:spPr>
          <a:xfrm xmlns:a="http://schemas.openxmlformats.org/drawingml/2006/main">
            <a:off x="8953500" y="2571750"/>
            <a:ext cx="219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1">
                <a:solidFill>
                  <a:srgbClr val="0B797B"/>
                </a:solidFill>
              </a:defRPr>
            </a:pPr>
            <a:r>
              <a:rPr sz="1125" b="1">
                <a:solidFill>
                  <a:srgbClr val="0B797B"/>
                </a:solidFill>
              </a:rPr>
              <a:t>STAGE-2 MIX</a:t>
            </a:r>
          </a:p>
        </p:txBody>
      </p:sp>
      <p:sp>
        <p:nvSpPr>
          <p:cNvPr id="18" name="synth-right-v">
            <a:extLst xmlns:a="http://schemas.openxmlformats.org/drawingml/2006/main">
              <a:ext uri="{FF2B5EF4-FFF2-40B4-BE49-F238E27FC236}">
                <a16:creationId xmlns:a16="http://schemas.microsoft.com/office/drawing/2014/main" id="{D5592C5E-20B6-4101-A48C-D4AFF227F146}"/>
              </a:ext>
            </a:extLst>
          </p:cNvPr>
          <p:cNvSpPr>
            <a:spLocks xmlns:a="http://schemas.openxmlformats.org/drawingml/2006/main" noGrp="1"/>
          </p:cNvSpPr>
          <p:nvPr/>
        </p:nvSpPr>
        <p:spPr>
          <a:xfrm xmlns:a="http://schemas.openxmlformats.org/drawingml/2006/main">
            <a:off x="9001125" y="3314700"/>
            <a:ext cx="20955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025" b="1">
                <a:solidFill>
                  <a:srgbClr val="071A2B"/>
                </a:solidFill>
              </a:defRPr>
            </a:pPr>
            <a:r>
              <a:rPr sz="2025" b="1">
                <a:solidFill>
                  <a:srgbClr val="071A2B"/>
                </a:solidFill>
              </a:rPr>
              <a:t>8 hard tasks</a:t>
            </a:r>
          </a:p>
          <a:p xmlns:a="http://schemas.openxmlformats.org/drawingml/2006/main">
            <a:pPr algn="ctr">
              <a:defRPr sz="2025" b="1">
                <a:solidFill>
                  <a:srgbClr val="071A2B"/>
                </a:solidFill>
              </a:defRPr>
            </a:pPr>
            <a:r>
              <a:rPr sz="2025" b="1">
                <a:solidFill>
                  <a:srgbClr val="071A2B"/>
                </a:solidFill>
              </a:rPr>
              <a:t>+</a:t>
            </a:r>
          </a:p>
          <a:p xmlns:a="http://schemas.openxmlformats.org/drawingml/2006/main">
            <a:pPr algn="ctr">
              <a:defRPr sz="2025" b="1">
                <a:solidFill>
                  <a:srgbClr val="071A2B"/>
                </a:solidFill>
              </a:defRPr>
            </a:pPr>
            <a:r>
              <a:rPr sz="2025" b="1">
                <a:solidFill>
                  <a:srgbClr val="071A2B"/>
                </a:solidFill>
              </a:rPr>
              <a:t>4 replay tasks</a:t>
            </a:r>
          </a:p>
        </p:txBody>
      </p:sp>
      <p:sp>
        <p:nvSpPr>
          <p:cNvPr id="19" name="synth-hash">
            <a:extLst xmlns:a="http://schemas.openxmlformats.org/drawingml/2006/main">
              <a:ext uri="{FF2B5EF4-FFF2-40B4-BE49-F238E27FC236}">
                <a16:creationId xmlns:a16="http://schemas.microsoft.com/office/drawing/2014/main" id="{835AB4C4-A63C-44BE-808A-5EECCDFA8109}"/>
              </a:ext>
            </a:extLst>
          </p:cNvPr>
          <p:cNvSpPr>
            <a:spLocks xmlns:a="http://schemas.openxmlformats.org/drawingml/2006/main" noGrp="1"/>
          </p:cNvSpPr>
          <p:nvPr/>
        </p:nvSpPr>
        <p:spPr>
          <a:xfrm xmlns:a="http://schemas.openxmlformats.org/drawingml/2006/main">
            <a:off x="1762125" y="5619750"/>
            <a:ext cx="866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64747B"/>
                </a:solidFill>
              </a:defRPr>
            </a:pPr>
            <a:r>
              <a:rPr sz="1050" b="1">
                <a:solidFill>
                  <a:srgbClr val="64747B"/>
                </a:solidFill>
              </a:rPr>
              <a:t>source trace  ca0d54b78a400…    stage2 data  5790304c792b7…</a:t>
            </a:r>
          </a:p>
        </p:txBody>
      </p:sp>
    </p:spTree>
    <p:extLst>
      <p:ext uri="{BB962C8B-B14F-4D97-AF65-F5344CB8AC3E}">
        <p14:creationId xmlns:p14="http://schemas.microsoft.com/office/powerpoint/2010/main" val="40648063"/>
      </p:ext>
    </p:extLst>
  </p:cSld>
</p:sld>
</file>

<file path=ppt/slides/slide10.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32" name="rail-10">
            <a:extLst xmlns:a="http://schemas.openxmlformats.org/drawingml/2006/main">
              <a:ext uri="{FF2B5EF4-FFF2-40B4-BE49-F238E27FC236}">
                <a16:creationId xmlns:a16="http://schemas.microsoft.com/office/drawing/2014/main" id="{7AB2E8C9-F24A-41AD-AB02-E9CB79CDACFA}"/>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10">
            <a:extLst xmlns:a="http://schemas.openxmlformats.org/drawingml/2006/main">
              <a:ext uri="{FF2B5EF4-FFF2-40B4-BE49-F238E27FC236}">
                <a16:creationId xmlns:a16="http://schemas.microsoft.com/office/drawing/2014/main" id="{6AD45FE9-0A54-4104-938D-E052CADE50C7}"/>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10">
            <a:extLst xmlns:a="http://schemas.openxmlformats.org/drawingml/2006/main">
              <a:ext uri="{FF2B5EF4-FFF2-40B4-BE49-F238E27FC236}">
                <a16:creationId xmlns:a16="http://schemas.microsoft.com/office/drawing/2014/main" id="{95494323-75D0-45CD-A700-76EB51F5E0C0}"/>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STAGE 2</a:t>
            </a:r>
          </a:p>
        </p:txBody>
      </p:sp>
      <p:sp>
        <p:nvSpPr>
          <p:cNvPr id="4" name="title-10">
            <a:extLst xmlns:a="http://schemas.openxmlformats.org/drawingml/2006/main">
              <a:ext uri="{FF2B5EF4-FFF2-40B4-BE49-F238E27FC236}">
                <a16:creationId xmlns:a16="http://schemas.microsoft.com/office/drawing/2014/main" id="{15D1CBAC-FDDC-4116-B6CD-27504E7010CD}"/>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从 Stage-1 adapter 继续训练，效果是否真的改变？</a:t>
            </a:r>
          </a:p>
        </p:txBody>
      </p:sp>
      <p:sp>
        <p:nvSpPr>
          <p:cNvPr id="5" name="subtitle-10">
            <a:extLst xmlns:a="http://schemas.openxmlformats.org/drawingml/2006/main">
              <a:ext uri="{FF2B5EF4-FFF2-40B4-BE49-F238E27FC236}">
                <a16:creationId xmlns:a16="http://schemas.microsoft.com/office/drawing/2014/main" id="{FE5C48D3-296B-4A30-8565-1F4E0D9B8D7F}"/>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算法效果和工程完整性分开判断：即使指标不升，只要审计通过，它仍是一个真实负结果。</a:t>
            </a:r>
          </a:p>
        </p:txBody>
      </p:sp>
      <p:sp>
        <p:nvSpPr>
          <p:cNvPr id="6" name="">
            <a:extLst xmlns:a="http://schemas.openxmlformats.org/drawingml/2006/main">
              <a:ext uri="{FF2B5EF4-FFF2-40B4-BE49-F238E27FC236}">
                <a16:creationId xmlns:a16="http://schemas.microsoft.com/office/drawing/2014/main" id="{9DDB3C98-BE99-4F07-9A28-5E718B230B73}"/>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10">
            <a:extLst xmlns:a="http://schemas.openxmlformats.org/drawingml/2006/main">
              <a:ext uri="{FF2B5EF4-FFF2-40B4-BE49-F238E27FC236}">
                <a16:creationId xmlns:a16="http://schemas.microsoft.com/office/drawing/2014/main" id="{3382FCC1-6161-47D8-AE7D-AB1A16DE6467}"/>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10</a:t>
            </a:r>
          </a:p>
        </p:txBody>
      </p:sp>
      <p:sp>
        <p:nvSpPr>
          <p:cNvPr id="8" name="s2-label-0">
            <a:extLst xmlns:a="http://schemas.openxmlformats.org/drawingml/2006/main">
              <a:ext uri="{FF2B5EF4-FFF2-40B4-BE49-F238E27FC236}">
                <a16:creationId xmlns:a16="http://schemas.microsoft.com/office/drawing/2014/main" id="{27F97F4A-9C27-400A-851B-1F4D280962D3}"/>
              </a:ext>
            </a:extLst>
          </p:cNvPr>
          <p:cNvSpPr>
            <a:spLocks xmlns:a="http://schemas.openxmlformats.org/drawingml/2006/main" noGrp="1"/>
          </p:cNvSpPr>
          <p:nvPr/>
        </p:nvSpPr>
        <p:spPr>
          <a:xfrm xmlns:a="http://schemas.openxmlformats.org/drawingml/2006/main">
            <a:off x="857250" y="2447925"/>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071A2B"/>
                </a:solidFill>
              </a:defRPr>
            </a:pPr>
            <a:r>
              <a:rPr sz="1500" b="1">
                <a:solidFill>
                  <a:srgbClr val="071A2B"/>
                </a:solidFill>
              </a:rPr>
              <a:t>Final holdout success</a:t>
            </a:r>
          </a:p>
        </p:txBody>
      </p:sp>
      <p:sp>
        <p:nvSpPr>
          <p:cNvPr id="9" name="s2-track-a-0">
            <a:extLst xmlns:a="http://schemas.openxmlformats.org/drawingml/2006/main">
              <a:ext uri="{FF2B5EF4-FFF2-40B4-BE49-F238E27FC236}">
                <a16:creationId xmlns:a16="http://schemas.microsoft.com/office/drawing/2014/main" id="{993813F2-88FA-4758-977D-F8AF2645C861}"/>
              </a:ext>
            </a:extLst>
          </p:cNvPr>
          <p:cNvSpPr>
            <a:spLocks xmlns:a="http://schemas.openxmlformats.org/drawingml/2006/main" noGrp="1"/>
          </p:cNvSpPr>
          <p:nvPr/>
        </p:nvSpPr>
        <p:spPr>
          <a:xfrm xmlns:a="http://schemas.openxmlformats.org/drawingml/2006/main">
            <a:off x="3905250" y="2524125"/>
            <a:ext cx="5429250" cy="209550"/>
          </a:xfrm>
          <a:prstGeom xmlns:a="http://schemas.openxmlformats.org/drawingml/2006/main" prst="roundRect">
            <a:avLst>
              <a:gd name="adj" fmla="val 50000"/>
            </a:avLst>
          </a:prstGeom>
          <a:solidFill xmlns:a="http://schemas.openxmlformats.org/drawingml/2006/main">
            <a:srgbClr val="E8F0F0"/>
          </a:solidFill>
          <a:ln xmlns:a="http://schemas.openxmlformats.org/drawingml/2006/main" w="0">
            <a:solidFill>
              <a:srgbClr val="E8F0F0"/>
            </a:solidFill>
            <a:prstDash val="solid"/>
          </a:ln>
        </p:spPr>
      </p:sp>
      <p:sp>
        <p:nvSpPr>
          <p:cNvPr id="10" name="s2-a-0">
            <a:extLst xmlns:a="http://schemas.openxmlformats.org/drawingml/2006/main">
              <a:ext uri="{FF2B5EF4-FFF2-40B4-BE49-F238E27FC236}">
                <a16:creationId xmlns:a16="http://schemas.microsoft.com/office/drawing/2014/main" id="{A445E0B8-07C2-4A67-A52E-6798C93723F2}"/>
              </a:ext>
            </a:extLst>
          </p:cNvPr>
          <p:cNvSpPr>
            <a:spLocks xmlns:a="http://schemas.openxmlformats.org/drawingml/2006/main" noGrp="1"/>
          </p:cNvSpPr>
          <p:nvPr/>
        </p:nvSpPr>
        <p:spPr>
          <a:xfrm xmlns:a="http://schemas.openxmlformats.org/drawingml/2006/main">
            <a:off x="3905250" y="2524125"/>
            <a:ext cx="3619500" cy="209550"/>
          </a:xfrm>
          <a:prstGeom xmlns:a="http://schemas.openxmlformats.org/drawingml/2006/main" prst="roundRect">
            <a:avLst>
              <a:gd name="adj" fmla="val 50000"/>
            </a:avLst>
          </a:prstGeom>
          <a:solidFill xmlns:a="http://schemas.openxmlformats.org/drawingml/2006/main">
            <a:srgbClr val="9AA8AD"/>
          </a:solidFill>
          <a:ln xmlns:a="http://schemas.openxmlformats.org/drawingml/2006/main" w="0">
            <a:solidFill>
              <a:srgbClr val="9AA8AD"/>
            </a:solidFill>
            <a:prstDash val="solid"/>
          </a:ln>
        </p:spPr>
      </p:sp>
      <p:sp>
        <p:nvSpPr>
          <p:cNvPr id="11" name="s2-track-b-0">
            <a:extLst xmlns:a="http://schemas.openxmlformats.org/drawingml/2006/main">
              <a:ext uri="{FF2B5EF4-FFF2-40B4-BE49-F238E27FC236}">
                <a16:creationId xmlns:a16="http://schemas.microsoft.com/office/drawing/2014/main" id="{A1E3AC26-17D8-4ECA-A060-FE6A157801D1}"/>
              </a:ext>
            </a:extLst>
          </p:cNvPr>
          <p:cNvSpPr>
            <a:spLocks xmlns:a="http://schemas.openxmlformats.org/drawingml/2006/main" noGrp="1"/>
          </p:cNvSpPr>
          <p:nvPr/>
        </p:nvSpPr>
        <p:spPr>
          <a:xfrm xmlns:a="http://schemas.openxmlformats.org/drawingml/2006/main">
            <a:off x="3905250" y="2981325"/>
            <a:ext cx="5429250" cy="209550"/>
          </a:xfrm>
          <a:prstGeom xmlns:a="http://schemas.openxmlformats.org/drawingml/2006/main" prst="roundRect">
            <a:avLst>
              <a:gd name="adj" fmla="val 50000"/>
            </a:avLst>
          </a:prstGeom>
          <a:solidFill xmlns:a="http://schemas.openxmlformats.org/drawingml/2006/main">
            <a:srgbClr val="E8F0F0"/>
          </a:solidFill>
          <a:ln xmlns:a="http://schemas.openxmlformats.org/drawingml/2006/main" w="0">
            <a:solidFill>
              <a:srgbClr val="E8F0F0"/>
            </a:solidFill>
            <a:prstDash val="solid"/>
          </a:ln>
        </p:spPr>
      </p:sp>
      <p:sp>
        <p:nvSpPr>
          <p:cNvPr id="12" name="s2-b-0">
            <a:extLst xmlns:a="http://schemas.openxmlformats.org/drawingml/2006/main">
              <a:ext uri="{FF2B5EF4-FFF2-40B4-BE49-F238E27FC236}">
                <a16:creationId xmlns:a16="http://schemas.microsoft.com/office/drawing/2014/main" id="{CB8A285D-DF2E-4926-9F58-3E56F42D314C}"/>
              </a:ext>
            </a:extLst>
          </p:cNvPr>
          <p:cNvSpPr>
            <a:spLocks xmlns:a="http://schemas.openxmlformats.org/drawingml/2006/main" noGrp="1"/>
          </p:cNvSpPr>
          <p:nvPr/>
        </p:nvSpPr>
        <p:spPr>
          <a:xfrm xmlns:a="http://schemas.openxmlformats.org/drawingml/2006/main">
            <a:off x="3905250" y="2981325"/>
            <a:ext cx="5429250" cy="209550"/>
          </a:xfrm>
          <a:prstGeom xmlns:a="http://schemas.openxmlformats.org/drawingml/2006/main" prst="roundRect">
            <a:avLst>
              <a:gd name="adj" fmla="val 50000"/>
            </a:avLst>
          </a:prstGeom>
          <a:solidFill xmlns:a="http://schemas.openxmlformats.org/drawingml/2006/main">
            <a:srgbClr val="18A6A6"/>
          </a:solidFill>
          <a:ln xmlns:a="http://schemas.openxmlformats.org/drawingml/2006/main" w="0">
            <a:solidFill>
              <a:srgbClr val="18A6A6"/>
            </a:solidFill>
            <a:prstDash val="solid"/>
          </a:ln>
        </p:spPr>
      </p:sp>
      <p:sp>
        <p:nvSpPr>
          <p:cNvPr id="13" name="s2-value-0">
            <a:extLst xmlns:a="http://schemas.openxmlformats.org/drawingml/2006/main">
              <a:ext uri="{FF2B5EF4-FFF2-40B4-BE49-F238E27FC236}">
                <a16:creationId xmlns:a16="http://schemas.microsoft.com/office/drawing/2014/main" id="{752B6362-245D-4FEE-BDF6-5233D6D920CC}"/>
              </a:ext>
            </a:extLst>
          </p:cNvPr>
          <p:cNvSpPr>
            <a:spLocks xmlns:a="http://schemas.openxmlformats.org/drawingml/2006/main" noGrp="1"/>
          </p:cNvSpPr>
          <p:nvPr/>
        </p:nvSpPr>
        <p:spPr>
          <a:xfrm xmlns:a="http://schemas.openxmlformats.org/drawingml/2006/main">
            <a:off x="9525000" y="2676525"/>
            <a:ext cx="1524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500" b="1">
                <a:solidFill>
                  <a:srgbClr val="228B67"/>
                </a:solidFill>
              </a:defRPr>
            </a:pPr>
            <a:r>
              <a:rPr sz="1500" b="1">
                <a:solidFill>
                  <a:srgbClr val="228B67"/>
                </a:solidFill>
              </a:rPr>
              <a:t>66.7%  →  100.0%</a:t>
            </a:r>
          </a:p>
        </p:txBody>
      </p:sp>
      <p:sp>
        <p:nvSpPr>
          <p:cNvPr id="14" name="s2-label-1">
            <a:extLst xmlns:a="http://schemas.openxmlformats.org/drawingml/2006/main">
              <a:ext uri="{FF2B5EF4-FFF2-40B4-BE49-F238E27FC236}">
                <a16:creationId xmlns:a16="http://schemas.microsoft.com/office/drawing/2014/main" id="{E909590E-695F-4AD7-B910-271032FEA2F3}"/>
              </a:ext>
            </a:extLst>
          </p:cNvPr>
          <p:cNvSpPr>
            <a:spLocks xmlns:a="http://schemas.openxmlformats.org/drawingml/2006/main" noGrp="1"/>
          </p:cNvSpPr>
          <p:nvPr/>
        </p:nvSpPr>
        <p:spPr>
          <a:xfrm xmlns:a="http://schemas.openxmlformats.org/drawingml/2006/main">
            <a:off x="857250" y="3876675"/>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071A2B"/>
                </a:solidFill>
              </a:defRPr>
            </a:pPr>
            <a:r>
              <a:rPr sz="1500" b="1">
                <a:solidFill>
                  <a:srgbClr val="071A2B"/>
                </a:solidFill>
              </a:rPr>
              <a:t>Mean combined reward</a:t>
            </a:r>
          </a:p>
        </p:txBody>
      </p:sp>
      <p:sp>
        <p:nvSpPr>
          <p:cNvPr id="15" name="s2-track-a-1">
            <a:extLst xmlns:a="http://schemas.openxmlformats.org/drawingml/2006/main">
              <a:ext uri="{FF2B5EF4-FFF2-40B4-BE49-F238E27FC236}">
                <a16:creationId xmlns:a16="http://schemas.microsoft.com/office/drawing/2014/main" id="{F65FA252-096D-403A-AE10-685BCF09DCC8}"/>
              </a:ext>
            </a:extLst>
          </p:cNvPr>
          <p:cNvSpPr>
            <a:spLocks xmlns:a="http://schemas.openxmlformats.org/drawingml/2006/main" noGrp="1"/>
          </p:cNvSpPr>
          <p:nvPr/>
        </p:nvSpPr>
        <p:spPr>
          <a:xfrm xmlns:a="http://schemas.openxmlformats.org/drawingml/2006/main">
            <a:off x="3905250" y="3952875"/>
            <a:ext cx="5429250" cy="209550"/>
          </a:xfrm>
          <a:prstGeom xmlns:a="http://schemas.openxmlformats.org/drawingml/2006/main" prst="roundRect">
            <a:avLst>
              <a:gd name="adj" fmla="val 50000"/>
            </a:avLst>
          </a:prstGeom>
          <a:solidFill xmlns:a="http://schemas.openxmlformats.org/drawingml/2006/main">
            <a:srgbClr val="E8F0F0"/>
          </a:solidFill>
          <a:ln xmlns:a="http://schemas.openxmlformats.org/drawingml/2006/main" w="0">
            <a:solidFill>
              <a:srgbClr val="E8F0F0"/>
            </a:solidFill>
            <a:prstDash val="solid"/>
          </a:ln>
        </p:spPr>
      </p:sp>
      <p:sp>
        <p:nvSpPr>
          <p:cNvPr id="16" name="s2-a-1">
            <a:extLst xmlns:a="http://schemas.openxmlformats.org/drawingml/2006/main">
              <a:ext uri="{FF2B5EF4-FFF2-40B4-BE49-F238E27FC236}">
                <a16:creationId xmlns:a16="http://schemas.microsoft.com/office/drawing/2014/main" id="{F108CF85-7720-4FF9-97E4-58086EA66F18}"/>
              </a:ext>
            </a:extLst>
          </p:cNvPr>
          <p:cNvSpPr>
            <a:spLocks xmlns:a="http://schemas.openxmlformats.org/drawingml/2006/main" noGrp="1"/>
          </p:cNvSpPr>
          <p:nvPr/>
        </p:nvSpPr>
        <p:spPr>
          <a:xfrm xmlns:a="http://schemas.openxmlformats.org/drawingml/2006/main">
            <a:off x="3905250" y="3952875"/>
            <a:ext cx="3498131" cy="209550"/>
          </a:xfrm>
          <a:prstGeom xmlns:a="http://schemas.openxmlformats.org/drawingml/2006/main" prst="roundRect">
            <a:avLst>
              <a:gd name="adj" fmla="val 50000"/>
            </a:avLst>
          </a:prstGeom>
          <a:solidFill xmlns:a="http://schemas.openxmlformats.org/drawingml/2006/main">
            <a:srgbClr val="9AA8AD"/>
          </a:solidFill>
          <a:ln xmlns:a="http://schemas.openxmlformats.org/drawingml/2006/main" w="0">
            <a:solidFill>
              <a:srgbClr val="9AA8AD"/>
            </a:solidFill>
            <a:prstDash val="solid"/>
          </a:ln>
        </p:spPr>
      </p:sp>
      <p:sp>
        <p:nvSpPr>
          <p:cNvPr id="17" name="s2-track-b-1">
            <a:extLst xmlns:a="http://schemas.openxmlformats.org/drawingml/2006/main">
              <a:ext uri="{FF2B5EF4-FFF2-40B4-BE49-F238E27FC236}">
                <a16:creationId xmlns:a16="http://schemas.microsoft.com/office/drawing/2014/main" id="{58EB0967-F917-4B3F-8A03-420DACB4EAF9}"/>
              </a:ext>
            </a:extLst>
          </p:cNvPr>
          <p:cNvSpPr>
            <a:spLocks xmlns:a="http://schemas.openxmlformats.org/drawingml/2006/main" noGrp="1"/>
          </p:cNvSpPr>
          <p:nvPr/>
        </p:nvSpPr>
        <p:spPr>
          <a:xfrm xmlns:a="http://schemas.openxmlformats.org/drawingml/2006/main">
            <a:off x="3905250" y="4410075"/>
            <a:ext cx="5429250" cy="209550"/>
          </a:xfrm>
          <a:prstGeom xmlns:a="http://schemas.openxmlformats.org/drawingml/2006/main" prst="roundRect">
            <a:avLst>
              <a:gd name="adj" fmla="val 50000"/>
            </a:avLst>
          </a:prstGeom>
          <a:solidFill xmlns:a="http://schemas.openxmlformats.org/drawingml/2006/main">
            <a:srgbClr val="E8F0F0"/>
          </a:solidFill>
          <a:ln xmlns:a="http://schemas.openxmlformats.org/drawingml/2006/main" w="0">
            <a:solidFill>
              <a:srgbClr val="E8F0F0"/>
            </a:solidFill>
            <a:prstDash val="solid"/>
          </a:ln>
        </p:spPr>
      </p:sp>
      <p:sp>
        <p:nvSpPr>
          <p:cNvPr id="18" name="s2-b-1">
            <a:extLst xmlns:a="http://schemas.openxmlformats.org/drawingml/2006/main">
              <a:ext uri="{FF2B5EF4-FFF2-40B4-BE49-F238E27FC236}">
                <a16:creationId xmlns:a16="http://schemas.microsoft.com/office/drawing/2014/main" id="{0004FAE3-9EC5-495E-AF8E-B93CFBE163A9}"/>
              </a:ext>
            </a:extLst>
          </p:cNvPr>
          <p:cNvSpPr>
            <a:spLocks xmlns:a="http://schemas.openxmlformats.org/drawingml/2006/main" noGrp="1"/>
          </p:cNvSpPr>
          <p:nvPr/>
        </p:nvSpPr>
        <p:spPr>
          <a:xfrm xmlns:a="http://schemas.openxmlformats.org/drawingml/2006/main">
            <a:off x="3905250" y="4410075"/>
            <a:ext cx="5222315" cy="209550"/>
          </a:xfrm>
          <a:prstGeom xmlns:a="http://schemas.openxmlformats.org/drawingml/2006/main" prst="roundRect">
            <a:avLst>
              <a:gd name="adj" fmla="val 50000"/>
            </a:avLst>
          </a:prstGeom>
          <a:solidFill xmlns:a="http://schemas.openxmlformats.org/drawingml/2006/main">
            <a:srgbClr val="C56D4A"/>
          </a:solidFill>
          <a:ln xmlns:a="http://schemas.openxmlformats.org/drawingml/2006/main" w="0">
            <a:solidFill>
              <a:srgbClr val="C56D4A"/>
            </a:solidFill>
            <a:prstDash val="solid"/>
          </a:ln>
        </p:spPr>
      </p:sp>
      <p:sp>
        <p:nvSpPr>
          <p:cNvPr id="19" name="s2-value-1">
            <a:extLst xmlns:a="http://schemas.openxmlformats.org/drawingml/2006/main">
              <a:ext uri="{FF2B5EF4-FFF2-40B4-BE49-F238E27FC236}">
                <a16:creationId xmlns:a16="http://schemas.microsoft.com/office/drawing/2014/main" id="{39221785-714F-47E5-84C4-81BA5738F6B3}"/>
              </a:ext>
            </a:extLst>
          </p:cNvPr>
          <p:cNvSpPr>
            <a:spLocks xmlns:a="http://schemas.openxmlformats.org/drawingml/2006/main" noGrp="1"/>
          </p:cNvSpPr>
          <p:nvPr/>
        </p:nvSpPr>
        <p:spPr>
          <a:xfrm xmlns:a="http://schemas.openxmlformats.org/drawingml/2006/main">
            <a:off x="9525000" y="4105275"/>
            <a:ext cx="1524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500" b="1">
                <a:solidFill>
                  <a:srgbClr val="228B67"/>
                </a:solidFill>
              </a:defRPr>
            </a:pPr>
            <a:r>
              <a:rPr sz="1500" b="1">
                <a:solidFill>
                  <a:srgbClr val="228B67"/>
                </a:solidFill>
              </a:rPr>
              <a:t>0.838  →  1.250</a:t>
            </a:r>
          </a:p>
        </p:txBody>
      </p:sp>
      <p:sp>
        <p:nvSpPr>
          <p:cNvPr id="20" name="">
            <a:extLst xmlns:a="http://schemas.openxmlformats.org/drawingml/2006/main">
              <a:ext uri="{FF2B5EF4-FFF2-40B4-BE49-F238E27FC236}">
                <a16:creationId xmlns:a16="http://schemas.microsoft.com/office/drawing/2014/main" id="{F04AC764-6C13-4263-85A8-08F97A7B1484}"/>
              </a:ext>
            </a:extLst>
          </p:cNvPr>
          <p:cNvSpPr>
            <a:spLocks xmlns:a="http://schemas.openxmlformats.org/drawingml/2006/main" noGrp="1"/>
          </p:cNvSpPr>
          <p:nvPr/>
        </p:nvSpPr>
        <p:spPr>
          <a:xfrm xmlns:a="http://schemas.openxmlformats.org/drawingml/2006/main">
            <a:off x="1143000" y="5429250"/>
            <a:ext cx="2000250" cy="0"/>
          </a:xfrm>
          <a:prstGeom xmlns:a="http://schemas.openxmlformats.org/drawingml/2006/main" prst="line">
            <a:avLst/>
          </a:prstGeom>
          <a:noFill xmlns:a="http://schemas.openxmlformats.org/drawingml/2006/main"/>
          <a:ln xmlns:a="http://schemas.openxmlformats.org/drawingml/2006/main" w="38100">
            <a:solidFill>
              <a:srgbClr val="18A6A6"/>
            </a:solidFill>
            <a:prstDash val="solid"/>
          </a:ln>
        </p:spPr>
      </p:sp>
      <p:sp>
        <p:nvSpPr>
          <p:cNvPr id="21" name="s2-step-value">
            <a:extLst xmlns:a="http://schemas.openxmlformats.org/drawingml/2006/main">
              <a:ext uri="{FF2B5EF4-FFF2-40B4-BE49-F238E27FC236}">
                <a16:creationId xmlns:a16="http://schemas.microsoft.com/office/drawing/2014/main" id="{4BCBF4C1-D8A3-4F26-AB79-1F8526751144}"/>
              </a:ext>
            </a:extLst>
          </p:cNvPr>
          <p:cNvSpPr>
            <a:spLocks xmlns:a="http://schemas.openxmlformats.org/drawingml/2006/main" noGrp="1"/>
          </p:cNvSpPr>
          <p:nvPr/>
        </p:nvSpPr>
        <p:spPr>
          <a:xfrm xmlns:a="http://schemas.openxmlformats.org/drawingml/2006/main">
            <a:off x="1143000" y="5600700"/>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12</a:t>
            </a:r>
          </a:p>
        </p:txBody>
      </p:sp>
      <p:sp>
        <p:nvSpPr>
          <p:cNvPr id="22" name="s2-step-label">
            <a:extLst xmlns:a="http://schemas.openxmlformats.org/drawingml/2006/main">
              <a:ext uri="{FF2B5EF4-FFF2-40B4-BE49-F238E27FC236}">
                <a16:creationId xmlns:a16="http://schemas.microsoft.com/office/drawing/2014/main" id="{D330B866-5580-4134-8416-D5640DF3EC91}"/>
              </a:ext>
            </a:extLst>
          </p:cNvPr>
          <p:cNvSpPr>
            <a:spLocks xmlns:a="http://schemas.openxmlformats.org/drawingml/2006/main" noGrp="1"/>
          </p:cNvSpPr>
          <p:nvPr/>
        </p:nvSpPr>
        <p:spPr>
          <a:xfrm xmlns:a="http://schemas.openxmlformats.org/drawingml/2006/main">
            <a:off x="1143000" y="6172200"/>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Stage-2 optimizer steps</a:t>
            </a:r>
          </a:p>
        </p:txBody>
      </p:sp>
      <p:sp>
        <p:nvSpPr>
          <p:cNvPr id="23" name="">
            <a:extLst xmlns:a="http://schemas.openxmlformats.org/drawingml/2006/main">
              <a:ext uri="{FF2B5EF4-FFF2-40B4-BE49-F238E27FC236}">
                <a16:creationId xmlns:a16="http://schemas.microsoft.com/office/drawing/2014/main" id="{CF10B457-B55A-42ED-A3AF-D5F9141E9A56}"/>
              </a:ext>
            </a:extLst>
          </p:cNvPr>
          <p:cNvSpPr>
            <a:spLocks xmlns:a="http://schemas.openxmlformats.org/drawingml/2006/main" noGrp="1"/>
          </p:cNvSpPr>
          <p:nvPr/>
        </p:nvSpPr>
        <p:spPr>
          <a:xfrm xmlns:a="http://schemas.openxmlformats.org/drawingml/2006/main">
            <a:off x="4000500" y="5429250"/>
            <a:ext cx="2000250" cy="0"/>
          </a:xfrm>
          <a:prstGeom xmlns:a="http://schemas.openxmlformats.org/drawingml/2006/main" prst="line">
            <a:avLst/>
          </a:prstGeom>
          <a:noFill xmlns:a="http://schemas.openxmlformats.org/drawingml/2006/main"/>
          <a:ln xmlns:a="http://schemas.openxmlformats.org/drawingml/2006/main" w="38100">
            <a:solidFill>
              <a:srgbClr val="C56D4A"/>
            </a:solidFill>
            <a:prstDash val="solid"/>
          </a:ln>
        </p:spPr>
      </p:sp>
      <p:sp>
        <p:nvSpPr>
          <p:cNvPr id="24" name="s2-time-value">
            <a:extLst xmlns:a="http://schemas.openxmlformats.org/drawingml/2006/main">
              <a:ext uri="{FF2B5EF4-FFF2-40B4-BE49-F238E27FC236}">
                <a16:creationId xmlns:a16="http://schemas.microsoft.com/office/drawing/2014/main" id="{8CA6AC79-AABD-4820-BA5C-F60ABF9473B2}"/>
              </a:ext>
            </a:extLst>
          </p:cNvPr>
          <p:cNvSpPr>
            <a:spLocks xmlns:a="http://schemas.openxmlformats.org/drawingml/2006/main" noGrp="1"/>
          </p:cNvSpPr>
          <p:nvPr/>
        </p:nvSpPr>
        <p:spPr>
          <a:xfrm xmlns:a="http://schemas.openxmlformats.org/drawingml/2006/main">
            <a:off x="4000500" y="5600700"/>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7m</a:t>
            </a:r>
          </a:p>
        </p:txBody>
      </p:sp>
      <p:sp>
        <p:nvSpPr>
          <p:cNvPr id="25" name="s2-time-label">
            <a:extLst xmlns:a="http://schemas.openxmlformats.org/drawingml/2006/main">
              <a:ext uri="{FF2B5EF4-FFF2-40B4-BE49-F238E27FC236}">
                <a16:creationId xmlns:a16="http://schemas.microsoft.com/office/drawing/2014/main" id="{3829969A-7670-4F16-A944-EF9264162AB5}"/>
              </a:ext>
            </a:extLst>
          </p:cNvPr>
          <p:cNvSpPr>
            <a:spLocks xmlns:a="http://schemas.openxmlformats.org/drawingml/2006/main" noGrp="1"/>
          </p:cNvSpPr>
          <p:nvPr/>
        </p:nvSpPr>
        <p:spPr>
          <a:xfrm xmlns:a="http://schemas.openxmlformats.org/drawingml/2006/main">
            <a:off x="4000500" y="6172200"/>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training wall time</a:t>
            </a:r>
          </a:p>
        </p:txBody>
      </p:sp>
      <p:sp>
        <p:nvSpPr>
          <p:cNvPr id="26" name="">
            <a:extLst xmlns:a="http://schemas.openxmlformats.org/drawingml/2006/main">
              <a:ext uri="{FF2B5EF4-FFF2-40B4-BE49-F238E27FC236}">
                <a16:creationId xmlns:a16="http://schemas.microsoft.com/office/drawing/2014/main" id="{5B7C3B69-77EE-436C-A5F3-44E234442F66}"/>
              </a:ext>
            </a:extLst>
          </p:cNvPr>
          <p:cNvSpPr>
            <a:spLocks xmlns:a="http://schemas.openxmlformats.org/drawingml/2006/main" noGrp="1"/>
          </p:cNvSpPr>
          <p:nvPr/>
        </p:nvSpPr>
        <p:spPr>
          <a:xfrm xmlns:a="http://schemas.openxmlformats.org/drawingml/2006/main">
            <a:off x="6858000" y="5429250"/>
            <a:ext cx="2000250" cy="0"/>
          </a:xfrm>
          <a:prstGeom xmlns:a="http://schemas.openxmlformats.org/drawingml/2006/main" prst="line">
            <a:avLst/>
          </a:prstGeom>
          <a:noFill xmlns:a="http://schemas.openxmlformats.org/drawingml/2006/main"/>
          <a:ln xmlns:a="http://schemas.openxmlformats.org/drawingml/2006/main" w="38100">
            <a:solidFill>
              <a:srgbClr val="228B67"/>
            </a:solidFill>
            <a:prstDash val="solid"/>
          </a:ln>
        </p:spPr>
      </p:sp>
      <p:sp>
        <p:nvSpPr>
          <p:cNvPr id="27" name="s2-replay-value">
            <a:extLst xmlns:a="http://schemas.openxmlformats.org/drawingml/2006/main">
              <a:ext uri="{FF2B5EF4-FFF2-40B4-BE49-F238E27FC236}">
                <a16:creationId xmlns:a16="http://schemas.microsoft.com/office/drawing/2014/main" id="{F0A24FA8-2ED2-4409-9165-BE26371EEAD9}"/>
              </a:ext>
            </a:extLst>
          </p:cNvPr>
          <p:cNvSpPr>
            <a:spLocks xmlns:a="http://schemas.openxmlformats.org/drawingml/2006/main" noGrp="1"/>
          </p:cNvSpPr>
          <p:nvPr/>
        </p:nvSpPr>
        <p:spPr>
          <a:xfrm xmlns:a="http://schemas.openxmlformats.org/drawingml/2006/main">
            <a:off x="6858000" y="5600700"/>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6</a:t>
            </a:r>
          </a:p>
        </p:txBody>
      </p:sp>
      <p:sp>
        <p:nvSpPr>
          <p:cNvPr id="28" name="s2-replay-label">
            <a:extLst xmlns:a="http://schemas.openxmlformats.org/drawingml/2006/main">
              <a:ext uri="{FF2B5EF4-FFF2-40B4-BE49-F238E27FC236}">
                <a16:creationId xmlns:a16="http://schemas.microsoft.com/office/drawing/2014/main" id="{2C7171E7-7A7D-4D12-9760-E879098C398F}"/>
              </a:ext>
            </a:extLst>
          </p:cNvPr>
          <p:cNvSpPr>
            <a:spLocks xmlns:a="http://schemas.openxmlformats.org/drawingml/2006/main" noGrp="1"/>
          </p:cNvSpPr>
          <p:nvPr/>
        </p:nvSpPr>
        <p:spPr>
          <a:xfrm xmlns:a="http://schemas.openxmlformats.org/drawingml/2006/main">
            <a:off x="6858000" y="6172200"/>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fresh-process episodes</a:t>
            </a:r>
          </a:p>
        </p:txBody>
      </p:sp>
      <p:sp>
        <p:nvSpPr>
          <p:cNvPr id="29" name="">
            <a:extLst xmlns:a="http://schemas.openxmlformats.org/drawingml/2006/main">
              <a:ext uri="{FF2B5EF4-FFF2-40B4-BE49-F238E27FC236}">
                <a16:creationId xmlns:a16="http://schemas.microsoft.com/office/drawing/2014/main" id="{0C8E534D-C4B5-44CF-AFED-E8F095795A1A}"/>
              </a:ext>
            </a:extLst>
          </p:cNvPr>
          <p:cNvSpPr>
            <a:spLocks xmlns:a="http://schemas.openxmlformats.org/drawingml/2006/main" noGrp="1"/>
          </p:cNvSpPr>
          <p:nvPr/>
        </p:nvSpPr>
        <p:spPr>
          <a:xfrm xmlns:a="http://schemas.openxmlformats.org/drawingml/2006/main">
            <a:off x="9715500" y="5429250"/>
            <a:ext cx="2000250" cy="0"/>
          </a:xfrm>
          <a:prstGeom xmlns:a="http://schemas.openxmlformats.org/drawingml/2006/main" prst="line">
            <a:avLst/>
          </a:prstGeom>
          <a:noFill xmlns:a="http://schemas.openxmlformats.org/drawingml/2006/main"/>
          <a:ln xmlns:a="http://schemas.openxmlformats.org/drawingml/2006/main" w="38100">
            <a:solidFill>
              <a:srgbClr val="D6A84B"/>
            </a:solidFill>
            <a:prstDash val="solid"/>
          </a:ln>
        </p:spPr>
      </p:sp>
      <p:sp>
        <p:nvSpPr>
          <p:cNvPr id="30" name="s2-gpu-value">
            <a:extLst xmlns:a="http://schemas.openxmlformats.org/drawingml/2006/main">
              <a:ext uri="{FF2B5EF4-FFF2-40B4-BE49-F238E27FC236}">
                <a16:creationId xmlns:a16="http://schemas.microsoft.com/office/drawing/2014/main" id="{F25D386A-90A1-45EF-A94A-F21B98F6F2FA}"/>
              </a:ext>
            </a:extLst>
          </p:cNvPr>
          <p:cNvSpPr>
            <a:spLocks xmlns:a="http://schemas.openxmlformats.org/drawingml/2006/main" noGrp="1"/>
          </p:cNvSpPr>
          <p:nvPr/>
        </p:nvSpPr>
        <p:spPr>
          <a:xfrm xmlns:a="http://schemas.openxmlformats.org/drawingml/2006/main">
            <a:off x="9715500" y="5600700"/>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1×</a:t>
            </a:r>
          </a:p>
        </p:txBody>
      </p:sp>
      <p:sp>
        <p:nvSpPr>
          <p:cNvPr id="31" name="s2-gpu-label">
            <a:extLst xmlns:a="http://schemas.openxmlformats.org/drawingml/2006/main">
              <a:ext uri="{FF2B5EF4-FFF2-40B4-BE49-F238E27FC236}">
                <a16:creationId xmlns:a16="http://schemas.microsoft.com/office/drawing/2014/main" id="{72297E4E-54FF-4090-A455-8FF148BDB864}"/>
              </a:ext>
            </a:extLst>
          </p:cNvPr>
          <p:cNvSpPr>
            <a:spLocks xmlns:a="http://schemas.openxmlformats.org/drawingml/2006/main" noGrp="1"/>
          </p:cNvSpPr>
          <p:nvPr/>
        </p:nvSpPr>
        <p:spPr>
          <a:xfrm xmlns:a="http://schemas.openxmlformats.org/drawingml/2006/main">
            <a:off x="9715500" y="6172200"/>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RTX PRO 6000 · 96GB</a:t>
            </a:r>
          </a:p>
        </p:txBody>
      </p:sp>
    </p:spTree>
    <p:extLst>
      <p:ext uri="{BB962C8B-B14F-4D97-AF65-F5344CB8AC3E}">
        <p14:creationId xmlns:p14="http://schemas.microsoft.com/office/powerpoint/2010/main" val="1685631909"/>
      </p:ext>
    </p:extLst>
  </p:cSld>
</p:sld>
</file>

<file path=ppt/slides/slide11.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39" name="rail-11">
            <a:extLst xmlns:a="http://schemas.openxmlformats.org/drawingml/2006/main">
              <a:ext uri="{FF2B5EF4-FFF2-40B4-BE49-F238E27FC236}">
                <a16:creationId xmlns:a16="http://schemas.microsoft.com/office/drawing/2014/main" id="{32B0AC8C-912B-4118-AD4F-97C4BD4A4BB3}"/>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11">
            <a:extLst xmlns:a="http://schemas.openxmlformats.org/drawingml/2006/main">
              <a:ext uri="{FF2B5EF4-FFF2-40B4-BE49-F238E27FC236}">
                <a16:creationId xmlns:a16="http://schemas.microsoft.com/office/drawing/2014/main" id="{8CFA3639-F633-4722-84E4-BF62D6215103}"/>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11">
            <a:extLst xmlns:a="http://schemas.openxmlformats.org/drawingml/2006/main">
              <a:ext uri="{FF2B5EF4-FFF2-40B4-BE49-F238E27FC236}">
                <a16:creationId xmlns:a16="http://schemas.microsoft.com/office/drawing/2014/main" id="{7DC667C8-913F-4D4E-AE34-5EE51FBCAA13}"/>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TRAJECTORY EVIDENCE</a:t>
            </a:r>
          </a:p>
        </p:txBody>
      </p:sp>
      <p:sp>
        <p:nvSpPr>
          <p:cNvPr id="4" name="title-11">
            <a:extLst xmlns:a="http://schemas.openxmlformats.org/drawingml/2006/main">
              <a:ext uri="{FF2B5EF4-FFF2-40B4-BE49-F238E27FC236}">
                <a16:creationId xmlns:a16="http://schemas.microsoft.com/office/drawing/2014/main" id="{4A1E05BE-2994-4B61-851B-70C30E39ABB0}"/>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一条完整轨迹：从模糊诉求到安全 side effect</a:t>
            </a:r>
          </a:p>
        </p:txBody>
      </p:sp>
      <p:sp>
        <p:nvSpPr>
          <p:cNvPr id="5" name="subtitle-11">
            <a:extLst xmlns:a="http://schemas.openxmlformats.org/drawingml/2006/main">
              <a:ext uri="{FF2B5EF4-FFF2-40B4-BE49-F238E27FC236}">
                <a16:creationId xmlns:a16="http://schemas.microsoft.com/office/drawing/2014/main" id="{9F3C816F-FFE0-4A0C-B16B-625BAC97B323}"/>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task=refund-final_holdout-0204 · reward=1.248 · SUCCESS</a:t>
            </a:r>
          </a:p>
        </p:txBody>
      </p:sp>
      <p:sp>
        <p:nvSpPr>
          <p:cNvPr id="6" name="">
            <a:extLst xmlns:a="http://schemas.openxmlformats.org/drawingml/2006/main">
              <a:ext uri="{FF2B5EF4-FFF2-40B4-BE49-F238E27FC236}">
                <a16:creationId xmlns:a16="http://schemas.microsoft.com/office/drawing/2014/main" id="{E82C2C17-C6BC-46E0-AB22-BE3BA469C20C}"/>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11">
            <a:extLst xmlns:a="http://schemas.openxmlformats.org/drawingml/2006/main">
              <a:ext uri="{FF2B5EF4-FFF2-40B4-BE49-F238E27FC236}">
                <a16:creationId xmlns:a16="http://schemas.microsoft.com/office/drawing/2014/main" id="{5DB848A5-CCB5-499F-BDAC-C4CAE92BC0C5}"/>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11</a:t>
            </a:r>
          </a:p>
        </p:txBody>
      </p:sp>
      <p:sp>
        <p:nvSpPr>
          <p:cNvPr id="8" name="traj-spine">
            <a:extLst xmlns:a="http://schemas.openxmlformats.org/drawingml/2006/main">
              <a:ext uri="{FF2B5EF4-FFF2-40B4-BE49-F238E27FC236}">
                <a16:creationId xmlns:a16="http://schemas.microsoft.com/office/drawing/2014/main" id="{84A7B5A0-5300-44AF-A7B2-D74B352D6765}"/>
              </a:ext>
            </a:extLst>
          </p:cNvPr>
          <p:cNvSpPr>
            <a:spLocks xmlns:a="http://schemas.openxmlformats.org/drawingml/2006/main" noGrp="1"/>
          </p:cNvSpPr>
          <p:nvPr/>
        </p:nvSpPr>
        <p:spPr>
          <a:xfrm xmlns:a="http://schemas.openxmlformats.org/drawingml/2006/main">
            <a:off x="1162050" y="2324100"/>
            <a:ext cx="28575" cy="3200400"/>
          </a:xfrm>
          <a:prstGeom xmlns:a="http://schemas.openxmlformats.org/drawingml/2006/main" prst="rect">
            <a:avLst/>
          </a:prstGeom>
          <a:solidFill xmlns:a="http://schemas.openxmlformats.org/drawingml/2006/main">
            <a:srgbClr val="CAD9D8"/>
          </a:solidFill>
          <a:ln xmlns:a="http://schemas.openxmlformats.org/drawingml/2006/main" w="0">
            <a:solidFill>
              <a:srgbClr val="CAD9D8"/>
            </a:solidFill>
            <a:prstDash val="solid"/>
          </a:ln>
        </p:spPr>
      </p:sp>
      <p:sp>
        <p:nvSpPr>
          <p:cNvPr id="9" name="traj-dot-0">
            <a:extLst xmlns:a="http://schemas.openxmlformats.org/drawingml/2006/main">
              <a:ext uri="{FF2B5EF4-FFF2-40B4-BE49-F238E27FC236}">
                <a16:creationId xmlns:a16="http://schemas.microsoft.com/office/drawing/2014/main" id="{5A34CC62-50B9-43E6-ADAC-A178B88C6977}"/>
              </a:ext>
            </a:extLst>
          </p:cNvPr>
          <p:cNvSpPr>
            <a:spLocks xmlns:a="http://schemas.openxmlformats.org/drawingml/2006/main" noGrp="1"/>
          </p:cNvSpPr>
          <p:nvPr/>
        </p:nvSpPr>
        <p:spPr>
          <a:xfrm xmlns:a="http://schemas.openxmlformats.org/drawingml/2006/main">
            <a:off x="1000125" y="2143125"/>
            <a:ext cx="342900" cy="342900"/>
          </a:xfrm>
          <a:prstGeom xmlns:a="http://schemas.openxmlformats.org/drawingml/2006/main" prst="roundRect">
            <a:avLst>
              <a:gd name="adj" fmla="val 50000"/>
            </a:avLst>
          </a:prstGeom>
          <a:solidFill xmlns:a="http://schemas.openxmlformats.org/drawingml/2006/main">
            <a:srgbClr val="18A6A6"/>
          </a:solidFill>
          <a:ln xmlns:a="http://schemas.openxmlformats.org/drawingml/2006/main" w="0">
            <a:solidFill>
              <a:srgbClr val="18A6A6"/>
            </a:solidFill>
            <a:prstDash val="solid"/>
          </a:ln>
        </p:spPr>
      </p:sp>
      <p:sp>
        <p:nvSpPr>
          <p:cNvPr id="10" name="traj-num-0">
            <a:extLst xmlns:a="http://schemas.openxmlformats.org/drawingml/2006/main">
              <a:ext uri="{FF2B5EF4-FFF2-40B4-BE49-F238E27FC236}">
                <a16:creationId xmlns:a16="http://schemas.microsoft.com/office/drawing/2014/main" id="{3766D1E0-4DC0-43D5-9DBE-C448F5AA6852}"/>
              </a:ext>
            </a:extLst>
          </p:cNvPr>
          <p:cNvSpPr>
            <a:spLocks xmlns:a="http://schemas.openxmlformats.org/drawingml/2006/main" noGrp="1"/>
          </p:cNvSpPr>
          <p:nvPr/>
        </p:nvSpPr>
        <p:spPr>
          <a:xfrm xmlns:a="http://schemas.openxmlformats.org/drawingml/2006/main">
            <a:off x="1000125" y="2209800"/>
            <a:ext cx="342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FFFFFF"/>
                </a:solidFill>
              </a:defRPr>
            </a:pPr>
            <a:r>
              <a:rPr sz="1050" b="1">
                <a:solidFill>
                  <a:srgbClr val="FFFFFF"/>
                </a:solidFill>
              </a:rPr>
              <a:t>1</a:t>
            </a:r>
          </a:p>
        </p:txBody>
      </p:sp>
      <p:sp>
        <p:nvSpPr>
          <p:cNvPr id="11" name="traj-tool-0">
            <a:extLst xmlns:a="http://schemas.openxmlformats.org/drawingml/2006/main">
              <a:ext uri="{FF2B5EF4-FFF2-40B4-BE49-F238E27FC236}">
                <a16:creationId xmlns:a16="http://schemas.microsoft.com/office/drawing/2014/main" id="{CE0DB62A-A950-40ED-BA1F-6F0127B39D45}"/>
              </a:ext>
            </a:extLst>
          </p:cNvPr>
          <p:cNvSpPr>
            <a:spLocks xmlns:a="http://schemas.openxmlformats.org/drawingml/2006/main" noGrp="1"/>
          </p:cNvSpPr>
          <p:nvPr/>
        </p:nvSpPr>
        <p:spPr>
          <a:xfrm xmlns:a="http://schemas.openxmlformats.org/drawingml/2006/main">
            <a:off x="1666875" y="2133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request_identity</a:t>
            </a:r>
          </a:p>
        </p:txBody>
      </p:sp>
      <p:sp>
        <p:nvSpPr>
          <p:cNvPr id="12" name="traj-obs-0">
            <a:extLst xmlns:a="http://schemas.openxmlformats.org/drawingml/2006/main">
              <a:ext uri="{FF2B5EF4-FFF2-40B4-BE49-F238E27FC236}">
                <a16:creationId xmlns:a16="http://schemas.microsoft.com/office/drawing/2014/main" id="{10B2484D-31C8-4E48-8CE1-59C9F2AFD9EE}"/>
              </a:ext>
            </a:extLst>
          </p:cNvPr>
          <p:cNvSpPr>
            <a:spLocks xmlns:a="http://schemas.openxmlformats.org/drawingml/2006/main" noGrp="1"/>
          </p:cNvSpPr>
          <p:nvPr/>
        </p:nvSpPr>
        <p:spPr>
          <a:xfrm xmlns:a="http://schemas.openxmlformats.org/drawingml/2006/main">
            <a:off x="4333875" y="2133600"/>
            <a:ext cx="647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900">
                <a:solidFill>
                  <a:srgbClr val="64747B"/>
                </a:solidFill>
              </a:defRPr>
            </a:pPr>
            <a:r>
              <a:rPr sz="900">
                <a:solidFill>
                  <a:srgbClr val="64747B"/>
                </a:solidFill>
              </a:rPr>
              <a:t>{"email":"customer0204@example.com","phone_last4":"2369"}</a:t>
            </a:r>
          </a:p>
        </p:txBody>
      </p:sp>
      <p:sp>
        <p:nvSpPr>
          <p:cNvPr id="13" name="traj-dot-1">
            <a:extLst xmlns:a="http://schemas.openxmlformats.org/drawingml/2006/main">
              <a:ext uri="{FF2B5EF4-FFF2-40B4-BE49-F238E27FC236}">
                <a16:creationId xmlns:a16="http://schemas.microsoft.com/office/drawing/2014/main" id="{9DB37410-0B0E-4E05-BB01-A7F72E7ED348}"/>
              </a:ext>
            </a:extLst>
          </p:cNvPr>
          <p:cNvSpPr>
            <a:spLocks xmlns:a="http://schemas.openxmlformats.org/drawingml/2006/main" noGrp="1"/>
          </p:cNvSpPr>
          <p:nvPr/>
        </p:nvSpPr>
        <p:spPr>
          <a:xfrm xmlns:a="http://schemas.openxmlformats.org/drawingml/2006/main">
            <a:off x="1000125" y="2676525"/>
            <a:ext cx="342900" cy="342900"/>
          </a:xfrm>
          <a:prstGeom xmlns:a="http://schemas.openxmlformats.org/drawingml/2006/main" prst="roundRect">
            <a:avLst>
              <a:gd name="adj" fmla="val 50000"/>
            </a:avLst>
          </a:prstGeom>
          <a:solidFill xmlns:a="http://schemas.openxmlformats.org/drawingml/2006/main">
            <a:srgbClr val="18A6A6"/>
          </a:solidFill>
          <a:ln xmlns:a="http://schemas.openxmlformats.org/drawingml/2006/main" w="0">
            <a:solidFill>
              <a:srgbClr val="18A6A6"/>
            </a:solidFill>
            <a:prstDash val="solid"/>
          </a:ln>
        </p:spPr>
      </p:sp>
      <p:sp>
        <p:nvSpPr>
          <p:cNvPr id="14" name="traj-num-1">
            <a:extLst xmlns:a="http://schemas.openxmlformats.org/drawingml/2006/main">
              <a:ext uri="{FF2B5EF4-FFF2-40B4-BE49-F238E27FC236}">
                <a16:creationId xmlns:a16="http://schemas.microsoft.com/office/drawing/2014/main" id="{F219DB2F-9E7A-438D-A62A-D00741C74942}"/>
              </a:ext>
            </a:extLst>
          </p:cNvPr>
          <p:cNvSpPr>
            <a:spLocks xmlns:a="http://schemas.openxmlformats.org/drawingml/2006/main" noGrp="1"/>
          </p:cNvSpPr>
          <p:nvPr/>
        </p:nvSpPr>
        <p:spPr>
          <a:xfrm xmlns:a="http://schemas.openxmlformats.org/drawingml/2006/main">
            <a:off x="1000125" y="2743200"/>
            <a:ext cx="342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FFFFFF"/>
                </a:solidFill>
              </a:defRPr>
            </a:pPr>
            <a:r>
              <a:rPr sz="1050" b="1">
                <a:solidFill>
                  <a:srgbClr val="FFFFFF"/>
                </a:solidFill>
              </a:rPr>
              <a:t>2</a:t>
            </a:r>
          </a:p>
        </p:txBody>
      </p:sp>
      <p:sp>
        <p:nvSpPr>
          <p:cNvPr id="15" name="traj-tool-1">
            <a:extLst xmlns:a="http://schemas.openxmlformats.org/drawingml/2006/main">
              <a:ext uri="{FF2B5EF4-FFF2-40B4-BE49-F238E27FC236}">
                <a16:creationId xmlns:a16="http://schemas.microsoft.com/office/drawing/2014/main" id="{99E8D366-4F49-4EA1-BE72-B1EEDAE5C7B1}"/>
              </a:ext>
            </a:extLst>
          </p:cNvPr>
          <p:cNvSpPr>
            <a:spLocks xmlns:a="http://schemas.openxmlformats.org/drawingml/2006/main" noGrp="1"/>
          </p:cNvSpPr>
          <p:nvPr/>
        </p:nvSpPr>
        <p:spPr>
          <a:xfrm xmlns:a="http://schemas.openxmlformats.org/drawingml/2006/main">
            <a:off x="1666875" y="26670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lookup_customer</a:t>
            </a:r>
          </a:p>
        </p:txBody>
      </p:sp>
      <p:sp>
        <p:nvSpPr>
          <p:cNvPr id="16" name="traj-obs-1">
            <a:extLst xmlns:a="http://schemas.openxmlformats.org/drawingml/2006/main">
              <a:ext uri="{FF2B5EF4-FFF2-40B4-BE49-F238E27FC236}">
                <a16:creationId xmlns:a16="http://schemas.microsoft.com/office/drawing/2014/main" id="{6E664F24-6115-44BF-8D92-76D5E8134ACD}"/>
              </a:ext>
            </a:extLst>
          </p:cNvPr>
          <p:cNvSpPr>
            <a:spLocks xmlns:a="http://schemas.openxmlformats.org/drawingml/2006/main" noGrp="1"/>
          </p:cNvSpPr>
          <p:nvPr/>
        </p:nvSpPr>
        <p:spPr>
          <a:xfrm xmlns:a="http://schemas.openxmlformats.org/drawingml/2006/main">
            <a:off x="4333875" y="2667000"/>
            <a:ext cx="647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900">
                <a:solidFill>
                  <a:srgbClr val="64747B"/>
                </a:solidFill>
              </a:defRPr>
            </a:pPr>
            <a:r>
              <a:rPr sz="900">
                <a:solidFill>
                  <a:srgbClr val="64747B"/>
                </a:solidFill>
              </a:rPr>
              <a:t>{"customer_id":"CUS-1204","verified":true}</a:t>
            </a:r>
          </a:p>
        </p:txBody>
      </p:sp>
      <p:sp>
        <p:nvSpPr>
          <p:cNvPr id="17" name="traj-dot-2">
            <a:extLst xmlns:a="http://schemas.openxmlformats.org/drawingml/2006/main">
              <a:ext uri="{FF2B5EF4-FFF2-40B4-BE49-F238E27FC236}">
                <a16:creationId xmlns:a16="http://schemas.microsoft.com/office/drawing/2014/main" id="{05ECEE6D-EB3B-4EB1-8977-C74790DA6DA1}"/>
              </a:ext>
            </a:extLst>
          </p:cNvPr>
          <p:cNvSpPr>
            <a:spLocks xmlns:a="http://schemas.openxmlformats.org/drawingml/2006/main" noGrp="1"/>
          </p:cNvSpPr>
          <p:nvPr/>
        </p:nvSpPr>
        <p:spPr>
          <a:xfrm xmlns:a="http://schemas.openxmlformats.org/drawingml/2006/main">
            <a:off x="1000125" y="3209925"/>
            <a:ext cx="342900" cy="342900"/>
          </a:xfrm>
          <a:prstGeom xmlns:a="http://schemas.openxmlformats.org/drawingml/2006/main" prst="roundRect">
            <a:avLst>
              <a:gd name="adj" fmla="val 50000"/>
            </a:avLst>
          </a:prstGeom>
          <a:solidFill xmlns:a="http://schemas.openxmlformats.org/drawingml/2006/main">
            <a:srgbClr val="18A6A6"/>
          </a:solidFill>
          <a:ln xmlns:a="http://schemas.openxmlformats.org/drawingml/2006/main" w="0">
            <a:solidFill>
              <a:srgbClr val="18A6A6"/>
            </a:solidFill>
            <a:prstDash val="solid"/>
          </a:ln>
        </p:spPr>
      </p:sp>
      <p:sp>
        <p:nvSpPr>
          <p:cNvPr id="18" name="traj-num-2">
            <a:extLst xmlns:a="http://schemas.openxmlformats.org/drawingml/2006/main">
              <a:ext uri="{FF2B5EF4-FFF2-40B4-BE49-F238E27FC236}">
                <a16:creationId xmlns:a16="http://schemas.microsoft.com/office/drawing/2014/main" id="{37D5AA5B-AF9F-4F60-96C2-CF2EC2E49925}"/>
              </a:ext>
            </a:extLst>
          </p:cNvPr>
          <p:cNvSpPr>
            <a:spLocks xmlns:a="http://schemas.openxmlformats.org/drawingml/2006/main" noGrp="1"/>
          </p:cNvSpPr>
          <p:nvPr/>
        </p:nvSpPr>
        <p:spPr>
          <a:xfrm xmlns:a="http://schemas.openxmlformats.org/drawingml/2006/main">
            <a:off x="1000125" y="3276600"/>
            <a:ext cx="342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FFFFFF"/>
                </a:solidFill>
              </a:defRPr>
            </a:pPr>
            <a:r>
              <a:rPr sz="1050" b="1">
                <a:solidFill>
                  <a:srgbClr val="FFFFFF"/>
                </a:solidFill>
              </a:rPr>
              <a:t>3</a:t>
            </a:r>
          </a:p>
        </p:txBody>
      </p:sp>
      <p:sp>
        <p:nvSpPr>
          <p:cNvPr id="19" name="traj-tool-2">
            <a:extLst xmlns:a="http://schemas.openxmlformats.org/drawingml/2006/main">
              <a:ext uri="{FF2B5EF4-FFF2-40B4-BE49-F238E27FC236}">
                <a16:creationId xmlns:a16="http://schemas.microsoft.com/office/drawing/2014/main" id="{9071057A-1B6A-407B-BD01-9346C23A7F4F}"/>
              </a:ext>
            </a:extLst>
          </p:cNvPr>
          <p:cNvSpPr>
            <a:spLocks xmlns:a="http://schemas.openxmlformats.org/drawingml/2006/main" noGrp="1"/>
          </p:cNvSpPr>
          <p:nvPr/>
        </p:nvSpPr>
        <p:spPr>
          <a:xfrm xmlns:a="http://schemas.openxmlformats.org/drawingml/2006/main">
            <a:off x="1666875" y="32004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list_orders</a:t>
            </a:r>
          </a:p>
        </p:txBody>
      </p:sp>
      <p:sp>
        <p:nvSpPr>
          <p:cNvPr id="20" name="traj-obs-2">
            <a:extLst xmlns:a="http://schemas.openxmlformats.org/drawingml/2006/main">
              <a:ext uri="{FF2B5EF4-FFF2-40B4-BE49-F238E27FC236}">
                <a16:creationId xmlns:a16="http://schemas.microsoft.com/office/drawing/2014/main" id="{DA6D047C-38A6-40FF-8561-06D3567AF759}"/>
              </a:ext>
            </a:extLst>
          </p:cNvPr>
          <p:cNvSpPr>
            <a:spLocks xmlns:a="http://schemas.openxmlformats.org/drawingml/2006/main" noGrp="1"/>
          </p:cNvSpPr>
          <p:nvPr/>
        </p:nvSpPr>
        <p:spPr>
          <a:xfrm xmlns:a="http://schemas.openxmlformats.org/drawingml/2006/main">
            <a:off x="4333875" y="3200400"/>
            <a:ext cx="647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900">
                <a:solidFill>
                  <a:srgbClr val="64747B"/>
                </a:solidFill>
              </a:defRPr>
            </a:pPr>
            <a:r>
              <a:rPr sz="900">
                <a:solidFill>
                  <a:srgbClr val="64747B"/>
                </a:solidFill>
              </a:rPr>
              <a:t>{"orders":[{"amount":349,"currency":"CNY","order_id":"ORD-2026-4204"},{"amount":478.13,…</a:t>
            </a:r>
          </a:p>
        </p:txBody>
      </p:sp>
      <p:sp>
        <p:nvSpPr>
          <p:cNvPr id="21" name="traj-dot-3">
            <a:extLst xmlns:a="http://schemas.openxmlformats.org/drawingml/2006/main">
              <a:ext uri="{FF2B5EF4-FFF2-40B4-BE49-F238E27FC236}">
                <a16:creationId xmlns:a16="http://schemas.microsoft.com/office/drawing/2014/main" id="{D8D13430-4E38-45A1-9A3B-595312B62878}"/>
              </a:ext>
            </a:extLst>
          </p:cNvPr>
          <p:cNvSpPr>
            <a:spLocks xmlns:a="http://schemas.openxmlformats.org/drawingml/2006/main" noGrp="1"/>
          </p:cNvSpPr>
          <p:nvPr/>
        </p:nvSpPr>
        <p:spPr>
          <a:xfrm xmlns:a="http://schemas.openxmlformats.org/drawingml/2006/main">
            <a:off x="1000125" y="3743325"/>
            <a:ext cx="342900" cy="342900"/>
          </a:xfrm>
          <a:prstGeom xmlns:a="http://schemas.openxmlformats.org/drawingml/2006/main" prst="roundRect">
            <a:avLst>
              <a:gd name="adj" fmla="val 50000"/>
            </a:avLst>
          </a:prstGeom>
          <a:solidFill xmlns:a="http://schemas.openxmlformats.org/drawingml/2006/main">
            <a:srgbClr val="18A6A6"/>
          </a:solidFill>
          <a:ln xmlns:a="http://schemas.openxmlformats.org/drawingml/2006/main" w="0">
            <a:solidFill>
              <a:srgbClr val="18A6A6"/>
            </a:solidFill>
            <a:prstDash val="solid"/>
          </a:ln>
        </p:spPr>
      </p:sp>
      <p:sp>
        <p:nvSpPr>
          <p:cNvPr id="22" name="traj-num-3">
            <a:extLst xmlns:a="http://schemas.openxmlformats.org/drawingml/2006/main">
              <a:ext uri="{FF2B5EF4-FFF2-40B4-BE49-F238E27FC236}">
                <a16:creationId xmlns:a16="http://schemas.microsoft.com/office/drawing/2014/main" id="{E21C0ADA-7E5F-411F-BE47-C95ECCAF7755}"/>
              </a:ext>
            </a:extLst>
          </p:cNvPr>
          <p:cNvSpPr>
            <a:spLocks xmlns:a="http://schemas.openxmlformats.org/drawingml/2006/main" noGrp="1"/>
          </p:cNvSpPr>
          <p:nvPr/>
        </p:nvSpPr>
        <p:spPr>
          <a:xfrm xmlns:a="http://schemas.openxmlformats.org/drawingml/2006/main">
            <a:off x="1000125" y="3810000"/>
            <a:ext cx="342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FFFFFF"/>
                </a:solidFill>
              </a:defRPr>
            </a:pPr>
            <a:r>
              <a:rPr sz="1050" b="1">
                <a:solidFill>
                  <a:srgbClr val="FFFFFF"/>
                </a:solidFill>
              </a:rPr>
              <a:t>4</a:t>
            </a:r>
          </a:p>
        </p:txBody>
      </p:sp>
      <p:sp>
        <p:nvSpPr>
          <p:cNvPr id="23" name="traj-tool-3">
            <a:extLst xmlns:a="http://schemas.openxmlformats.org/drawingml/2006/main">
              <a:ext uri="{FF2B5EF4-FFF2-40B4-BE49-F238E27FC236}">
                <a16:creationId xmlns:a16="http://schemas.microsoft.com/office/drawing/2014/main" id="{BC8C51ED-CA5B-4F05-894C-043FDC305A39}"/>
              </a:ext>
            </a:extLst>
          </p:cNvPr>
          <p:cNvSpPr>
            <a:spLocks xmlns:a="http://schemas.openxmlformats.org/drawingml/2006/main" noGrp="1"/>
          </p:cNvSpPr>
          <p:nvPr/>
        </p:nvSpPr>
        <p:spPr>
          <a:xfrm xmlns:a="http://schemas.openxmlformats.org/drawingml/2006/main">
            <a:off x="1666875" y="37338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get_payment_history</a:t>
            </a:r>
          </a:p>
        </p:txBody>
      </p:sp>
      <p:sp>
        <p:nvSpPr>
          <p:cNvPr id="24" name="traj-obs-3">
            <a:extLst xmlns:a="http://schemas.openxmlformats.org/drawingml/2006/main">
              <a:ext uri="{FF2B5EF4-FFF2-40B4-BE49-F238E27FC236}">
                <a16:creationId xmlns:a16="http://schemas.microsoft.com/office/drawing/2014/main" id="{87A49A9E-F813-4F0B-80EA-A7F064499110}"/>
              </a:ext>
            </a:extLst>
          </p:cNvPr>
          <p:cNvSpPr>
            <a:spLocks xmlns:a="http://schemas.openxmlformats.org/drawingml/2006/main" noGrp="1"/>
          </p:cNvSpPr>
          <p:nvPr/>
        </p:nvSpPr>
        <p:spPr>
          <a:xfrm xmlns:a="http://schemas.openxmlformats.org/drawingml/2006/main">
            <a:off x="4333875" y="3733800"/>
            <a:ext cx="647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900">
                <a:solidFill>
                  <a:srgbClr val="64747B"/>
                </a:solidFill>
              </a:defRPr>
            </a:pPr>
            <a:r>
              <a:rPr sz="900">
                <a:solidFill>
                  <a:srgbClr val="64747B"/>
                </a:solidFill>
              </a:rPr>
              <a:t>{"charges":[{"amount":349,"captured_at":"2026-07-25T09:31:08+08:00","charge_id":"CHG-74…</a:t>
            </a:r>
          </a:p>
        </p:txBody>
      </p:sp>
      <p:sp>
        <p:nvSpPr>
          <p:cNvPr id="25" name="traj-dot-4">
            <a:extLst xmlns:a="http://schemas.openxmlformats.org/drawingml/2006/main">
              <a:ext uri="{FF2B5EF4-FFF2-40B4-BE49-F238E27FC236}">
                <a16:creationId xmlns:a16="http://schemas.microsoft.com/office/drawing/2014/main" id="{CF169F2B-CD94-4A86-A450-AA1A5B01A29D}"/>
              </a:ext>
            </a:extLst>
          </p:cNvPr>
          <p:cNvSpPr>
            <a:spLocks xmlns:a="http://schemas.openxmlformats.org/drawingml/2006/main" noGrp="1"/>
          </p:cNvSpPr>
          <p:nvPr/>
        </p:nvSpPr>
        <p:spPr>
          <a:xfrm xmlns:a="http://schemas.openxmlformats.org/drawingml/2006/main">
            <a:off x="1000125" y="4276725"/>
            <a:ext cx="342900" cy="342900"/>
          </a:xfrm>
          <a:prstGeom xmlns:a="http://schemas.openxmlformats.org/drawingml/2006/main" prst="roundRect">
            <a:avLst>
              <a:gd name="adj" fmla="val 50000"/>
            </a:avLst>
          </a:prstGeom>
          <a:solidFill xmlns:a="http://schemas.openxmlformats.org/drawingml/2006/main">
            <a:srgbClr val="18A6A6"/>
          </a:solidFill>
          <a:ln xmlns:a="http://schemas.openxmlformats.org/drawingml/2006/main" w="0">
            <a:solidFill>
              <a:srgbClr val="18A6A6"/>
            </a:solidFill>
            <a:prstDash val="solid"/>
          </a:ln>
        </p:spPr>
      </p:sp>
      <p:sp>
        <p:nvSpPr>
          <p:cNvPr id="26" name="traj-num-4">
            <a:extLst xmlns:a="http://schemas.openxmlformats.org/drawingml/2006/main">
              <a:ext uri="{FF2B5EF4-FFF2-40B4-BE49-F238E27FC236}">
                <a16:creationId xmlns:a16="http://schemas.microsoft.com/office/drawing/2014/main" id="{C4765C06-7F20-4F59-9E75-7DD82A89E0CE}"/>
              </a:ext>
            </a:extLst>
          </p:cNvPr>
          <p:cNvSpPr>
            <a:spLocks xmlns:a="http://schemas.openxmlformats.org/drawingml/2006/main" noGrp="1"/>
          </p:cNvSpPr>
          <p:nvPr/>
        </p:nvSpPr>
        <p:spPr>
          <a:xfrm xmlns:a="http://schemas.openxmlformats.org/drawingml/2006/main">
            <a:off x="1000125" y="4343400"/>
            <a:ext cx="342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FFFFFF"/>
                </a:solidFill>
              </a:defRPr>
            </a:pPr>
            <a:r>
              <a:rPr sz="1050" b="1">
                <a:solidFill>
                  <a:srgbClr val="FFFFFF"/>
                </a:solidFill>
              </a:rPr>
              <a:t>5</a:t>
            </a:r>
          </a:p>
        </p:txBody>
      </p:sp>
      <p:sp>
        <p:nvSpPr>
          <p:cNvPr id="27" name="traj-tool-4">
            <a:extLst xmlns:a="http://schemas.openxmlformats.org/drawingml/2006/main">
              <a:ext uri="{FF2B5EF4-FFF2-40B4-BE49-F238E27FC236}">
                <a16:creationId xmlns:a16="http://schemas.microsoft.com/office/drawing/2014/main" id="{B9E50E5D-790F-4F28-AED0-E58523FE2D14}"/>
              </a:ext>
            </a:extLst>
          </p:cNvPr>
          <p:cNvSpPr>
            <a:spLocks xmlns:a="http://schemas.openxmlformats.org/drawingml/2006/main" noGrp="1"/>
          </p:cNvSpPr>
          <p:nvPr/>
        </p:nvSpPr>
        <p:spPr>
          <a:xfrm xmlns:a="http://schemas.openxmlformats.org/drawingml/2006/main">
            <a:off x="1666875" y="42672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get_refund_policy</a:t>
            </a:r>
          </a:p>
        </p:txBody>
      </p:sp>
      <p:sp>
        <p:nvSpPr>
          <p:cNvPr id="28" name="traj-obs-4">
            <a:extLst xmlns:a="http://schemas.openxmlformats.org/drawingml/2006/main">
              <a:ext uri="{FF2B5EF4-FFF2-40B4-BE49-F238E27FC236}">
                <a16:creationId xmlns:a16="http://schemas.microsoft.com/office/drawing/2014/main" id="{7A72579A-346E-429D-A0DE-3D99F44ED415}"/>
              </a:ext>
            </a:extLst>
          </p:cNvPr>
          <p:cNvSpPr>
            <a:spLocks xmlns:a="http://schemas.openxmlformats.org/drawingml/2006/main" noGrp="1"/>
          </p:cNvSpPr>
          <p:nvPr/>
        </p:nvSpPr>
        <p:spPr>
          <a:xfrm xmlns:a="http://schemas.openxmlformats.org/drawingml/2006/main">
            <a:off x="4333875" y="4267200"/>
            <a:ext cx="647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900">
                <a:solidFill>
                  <a:srgbClr val="64747B"/>
                </a:solidFill>
              </a:defRPr>
            </a:pPr>
            <a:r>
              <a:rPr sz="900">
                <a:solidFill>
                  <a:srgbClr val="64747B"/>
                </a:solidFill>
              </a:rPr>
              <a:t>{"arrival_window":"3-5 business days","currency":"CNY","eligible":true,"max_refund":349…</a:t>
            </a:r>
          </a:p>
        </p:txBody>
      </p:sp>
      <p:sp>
        <p:nvSpPr>
          <p:cNvPr id="29" name="traj-dot-5">
            <a:extLst xmlns:a="http://schemas.openxmlformats.org/drawingml/2006/main">
              <a:ext uri="{FF2B5EF4-FFF2-40B4-BE49-F238E27FC236}">
                <a16:creationId xmlns:a16="http://schemas.microsoft.com/office/drawing/2014/main" id="{EEA328EE-3BB4-426D-84B9-F18D7FDCF075}"/>
              </a:ext>
            </a:extLst>
          </p:cNvPr>
          <p:cNvSpPr>
            <a:spLocks xmlns:a="http://schemas.openxmlformats.org/drawingml/2006/main" noGrp="1"/>
          </p:cNvSpPr>
          <p:nvPr/>
        </p:nvSpPr>
        <p:spPr>
          <a:xfrm xmlns:a="http://schemas.openxmlformats.org/drawingml/2006/main">
            <a:off x="1000125" y="4810125"/>
            <a:ext cx="342900" cy="342900"/>
          </a:xfrm>
          <a:prstGeom xmlns:a="http://schemas.openxmlformats.org/drawingml/2006/main" prst="roundRect">
            <a:avLst>
              <a:gd name="adj" fmla="val 50000"/>
            </a:avLst>
          </a:prstGeom>
          <a:solidFill xmlns:a="http://schemas.openxmlformats.org/drawingml/2006/main">
            <a:srgbClr val="18A6A6"/>
          </a:solidFill>
          <a:ln xmlns:a="http://schemas.openxmlformats.org/drawingml/2006/main" w="0">
            <a:solidFill>
              <a:srgbClr val="18A6A6"/>
            </a:solidFill>
            <a:prstDash val="solid"/>
          </a:ln>
        </p:spPr>
      </p:sp>
      <p:sp>
        <p:nvSpPr>
          <p:cNvPr id="30" name="traj-num-5">
            <a:extLst xmlns:a="http://schemas.openxmlformats.org/drawingml/2006/main">
              <a:ext uri="{FF2B5EF4-FFF2-40B4-BE49-F238E27FC236}">
                <a16:creationId xmlns:a16="http://schemas.microsoft.com/office/drawing/2014/main" id="{84EAC05A-0C6B-4A6A-9507-B30D18EB818F}"/>
              </a:ext>
            </a:extLst>
          </p:cNvPr>
          <p:cNvSpPr>
            <a:spLocks xmlns:a="http://schemas.openxmlformats.org/drawingml/2006/main" noGrp="1"/>
          </p:cNvSpPr>
          <p:nvPr/>
        </p:nvSpPr>
        <p:spPr>
          <a:xfrm xmlns:a="http://schemas.openxmlformats.org/drawingml/2006/main">
            <a:off x="1000125" y="4876800"/>
            <a:ext cx="342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FFFFFF"/>
                </a:solidFill>
              </a:defRPr>
            </a:pPr>
            <a:r>
              <a:rPr sz="1050" b="1">
                <a:solidFill>
                  <a:srgbClr val="FFFFFF"/>
                </a:solidFill>
              </a:rPr>
              <a:t>6</a:t>
            </a:r>
          </a:p>
        </p:txBody>
      </p:sp>
      <p:sp>
        <p:nvSpPr>
          <p:cNvPr id="31" name="traj-tool-5">
            <a:extLst xmlns:a="http://schemas.openxmlformats.org/drawingml/2006/main">
              <a:ext uri="{FF2B5EF4-FFF2-40B4-BE49-F238E27FC236}">
                <a16:creationId xmlns:a16="http://schemas.microsoft.com/office/drawing/2014/main" id="{BBEBA652-4376-4618-A8FC-2BEB39AE1EE4}"/>
              </a:ext>
            </a:extLst>
          </p:cNvPr>
          <p:cNvSpPr>
            <a:spLocks xmlns:a="http://schemas.openxmlformats.org/drawingml/2006/main" noGrp="1"/>
          </p:cNvSpPr>
          <p:nvPr/>
        </p:nvSpPr>
        <p:spPr>
          <a:xfrm xmlns:a="http://schemas.openxmlformats.org/drawingml/2006/main">
            <a:off x="1666875" y="4800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request_confirmation</a:t>
            </a:r>
          </a:p>
        </p:txBody>
      </p:sp>
      <p:sp>
        <p:nvSpPr>
          <p:cNvPr id="32" name="traj-obs-5">
            <a:extLst xmlns:a="http://schemas.openxmlformats.org/drawingml/2006/main">
              <a:ext uri="{FF2B5EF4-FFF2-40B4-BE49-F238E27FC236}">
                <a16:creationId xmlns:a16="http://schemas.microsoft.com/office/drawing/2014/main" id="{DFC02D8F-5BAE-44A2-815E-583AF66889B5}"/>
              </a:ext>
            </a:extLst>
          </p:cNvPr>
          <p:cNvSpPr>
            <a:spLocks xmlns:a="http://schemas.openxmlformats.org/drawingml/2006/main" noGrp="1"/>
          </p:cNvSpPr>
          <p:nvPr/>
        </p:nvSpPr>
        <p:spPr>
          <a:xfrm xmlns:a="http://schemas.openxmlformats.org/drawingml/2006/main">
            <a:off x="4333875" y="4800600"/>
            <a:ext cx="647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900">
                <a:solidFill>
                  <a:srgbClr val="64747B"/>
                </a:solidFill>
              </a:defRPr>
            </a:pPr>
            <a:r>
              <a:rPr sz="900">
                <a:solidFill>
                  <a:srgbClr val="64747B"/>
                </a:solidFill>
              </a:rPr>
              <a:t>{"confirmed":true,"user_message":"I confirm refunding only CHG-7409 for CNY 349.00."}</a:t>
            </a:r>
          </a:p>
        </p:txBody>
      </p:sp>
      <p:sp>
        <p:nvSpPr>
          <p:cNvPr id="33" name="traj-dot-6">
            <a:extLst xmlns:a="http://schemas.openxmlformats.org/drawingml/2006/main">
              <a:ext uri="{FF2B5EF4-FFF2-40B4-BE49-F238E27FC236}">
                <a16:creationId xmlns:a16="http://schemas.microsoft.com/office/drawing/2014/main" id="{E60DA736-1009-45CF-8DB6-FC8964FB5EA1}"/>
              </a:ext>
            </a:extLst>
          </p:cNvPr>
          <p:cNvSpPr>
            <a:spLocks xmlns:a="http://schemas.openxmlformats.org/drawingml/2006/main" noGrp="1"/>
          </p:cNvSpPr>
          <p:nvPr/>
        </p:nvSpPr>
        <p:spPr>
          <a:xfrm xmlns:a="http://schemas.openxmlformats.org/drawingml/2006/main">
            <a:off x="1000125" y="5343525"/>
            <a:ext cx="342900" cy="342900"/>
          </a:xfrm>
          <a:prstGeom xmlns:a="http://schemas.openxmlformats.org/drawingml/2006/main" prst="roundRect">
            <a:avLst>
              <a:gd name="adj" fmla="val 50000"/>
            </a:avLst>
          </a:prstGeom>
          <a:solidFill xmlns:a="http://schemas.openxmlformats.org/drawingml/2006/main">
            <a:srgbClr val="18A6A6"/>
          </a:solidFill>
          <a:ln xmlns:a="http://schemas.openxmlformats.org/drawingml/2006/main" w="0">
            <a:solidFill>
              <a:srgbClr val="18A6A6"/>
            </a:solidFill>
            <a:prstDash val="solid"/>
          </a:ln>
        </p:spPr>
      </p:sp>
      <p:sp>
        <p:nvSpPr>
          <p:cNvPr id="34" name="traj-num-6">
            <a:extLst xmlns:a="http://schemas.openxmlformats.org/drawingml/2006/main">
              <a:ext uri="{FF2B5EF4-FFF2-40B4-BE49-F238E27FC236}">
                <a16:creationId xmlns:a16="http://schemas.microsoft.com/office/drawing/2014/main" id="{7F162EE6-3DBE-4591-B6A5-2BBDBB8C10EB}"/>
              </a:ext>
            </a:extLst>
          </p:cNvPr>
          <p:cNvSpPr>
            <a:spLocks xmlns:a="http://schemas.openxmlformats.org/drawingml/2006/main" noGrp="1"/>
          </p:cNvSpPr>
          <p:nvPr/>
        </p:nvSpPr>
        <p:spPr>
          <a:xfrm xmlns:a="http://schemas.openxmlformats.org/drawingml/2006/main">
            <a:off x="1000125" y="5410200"/>
            <a:ext cx="342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FFFFFF"/>
                </a:solidFill>
              </a:defRPr>
            </a:pPr>
            <a:r>
              <a:rPr sz="1050" b="1">
                <a:solidFill>
                  <a:srgbClr val="FFFFFF"/>
                </a:solidFill>
              </a:rPr>
              <a:t>7</a:t>
            </a:r>
          </a:p>
        </p:txBody>
      </p:sp>
      <p:sp>
        <p:nvSpPr>
          <p:cNvPr id="35" name="traj-tool-6">
            <a:extLst xmlns:a="http://schemas.openxmlformats.org/drawingml/2006/main">
              <a:ext uri="{FF2B5EF4-FFF2-40B4-BE49-F238E27FC236}">
                <a16:creationId xmlns:a16="http://schemas.microsoft.com/office/drawing/2014/main" id="{C8DC91DE-5528-4103-A410-7C694C2EF5DF}"/>
              </a:ext>
            </a:extLst>
          </p:cNvPr>
          <p:cNvSpPr>
            <a:spLocks xmlns:a="http://schemas.openxmlformats.org/drawingml/2006/main" noGrp="1"/>
          </p:cNvSpPr>
          <p:nvPr/>
        </p:nvSpPr>
        <p:spPr>
          <a:xfrm xmlns:a="http://schemas.openxmlformats.org/drawingml/2006/main">
            <a:off x="1666875" y="53340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create_refund</a:t>
            </a:r>
          </a:p>
        </p:txBody>
      </p:sp>
      <p:sp>
        <p:nvSpPr>
          <p:cNvPr id="36" name="traj-obs-6">
            <a:extLst xmlns:a="http://schemas.openxmlformats.org/drawingml/2006/main">
              <a:ext uri="{FF2B5EF4-FFF2-40B4-BE49-F238E27FC236}">
                <a16:creationId xmlns:a16="http://schemas.microsoft.com/office/drawing/2014/main" id="{3E1A000E-6095-4918-ADCB-F828E8FEF354}"/>
              </a:ext>
            </a:extLst>
          </p:cNvPr>
          <p:cNvSpPr>
            <a:spLocks xmlns:a="http://schemas.openxmlformats.org/drawingml/2006/main" noGrp="1"/>
          </p:cNvSpPr>
          <p:nvPr/>
        </p:nvSpPr>
        <p:spPr>
          <a:xfrm xmlns:a="http://schemas.openxmlformats.org/drawingml/2006/main">
            <a:off x="4333875" y="5334000"/>
            <a:ext cx="647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900">
                <a:solidFill>
                  <a:srgbClr val="64747B"/>
                </a:solidFill>
              </a:defRPr>
            </a:pPr>
            <a:r>
              <a:rPr sz="900">
                <a:solidFill>
                  <a:srgbClr val="64747B"/>
                </a:solidFill>
              </a:rPr>
              <a:t>{"amount":349,"arrival_window":"3-5 business days","currency":"CNY","refund_id":"RF-275…</a:t>
            </a:r>
          </a:p>
        </p:txBody>
      </p:sp>
      <p:sp>
        <p:nvSpPr>
          <p:cNvPr id="37" name="traj-outcome-bg">
            <a:extLst xmlns:a="http://schemas.openxmlformats.org/drawingml/2006/main">
              <a:ext uri="{FF2B5EF4-FFF2-40B4-BE49-F238E27FC236}">
                <a16:creationId xmlns:a16="http://schemas.microsoft.com/office/drawing/2014/main" id="{FEA44C8B-0039-4DAB-A98F-5FB971BCAC97}"/>
              </a:ext>
            </a:extLst>
          </p:cNvPr>
          <p:cNvSpPr>
            <a:spLocks xmlns:a="http://schemas.openxmlformats.org/drawingml/2006/main" noGrp="1"/>
          </p:cNvSpPr>
          <p:nvPr/>
        </p:nvSpPr>
        <p:spPr>
          <a:xfrm xmlns:a="http://schemas.openxmlformats.org/drawingml/2006/main">
            <a:off x="8191500" y="5753100"/>
            <a:ext cx="2381250" cy="2857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38" name="traj-outcome-text">
            <a:extLst xmlns:a="http://schemas.openxmlformats.org/drawingml/2006/main">
              <a:ext uri="{FF2B5EF4-FFF2-40B4-BE49-F238E27FC236}">
                <a16:creationId xmlns:a16="http://schemas.microsoft.com/office/drawing/2014/main" id="{157DC972-5915-4213-A82A-EEC93A6068EE}"/>
              </a:ext>
            </a:extLst>
          </p:cNvPr>
          <p:cNvSpPr>
            <a:spLocks xmlns:a="http://schemas.openxmlformats.org/drawingml/2006/main" noGrp="1"/>
          </p:cNvSpPr>
          <p:nvPr/>
        </p:nvSpPr>
        <p:spPr>
          <a:xfrm xmlns:a="http://schemas.openxmlformats.org/drawingml/2006/main">
            <a:off x="8286750" y="5800725"/>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EXACT OUTCOME PASS</a:t>
            </a:r>
          </a:p>
        </p:txBody>
      </p:sp>
    </p:spTree>
    <p:extLst>
      <p:ext uri="{BB962C8B-B14F-4D97-AF65-F5344CB8AC3E}">
        <p14:creationId xmlns:p14="http://schemas.microsoft.com/office/powerpoint/2010/main" val="1642034446"/>
      </p:ext>
    </p:extLst>
  </p:cSld>
</p:sld>
</file>

<file path=ppt/slides/slide12.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14" name="rail-12">
            <a:extLst xmlns:a="http://schemas.openxmlformats.org/drawingml/2006/main">
              <a:ext uri="{FF2B5EF4-FFF2-40B4-BE49-F238E27FC236}">
                <a16:creationId xmlns:a16="http://schemas.microsoft.com/office/drawing/2014/main" id="{40E1ECDB-976D-4FEF-9258-9EE91A434C9F}"/>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12">
            <a:extLst xmlns:a="http://schemas.openxmlformats.org/drawingml/2006/main">
              <a:ext uri="{FF2B5EF4-FFF2-40B4-BE49-F238E27FC236}">
                <a16:creationId xmlns:a16="http://schemas.microsoft.com/office/drawing/2014/main" id="{DF6B5F3C-27CB-47C9-9C13-1F2AC4B67CDD}"/>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12">
            <a:extLst xmlns:a="http://schemas.openxmlformats.org/drawingml/2006/main">
              <a:ext uri="{FF2B5EF4-FFF2-40B4-BE49-F238E27FC236}">
                <a16:creationId xmlns:a16="http://schemas.microsoft.com/office/drawing/2014/main" id="{3D5B3AFF-C34E-480A-9B74-DCC8B8F2F1E5}"/>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BENCHMARK BOUNDARY</a:t>
            </a:r>
          </a:p>
        </p:txBody>
      </p:sp>
      <p:sp>
        <p:nvSpPr>
          <p:cNvPr id="4" name="title-12">
            <a:extLst xmlns:a="http://schemas.openxmlformats.org/drawingml/2006/main">
              <a:ext uri="{FF2B5EF4-FFF2-40B4-BE49-F238E27FC236}">
                <a16:creationId xmlns:a16="http://schemas.microsoft.com/office/drawing/2014/main" id="{E6200F65-847E-4735-98B1-83202E043548}"/>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官方 benchmark 没跑，就不应该出现一个分数</a:t>
            </a:r>
          </a:p>
        </p:txBody>
      </p:sp>
      <p:sp>
        <p:nvSpPr>
          <p:cNvPr id="5" name="subtitle-12">
            <a:extLst xmlns:a="http://schemas.openxmlformats.org/drawingml/2006/main">
              <a:ext uri="{FF2B5EF4-FFF2-40B4-BE49-F238E27FC236}">
                <a16:creationId xmlns:a16="http://schemas.microsoft.com/office/drawing/2014/main" id="{FBD871F1-3D67-49D7-9FEE-CA5FCA068FBF}"/>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本次验证的是自建 stateful curriculum；BFCL/TAU-2 代码路径保留，但状态必须明确写成 NOT RUN。</a:t>
            </a:r>
          </a:p>
        </p:txBody>
      </p:sp>
      <p:sp>
        <p:nvSpPr>
          <p:cNvPr id="6" name="">
            <a:extLst xmlns:a="http://schemas.openxmlformats.org/drawingml/2006/main">
              <a:ext uri="{FF2B5EF4-FFF2-40B4-BE49-F238E27FC236}">
                <a16:creationId xmlns:a16="http://schemas.microsoft.com/office/drawing/2014/main" id="{541F781B-4C19-42F6-BF4F-63A16705A05B}"/>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12">
            <a:extLst xmlns:a="http://schemas.openxmlformats.org/drawingml/2006/main">
              <a:ext uri="{FF2B5EF4-FFF2-40B4-BE49-F238E27FC236}">
                <a16:creationId xmlns:a16="http://schemas.microsoft.com/office/drawing/2014/main" id="{DA36DC4C-F121-420B-A008-379F3DFB6A0B}"/>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12</a:t>
            </a:r>
          </a:p>
        </p:txBody>
      </p:sp>
      <p:sp>
        <p:nvSpPr>
          <p:cNvPr id="8" name="benchmark-status">
            <a:extLst xmlns:a="http://schemas.openxmlformats.org/drawingml/2006/main">
              <a:ext uri="{FF2B5EF4-FFF2-40B4-BE49-F238E27FC236}">
                <a16:creationId xmlns:a16="http://schemas.microsoft.com/office/drawing/2014/main" id="{A1A32519-EF0C-4737-96D5-6EF37590612D}"/>
              </a:ext>
            </a:extLst>
          </p:cNvPr>
          <p:cNvSpPr>
            <a:spLocks xmlns:a="http://schemas.openxmlformats.org/drawingml/2006/main" noGrp="1"/>
          </p:cNvSpPr>
          <p:nvPr/>
        </p:nvSpPr>
        <p:spPr>
          <a:xfrm xmlns:a="http://schemas.openxmlformats.org/drawingml/2006/main">
            <a:off x="714375" y="2190750"/>
            <a:ext cx="4476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5850" b="1">
                <a:solidFill>
                  <a:srgbClr val="C56D4A"/>
                </a:solidFill>
              </a:defRPr>
            </a:pPr>
            <a:r>
              <a:rPr sz="5850" b="1">
                <a:solidFill>
                  <a:srgbClr val="C56D4A"/>
                </a:solidFill>
              </a:rPr>
              <a:t>NOT RUN</a:t>
            </a:r>
          </a:p>
        </p:txBody>
      </p:sp>
      <p:sp>
        <p:nvSpPr>
          <p:cNvPr id="9" name="benchmark-label">
            <a:extLst xmlns:a="http://schemas.openxmlformats.org/drawingml/2006/main">
              <a:ext uri="{FF2B5EF4-FFF2-40B4-BE49-F238E27FC236}">
                <a16:creationId xmlns:a16="http://schemas.microsoft.com/office/drawing/2014/main" id="{18C88A72-C982-4C98-8CB7-F116F725B4E4}"/>
              </a:ext>
            </a:extLst>
          </p:cNvPr>
          <p:cNvSpPr>
            <a:spLocks xmlns:a="http://schemas.openxmlformats.org/drawingml/2006/main" noGrp="1"/>
          </p:cNvSpPr>
          <p:nvPr/>
        </p:nvSpPr>
        <p:spPr>
          <a:xfrm xmlns:a="http://schemas.openxmlformats.org/drawingml/2006/main">
            <a:off x="904875" y="3762375"/>
            <a:ext cx="4095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071A2B"/>
                </a:solidFill>
              </a:defRPr>
            </a:pPr>
            <a:r>
              <a:rPr sz="1350" b="1">
                <a:solidFill>
                  <a:srgbClr val="071A2B"/>
                </a:solidFill>
              </a:rPr>
              <a:t>BFCL-V4 MULTI-TURN</a:t>
            </a:r>
          </a:p>
        </p:txBody>
      </p:sp>
      <p:sp>
        <p:nvSpPr>
          <p:cNvPr id="10" name="">
            <a:extLst xmlns:a="http://schemas.openxmlformats.org/drawingml/2006/main">
              <a:ext uri="{FF2B5EF4-FFF2-40B4-BE49-F238E27FC236}">
                <a16:creationId xmlns:a16="http://schemas.microsoft.com/office/drawing/2014/main" id="{5011D147-C3C7-4452-B1B2-225D3995A1AC}"/>
              </a:ext>
            </a:extLst>
          </p:cNvPr>
          <p:cNvSpPr>
            <a:spLocks xmlns:a="http://schemas.openxmlformats.org/drawingml/2006/main" noGrp="1"/>
          </p:cNvSpPr>
          <p:nvPr/>
        </p:nvSpPr>
        <p:spPr>
          <a:xfrm xmlns:a="http://schemas.openxmlformats.org/drawingml/2006/main">
            <a:off x="6096000" y="2190750"/>
            <a:ext cx="4476750" cy="0"/>
          </a:xfrm>
          <a:prstGeom xmlns:a="http://schemas.openxmlformats.org/drawingml/2006/main" prst="line">
            <a:avLst/>
          </a:prstGeom>
          <a:noFill xmlns:a="http://schemas.openxmlformats.org/drawingml/2006/main"/>
          <a:ln xmlns:a="http://schemas.openxmlformats.org/drawingml/2006/main" w="38100">
            <a:solidFill>
              <a:srgbClr val="18A6A6"/>
            </a:solidFill>
            <a:prstDash val="solid"/>
          </a:ln>
        </p:spPr>
      </p:sp>
      <p:sp>
        <p:nvSpPr>
          <p:cNvPr id="11" name="benchmark-ready">
            <a:extLst xmlns:a="http://schemas.openxmlformats.org/drawingml/2006/main">
              <a:ext uri="{FF2B5EF4-FFF2-40B4-BE49-F238E27FC236}">
                <a16:creationId xmlns:a16="http://schemas.microsoft.com/office/drawing/2014/main" id="{81039E90-7802-4199-86D8-1185C510BEFF}"/>
              </a:ext>
            </a:extLst>
          </p:cNvPr>
          <p:cNvSpPr>
            <a:spLocks xmlns:a="http://schemas.openxmlformats.org/drawingml/2006/main" noGrp="1"/>
          </p:cNvSpPr>
          <p:nvPr/>
        </p:nvSpPr>
        <p:spPr>
          <a:xfrm xmlns:a="http://schemas.openxmlformats.org/drawingml/2006/main">
            <a:off x="6096000" y="2457450"/>
            <a:ext cx="447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025" b="1">
                <a:solidFill>
                  <a:srgbClr val="071A2B"/>
                </a:solidFill>
              </a:defRPr>
            </a:pPr>
            <a:r>
              <a:rPr sz="2025" b="1">
                <a:solidFill>
                  <a:srgbClr val="071A2B"/>
                </a:solidFill>
              </a:rPr>
              <a:t>代码已经具备</a:t>
            </a:r>
          </a:p>
        </p:txBody>
      </p:sp>
      <p:sp>
        <p:nvSpPr>
          <p:cNvPr id="12" name="benchmark-list">
            <a:extLst xmlns:a="http://schemas.openxmlformats.org/drawingml/2006/main">
              <a:ext uri="{FF2B5EF4-FFF2-40B4-BE49-F238E27FC236}">
                <a16:creationId xmlns:a16="http://schemas.microsoft.com/office/drawing/2014/main" id="{EA422855-D1EB-48FE-9A41-D03927A18D79}"/>
              </a:ext>
            </a:extLst>
          </p:cNvPr>
          <p:cNvSpPr>
            <a:spLocks xmlns:a="http://schemas.openxmlformats.org/drawingml/2006/main" noGrp="1"/>
          </p:cNvSpPr>
          <p:nvPr/>
        </p:nvSpPr>
        <p:spPr>
          <a:xfrm xmlns:a="http://schemas.openxmlformats.org/drawingml/2006/main">
            <a:off x="6096000" y="3190875"/>
            <a:ext cx="4524375"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nSpc>
                <a:spcPct val="125000"/>
              </a:lnSpc>
              <a:buNone/>
              <a:defRPr sz="1500">
                <a:solidFill>
                  <a:srgbClr val="64747B"/>
                </a:solidFill>
              </a:defRPr>
            </a:pPr>
            <a:r>
              <a:rPr sz="1500">
                <a:solidFill>
                  <a:srgbClr val="64747B"/>
                </a:solidFill>
              </a:rPr>
              <a:t>• 固定 ID 的 base / adapter 对照</a:t>
            </a:r>
          </a:p>
          <a:p xmlns:a="http://schemas.openxmlformats.org/drawingml/2006/main">
            <a:pPr>
              <a:lnSpc>
                <a:spcPct val="125000"/>
              </a:lnSpc>
              <a:buNone/>
              <a:defRPr sz="1500">
                <a:solidFill>
                  <a:srgbClr val="64747B"/>
                </a:solidFill>
              </a:defRPr>
            </a:pPr>
            <a:r>
              <a:rPr sz="1500">
                <a:solidFill>
                  <a:srgbClr val="64747B"/>
                </a:solidFill>
              </a:rPr>
              <a:t>• 官方 multi-turn 结果与评分目录隔离</a:t>
            </a:r>
          </a:p>
          <a:p xmlns:a="http://schemas.openxmlformats.org/drawingml/2006/main">
            <a:pPr>
              <a:lnSpc>
                <a:spcPct val="125000"/>
              </a:lnSpc>
              <a:buNone/>
              <a:defRPr sz="1500">
                <a:solidFill>
                  <a:srgbClr val="64747B"/>
                </a:solidFill>
              </a:defRPr>
            </a:pPr>
            <a:r>
              <a:rPr sz="1500">
                <a:solidFill>
                  <a:srgbClr val="64747B"/>
                </a:solidFill>
              </a:rPr>
              <a:t>• smoke 与 4×200 paper profile 分开</a:t>
            </a:r>
          </a:p>
          <a:p xmlns:a="http://schemas.openxmlformats.org/drawingml/2006/main">
            <a:pPr>
              <a:lnSpc>
                <a:spcPct val="125000"/>
              </a:lnSpc>
              <a:buNone/>
              <a:defRPr sz="1500">
                <a:solidFill>
                  <a:srgbClr val="64747B"/>
                </a:solidFill>
              </a:defRPr>
            </a:pPr>
            <a:r>
              <a:rPr sz="1500">
                <a:solidFill>
                  <a:srgbClr val="64747B"/>
                </a:solidFill>
              </a:rPr>
              <a:t>• 缺 manifest 时报告和 PPT 不生成分数</a:t>
            </a:r>
          </a:p>
        </p:txBody>
      </p:sp>
      <p:sp>
        <p:nvSpPr>
          <p:cNvPr id="13" name="benchmark-boundary">
            <a:extLst xmlns:a="http://schemas.openxmlformats.org/drawingml/2006/main">
              <a:ext uri="{FF2B5EF4-FFF2-40B4-BE49-F238E27FC236}">
                <a16:creationId xmlns:a16="http://schemas.microsoft.com/office/drawing/2014/main" id="{78FE92EE-B67E-484A-B5AA-00E3986891D8}"/>
              </a:ext>
            </a:extLst>
          </p:cNvPr>
          <p:cNvSpPr>
            <a:spLocks xmlns:a="http://schemas.openxmlformats.org/drawingml/2006/main" noGrp="1"/>
          </p:cNvSpPr>
          <p:nvPr/>
        </p:nvSpPr>
        <p:spPr>
          <a:xfrm xmlns:a="http://schemas.openxmlformats.org/drawingml/2006/main">
            <a:off x="1666875" y="5476875"/>
            <a:ext cx="885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725" b="1">
                <a:solidFill>
                  <a:srgbClr val="0B797B"/>
                </a:solidFill>
              </a:defRPr>
            </a:pPr>
            <a:r>
              <a:rPr sz="1725" b="1">
                <a:solidFill>
                  <a:srgbClr val="0B797B"/>
                </a:solidFill>
              </a:rPr>
              <a:t>能写：curriculum micro-run PASS    不能写：论文 benchmark 已复现</a:t>
            </a:r>
          </a:p>
        </p:txBody>
      </p:sp>
    </p:spTree>
    <p:extLst>
      <p:ext uri="{BB962C8B-B14F-4D97-AF65-F5344CB8AC3E}">
        <p14:creationId xmlns:p14="http://schemas.microsoft.com/office/powerpoint/2010/main" val="221132816"/>
      </p:ext>
    </p:extLst>
  </p:cSld>
</p:sld>
</file>

<file path=ppt/slides/slide13.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42" name="rail-13">
            <a:extLst xmlns:a="http://schemas.openxmlformats.org/drawingml/2006/main">
              <a:ext uri="{FF2B5EF4-FFF2-40B4-BE49-F238E27FC236}">
                <a16:creationId xmlns:a16="http://schemas.microsoft.com/office/drawing/2014/main" id="{74AD711B-9A8F-4D38-ABAC-6CB042B233CC}"/>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13">
            <a:extLst xmlns:a="http://schemas.openxmlformats.org/drawingml/2006/main">
              <a:ext uri="{FF2B5EF4-FFF2-40B4-BE49-F238E27FC236}">
                <a16:creationId xmlns:a16="http://schemas.microsoft.com/office/drawing/2014/main" id="{1AA58F17-4A8C-467A-B5D7-AF99D858972F}"/>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13">
            <a:extLst xmlns:a="http://schemas.openxmlformats.org/drawingml/2006/main">
              <a:ext uri="{FF2B5EF4-FFF2-40B4-BE49-F238E27FC236}">
                <a16:creationId xmlns:a16="http://schemas.microsoft.com/office/drawing/2014/main" id="{B7AD629F-1748-48B7-BD39-290E4B566A34}"/>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INTEGRITY AUDIT</a:t>
            </a:r>
          </a:p>
        </p:txBody>
      </p:sp>
      <p:sp>
        <p:nvSpPr>
          <p:cNvPr id="4" name="title-13">
            <a:extLst xmlns:a="http://schemas.openxmlformats.org/drawingml/2006/main">
              <a:ext uri="{FF2B5EF4-FFF2-40B4-BE49-F238E27FC236}">
                <a16:creationId xmlns:a16="http://schemas.microsoft.com/office/drawing/2014/main" id="{991EAD79-9D77-45D1-8FFE-8D511C106521}"/>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怎样证明不是“看起来训练了”？</a:t>
            </a:r>
          </a:p>
        </p:txBody>
      </p:sp>
      <p:sp>
        <p:nvSpPr>
          <p:cNvPr id="5" name="subtitle-13">
            <a:extLst xmlns:a="http://schemas.openxmlformats.org/drawingml/2006/main">
              <a:ext uri="{FF2B5EF4-FFF2-40B4-BE49-F238E27FC236}">
                <a16:creationId xmlns:a16="http://schemas.microsoft.com/office/drawing/2014/main" id="{92964F60-FE9E-428F-8A5E-8BD6991EC280}"/>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把一次 ML run 拆成可证伪的 gate：任何关键证据缺失，最终报告和 PPT 都拒绝生成。</a:t>
            </a:r>
          </a:p>
        </p:txBody>
      </p:sp>
      <p:sp>
        <p:nvSpPr>
          <p:cNvPr id="6" name="">
            <a:extLst xmlns:a="http://schemas.openxmlformats.org/drawingml/2006/main">
              <a:ext uri="{FF2B5EF4-FFF2-40B4-BE49-F238E27FC236}">
                <a16:creationId xmlns:a16="http://schemas.microsoft.com/office/drawing/2014/main" id="{5C91297E-812D-4576-A33D-4CC60253FC5C}"/>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13">
            <a:extLst xmlns:a="http://schemas.openxmlformats.org/drawingml/2006/main">
              <a:ext uri="{FF2B5EF4-FFF2-40B4-BE49-F238E27FC236}">
                <a16:creationId xmlns:a16="http://schemas.microsoft.com/office/drawing/2014/main" id="{80A6C82D-2BD5-4131-ACB6-61A20CF6C415}"/>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13</a:t>
            </a:r>
          </a:p>
        </p:txBody>
      </p:sp>
      <p:sp>
        <p:nvSpPr>
          <p:cNvPr id="8" name="audit-bg-0">
            <a:extLst xmlns:a="http://schemas.openxmlformats.org/drawingml/2006/main">
              <a:ext uri="{FF2B5EF4-FFF2-40B4-BE49-F238E27FC236}">
                <a16:creationId xmlns:a16="http://schemas.microsoft.com/office/drawing/2014/main" id="{3E5DDF54-453E-48D1-8DF1-0F4444D16513}"/>
              </a:ext>
            </a:extLst>
          </p:cNvPr>
          <p:cNvSpPr>
            <a:spLocks xmlns:a="http://schemas.openxmlformats.org/drawingml/2006/main" noGrp="1"/>
          </p:cNvSpPr>
          <p:nvPr/>
        </p:nvSpPr>
        <p:spPr>
          <a:xfrm xmlns:a="http://schemas.openxmlformats.org/drawingml/2006/main">
            <a:off x="809625" y="2143125"/>
            <a:ext cx="4953000" cy="685800"/>
          </a:xfrm>
          <a:prstGeom xmlns:a="http://schemas.openxmlformats.org/drawingml/2006/main" prst="roundRect">
            <a:avLst>
              <a:gd name="adj" fmla="val 12500"/>
            </a:avLst>
          </a:prstGeom>
          <a:solidFill xmlns:a="http://schemas.openxmlformats.org/drawingml/2006/main">
            <a:srgbClr val="E5F5F3"/>
          </a:solidFill>
          <a:ln xmlns:a="http://schemas.openxmlformats.org/drawingml/2006/main" w="9525">
            <a:solidFill>
              <a:srgbClr val="18A6A6"/>
            </a:solidFill>
            <a:prstDash val="solid"/>
          </a:ln>
        </p:spPr>
      </p:sp>
      <p:sp>
        <p:nvSpPr>
          <p:cNvPr id="9" name="audit-pill-0-bg">
            <a:extLst xmlns:a="http://schemas.openxmlformats.org/drawingml/2006/main">
              <a:ext uri="{FF2B5EF4-FFF2-40B4-BE49-F238E27FC236}">
                <a16:creationId xmlns:a16="http://schemas.microsoft.com/office/drawing/2014/main" id="{6123178F-DE69-4214-841A-132702BAEFD1}"/>
              </a:ext>
            </a:extLst>
          </p:cNvPr>
          <p:cNvSpPr>
            <a:spLocks xmlns:a="http://schemas.openxmlformats.org/drawingml/2006/main" noGrp="1"/>
          </p:cNvSpPr>
          <p:nvPr/>
        </p:nvSpPr>
        <p:spPr>
          <a:xfrm xmlns:a="http://schemas.openxmlformats.org/drawingml/2006/main">
            <a:off x="981075" y="2333625"/>
            <a:ext cx="714375" cy="2857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10" name="audit-pill-0-text">
            <a:extLst xmlns:a="http://schemas.openxmlformats.org/drawingml/2006/main">
              <a:ext uri="{FF2B5EF4-FFF2-40B4-BE49-F238E27FC236}">
                <a16:creationId xmlns:a16="http://schemas.microsoft.com/office/drawing/2014/main" id="{A84E7B14-048F-4D91-960C-2CEFD48AE22C}"/>
              </a:ext>
            </a:extLst>
          </p:cNvPr>
          <p:cNvSpPr>
            <a:spLocks xmlns:a="http://schemas.openxmlformats.org/drawingml/2006/main" noGrp="1"/>
          </p:cNvSpPr>
          <p:nvPr/>
        </p:nvSpPr>
        <p:spPr>
          <a:xfrm xmlns:a="http://schemas.openxmlformats.org/drawingml/2006/main">
            <a:off x="1076325" y="23812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PASS</a:t>
            </a:r>
          </a:p>
        </p:txBody>
      </p:sp>
      <p:sp>
        <p:nvSpPr>
          <p:cNvPr id="11" name="audit-name-0">
            <a:extLst xmlns:a="http://schemas.openxmlformats.org/drawingml/2006/main">
              <a:ext uri="{FF2B5EF4-FFF2-40B4-BE49-F238E27FC236}">
                <a16:creationId xmlns:a16="http://schemas.microsoft.com/office/drawing/2014/main" id="{53739D3B-BA07-4265-99D4-6C1A7831594B}"/>
              </a:ext>
            </a:extLst>
          </p:cNvPr>
          <p:cNvSpPr>
            <a:spLocks xmlns:a="http://schemas.openxmlformats.org/drawingml/2006/main" noGrp="1"/>
          </p:cNvSpPr>
          <p:nvPr/>
        </p:nvSpPr>
        <p:spPr>
          <a:xfrm xmlns:a="http://schemas.openxmlformats.org/drawingml/2006/main">
            <a:off x="1857375" y="23050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stage1 adapter exists</a:t>
            </a:r>
          </a:p>
        </p:txBody>
      </p:sp>
      <p:sp>
        <p:nvSpPr>
          <p:cNvPr id="12" name="audit-bg-1">
            <a:extLst xmlns:a="http://schemas.openxmlformats.org/drawingml/2006/main">
              <a:ext uri="{FF2B5EF4-FFF2-40B4-BE49-F238E27FC236}">
                <a16:creationId xmlns:a16="http://schemas.microsoft.com/office/drawing/2014/main" id="{EDC770E5-A736-430D-8A22-0D2DFBF74CE4}"/>
              </a:ext>
            </a:extLst>
          </p:cNvPr>
          <p:cNvSpPr>
            <a:spLocks xmlns:a="http://schemas.openxmlformats.org/drawingml/2006/main" noGrp="1"/>
          </p:cNvSpPr>
          <p:nvPr/>
        </p:nvSpPr>
        <p:spPr>
          <a:xfrm xmlns:a="http://schemas.openxmlformats.org/drawingml/2006/main">
            <a:off x="6143625" y="2143125"/>
            <a:ext cx="4953000" cy="685800"/>
          </a:xfrm>
          <a:prstGeom xmlns:a="http://schemas.openxmlformats.org/drawingml/2006/main" prst="roundRect">
            <a:avLst>
              <a:gd name="adj" fmla="val 12500"/>
            </a:avLst>
          </a:prstGeom>
          <a:solidFill xmlns:a="http://schemas.openxmlformats.org/drawingml/2006/main">
            <a:srgbClr val="E5F5F3"/>
          </a:solidFill>
          <a:ln xmlns:a="http://schemas.openxmlformats.org/drawingml/2006/main" w="9525">
            <a:solidFill>
              <a:srgbClr val="18A6A6"/>
            </a:solidFill>
            <a:prstDash val="solid"/>
          </a:ln>
        </p:spPr>
      </p:sp>
      <p:sp>
        <p:nvSpPr>
          <p:cNvPr id="13" name="audit-pill-1-bg">
            <a:extLst xmlns:a="http://schemas.openxmlformats.org/drawingml/2006/main">
              <a:ext uri="{FF2B5EF4-FFF2-40B4-BE49-F238E27FC236}">
                <a16:creationId xmlns:a16="http://schemas.microsoft.com/office/drawing/2014/main" id="{DBE79B82-E727-475C-B82C-DB8647F1DD5F}"/>
              </a:ext>
            </a:extLst>
          </p:cNvPr>
          <p:cNvSpPr>
            <a:spLocks xmlns:a="http://schemas.openxmlformats.org/drawingml/2006/main" noGrp="1"/>
          </p:cNvSpPr>
          <p:nvPr/>
        </p:nvSpPr>
        <p:spPr>
          <a:xfrm xmlns:a="http://schemas.openxmlformats.org/drawingml/2006/main">
            <a:off x="6315075" y="2333625"/>
            <a:ext cx="714375" cy="2857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14" name="audit-pill-1-text">
            <a:extLst xmlns:a="http://schemas.openxmlformats.org/drawingml/2006/main">
              <a:ext uri="{FF2B5EF4-FFF2-40B4-BE49-F238E27FC236}">
                <a16:creationId xmlns:a16="http://schemas.microsoft.com/office/drawing/2014/main" id="{E15769A4-9EA7-403C-A245-4898DBE77DC4}"/>
              </a:ext>
            </a:extLst>
          </p:cNvPr>
          <p:cNvSpPr>
            <a:spLocks xmlns:a="http://schemas.openxmlformats.org/drawingml/2006/main" noGrp="1"/>
          </p:cNvSpPr>
          <p:nvPr/>
        </p:nvSpPr>
        <p:spPr>
          <a:xfrm xmlns:a="http://schemas.openxmlformats.org/drawingml/2006/main">
            <a:off x="6410325" y="23812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PASS</a:t>
            </a:r>
          </a:p>
        </p:txBody>
      </p:sp>
      <p:sp>
        <p:nvSpPr>
          <p:cNvPr id="15" name="audit-name-1">
            <a:extLst xmlns:a="http://schemas.openxmlformats.org/drawingml/2006/main">
              <a:ext uri="{FF2B5EF4-FFF2-40B4-BE49-F238E27FC236}">
                <a16:creationId xmlns:a16="http://schemas.microsoft.com/office/drawing/2014/main" id="{44A4706B-ED2A-4485-A861-3C3F4AAF577B}"/>
              </a:ext>
            </a:extLst>
          </p:cNvPr>
          <p:cNvSpPr>
            <a:spLocks xmlns:a="http://schemas.openxmlformats.org/drawingml/2006/main" noGrp="1"/>
          </p:cNvSpPr>
          <p:nvPr/>
        </p:nvSpPr>
        <p:spPr>
          <a:xfrm xmlns:a="http://schemas.openxmlformats.org/drawingml/2006/main">
            <a:off x="7191375" y="23050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stage2 adapter exists</a:t>
            </a:r>
          </a:p>
        </p:txBody>
      </p:sp>
      <p:sp>
        <p:nvSpPr>
          <p:cNvPr id="16" name="audit-bg-2">
            <a:extLst xmlns:a="http://schemas.openxmlformats.org/drawingml/2006/main">
              <a:ext uri="{FF2B5EF4-FFF2-40B4-BE49-F238E27FC236}">
                <a16:creationId xmlns:a16="http://schemas.microsoft.com/office/drawing/2014/main" id="{9C1010E3-E5E8-4AA2-A149-911287E9BB56}"/>
              </a:ext>
            </a:extLst>
          </p:cNvPr>
          <p:cNvSpPr>
            <a:spLocks xmlns:a="http://schemas.openxmlformats.org/drawingml/2006/main" noGrp="1"/>
          </p:cNvSpPr>
          <p:nvPr/>
        </p:nvSpPr>
        <p:spPr>
          <a:xfrm xmlns:a="http://schemas.openxmlformats.org/drawingml/2006/main">
            <a:off x="809625" y="3019425"/>
            <a:ext cx="4953000" cy="685800"/>
          </a:xfrm>
          <a:prstGeom xmlns:a="http://schemas.openxmlformats.org/drawingml/2006/main" prst="roundRect">
            <a:avLst>
              <a:gd name="adj" fmla="val 12500"/>
            </a:avLst>
          </a:prstGeom>
          <a:solidFill xmlns:a="http://schemas.openxmlformats.org/drawingml/2006/main">
            <a:srgbClr val="E5F5F3"/>
          </a:solidFill>
          <a:ln xmlns:a="http://schemas.openxmlformats.org/drawingml/2006/main" w="9525">
            <a:solidFill>
              <a:srgbClr val="18A6A6"/>
            </a:solidFill>
            <a:prstDash val="solid"/>
          </a:ln>
        </p:spPr>
      </p:sp>
      <p:sp>
        <p:nvSpPr>
          <p:cNvPr id="17" name="audit-pill-2-bg">
            <a:extLst xmlns:a="http://schemas.openxmlformats.org/drawingml/2006/main">
              <a:ext uri="{FF2B5EF4-FFF2-40B4-BE49-F238E27FC236}">
                <a16:creationId xmlns:a16="http://schemas.microsoft.com/office/drawing/2014/main" id="{C9616E78-BBA1-4B4D-8BB7-C067EF1591DA}"/>
              </a:ext>
            </a:extLst>
          </p:cNvPr>
          <p:cNvSpPr>
            <a:spLocks xmlns:a="http://schemas.openxmlformats.org/drawingml/2006/main" noGrp="1"/>
          </p:cNvSpPr>
          <p:nvPr/>
        </p:nvSpPr>
        <p:spPr>
          <a:xfrm xmlns:a="http://schemas.openxmlformats.org/drawingml/2006/main">
            <a:off x="981075" y="3209925"/>
            <a:ext cx="714375" cy="2857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18" name="audit-pill-2-text">
            <a:extLst xmlns:a="http://schemas.openxmlformats.org/drawingml/2006/main">
              <a:ext uri="{FF2B5EF4-FFF2-40B4-BE49-F238E27FC236}">
                <a16:creationId xmlns:a16="http://schemas.microsoft.com/office/drawing/2014/main" id="{52047A99-3A52-485B-96F7-C6E06BDA0ADA}"/>
              </a:ext>
            </a:extLst>
          </p:cNvPr>
          <p:cNvSpPr>
            <a:spLocks xmlns:a="http://schemas.openxmlformats.org/drawingml/2006/main" noGrp="1"/>
          </p:cNvSpPr>
          <p:nvPr/>
        </p:nvSpPr>
        <p:spPr>
          <a:xfrm xmlns:a="http://schemas.openxmlformats.org/drawingml/2006/main">
            <a:off x="1076325" y="32575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PASS</a:t>
            </a:r>
          </a:p>
        </p:txBody>
      </p:sp>
      <p:sp>
        <p:nvSpPr>
          <p:cNvPr id="19" name="audit-name-2">
            <a:extLst xmlns:a="http://schemas.openxmlformats.org/drawingml/2006/main">
              <a:ext uri="{FF2B5EF4-FFF2-40B4-BE49-F238E27FC236}">
                <a16:creationId xmlns:a16="http://schemas.microsoft.com/office/drawing/2014/main" id="{32DCFD43-8D74-4383-91C5-220FB3EA0AD4}"/>
              </a:ext>
            </a:extLst>
          </p:cNvPr>
          <p:cNvSpPr>
            <a:spLocks xmlns:a="http://schemas.openxmlformats.org/drawingml/2006/main" noGrp="1"/>
          </p:cNvSpPr>
          <p:nvPr/>
        </p:nvSpPr>
        <p:spPr>
          <a:xfrm xmlns:a="http://schemas.openxmlformats.org/drawingml/2006/main">
            <a:off x="1857375" y="31813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stage2 adapter differs from stage1</a:t>
            </a:r>
          </a:p>
        </p:txBody>
      </p:sp>
      <p:sp>
        <p:nvSpPr>
          <p:cNvPr id="20" name="audit-bg-3">
            <a:extLst xmlns:a="http://schemas.openxmlformats.org/drawingml/2006/main">
              <a:ext uri="{FF2B5EF4-FFF2-40B4-BE49-F238E27FC236}">
                <a16:creationId xmlns:a16="http://schemas.microsoft.com/office/drawing/2014/main" id="{8145A910-EB50-4897-8345-E4DCD9C7CA77}"/>
              </a:ext>
            </a:extLst>
          </p:cNvPr>
          <p:cNvSpPr>
            <a:spLocks xmlns:a="http://schemas.openxmlformats.org/drawingml/2006/main" noGrp="1"/>
          </p:cNvSpPr>
          <p:nvPr/>
        </p:nvSpPr>
        <p:spPr>
          <a:xfrm xmlns:a="http://schemas.openxmlformats.org/drawingml/2006/main">
            <a:off x="6143625" y="3019425"/>
            <a:ext cx="4953000" cy="685800"/>
          </a:xfrm>
          <a:prstGeom xmlns:a="http://schemas.openxmlformats.org/drawingml/2006/main" prst="roundRect">
            <a:avLst>
              <a:gd name="adj" fmla="val 12500"/>
            </a:avLst>
          </a:prstGeom>
          <a:solidFill xmlns:a="http://schemas.openxmlformats.org/drawingml/2006/main">
            <a:srgbClr val="E5F5F3"/>
          </a:solidFill>
          <a:ln xmlns:a="http://schemas.openxmlformats.org/drawingml/2006/main" w="9525">
            <a:solidFill>
              <a:srgbClr val="18A6A6"/>
            </a:solidFill>
            <a:prstDash val="solid"/>
          </a:ln>
        </p:spPr>
      </p:sp>
      <p:sp>
        <p:nvSpPr>
          <p:cNvPr id="21" name="audit-pill-3-bg">
            <a:extLst xmlns:a="http://schemas.openxmlformats.org/drawingml/2006/main">
              <a:ext uri="{FF2B5EF4-FFF2-40B4-BE49-F238E27FC236}">
                <a16:creationId xmlns:a16="http://schemas.microsoft.com/office/drawing/2014/main" id="{C4A34ACC-DEFD-422A-BCE6-1DB1B8AC2870}"/>
              </a:ext>
            </a:extLst>
          </p:cNvPr>
          <p:cNvSpPr>
            <a:spLocks xmlns:a="http://schemas.openxmlformats.org/drawingml/2006/main" noGrp="1"/>
          </p:cNvSpPr>
          <p:nvPr/>
        </p:nvSpPr>
        <p:spPr>
          <a:xfrm xmlns:a="http://schemas.openxmlformats.org/drawingml/2006/main">
            <a:off x="6315075" y="3209925"/>
            <a:ext cx="714375" cy="2857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22" name="audit-pill-3-text">
            <a:extLst xmlns:a="http://schemas.openxmlformats.org/drawingml/2006/main">
              <a:ext uri="{FF2B5EF4-FFF2-40B4-BE49-F238E27FC236}">
                <a16:creationId xmlns:a16="http://schemas.microsoft.com/office/drawing/2014/main" id="{16D4A90C-F801-4B79-A06E-FD01FE80235D}"/>
              </a:ext>
            </a:extLst>
          </p:cNvPr>
          <p:cNvSpPr>
            <a:spLocks xmlns:a="http://schemas.openxmlformats.org/drawingml/2006/main" noGrp="1"/>
          </p:cNvSpPr>
          <p:nvPr/>
        </p:nvSpPr>
        <p:spPr>
          <a:xfrm xmlns:a="http://schemas.openxmlformats.org/drawingml/2006/main">
            <a:off x="6410325" y="32575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PASS</a:t>
            </a:r>
          </a:p>
        </p:txBody>
      </p:sp>
      <p:sp>
        <p:nvSpPr>
          <p:cNvPr id="23" name="audit-name-3">
            <a:extLst xmlns:a="http://schemas.openxmlformats.org/drawingml/2006/main">
              <a:ext uri="{FF2B5EF4-FFF2-40B4-BE49-F238E27FC236}">
                <a16:creationId xmlns:a16="http://schemas.microsoft.com/office/drawing/2014/main" id="{6439BE29-8B70-4ABA-8E78-960C72528D92}"/>
              </a:ext>
            </a:extLst>
          </p:cNvPr>
          <p:cNvSpPr>
            <a:spLocks xmlns:a="http://schemas.openxmlformats.org/drawingml/2006/main" noGrp="1"/>
          </p:cNvSpPr>
          <p:nvPr/>
        </p:nvSpPr>
        <p:spPr>
          <a:xfrm xmlns:a="http://schemas.openxmlformats.org/drawingml/2006/main">
            <a:off x="7191375" y="31813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both GRPO stages changed trainable parameters</a:t>
            </a:r>
          </a:p>
        </p:txBody>
      </p:sp>
      <p:sp>
        <p:nvSpPr>
          <p:cNvPr id="24" name="audit-bg-4">
            <a:extLst xmlns:a="http://schemas.openxmlformats.org/drawingml/2006/main">
              <a:ext uri="{FF2B5EF4-FFF2-40B4-BE49-F238E27FC236}">
                <a16:creationId xmlns:a16="http://schemas.microsoft.com/office/drawing/2014/main" id="{DF1C5E54-820C-466F-B360-231B8913451D}"/>
              </a:ext>
            </a:extLst>
          </p:cNvPr>
          <p:cNvSpPr>
            <a:spLocks xmlns:a="http://schemas.openxmlformats.org/drawingml/2006/main" noGrp="1"/>
          </p:cNvSpPr>
          <p:nvPr/>
        </p:nvSpPr>
        <p:spPr>
          <a:xfrm xmlns:a="http://schemas.openxmlformats.org/drawingml/2006/main">
            <a:off x="809625" y="3895725"/>
            <a:ext cx="4953000" cy="685800"/>
          </a:xfrm>
          <a:prstGeom xmlns:a="http://schemas.openxmlformats.org/drawingml/2006/main" prst="roundRect">
            <a:avLst>
              <a:gd name="adj" fmla="val 12500"/>
            </a:avLst>
          </a:prstGeom>
          <a:solidFill xmlns:a="http://schemas.openxmlformats.org/drawingml/2006/main">
            <a:srgbClr val="E5F5F3"/>
          </a:solidFill>
          <a:ln xmlns:a="http://schemas.openxmlformats.org/drawingml/2006/main" w="9525">
            <a:solidFill>
              <a:srgbClr val="18A6A6"/>
            </a:solidFill>
            <a:prstDash val="solid"/>
          </a:ln>
        </p:spPr>
      </p:sp>
      <p:sp>
        <p:nvSpPr>
          <p:cNvPr id="25" name="audit-pill-4-bg">
            <a:extLst xmlns:a="http://schemas.openxmlformats.org/drawingml/2006/main">
              <a:ext uri="{FF2B5EF4-FFF2-40B4-BE49-F238E27FC236}">
                <a16:creationId xmlns:a16="http://schemas.microsoft.com/office/drawing/2014/main" id="{8C6B8735-20D1-44E6-A72E-33FD09C61557}"/>
              </a:ext>
            </a:extLst>
          </p:cNvPr>
          <p:cNvSpPr>
            <a:spLocks xmlns:a="http://schemas.openxmlformats.org/drawingml/2006/main" noGrp="1"/>
          </p:cNvSpPr>
          <p:nvPr/>
        </p:nvSpPr>
        <p:spPr>
          <a:xfrm xmlns:a="http://schemas.openxmlformats.org/drawingml/2006/main">
            <a:off x="981075" y="4086225"/>
            <a:ext cx="714375" cy="2857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26" name="audit-pill-4-text">
            <a:extLst xmlns:a="http://schemas.openxmlformats.org/drawingml/2006/main">
              <a:ext uri="{FF2B5EF4-FFF2-40B4-BE49-F238E27FC236}">
                <a16:creationId xmlns:a16="http://schemas.microsoft.com/office/drawing/2014/main" id="{2D07BA68-BA53-4357-AF29-A4CEAD023A7F}"/>
              </a:ext>
            </a:extLst>
          </p:cNvPr>
          <p:cNvSpPr>
            <a:spLocks xmlns:a="http://schemas.openxmlformats.org/drawingml/2006/main" noGrp="1"/>
          </p:cNvSpPr>
          <p:nvPr/>
        </p:nvSpPr>
        <p:spPr>
          <a:xfrm xmlns:a="http://schemas.openxmlformats.org/drawingml/2006/main">
            <a:off x="1076325" y="41338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PASS</a:t>
            </a:r>
          </a:p>
        </p:txBody>
      </p:sp>
      <p:sp>
        <p:nvSpPr>
          <p:cNvPr id="27" name="audit-name-4">
            <a:extLst xmlns:a="http://schemas.openxmlformats.org/drawingml/2006/main">
              <a:ext uri="{FF2B5EF4-FFF2-40B4-BE49-F238E27FC236}">
                <a16:creationId xmlns:a16="http://schemas.microsoft.com/office/drawing/2014/main" id="{C43B7CF1-6783-420F-A57B-823EB29252C1}"/>
              </a:ext>
            </a:extLst>
          </p:cNvPr>
          <p:cNvSpPr>
            <a:spLocks xmlns:a="http://schemas.openxmlformats.org/drawingml/2006/main" noGrp="1"/>
          </p:cNvSpPr>
          <p:nvPr/>
        </p:nvSpPr>
        <p:spPr>
          <a:xfrm xmlns:a="http://schemas.openxmlformats.org/drawingml/2006/main">
            <a:off x="1857375" y="40576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training reward variance observed</a:t>
            </a:r>
          </a:p>
        </p:txBody>
      </p:sp>
      <p:sp>
        <p:nvSpPr>
          <p:cNvPr id="28" name="audit-bg-5">
            <a:extLst xmlns:a="http://schemas.openxmlformats.org/drawingml/2006/main">
              <a:ext uri="{FF2B5EF4-FFF2-40B4-BE49-F238E27FC236}">
                <a16:creationId xmlns:a16="http://schemas.microsoft.com/office/drawing/2014/main" id="{5C3D28DC-D281-4F95-9014-BAF392202F1F}"/>
              </a:ext>
            </a:extLst>
          </p:cNvPr>
          <p:cNvSpPr>
            <a:spLocks xmlns:a="http://schemas.openxmlformats.org/drawingml/2006/main" noGrp="1"/>
          </p:cNvSpPr>
          <p:nvPr/>
        </p:nvSpPr>
        <p:spPr>
          <a:xfrm xmlns:a="http://schemas.openxmlformats.org/drawingml/2006/main">
            <a:off x="6143625" y="3895725"/>
            <a:ext cx="4953000" cy="685800"/>
          </a:xfrm>
          <a:prstGeom xmlns:a="http://schemas.openxmlformats.org/drawingml/2006/main" prst="roundRect">
            <a:avLst>
              <a:gd name="adj" fmla="val 12500"/>
            </a:avLst>
          </a:prstGeom>
          <a:solidFill xmlns:a="http://schemas.openxmlformats.org/drawingml/2006/main">
            <a:srgbClr val="E5F5F3"/>
          </a:solidFill>
          <a:ln xmlns:a="http://schemas.openxmlformats.org/drawingml/2006/main" w="9525">
            <a:solidFill>
              <a:srgbClr val="18A6A6"/>
            </a:solidFill>
            <a:prstDash val="solid"/>
          </a:ln>
        </p:spPr>
      </p:sp>
      <p:sp>
        <p:nvSpPr>
          <p:cNvPr id="29" name="audit-pill-5-bg">
            <a:extLst xmlns:a="http://schemas.openxmlformats.org/drawingml/2006/main">
              <a:ext uri="{FF2B5EF4-FFF2-40B4-BE49-F238E27FC236}">
                <a16:creationId xmlns:a16="http://schemas.microsoft.com/office/drawing/2014/main" id="{C69DC357-3D0B-4F97-BE5D-2E2F558F7623}"/>
              </a:ext>
            </a:extLst>
          </p:cNvPr>
          <p:cNvSpPr>
            <a:spLocks xmlns:a="http://schemas.openxmlformats.org/drawingml/2006/main" noGrp="1"/>
          </p:cNvSpPr>
          <p:nvPr/>
        </p:nvSpPr>
        <p:spPr>
          <a:xfrm xmlns:a="http://schemas.openxmlformats.org/drawingml/2006/main">
            <a:off x="6315075" y="4086225"/>
            <a:ext cx="714375" cy="2857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30" name="audit-pill-5-text">
            <a:extLst xmlns:a="http://schemas.openxmlformats.org/drawingml/2006/main">
              <a:ext uri="{FF2B5EF4-FFF2-40B4-BE49-F238E27FC236}">
                <a16:creationId xmlns:a16="http://schemas.microsoft.com/office/drawing/2014/main" id="{A0E723DD-6A1F-4B39-97B6-4AB752B4176A}"/>
              </a:ext>
            </a:extLst>
          </p:cNvPr>
          <p:cNvSpPr>
            <a:spLocks xmlns:a="http://schemas.openxmlformats.org/drawingml/2006/main" noGrp="1"/>
          </p:cNvSpPr>
          <p:nvPr/>
        </p:nvSpPr>
        <p:spPr>
          <a:xfrm xmlns:a="http://schemas.openxmlformats.org/drawingml/2006/main">
            <a:off x="6410325" y="41338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PASS</a:t>
            </a:r>
          </a:p>
        </p:txBody>
      </p:sp>
      <p:sp>
        <p:nvSpPr>
          <p:cNvPr id="31" name="audit-name-5">
            <a:extLst xmlns:a="http://schemas.openxmlformats.org/drawingml/2006/main">
              <a:ext uri="{FF2B5EF4-FFF2-40B4-BE49-F238E27FC236}">
                <a16:creationId xmlns:a16="http://schemas.microsoft.com/office/drawing/2014/main" id="{5F68A948-0BF1-4D15-9EE9-E045E4A0C402}"/>
              </a:ext>
            </a:extLst>
          </p:cNvPr>
          <p:cNvSpPr>
            <a:spLocks xmlns:a="http://schemas.openxmlformats.org/drawingml/2006/main" noGrp="1"/>
          </p:cNvSpPr>
          <p:nvPr/>
        </p:nvSpPr>
        <p:spPr>
          <a:xfrm xmlns:a="http://schemas.openxmlformats.org/drawingml/2006/main">
            <a:off x="7191375" y="40576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final holdout isolation</a:t>
            </a:r>
          </a:p>
        </p:txBody>
      </p:sp>
      <p:sp>
        <p:nvSpPr>
          <p:cNvPr id="32" name="audit-bg-6">
            <a:extLst xmlns:a="http://schemas.openxmlformats.org/drawingml/2006/main">
              <a:ext uri="{FF2B5EF4-FFF2-40B4-BE49-F238E27FC236}">
                <a16:creationId xmlns:a16="http://schemas.microsoft.com/office/drawing/2014/main" id="{516459A4-7D11-46B2-A7C8-ABB6476E27BD}"/>
              </a:ext>
            </a:extLst>
          </p:cNvPr>
          <p:cNvSpPr>
            <a:spLocks xmlns:a="http://schemas.openxmlformats.org/drawingml/2006/main" noGrp="1"/>
          </p:cNvSpPr>
          <p:nvPr/>
        </p:nvSpPr>
        <p:spPr>
          <a:xfrm xmlns:a="http://schemas.openxmlformats.org/drawingml/2006/main">
            <a:off x="809625" y="4772025"/>
            <a:ext cx="4953000" cy="685800"/>
          </a:xfrm>
          <a:prstGeom xmlns:a="http://schemas.openxmlformats.org/drawingml/2006/main" prst="roundRect">
            <a:avLst>
              <a:gd name="adj" fmla="val 12500"/>
            </a:avLst>
          </a:prstGeom>
          <a:solidFill xmlns:a="http://schemas.openxmlformats.org/drawingml/2006/main">
            <a:srgbClr val="E5F5F3"/>
          </a:solidFill>
          <a:ln xmlns:a="http://schemas.openxmlformats.org/drawingml/2006/main" w="9525">
            <a:solidFill>
              <a:srgbClr val="18A6A6"/>
            </a:solidFill>
            <a:prstDash val="solid"/>
          </a:ln>
        </p:spPr>
      </p:sp>
      <p:sp>
        <p:nvSpPr>
          <p:cNvPr id="33" name="audit-pill-6-bg">
            <a:extLst xmlns:a="http://schemas.openxmlformats.org/drawingml/2006/main">
              <a:ext uri="{FF2B5EF4-FFF2-40B4-BE49-F238E27FC236}">
                <a16:creationId xmlns:a16="http://schemas.microsoft.com/office/drawing/2014/main" id="{AEF252A2-DD7A-4857-BE76-70725A647E18}"/>
              </a:ext>
            </a:extLst>
          </p:cNvPr>
          <p:cNvSpPr>
            <a:spLocks xmlns:a="http://schemas.openxmlformats.org/drawingml/2006/main" noGrp="1"/>
          </p:cNvSpPr>
          <p:nvPr/>
        </p:nvSpPr>
        <p:spPr>
          <a:xfrm xmlns:a="http://schemas.openxmlformats.org/drawingml/2006/main">
            <a:off x="981075" y="4962525"/>
            <a:ext cx="714375" cy="2857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34" name="audit-pill-6-text">
            <a:extLst xmlns:a="http://schemas.openxmlformats.org/drawingml/2006/main">
              <a:ext uri="{FF2B5EF4-FFF2-40B4-BE49-F238E27FC236}">
                <a16:creationId xmlns:a16="http://schemas.microsoft.com/office/drawing/2014/main" id="{6A675681-8FDD-4BC5-82FB-E36ECFA5AE7E}"/>
              </a:ext>
            </a:extLst>
          </p:cNvPr>
          <p:cNvSpPr>
            <a:spLocks xmlns:a="http://schemas.openxmlformats.org/drawingml/2006/main" noGrp="1"/>
          </p:cNvSpPr>
          <p:nvPr/>
        </p:nvSpPr>
        <p:spPr>
          <a:xfrm xmlns:a="http://schemas.openxmlformats.org/drawingml/2006/main">
            <a:off x="1076325" y="50101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PASS</a:t>
            </a:r>
          </a:p>
        </p:txBody>
      </p:sp>
      <p:sp>
        <p:nvSpPr>
          <p:cNvPr id="35" name="audit-name-6">
            <a:extLst xmlns:a="http://schemas.openxmlformats.org/drawingml/2006/main">
              <a:ext uri="{FF2B5EF4-FFF2-40B4-BE49-F238E27FC236}">
                <a16:creationId xmlns:a16="http://schemas.microsoft.com/office/drawing/2014/main" id="{E5293469-DAC2-45AE-A361-130CAD44148B}"/>
              </a:ext>
            </a:extLst>
          </p:cNvPr>
          <p:cNvSpPr>
            <a:spLocks xmlns:a="http://schemas.openxmlformats.org/drawingml/2006/main" noGrp="1"/>
          </p:cNvSpPr>
          <p:nvPr/>
        </p:nvSpPr>
        <p:spPr>
          <a:xfrm xmlns:a="http://schemas.openxmlformats.org/drawingml/2006/main">
            <a:off x="1857375" y="49339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failure-driven synthesis has provenance</a:t>
            </a:r>
          </a:p>
        </p:txBody>
      </p:sp>
      <p:sp>
        <p:nvSpPr>
          <p:cNvPr id="36" name="audit-bg-7">
            <a:extLst xmlns:a="http://schemas.openxmlformats.org/drawingml/2006/main">
              <a:ext uri="{FF2B5EF4-FFF2-40B4-BE49-F238E27FC236}">
                <a16:creationId xmlns:a16="http://schemas.microsoft.com/office/drawing/2014/main" id="{55CAA6A4-4068-41A8-9225-9FE73EE06130}"/>
              </a:ext>
            </a:extLst>
          </p:cNvPr>
          <p:cNvSpPr>
            <a:spLocks xmlns:a="http://schemas.openxmlformats.org/drawingml/2006/main" noGrp="1"/>
          </p:cNvSpPr>
          <p:nvPr/>
        </p:nvSpPr>
        <p:spPr>
          <a:xfrm xmlns:a="http://schemas.openxmlformats.org/drawingml/2006/main">
            <a:off x="6143625" y="4772025"/>
            <a:ext cx="4953000" cy="685800"/>
          </a:xfrm>
          <a:prstGeom xmlns:a="http://schemas.openxmlformats.org/drawingml/2006/main" prst="roundRect">
            <a:avLst>
              <a:gd name="adj" fmla="val 12500"/>
            </a:avLst>
          </a:prstGeom>
          <a:solidFill xmlns:a="http://schemas.openxmlformats.org/drawingml/2006/main">
            <a:srgbClr val="E5F5F3"/>
          </a:solidFill>
          <a:ln xmlns:a="http://schemas.openxmlformats.org/drawingml/2006/main" w="9525">
            <a:solidFill>
              <a:srgbClr val="18A6A6"/>
            </a:solidFill>
            <a:prstDash val="solid"/>
          </a:ln>
        </p:spPr>
      </p:sp>
      <p:sp>
        <p:nvSpPr>
          <p:cNvPr id="37" name="audit-pill-7-bg">
            <a:extLst xmlns:a="http://schemas.openxmlformats.org/drawingml/2006/main">
              <a:ext uri="{FF2B5EF4-FFF2-40B4-BE49-F238E27FC236}">
                <a16:creationId xmlns:a16="http://schemas.microsoft.com/office/drawing/2014/main" id="{A8240034-F59A-4F38-B9CC-0B2A281A3926}"/>
              </a:ext>
            </a:extLst>
          </p:cNvPr>
          <p:cNvSpPr>
            <a:spLocks xmlns:a="http://schemas.openxmlformats.org/drawingml/2006/main" noGrp="1"/>
          </p:cNvSpPr>
          <p:nvPr/>
        </p:nvSpPr>
        <p:spPr>
          <a:xfrm xmlns:a="http://schemas.openxmlformats.org/drawingml/2006/main">
            <a:off x="6315075" y="4962525"/>
            <a:ext cx="714375" cy="2857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38" name="audit-pill-7-text">
            <a:extLst xmlns:a="http://schemas.openxmlformats.org/drawingml/2006/main">
              <a:ext uri="{FF2B5EF4-FFF2-40B4-BE49-F238E27FC236}">
                <a16:creationId xmlns:a16="http://schemas.microsoft.com/office/drawing/2014/main" id="{78F498ED-A89D-4874-B5AE-B60CF5373D8F}"/>
              </a:ext>
            </a:extLst>
          </p:cNvPr>
          <p:cNvSpPr>
            <a:spLocks xmlns:a="http://schemas.openxmlformats.org/drawingml/2006/main" noGrp="1"/>
          </p:cNvSpPr>
          <p:nvPr/>
        </p:nvSpPr>
        <p:spPr>
          <a:xfrm xmlns:a="http://schemas.openxmlformats.org/drawingml/2006/main">
            <a:off x="6410325" y="50101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PASS</a:t>
            </a:r>
          </a:p>
        </p:txBody>
      </p:sp>
      <p:sp>
        <p:nvSpPr>
          <p:cNvPr id="39" name="audit-name-7">
            <a:extLst xmlns:a="http://schemas.openxmlformats.org/drawingml/2006/main">
              <a:ext uri="{FF2B5EF4-FFF2-40B4-BE49-F238E27FC236}">
                <a16:creationId xmlns:a16="http://schemas.microsoft.com/office/drawing/2014/main" id="{E0947D54-2B91-469F-9B66-CDF91EF69EAA}"/>
              </a:ext>
            </a:extLst>
          </p:cNvPr>
          <p:cNvSpPr>
            <a:spLocks xmlns:a="http://schemas.openxmlformats.org/drawingml/2006/main" noGrp="1"/>
          </p:cNvSpPr>
          <p:nvPr/>
        </p:nvSpPr>
        <p:spPr>
          <a:xfrm xmlns:a="http://schemas.openxmlformats.org/drawingml/2006/main">
            <a:off x="7191375" y="49339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stage2 consumed stage1 adapter</a:t>
            </a:r>
          </a:p>
        </p:txBody>
      </p:sp>
      <p:sp>
        <p:nvSpPr>
          <p:cNvPr id="40" name="audit-hash">
            <a:extLst xmlns:a="http://schemas.openxmlformats.org/drawingml/2006/main">
              <a:ext uri="{FF2B5EF4-FFF2-40B4-BE49-F238E27FC236}">
                <a16:creationId xmlns:a16="http://schemas.microsoft.com/office/drawing/2014/main" id="{15E0D5F2-895D-4161-9737-3DABBC5F7FD6}"/>
              </a:ext>
            </a:extLst>
          </p:cNvPr>
          <p:cNvSpPr>
            <a:spLocks xmlns:a="http://schemas.openxmlformats.org/drawingml/2006/main" noGrp="1"/>
          </p:cNvSpPr>
          <p:nvPr/>
        </p:nvSpPr>
        <p:spPr>
          <a:xfrm xmlns:a="http://schemas.openxmlformats.org/drawingml/2006/main">
            <a:off x="952500" y="5762625"/>
            <a:ext cx="10096500" cy="476250"/>
          </a:xfrm>
          <a:prstGeom xmlns:a="http://schemas.openxmlformats.org/drawingml/2006/main" prst="roundRect">
            <a:avLst>
              <a:gd name="adj" fmla="val 16000"/>
            </a:avLst>
          </a:prstGeom>
          <a:solidFill xmlns:a="http://schemas.openxmlformats.org/drawingml/2006/main">
            <a:srgbClr val="071A2B"/>
          </a:solidFill>
          <a:ln xmlns:a="http://schemas.openxmlformats.org/drawingml/2006/main" w="0">
            <a:solidFill>
              <a:srgbClr val="071A2B"/>
            </a:solidFill>
            <a:prstDash val="solid"/>
          </a:ln>
        </p:spPr>
      </p:sp>
      <p:sp>
        <p:nvSpPr>
          <p:cNvPr id="41" name="audit-hash-text">
            <a:extLst xmlns:a="http://schemas.openxmlformats.org/drawingml/2006/main">
              <a:ext uri="{FF2B5EF4-FFF2-40B4-BE49-F238E27FC236}">
                <a16:creationId xmlns:a16="http://schemas.microsoft.com/office/drawing/2014/main" id="{9306D957-E3AD-4E92-A710-40AA73582DA2}"/>
              </a:ext>
            </a:extLst>
          </p:cNvPr>
          <p:cNvSpPr>
            <a:spLocks xmlns:a="http://schemas.openxmlformats.org/drawingml/2006/main" noGrp="1"/>
          </p:cNvSpPr>
          <p:nvPr/>
        </p:nvSpPr>
        <p:spPr>
          <a:xfrm xmlns:a="http://schemas.openxmlformats.org/drawingml/2006/main">
            <a:off x="1285875" y="5895975"/>
            <a:ext cx="942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F7F1E8"/>
                </a:solidFill>
              </a:defRPr>
            </a:pPr>
            <a:r>
              <a:rPr sz="1050" b="1">
                <a:solidFill>
                  <a:srgbClr val="F7F1E8"/>
                </a:solidFill>
              </a:rPr>
              <a:t>S1 7d3c6d223209f…   →   S2 920f76c8c0f35…   ·   child PID 6913</a:t>
            </a:r>
          </a:p>
        </p:txBody>
      </p:sp>
    </p:spTree>
    <p:extLst>
      <p:ext uri="{BB962C8B-B14F-4D97-AF65-F5344CB8AC3E}">
        <p14:creationId xmlns:p14="http://schemas.microsoft.com/office/powerpoint/2010/main" val="708563341"/>
      </p:ext>
    </p:extLst>
  </p:cSld>
</p:sld>
</file>

<file path=ppt/slides/slide14.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26" name="rail-14">
            <a:extLst xmlns:a="http://schemas.openxmlformats.org/drawingml/2006/main">
              <a:ext uri="{FF2B5EF4-FFF2-40B4-BE49-F238E27FC236}">
                <a16:creationId xmlns:a16="http://schemas.microsoft.com/office/drawing/2014/main" id="{D66BC6ED-AE24-440C-B2B2-63B010B9C19C}"/>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14">
            <a:extLst xmlns:a="http://schemas.openxmlformats.org/drawingml/2006/main">
              <a:ext uri="{FF2B5EF4-FFF2-40B4-BE49-F238E27FC236}">
                <a16:creationId xmlns:a16="http://schemas.microsoft.com/office/drawing/2014/main" id="{F1D9685E-90CF-4AE2-9459-57BC2820280B}"/>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14">
            <a:extLst xmlns:a="http://schemas.openxmlformats.org/drawingml/2006/main">
              <a:ext uri="{FF2B5EF4-FFF2-40B4-BE49-F238E27FC236}">
                <a16:creationId xmlns:a16="http://schemas.microsoft.com/office/drawing/2014/main" id="{134D75AA-47DA-4A85-9280-117B38EE8E8F}"/>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HONEST SELF-CHECK</a:t>
            </a:r>
          </a:p>
        </p:txBody>
      </p:sp>
      <p:sp>
        <p:nvSpPr>
          <p:cNvPr id="4" name="title-14">
            <a:extLst xmlns:a="http://schemas.openxmlformats.org/drawingml/2006/main">
              <a:ext uri="{FF2B5EF4-FFF2-40B4-BE49-F238E27FC236}">
                <a16:creationId xmlns:a16="http://schemas.microsoft.com/office/drawing/2014/main" id="{8AE5B2C7-9095-418B-BFC4-53CCA0C2768E}"/>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项目已经完整到哪里，哪些仍然不能写？</a:t>
            </a:r>
          </a:p>
        </p:txBody>
      </p:sp>
      <p:sp>
        <p:nvSpPr>
          <p:cNvPr id="5" name="subtitle-14">
            <a:extLst xmlns:a="http://schemas.openxmlformats.org/drawingml/2006/main">
              <a:ext uri="{FF2B5EF4-FFF2-40B4-BE49-F238E27FC236}">
                <a16:creationId xmlns:a16="http://schemas.microsoft.com/office/drawing/2014/main" id="{88EE1A60-0A87-4FA5-B4D7-5EE21B27A236}"/>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把 COMPLETE、CODE_READY 与 BLOCKED_RESOURCE 分开，是这份复现最重要的研究纪律。</a:t>
            </a:r>
          </a:p>
        </p:txBody>
      </p:sp>
      <p:sp>
        <p:nvSpPr>
          <p:cNvPr id="6" name="">
            <a:extLst xmlns:a="http://schemas.openxmlformats.org/drawingml/2006/main">
              <a:ext uri="{FF2B5EF4-FFF2-40B4-BE49-F238E27FC236}">
                <a16:creationId xmlns:a16="http://schemas.microsoft.com/office/drawing/2014/main" id="{0F3A9339-9818-458A-BE78-EF9A62C91FD6}"/>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14">
            <a:extLst xmlns:a="http://schemas.openxmlformats.org/drawingml/2006/main">
              <a:ext uri="{FF2B5EF4-FFF2-40B4-BE49-F238E27FC236}">
                <a16:creationId xmlns:a16="http://schemas.microsoft.com/office/drawing/2014/main" id="{5822D706-366D-4D89-9410-1503CE8518FC}"/>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14</a:t>
            </a:r>
          </a:p>
        </p:txBody>
      </p:sp>
      <p:sp>
        <p:nvSpPr>
          <p:cNvPr id="8" name="limit-0">
            <a:extLst xmlns:a="http://schemas.openxmlformats.org/drawingml/2006/main">
              <a:ext uri="{FF2B5EF4-FFF2-40B4-BE49-F238E27FC236}">
                <a16:creationId xmlns:a16="http://schemas.microsoft.com/office/drawing/2014/main" id="{5D414C6E-ADA7-4190-ABF5-033E84912013}"/>
              </a:ext>
            </a:extLst>
          </p:cNvPr>
          <p:cNvSpPr>
            <a:spLocks xmlns:a="http://schemas.openxmlformats.org/drawingml/2006/main" noGrp="1"/>
          </p:cNvSpPr>
          <p:nvPr/>
        </p:nvSpPr>
        <p:spPr>
          <a:xfrm xmlns:a="http://schemas.openxmlformats.org/drawingml/2006/main">
            <a:off x="714375" y="2143125"/>
            <a:ext cx="3286125" cy="3286125"/>
          </a:xfrm>
          <a:prstGeom xmlns:a="http://schemas.openxmlformats.org/drawingml/2006/main" prst="roundRect">
            <a:avLst>
              <a:gd name="adj" fmla="val 3478"/>
            </a:avLst>
          </a:prstGeom>
          <a:solidFill xmlns:a="http://schemas.openxmlformats.org/drawingml/2006/main">
            <a:srgbClr val="E5F5F3"/>
          </a:solidFill>
          <a:ln xmlns:a="http://schemas.openxmlformats.org/drawingml/2006/main" w="9525">
            <a:solidFill>
              <a:srgbClr val="228B67"/>
            </a:solidFill>
            <a:prstDash val="solid"/>
          </a:ln>
        </p:spPr>
      </p:sp>
      <p:sp>
        <p:nvSpPr>
          <p:cNvPr id="9" name="limit-k-0">
            <a:extLst xmlns:a="http://schemas.openxmlformats.org/drawingml/2006/main">
              <a:ext uri="{FF2B5EF4-FFF2-40B4-BE49-F238E27FC236}">
                <a16:creationId xmlns:a16="http://schemas.microsoft.com/office/drawing/2014/main" id="{E25A3DF9-788F-47F8-9159-38AACC74070C}"/>
              </a:ext>
            </a:extLst>
          </p:cNvPr>
          <p:cNvSpPr>
            <a:spLocks xmlns:a="http://schemas.openxmlformats.org/drawingml/2006/main" noGrp="1"/>
          </p:cNvSpPr>
          <p:nvPr/>
        </p:nvSpPr>
        <p:spPr>
          <a:xfrm xmlns:a="http://schemas.openxmlformats.org/drawingml/2006/main">
            <a:off x="942975" y="2381250"/>
            <a:ext cx="28289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1">
                <a:solidFill>
                  <a:srgbClr val="228B67"/>
                </a:solidFill>
              </a:defRPr>
            </a:pPr>
            <a:r>
              <a:rPr sz="1275" b="1">
                <a:solidFill>
                  <a:srgbClr val="228B67"/>
                </a:solidFill>
              </a:rPr>
              <a:t>COMPLETE</a:t>
            </a:r>
          </a:p>
        </p:txBody>
      </p:sp>
      <p:sp>
        <p:nvSpPr>
          <p:cNvPr id="10" name="limit-v-0-0">
            <a:extLst xmlns:a="http://schemas.openxmlformats.org/drawingml/2006/main">
              <a:ext uri="{FF2B5EF4-FFF2-40B4-BE49-F238E27FC236}">
                <a16:creationId xmlns:a16="http://schemas.microsoft.com/office/drawing/2014/main" id="{2504EDFA-72D2-4A14-A36E-0A8A03CEB2FE}"/>
              </a:ext>
            </a:extLst>
          </p:cNvPr>
          <p:cNvSpPr>
            <a:spLocks xmlns:a="http://schemas.openxmlformats.org/drawingml/2006/main" noGrp="1"/>
          </p:cNvSpPr>
          <p:nvPr/>
        </p:nvSpPr>
        <p:spPr>
          <a:xfrm xmlns:a="http://schemas.openxmlformats.org/drawingml/2006/main">
            <a:off x="981075" y="30480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两阶段 response-token GRPO</a:t>
            </a:r>
          </a:p>
        </p:txBody>
      </p:sp>
      <p:sp>
        <p:nvSpPr>
          <p:cNvPr id="11" name="limit-v-0-1">
            <a:extLst xmlns:a="http://schemas.openxmlformats.org/drawingml/2006/main">
              <a:ext uri="{FF2B5EF4-FFF2-40B4-BE49-F238E27FC236}">
                <a16:creationId xmlns:a16="http://schemas.microsoft.com/office/drawing/2014/main" id="{6913D246-BC05-4277-9641-BF67D48DB452}"/>
              </a:ext>
            </a:extLst>
          </p:cNvPr>
          <p:cNvSpPr>
            <a:spLocks xmlns:a="http://schemas.openxmlformats.org/drawingml/2006/main" noGrp="1"/>
          </p:cNvSpPr>
          <p:nvPr/>
        </p:nvSpPr>
        <p:spPr>
          <a:xfrm xmlns:a="http://schemas.openxmlformats.org/drawingml/2006/main">
            <a:off x="981075" y="35814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frontier hard-task curriculum</a:t>
            </a:r>
          </a:p>
        </p:txBody>
      </p:sp>
      <p:sp>
        <p:nvSpPr>
          <p:cNvPr id="12" name="limit-v-0-2">
            <a:extLst xmlns:a="http://schemas.openxmlformats.org/drawingml/2006/main">
              <a:ext uri="{FF2B5EF4-FFF2-40B4-BE49-F238E27FC236}">
                <a16:creationId xmlns:a16="http://schemas.microsoft.com/office/drawing/2014/main" id="{89790299-7734-4561-8C1D-158B6BDAE29A}"/>
              </a:ext>
            </a:extLst>
          </p:cNvPr>
          <p:cNvSpPr>
            <a:spLocks xmlns:a="http://schemas.openxmlformats.org/drawingml/2006/main" noGrp="1"/>
          </p:cNvSpPr>
          <p:nvPr/>
        </p:nvSpPr>
        <p:spPr>
          <a:xfrm xmlns:a="http://schemas.openxmlformats.org/drawingml/2006/main">
            <a:off x="981075" y="41148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fresh-process adapter replay</a:t>
            </a:r>
          </a:p>
        </p:txBody>
      </p:sp>
      <p:sp>
        <p:nvSpPr>
          <p:cNvPr id="13" name="limit-v-0-3">
            <a:extLst xmlns:a="http://schemas.openxmlformats.org/drawingml/2006/main">
              <a:ext uri="{FF2B5EF4-FFF2-40B4-BE49-F238E27FC236}">
                <a16:creationId xmlns:a16="http://schemas.microsoft.com/office/drawing/2014/main" id="{71CA2ED3-6042-478C-A439-AD558C78EF69}"/>
              </a:ext>
            </a:extLst>
          </p:cNvPr>
          <p:cNvSpPr>
            <a:spLocks xmlns:a="http://schemas.openxmlformats.org/drawingml/2006/main" noGrp="1"/>
          </p:cNvSpPr>
          <p:nvPr/>
        </p:nvSpPr>
        <p:spPr>
          <a:xfrm xmlns:a="http://schemas.openxmlformats.org/drawingml/2006/main">
            <a:off x="981075" y="46482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V1 失败 → V2 修复审计</a:t>
            </a:r>
          </a:p>
        </p:txBody>
      </p:sp>
      <p:sp>
        <p:nvSpPr>
          <p:cNvPr id="14" name="limit-1">
            <a:extLst xmlns:a="http://schemas.openxmlformats.org/drawingml/2006/main">
              <a:ext uri="{FF2B5EF4-FFF2-40B4-BE49-F238E27FC236}">
                <a16:creationId xmlns:a16="http://schemas.microsoft.com/office/drawing/2014/main" id="{6D4A8FC9-8ED2-44AC-83D4-B47C5A7BF6BF}"/>
              </a:ext>
            </a:extLst>
          </p:cNvPr>
          <p:cNvSpPr>
            <a:spLocks xmlns:a="http://schemas.openxmlformats.org/drawingml/2006/main" noGrp="1"/>
          </p:cNvSpPr>
          <p:nvPr/>
        </p:nvSpPr>
        <p:spPr>
          <a:xfrm xmlns:a="http://schemas.openxmlformats.org/drawingml/2006/main">
            <a:off x="4381500" y="2143125"/>
            <a:ext cx="3286125" cy="3286125"/>
          </a:xfrm>
          <a:prstGeom xmlns:a="http://schemas.openxmlformats.org/drawingml/2006/main" prst="roundRect">
            <a:avLst>
              <a:gd name="adj" fmla="val 3478"/>
            </a:avLst>
          </a:prstGeom>
          <a:solidFill xmlns:a="http://schemas.openxmlformats.org/drawingml/2006/main">
            <a:srgbClr val="FAF2DE"/>
          </a:solidFill>
          <a:ln xmlns:a="http://schemas.openxmlformats.org/drawingml/2006/main" w="9525">
            <a:solidFill>
              <a:srgbClr val="C56D4A"/>
            </a:solidFill>
            <a:prstDash val="solid"/>
          </a:ln>
        </p:spPr>
      </p:sp>
      <p:sp>
        <p:nvSpPr>
          <p:cNvPr id="15" name="limit-k-1">
            <a:extLst xmlns:a="http://schemas.openxmlformats.org/drawingml/2006/main">
              <a:ext uri="{FF2B5EF4-FFF2-40B4-BE49-F238E27FC236}">
                <a16:creationId xmlns:a16="http://schemas.microsoft.com/office/drawing/2014/main" id="{57F53AC2-5FAD-42DE-8079-2D36F86397B7}"/>
              </a:ext>
            </a:extLst>
          </p:cNvPr>
          <p:cNvSpPr>
            <a:spLocks xmlns:a="http://schemas.openxmlformats.org/drawingml/2006/main" noGrp="1"/>
          </p:cNvSpPr>
          <p:nvPr/>
        </p:nvSpPr>
        <p:spPr>
          <a:xfrm xmlns:a="http://schemas.openxmlformats.org/drawingml/2006/main">
            <a:off x="4610100" y="2381250"/>
            <a:ext cx="28289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1">
                <a:solidFill>
                  <a:srgbClr val="C56D4A"/>
                </a:solidFill>
              </a:defRPr>
            </a:pPr>
            <a:r>
              <a:rPr sz="1275" b="1">
                <a:solidFill>
                  <a:srgbClr val="C56D4A"/>
                </a:solidFill>
              </a:rPr>
              <a:t>CODE READY / NOT RUN</a:t>
            </a:r>
          </a:p>
        </p:txBody>
      </p:sp>
      <p:sp>
        <p:nvSpPr>
          <p:cNvPr id="16" name="limit-v-1-0">
            <a:extLst xmlns:a="http://schemas.openxmlformats.org/drawingml/2006/main">
              <a:ext uri="{FF2B5EF4-FFF2-40B4-BE49-F238E27FC236}">
                <a16:creationId xmlns:a16="http://schemas.microsoft.com/office/drawing/2014/main" id="{C7BCFD24-01A7-4C19-8778-4F39A015FF4A}"/>
              </a:ext>
            </a:extLst>
          </p:cNvPr>
          <p:cNvSpPr>
            <a:spLocks xmlns:a="http://schemas.openxmlformats.org/drawingml/2006/main" noGrp="1"/>
          </p:cNvSpPr>
          <p:nvPr/>
        </p:nvSpPr>
        <p:spPr>
          <a:xfrm xmlns:a="http://schemas.openxmlformats.org/drawingml/2006/main">
            <a:off x="4648200" y="30480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BFCL-V4 smoke / paper profile</a:t>
            </a:r>
          </a:p>
        </p:txBody>
      </p:sp>
      <p:sp>
        <p:nvSpPr>
          <p:cNvPr id="17" name="limit-v-1-1">
            <a:extLst xmlns:a="http://schemas.openxmlformats.org/drawingml/2006/main">
              <a:ext uri="{FF2B5EF4-FFF2-40B4-BE49-F238E27FC236}">
                <a16:creationId xmlns:a16="http://schemas.microsoft.com/office/drawing/2014/main" id="{2670B3E8-DCBA-4AF3-9D64-3586D2083FD0}"/>
              </a:ext>
            </a:extLst>
          </p:cNvPr>
          <p:cNvSpPr>
            <a:spLocks xmlns:a="http://schemas.openxmlformats.org/drawingml/2006/main" noGrp="1"/>
          </p:cNvSpPr>
          <p:nvPr/>
        </p:nvSpPr>
        <p:spPr>
          <a:xfrm xmlns:a="http://schemas.openxmlformats.org/drawingml/2006/main">
            <a:off x="4648200" y="35814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TAU-2 Avg@4</a:t>
            </a:r>
          </a:p>
        </p:txBody>
      </p:sp>
      <p:sp>
        <p:nvSpPr>
          <p:cNvPr id="18" name="limit-v-1-2">
            <a:extLst xmlns:a="http://schemas.openxmlformats.org/drawingml/2006/main">
              <a:ext uri="{FF2B5EF4-FFF2-40B4-BE49-F238E27FC236}">
                <a16:creationId xmlns:a16="http://schemas.microsoft.com/office/drawing/2014/main" id="{7A2F61D0-907A-4816-9707-A46E74CA3A5C}"/>
              </a:ext>
            </a:extLst>
          </p:cNvPr>
          <p:cNvSpPr>
            <a:spLocks xmlns:a="http://schemas.openxmlformats.org/drawingml/2006/main" noGrp="1"/>
          </p:cNvSpPr>
          <p:nvPr/>
        </p:nvSpPr>
        <p:spPr>
          <a:xfrm xmlns:a="http://schemas.openxmlformats.org/drawingml/2006/main">
            <a:off x="4648200" y="41148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3 seeds × ablation matrix</a:t>
            </a:r>
          </a:p>
        </p:txBody>
      </p:sp>
      <p:sp>
        <p:nvSpPr>
          <p:cNvPr id="19" name="limit-v-1-3">
            <a:extLst xmlns:a="http://schemas.openxmlformats.org/drawingml/2006/main">
              <a:ext uri="{FF2B5EF4-FFF2-40B4-BE49-F238E27FC236}">
                <a16:creationId xmlns:a16="http://schemas.microsoft.com/office/drawing/2014/main" id="{15CE8E0B-40FA-4BFF-8EA0-E72315C4EA24}"/>
              </a:ext>
            </a:extLst>
          </p:cNvPr>
          <p:cNvSpPr>
            <a:spLocks xmlns:a="http://schemas.openxmlformats.org/drawingml/2006/main" noGrp="1"/>
          </p:cNvSpPr>
          <p:nvPr/>
        </p:nvSpPr>
        <p:spPr>
          <a:xfrm xmlns:a="http://schemas.openxmlformats.org/drawingml/2006/main">
            <a:off x="4648200" y="46482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更长训练与 replay-ratio sweep</a:t>
            </a:r>
          </a:p>
        </p:txBody>
      </p:sp>
      <p:sp>
        <p:nvSpPr>
          <p:cNvPr id="20" name="limit-2">
            <a:extLst xmlns:a="http://schemas.openxmlformats.org/drawingml/2006/main">
              <a:ext uri="{FF2B5EF4-FFF2-40B4-BE49-F238E27FC236}">
                <a16:creationId xmlns:a16="http://schemas.microsoft.com/office/drawing/2014/main" id="{3681B199-2D54-40AA-935C-3C27A8D4AE7F}"/>
              </a:ext>
            </a:extLst>
          </p:cNvPr>
          <p:cNvSpPr>
            <a:spLocks xmlns:a="http://schemas.openxmlformats.org/drawingml/2006/main" noGrp="1"/>
          </p:cNvSpPr>
          <p:nvPr/>
        </p:nvSpPr>
        <p:spPr>
          <a:xfrm xmlns:a="http://schemas.openxmlformats.org/drawingml/2006/main">
            <a:off x="8048625" y="2143125"/>
            <a:ext cx="3286125" cy="3286125"/>
          </a:xfrm>
          <a:prstGeom xmlns:a="http://schemas.openxmlformats.org/drawingml/2006/main" prst="roundRect">
            <a:avLst>
              <a:gd name="adj" fmla="val 3478"/>
            </a:avLst>
          </a:prstGeom>
          <a:solidFill xmlns:a="http://schemas.openxmlformats.org/drawingml/2006/main">
            <a:srgbClr val="F9E9E6"/>
          </a:solidFill>
          <a:ln xmlns:a="http://schemas.openxmlformats.org/drawingml/2006/main" w="9525">
            <a:solidFill>
              <a:srgbClr val="B44C4C"/>
            </a:solidFill>
            <a:prstDash val="solid"/>
          </a:ln>
        </p:spPr>
      </p:sp>
      <p:sp>
        <p:nvSpPr>
          <p:cNvPr id="21" name="limit-k-2">
            <a:extLst xmlns:a="http://schemas.openxmlformats.org/drawingml/2006/main">
              <a:ext uri="{FF2B5EF4-FFF2-40B4-BE49-F238E27FC236}">
                <a16:creationId xmlns:a16="http://schemas.microsoft.com/office/drawing/2014/main" id="{81EAC642-F620-4662-B1C2-9AC21AE5B88D}"/>
              </a:ext>
            </a:extLst>
          </p:cNvPr>
          <p:cNvSpPr>
            <a:spLocks xmlns:a="http://schemas.openxmlformats.org/drawingml/2006/main" noGrp="1"/>
          </p:cNvSpPr>
          <p:nvPr/>
        </p:nvSpPr>
        <p:spPr>
          <a:xfrm xmlns:a="http://schemas.openxmlformats.org/drawingml/2006/main">
            <a:off x="8277225" y="2381250"/>
            <a:ext cx="28289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1">
                <a:solidFill>
                  <a:srgbClr val="B44C4C"/>
                </a:solidFill>
              </a:defRPr>
            </a:pPr>
            <a:r>
              <a:rPr sz="1275" b="1">
                <a:solidFill>
                  <a:srgbClr val="B44C4C"/>
                </a:solidFill>
              </a:rPr>
              <a:t>BLOCKED RESOURCE</a:t>
            </a:r>
          </a:p>
        </p:txBody>
      </p:sp>
      <p:sp>
        <p:nvSpPr>
          <p:cNvPr id="22" name="limit-v-2-0">
            <a:extLst xmlns:a="http://schemas.openxmlformats.org/drawingml/2006/main">
              <a:ext uri="{FF2B5EF4-FFF2-40B4-BE49-F238E27FC236}">
                <a16:creationId xmlns:a16="http://schemas.microsoft.com/office/drawing/2014/main" id="{5EDC853E-D50B-4279-8EDF-DFF5A92BD533}"/>
              </a:ext>
            </a:extLst>
          </p:cNvPr>
          <p:cNvSpPr>
            <a:spLocks xmlns:a="http://schemas.openxmlformats.org/drawingml/2006/main" noGrp="1"/>
          </p:cNvSpPr>
          <p:nvPr/>
        </p:nvSpPr>
        <p:spPr>
          <a:xfrm xmlns:a="http://schemas.openxmlformats.org/drawingml/2006/main">
            <a:off x="8315325" y="30480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论文约 100K 数据飞轮</a:t>
            </a:r>
          </a:p>
        </p:txBody>
      </p:sp>
      <p:sp>
        <p:nvSpPr>
          <p:cNvPr id="23" name="limit-v-2-1">
            <a:extLst xmlns:a="http://schemas.openxmlformats.org/drawingml/2006/main">
              <a:ext uri="{FF2B5EF4-FFF2-40B4-BE49-F238E27FC236}">
                <a16:creationId xmlns:a16="http://schemas.microsoft.com/office/drawing/2014/main" id="{8F2D74AE-BBB0-45CE-8413-F210F1AE91C6}"/>
              </a:ext>
            </a:extLst>
          </p:cNvPr>
          <p:cNvSpPr>
            <a:spLocks xmlns:a="http://schemas.openxmlformats.org/drawingml/2006/main" noGrp="1"/>
          </p:cNvSpPr>
          <p:nvPr/>
        </p:nvSpPr>
        <p:spPr>
          <a:xfrm xmlns:a="http://schemas.openxmlformats.org/drawingml/2006/main">
            <a:off x="8315325" y="35814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Qwen3-235B simulator/judge</a:t>
            </a:r>
          </a:p>
        </p:txBody>
      </p:sp>
      <p:sp>
        <p:nvSpPr>
          <p:cNvPr id="24" name="limit-v-2-2">
            <a:extLst xmlns:a="http://schemas.openxmlformats.org/drawingml/2006/main">
              <a:ext uri="{FF2B5EF4-FFF2-40B4-BE49-F238E27FC236}">
                <a16:creationId xmlns:a16="http://schemas.microsoft.com/office/drawing/2014/main" id="{CBF2CE12-6B51-4AA4-9868-BA42AC2775D9}"/>
              </a:ext>
            </a:extLst>
          </p:cNvPr>
          <p:cNvSpPr>
            <a:spLocks xmlns:a="http://schemas.openxmlformats.org/drawingml/2006/main" noGrp="1"/>
          </p:cNvSpPr>
          <p:nvPr/>
        </p:nvSpPr>
        <p:spPr>
          <a:xfrm xmlns:a="http://schemas.openxmlformats.org/drawingml/2006/main">
            <a:off x="8315325" y="41148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8×H100 原配方</a:t>
            </a:r>
          </a:p>
        </p:txBody>
      </p:sp>
      <p:sp>
        <p:nvSpPr>
          <p:cNvPr id="25" name="limit-v-2-3">
            <a:extLst xmlns:a="http://schemas.openxmlformats.org/drawingml/2006/main">
              <a:ext uri="{FF2B5EF4-FFF2-40B4-BE49-F238E27FC236}">
                <a16:creationId xmlns:a16="http://schemas.microsoft.com/office/drawing/2014/main" id="{54F6A40F-98EC-4929-8167-731D2C2E4532}"/>
              </a:ext>
            </a:extLst>
          </p:cNvPr>
          <p:cNvSpPr>
            <a:spLocks xmlns:a="http://schemas.openxmlformats.org/drawingml/2006/main" noGrp="1"/>
          </p:cNvSpPr>
          <p:nvPr/>
        </p:nvSpPr>
        <p:spPr>
          <a:xfrm xmlns:a="http://schemas.openxmlformats.org/drawingml/2006/main">
            <a:off x="8315325" y="46482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论文 47.4 benchmark claim</a:t>
            </a:r>
          </a:p>
        </p:txBody>
      </p:sp>
    </p:spTree>
    <p:extLst>
      <p:ext uri="{BB962C8B-B14F-4D97-AF65-F5344CB8AC3E}">
        <p14:creationId xmlns:p14="http://schemas.microsoft.com/office/powerpoint/2010/main" val="1661833607"/>
      </p:ext>
    </p:extLst>
  </p:cSld>
</p:sld>
</file>

<file path=ppt/slides/slide15.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11" name="copper-15">
            <a:extLst xmlns:a="http://schemas.openxmlformats.org/drawingml/2006/main">
              <a:ext uri="{FF2B5EF4-FFF2-40B4-BE49-F238E27FC236}">
                <a16:creationId xmlns:a16="http://schemas.microsoft.com/office/drawing/2014/main" id="{C1D1E369-6028-45E0-8C6E-104C3E91918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C56D4A"/>
          </a:solidFill>
          <a:ln xmlns:a="http://schemas.openxmlformats.org/drawingml/2006/main" w="0">
            <a:solidFill>
              <a:srgbClr val="C56D4A"/>
            </a:solidFill>
            <a:prstDash val="solid"/>
          </a:ln>
        </p:spPr>
      </p:sp>
      <p:sp>
        <p:nvSpPr>
          <p:cNvPr id="2" name="chapter-script-15">
            <a:extLst xmlns:a="http://schemas.openxmlformats.org/drawingml/2006/main">
              <a:ext uri="{FF2B5EF4-FFF2-40B4-BE49-F238E27FC236}">
                <a16:creationId xmlns:a16="http://schemas.microsoft.com/office/drawing/2014/main" id="{F4E811F0-1639-42A9-A0FD-6335B116936F}"/>
              </a:ext>
            </a:extLst>
          </p:cNvPr>
          <p:cNvSpPr>
            <a:spLocks xmlns:a="http://schemas.openxmlformats.org/drawingml/2006/main" noGrp="1"/>
          </p:cNvSpPr>
          <p:nvPr/>
        </p:nvSpPr>
        <p:spPr>
          <a:xfrm xmlns:a="http://schemas.openxmlformats.org/drawingml/2006/main">
            <a:off x="800100" y="647700"/>
            <a:ext cx="4762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175" b="1">
                <a:solidFill>
                  <a:srgbClr val="D6A84B"/>
                </a:solidFill>
              </a:defRPr>
            </a:pPr>
            <a:r>
              <a:rPr sz="2175" b="1">
                <a:solidFill>
                  <a:srgbClr val="D6A84B"/>
                </a:solidFill>
              </a:rPr>
              <a:t>长程智能体 · 强化学习</a:t>
            </a:r>
          </a:p>
        </p:txBody>
      </p:sp>
      <p:sp>
        <p:nvSpPr>
          <p:cNvPr id="3" name="roman-15">
            <a:extLst xmlns:a="http://schemas.openxmlformats.org/drawingml/2006/main">
              <a:ext uri="{FF2B5EF4-FFF2-40B4-BE49-F238E27FC236}">
                <a16:creationId xmlns:a16="http://schemas.microsoft.com/office/drawing/2014/main" id="{77646FE5-44F2-4FF3-AE94-72126792FD64}"/>
              </a:ext>
            </a:extLst>
          </p:cNvPr>
          <p:cNvSpPr>
            <a:spLocks xmlns:a="http://schemas.openxmlformats.org/drawingml/2006/main" noGrp="1"/>
          </p:cNvSpPr>
          <p:nvPr/>
        </p:nvSpPr>
        <p:spPr>
          <a:xfrm xmlns:a="http://schemas.openxmlformats.org/drawingml/2006/main">
            <a:off x="8001000" y="323850"/>
            <a:ext cx="30480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2450" b="1">
                <a:solidFill>
                  <a:srgbClr val="0E2B3D"/>
                </a:solidFill>
              </a:defRPr>
            </a:pPr>
            <a:r>
              <a:rPr sz="12450" b="1">
                <a:solidFill>
                  <a:srgbClr val="0E2B3D"/>
                </a:solidFill>
              </a:rPr>
              <a:t>✓</a:t>
            </a:r>
          </a:p>
        </p:txBody>
      </p:sp>
      <p:sp>
        <p:nvSpPr>
          <p:cNvPr id="4" name="">
            <a:extLst xmlns:a="http://schemas.openxmlformats.org/drawingml/2006/main">
              <a:ext uri="{FF2B5EF4-FFF2-40B4-BE49-F238E27FC236}">
                <a16:creationId xmlns:a16="http://schemas.microsoft.com/office/drawing/2014/main" id="{F5C48EA9-492D-4799-8735-95CD59210DE7}"/>
              </a:ext>
            </a:extLst>
          </p:cNvPr>
          <p:cNvSpPr>
            <a:spLocks xmlns:a="http://schemas.openxmlformats.org/drawingml/2006/main" noGrp="1"/>
          </p:cNvSpPr>
          <p:nvPr/>
        </p:nvSpPr>
        <p:spPr>
          <a:xfrm xmlns:a="http://schemas.openxmlformats.org/drawingml/2006/main">
            <a:off x="819150" y="1628775"/>
            <a:ext cx="1619250" cy="0"/>
          </a:xfrm>
          <a:prstGeom xmlns:a="http://schemas.openxmlformats.org/drawingml/2006/main" prst="line">
            <a:avLst/>
          </a:prstGeom>
          <a:noFill xmlns:a="http://schemas.openxmlformats.org/drawingml/2006/main"/>
          <a:ln xmlns:a="http://schemas.openxmlformats.org/drawingml/2006/main" w="47625">
            <a:solidFill>
              <a:srgbClr val="C56D4A"/>
            </a:solidFill>
            <a:prstDash val="solid"/>
          </a:ln>
        </p:spPr>
      </p:sp>
      <p:sp>
        <p:nvSpPr>
          <p:cNvPr id="5" name="zh-15">
            <a:extLst xmlns:a="http://schemas.openxmlformats.org/drawingml/2006/main">
              <a:ext uri="{FF2B5EF4-FFF2-40B4-BE49-F238E27FC236}">
                <a16:creationId xmlns:a16="http://schemas.microsoft.com/office/drawing/2014/main" id="{2C6EECB3-02DB-430E-91DC-893FF7091CF0}"/>
              </a:ext>
            </a:extLst>
          </p:cNvPr>
          <p:cNvSpPr>
            <a:spLocks xmlns:a="http://schemas.openxmlformats.org/drawingml/2006/main" noGrp="1"/>
          </p:cNvSpPr>
          <p:nvPr/>
        </p:nvSpPr>
        <p:spPr>
          <a:xfrm xmlns:a="http://schemas.openxmlformats.org/drawingml/2006/main">
            <a:off x="781050" y="2038350"/>
            <a:ext cx="7620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4275" b="1">
                <a:solidFill>
                  <a:srgbClr val="F7F1E8"/>
                </a:solidFill>
              </a:defRPr>
            </a:pPr>
            <a:r>
              <a:rPr sz="4275" b="1">
                <a:solidFill>
                  <a:srgbClr val="F7F1E8"/>
                </a:solidFill>
              </a:rPr>
              <a:t>从论文到可审计项目</a:t>
            </a:r>
          </a:p>
        </p:txBody>
      </p:sp>
      <p:sp>
        <p:nvSpPr>
          <p:cNvPr id="6" name="en-15">
            <a:extLst xmlns:a="http://schemas.openxmlformats.org/drawingml/2006/main">
              <a:ext uri="{FF2B5EF4-FFF2-40B4-BE49-F238E27FC236}">
                <a16:creationId xmlns:a16="http://schemas.microsoft.com/office/drawing/2014/main" id="{95B2CDB1-36BD-46DE-9567-10D375D98D1D}"/>
              </a:ext>
            </a:extLst>
          </p:cNvPr>
          <p:cNvSpPr>
            <a:spLocks xmlns:a="http://schemas.openxmlformats.org/drawingml/2006/main" noGrp="1"/>
          </p:cNvSpPr>
          <p:nvPr/>
        </p:nvSpPr>
        <p:spPr>
          <a:xfrm xmlns:a="http://schemas.openxmlformats.org/drawingml/2006/main">
            <a:off x="828675" y="3028950"/>
            <a:ext cx="857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800" b="1">
                <a:solidFill>
                  <a:srgbClr val="18A6A6"/>
                </a:solidFill>
              </a:defRPr>
            </a:pPr>
            <a:r>
              <a:rPr sz="1800" b="1">
                <a:solidFill>
                  <a:srgbClr val="18A6A6"/>
                </a:solidFill>
              </a:rPr>
              <a:t>PLAN · EXECUTE · VERIFY · REPORT</a:t>
            </a:r>
          </a:p>
        </p:txBody>
      </p:sp>
      <p:sp>
        <p:nvSpPr>
          <p:cNvPr id="7" name="body-15">
            <a:extLst xmlns:a="http://schemas.openxmlformats.org/drawingml/2006/main">
              <a:ext uri="{FF2B5EF4-FFF2-40B4-BE49-F238E27FC236}">
                <a16:creationId xmlns:a16="http://schemas.microsoft.com/office/drawing/2014/main" id="{0F2283DB-02D9-4FD1-A9B6-40923C409F11}"/>
              </a:ext>
            </a:extLst>
          </p:cNvPr>
          <p:cNvSpPr>
            <a:spLocks xmlns:a="http://schemas.openxmlformats.org/drawingml/2006/main" noGrp="1"/>
          </p:cNvSpPr>
          <p:nvPr/>
        </p:nvSpPr>
        <p:spPr>
          <a:xfrm xmlns:a="http://schemas.openxmlformats.org/drawingml/2006/main">
            <a:off x="828675" y="3905250"/>
            <a:ext cx="7905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nSpc>
                <a:spcPct val="118000"/>
              </a:lnSpc>
              <a:buNone/>
              <a:defRPr sz="1575">
                <a:solidFill>
                  <a:srgbClr val="C7D6DC"/>
                </a:solidFill>
              </a:defRPr>
            </a:pPr>
            <a:r>
              <a:rPr sz="1575">
                <a:solidFill>
                  <a:srgbClr val="C7D6DC"/>
                </a:solidFill>
              </a:rPr>
              <a:t>现在可以真实地讲：我实现并运行了一个 Qwen3-8B 长程 Agentic RL curriculum，模型经历了真实多轮工具环境、失败诊断、难例再训练与独立重载。下一步是运行官方 benchmark、扩大数据与 seeds，而不是补一个更漂亮的故事。</a:t>
            </a:r>
          </a:p>
        </p:txBody>
      </p:sp>
      <p:sp>
        <p:nvSpPr>
          <p:cNvPr id="8" name="chapter-pill-15-bg">
            <a:extLst xmlns:a="http://schemas.openxmlformats.org/drawingml/2006/main">
              <a:ext uri="{FF2B5EF4-FFF2-40B4-BE49-F238E27FC236}">
                <a16:creationId xmlns:a16="http://schemas.microsoft.com/office/drawing/2014/main" id="{EF075E07-66FA-4BB8-8CA1-D100E56CF5B2}"/>
              </a:ext>
            </a:extLst>
          </p:cNvPr>
          <p:cNvSpPr>
            <a:spLocks xmlns:a="http://schemas.openxmlformats.org/drawingml/2006/main" noGrp="1"/>
          </p:cNvSpPr>
          <p:nvPr/>
        </p:nvSpPr>
        <p:spPr>
          <a:xfrm xmlns:a="http://schemas.openxmlformats.org/drawingml/2006/main">
            <a:off x="828675" y="5638800"/>
            <a:ext cx="1428750" cy="285750"/>
          </a:xfrm>
          <a:prstGeom xmlns:a="http://schemas.openxmlformats.org/drawingml/2006/main" prst="roundRect">
            <a:avLst>
              <a:gd name="adj" fmla="val 50000"/>
            </a:avLst>
          </a:prstGeom>
          <a:solidFill xmlns:a="http://schemas.openxmlformats.org/drawingml/2006/main">
            <a:srgbClr val="C56D4A"/>
          </a:solidFill>
          <a:ln xmlns:a="http://schemas.openxmlformats.org/drawingml/2006/main" w="0">
            <a:solidFill>
              <a:srgbClr val="C56D4A"/>
            </a:solidFill>
            <a:prstDash val="solid"/>
          </a:ln>
        </p:spPr>
      </p:sp>
      <p:sp>
        <p:nvSpPr>
          <p:cNvPr id="9" name="chapter-pill-15-text">
            <a:extLst xmlns:a="http://schemas.openxmlformats.org/drawingml/2006/main">
              <a:ext uri="{FF2B5EF4-FFF2-40B4-BE49-F238E27FC236}">
                <a16:creationId xmlns:a16="http://schemas.microsoft.com/office/drawing/2014/main" id="{B95CAC9F-6626-40E5-AACB-C1FCD917AFE0}"/>
              </a:ext>
            </a:extLst>
          </p:cNvPr>
          <p:cNvSpPr>
            <a:spLocks xmlns:a="http://schemas.openxmlformats.org/drawingml/2006/main" noGrp="1"/>
          </p:cNvSpPr>
          <p:nvPr/>
        </p:nvSpPr>
        <p:spPr>
          <a:xfrm xmlns:a="http://schemas.openxmlformats.org/drawingml/2006/main">
            <a:off x="923925" y="5686425"/>
            <a:ext cx="1238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CHAPTER 15</a:t>
            </a:r>
          </a:p>
        </p:txBody>
      </p:sp>
      <p:sp>
        <p:nvSpPr>
          <p:cNvPr id="10" name="close-command">
            <a:extLst xmlns:a="http://schemas.openxmlformats.org/drawingml/2006/main">
              <a:ext uri="{FF2B5EF4-FFF2-40B4-BE49-F238E27FC236}">
                <a16:creationId xmlns:a16="http://schemas.microsoft.com/office/drawing/2014/main" id="{48813148-D2E7-42A8-BC08-D014AB53700C}"/>
              </a:ext>
            </a:extLst>
          </p:cNvPr>
          <p:cNvSpPr>
            <a:spLocks xmlns:a="http://schemas.openxmlformats.org/drawingml/2006/main" noGrp="1"/>
          </p:cNvSpPr>
          <p:nvPr/>
        </p:nvSpPr>
        <p:spPr>
          <a:xfrm xmlns:a="http://schemas.openxmlformats.org/drawingml/2006/main">
            <a:off x="819150" y="5095875"/>
            <a:ext cx="9048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F7F1E8"/>
                </a:solidFill>
              </a:defRPr>
            </a:pPr>
            <a:r>
              <a:rPr sz="1200" b="1">
                <a:solidFill>
                  <a:srgbClr val="F7F1E8"/>
                </a:solidFill>
              </a:rPr>
              <a:t>./run_curriculum_modal.sh  →  ./finalize_curriculum_report.sh  →  build_curriculum_deck.mjs</a:t>
            </a:r>
          </a:p>
        </p:txBody>
      </p:sp>
    </p:spTree>
    <p:extLst>
      <p:ext uri="{BB962C8B-B14F-4D97-AF65-F5344CB8AC3E}">
        <p14:creationId xmlns:p14="http://schemas.microsoft.com/office/powerpoint/2010/main" val="171303484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2026-08-04T04:22:28.9630000Z</dcterms:created>
  <dcterms:modified xsi:type="dcterms:W3CDTF">2026-08-04T04:22:28.9630000Z</dcterms:modified>
</coreProperties>
</file>