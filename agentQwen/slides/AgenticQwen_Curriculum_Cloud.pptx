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02c5dc0d1440ff" /><Relationship Type="http://schemas.openxmlformats.org/officeDocument/2006/relationships/extended-properties" Target="/docProps/app.xml" Id="R9d43e0ba295c42ca" /><Relationship Type="http://schemas.openxmlformats.org/officeDocument/2006/relationships/officeDocument" Target="/ppt/presentation.xml" Id="R247fc9871cd8466f" /></Relationships>
</file>

<file path=ppt/presentation.xml><?xml version="1.0" encoding="utf-8"?>
<p:presentation xmlns:p="http://schemas.openxmlformats.org/presentationml/2006/main">
  <p:sldMasterIdLst>
    <p:sldMasterId xmlns:r="http://schemas.openxmlformats.org/officeDocument/2006/relationships" id="2147483648" r:id="Rd4d97c303ec746d2"/>
  </p:sldMasterIdLst>
  <p:notesMasterIdLst>
    <p:notesMasterId xmlns:r="http://schemas.openxmlformats.org/officeDocument/2006/relationships" r:id="Rf9abbe40be764e7e"/>
  </p:notesMasterIdLst>
  <p:sldIdLst>
    <p:sldId xmlns:r="http://schemas.openxmlformats.org/officeDocument/2006/relationships" id="256" r:id="R3f90ea4fda104249"/>
    <p:sldId xmlns:r="http://schemas.openxmlformats.org/officeDocument/2006/relationships" id="257" r:id="R463206e1e93c4be3"/>
    <p:sldId xmlns:r="http://schemas.openxmlformats.org/officeDocument/2006/relationships" id="258" r:id="R310549ad93e14db4"/>
    <p:sldId xmlns:r="http://schemas.openxmlformats.org/officeDocument/2006/relationships" id="259" r:id="R948d2b514a1a487d"/>
    <p:sldId xmlns:r="http://schemas.openxmlformats.org/officeDocument/2006/relationships" id="260" r:id="R259a62b3149240a3"/>
    <p:sldId xmlns:r="http://schemas.openxmlformats.org/officeDocument/2006/relationships" id="261" r:id="Rc6c034c837a14ba0"/>
    <p:sldId xmlns:r="http://schemas.openxmlformats.org/officeDocument/2006/relationships" id="262" r:id="Re3f4c510dc364c13"/>
    <p:sldId xmlns:r="http://schemas.openxmlformats.org/officeDocument/2006/relationships" id="263" r:id="Rb6b1f8ec3fe447fc"/>
    <p:sldId xmlns:r="http://schemas.openxmlformats.org/officeDocument/2006/relationships" id="264" r:id="R2a2a6b5fab234b81"/>
    <p:sldId xmlns:r="http://schemas.openxmlformats.org/officeDocument/2006/relationships" id="265" r:id="R16190909563c4309"/>
    <p:sldId xmlns:r="http://schemas.openxmlformats.org/officeDocument/2006/relationships" id="266" r:id="R5fb1764b6b214a70"/>
    <p:sldId xmlns:r="http://schemas.openxmlformats.org/officeDocument/2006/relationships" id="267" r:id="Rc0356b2d9d2c41d4"/>
    <p:sldId xmlns:r="http://schemas.openxmlformats.org/officeDocument/2006/relationships" id="268" r:id="R1dcfb5e0c93849e0"/>
    <p:sldId xmlns:r="http://schemas.openxmlformats.org/officeDocument/2006/relationships" id="269" r:id="Rdb819213c59c41d0"/>
    <p:sldId xmlns:r="http://schemas.openxmlformats.org/officeDocument/2006/relationships" id="270" r:id="R66db5e98db7d4e24"/>
    <p:sldId xmlns:r="http://schemas.openxmlformats.org/officeDocument/2006/relationships" id="271" r:id="Rb7f60f6f907c45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9060bc880446cf" /><Relationship Type="http://schemas.openxmlformats.org/officeDocument/2006/relationships/slideMaster" Target="/ppt/slideMasters/slideMaster1.xml" Id="Rd4d97c303ec746d2" /><Relationship Type="http://schemas.openxmlformats.org/officeDocument/2006/relationships/notesMaster" Target="/ppt/notesMasters/notesMaster1.xml" Id="Rf9abbe40be764e7e" /><Relationship Type="http://schemas.openxmlformats.org/officeDocument/2006/relationships/presProps" Target="/ppt/presProps.xml" Id="R1c67ecfb11a2462a" /><Relationship Type="http://schemas.openxmlformats.org/officeDocument/2006/relationships/tableStyles" Target="/ppt/tableStyles.xml" Id="R38f2a0b859934ba5" /><Relationship Type="http://schemas.openxmlformats.org/officeDocument/2006/relationships/slide" Target="/ppt/slides/slide1.xml" Id="R3f90ea4fda104249" /><Relationship Type="http://schemas.openxmlformats.org/officeDocument/2006/relationships/slide" Target="/ppt/slides/slide2.xml" Id="R463206e1e93c4be3" /><Relationship Type="http://schemas.openxmlformats.org/officeDocument/2006/relationships/slide" Target="/ppt/slides/slide3.xml" Id="R310549ad93e14db4" /><Relationship Type="http://schemas.openxmlformats.org/officeDocument/2006/relationships/slide" Target="/ppt/slides/slide4.xml" Id="R948d2b514a1a487d" /><Relationship Type="http://schemas.openxmlformats.org/officeDocument/2006/relationships/slide" Target="/ppt/slides/slide5.xml" Id="R259a62b3149240a3" /><Relationship Type="http://schemas.openxmlformats.org/officeDocument/2006/relationships/slide" Target="/ppt/slides/slide6.xml" Id="Rc6c034c837a14ba0" /><Relationship Type="http://schemas.openxmlformats.org/officeDocument/2006/relationships/slide" Target="/ppt/slides/slide7.xml" Id="Re3f4c510dc364c13" /><Relationship Type="http://schemas.openxmlformats.org/officeDocument/2006/relationships/slide" Target="/ppt/slides/slide8.xml" Id="Rb6b1f8ec3fe447fc" /><Relationship Type="http://schemas.openxmlformats.org/officeDocument/2006/relationships/slide" Target="/ppt/slides/slide9.xml" Id="R2a2a6b5fab234b81" /><Relationship Type="http://schemas.openxmlformats.org/officeDocument/2006/relationships/slide" Target="/ppt/slides/slide10.xml" Id="R16190909563c4309" /><Relationship Type="http://schemas.openxmlformats.org/officeDocument/2006/relationships/slide" Target="/ppt/slides/slide11.xml" Id="R5fb1764b6b214a70" /><Relationship Type="http://schemas.openxmlformats.org/officeDocument/2006/relationships/slide" Target="/ppt/slides/slide12.xml" Id="Rc0356b2d9d2c41d4" /><Relationship Type="http://schemas.openxmlformats.org/officeDocument/2006/relationships/slide" Target="/ppt/slides/slide13.xml" Id="R1dcfb5e0c93849e0" /><Relationship Type="http://schemas.openxmlformats.org/officeDocument/2006/relationships/slide" Target="/ppt/slides/slide14.xml" Id="Rdb819213c59c41d0" /><Relationship Type="http://schemas.openxmlformats.org/officeDocument/2006/relationships/slide" Target="/ppt/slides/slide15.xml" Id="R66db5e98db7d4e24" /><Relationship Type="http://schemas.openxmlformats.org/officeDocument/2006/relationships/slide" Target="/ppt/slides/slide16.xml" Id="Rb7f60f6f907c45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8c5dc5a3784c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b1313dc1794d55" /><Relationship Type="http://schemas.openxmlformats.org/officeDocument/2006/relationships/notesMaster" Target="/ppt/notesMasters/notesMaster1.xml" Id="R9df54e5eca794a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4d6bc2a31849f4" /><Relationship Type="http://schemas.openxmlformats.org/officeDocument/2006/relationships/notesMaster" Target="/ppt/notesMasters/notesMaster1.xml" Id="R0c178f6c6cc146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3be03a76494973" /><Relationship Type="http://schemas.openxmlformats.org/officeDocument/2006/relationships/notesMaster" Target="/ppt/notesMasters/notesMaster1.xml" Id="R23488076491a49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425e8a0e8c407e" /><Relationship Type="http://schemas.openxmlformats.org/officeDocument/2006/relationships/notesMaster" Target="/ppt/notesMasters/notesMaster1.xml" Id="Rd31b2e6029fd4c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4d19fe910f4386" /><Relationship Type="http://schemas.openxmlformats.org/officeDocument/2006/relationships/notesMaster" Target="/ppt/notesMasters/notesMaster1.xml" Id="R6d4c3ee9854942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46249739c44d04" /><Relationship Type="http://schemas.openxmlformats.org/officeDocument/2006/relationships/notesMaster" Target="/ppt/notesMasters/notesMaster1.xml" Id="Rb8b665bfcfe343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e2870d081f476b" /><Relationship Type="http://schemas.openxmlformats.org/officeDocument/2006/relationships/notesMaster" Target="/ppt/notesMasters/notesMaster1.xml" Id="Rbe4f9e20077b43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87509d746d421c" /><Relationship Type="http://schemas.openxmlformats.org/officeDocument/2006/relationships/notesMaster" Target="/ppt/notesMasters/notesMaster1.xml" Id="Rf78412a955f842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b17415d9e14c55" /><Relationship Type="http://schemas.openxmlformats.org/officeDocument/2006/relationships/notesMaster" Target="/ppt/notesMasters/notesMaster1.xml" Id="Re9dfbd6f7fc746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3d7b2418a143b8" /><Relationship Type="http://schemas.openxmlformats.org/officeDocument/2006/relationships/notesMaster" Target="/ppt/notesMasters/notesMaster1.xml" Id="R2154b4216fce4d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b04dedc34d4c68" /><Relationship Type="http://schemas.openxmlformats.org/officeDocument/2006/relationships/notesMaster" Target="/ppt/notesMasters/notesMaster1.xml" Id="R7465ac9d11d14c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7445d6a47e4efa" /><Relationship Type="http://schemas.openxmlformats.org/officeDocument/2006/relationships/notesMaster" Target="/ppt/notesMasters/notesMaster1.xml" Id="Rda21e7809f314f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df48d0351b4ed3" /><Relationship Type="http://schemas.openxmlformats.org/officeDocument/2006/relationships/notesMaster" Target="/ppt/notesMasters/notesMaster1.xml" Id="R3d08a61ba8ec47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5ead878d804f87" /><Relationship Type="http://schemas.openxmlformats.org/officeDocument/2006/relationships/notesMaster" Target="/ppt/notesMasters/notesMaster1.xml" Id="R280166ebb1f541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b33fa3a70641f6" /><Relationship Type="http://schemas.openxmlformats.org/officeDocument/2006/relationships/notesMaster" Target="/ppt/notesMasters/notesMaster1.xml" Id="R590b6238905343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43538ef4504a59" /><Relationship Type="http://schemas.openxmlformats.org/officeDocument/2006/relationships/notesMaster" Target="/ppt/notesMasters/notesMaster1.xml" Id="Racec69405ec340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开场先讲清证据边界：这是一次真实小规模云端训练闭环，不是论文八卡/100K 数据指标复刻。</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/Users/hongbo/Documents/Codex/2026-08-02/https-yyhdbl-github-io/outputs/agenticqwen-reproduction/artifacts/cloud_codelab/agenticqwen_codelab_curriculum_run1/run_summary.json</a:t>
            </a:r>
          </a:p>
          <a:p xmlns:a="http://schemas.openxmlformats.org/drawingml/2006/main">
            <a:r>
              <a:t>- /Users/hongbo/Documents/Codex/2026-08-02/https-yyhdbl-github-io/outputs/agenticqwen-reproduction/artifacts/cloud_codelab/agenticqwen_codelab_curriculum_run1/verification.json</a:t>
            </a:r>
          </a:p>
          <a:p xmlns:a="http://schemas.openxmlformats.org/drawingml/2006/main">
            <a:r>
              <a:t>- https://arxiv.org/abs/2604.21590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这是给入门同学的总地图。后面的每一页都落到这四层中的一个证据问题。</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/Users/hongbo/Documents/Codex/2026-08-02/https-yyhdbl-github-io/outputs/agenticqwen-reproduction/docs/curriculum_protocol.md</a:t>
            </a:r>
          </a:p>
          <a:p xmlns:a="http://schemas.openxmlformats.org/drawingml/2006/main">
            <a:r>
              <a:t>- /Users/hongbo/Documents/Codex/2026-08-02/https-yyhdbl-github-io/outputs/agenticqwen-reproduction/artifacts/cloud_codelab/agenticqwen_codelab_curriculum_run1/resolved_config.json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先比较论文与本项目尺度，避免把工程闭环 PASS 误解成论文分数复现。</a:t>
            </a:r>
          </a:p>
          <a:p xmlns:a="http://schemas.openxmlformats.org/drawingml/2006/main">
            <a:r>
              <a:t/>
            </a:r>
          </a:p>
          <a:p xmlns:a="http://schemas.openxmlformats.org/drawingml/2006/main">
            <a:r>
              <a:t>[Sources]</a:t>
            </a:r>
          </a:p>
          <a:p xmlns:a="http://schemas.openxmlformats.org/drawingml/2006/main">
            <a:r>
              <a:t>- https://arxiv.org/abs/2604.21590</a:t>
            </a:r>
          </a:p>
          <a:p xmlns:a="http://schemas.openxmlformats.org/drawingml/2006/main">
            <a:r>
              <a:t>- /Users/hongbo/Documents/Codex/2026-08-02/https-yyhdbl-github-io/outputs/agenticqwen-reproduction/artifacts/cloud_codelab/agenticqwen_codelab_curriculum_run1/resolved_config.json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强调模型只生成动作，环境负责执行，reward 从最终状态读取。</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/Users/hongbo/Documents/Codex/2026-08-02/https-yyhdbl-github-io/outputs/agenticqwen-reproduction/src/agentic_repro/curriculum_env.py</a:t>
            </a:r>
          </a:p>
          <a:p xmlns:a="http://schemas.openxmlformats.org/drawingml/2006/main">
            <a:r>
              <a:t>- /Users/hongbo/Documents/Codex/2026-08-02/https-yyhdbl-github-io/outputs/agenticqwen-reproduction/src/agentic_repro/curriculum_train.py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这页适合面试时讲 environment design：不可逆动作由代码硬门控制，模型无法通过语言绕过。</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/Users/hongbo/Documents/Codex/2026-08-02/https-yyhdbl-github-io/outputs/agenticqwen-reproduction/src/agentic_repro/curriculum_env.py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response-token 是本次相对早期单 token demo 的关键升级：整个 assistant completion 参与策略优化。</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/Users/hongbo/Documents/Codex/2026-08-02/https-yyhdbl-github-io/outputs/agenticqwen-reproduction/artifacts/cloud_codelab/agenticqwen_codelab_curriculum_run1/resolved_config.json</a:t>
            </a:r>
          </a:p>
          <a:p xmlns:a="http://schemas.openxmlformats.org/drawingml/2006/main">
            <a:r>
              <a:t>- https://huggingface.co/docs/trl/en/grpo_trainer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第二章切入用户最关心的 curriculum：训练—失败—合成更难数据—再训练。</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/Users/hongbo/Documents/Codex/2026-08-02/https-yyhdbl-github-io/outputs/agenticqwen-reproduction/artifacts/cloud_codelab/agenticqwen_codelab_curriculum_run1/stage2/synthesis_manifest.json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1 后在冻结 probe 上生成轨迹并分类 terminal state；该 trace 的 hash 是合成输入证据。</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/Users/hongbo/Documents/Codex/2026-08-02/https-yyhdbl-github-io/outputs/agenticqwen-reproduction/artifacts/cloud_codelab/agenticqwen_codelab_curriculum_run1/stage1/summary.json</a:t>
            </a:r>
          </a:p>
          <a:p xmlns:a="http://schemas.openxmlformats.org/drawingml/2006/main">
            <a:r>
              <a:t>- /Users/hongbo/Documents/Codex/2026-08-02/https-yyhdbl-github-io/outputs/agenticqwen-reproduction/artifacts/cloud_codelab/agenticqwen_codelab_curriculum_run1/stage1/eval_probe_traces.jsonl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此页是 curriculum 的核心：failure category 到 task perturbation 的确定性映射，并保留 trace/data hash。</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/Users/hongbo/Documents/Codex/2026-08-02/https-yyhdbl-github-io/outputs/agenticqwen-reproduction/artifacts/cloud_codelab/agenticqwen_codelab_curriculum_run1/stage2/synthesis_manifest.json</a:t>
            </a:r>
          </a:p>
          <a:p xmlns:a="http://schemas.openxmlformats.org/drawingml/2006/main">
            <a:r>
              <a:t>- /Users/hongbo/Documents/Codex/2026-08-02/https-yyhdbl-github-io/outputs/agenticqwen-reproduction/artifacts/cloud_codelab/agenticqwen_codelab_curriculum_run1/tasks/stage2_hard.jsonl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结果页必须如实展示正负 delta；不要用完整性 PASS 替代性能提升。</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/Users/hongbo/Documents/Codex/2026-08-02/https-yyhdbl-github-io/outputs/agenticqwen-reproduction/artifacts/cloud_codelab/agenticqwen_codelab_curriculum_run1/stage2/summary.json</a:t>
            </a:r>
          </a:p>
          <a:p xmlns:a="http://schemas.openxmlformats.org/drawingml/2006/main">
            <a:r>
              <a:t>- /Users/hongbo/Documents/Codex/2026-08-02/https-yyhdbl-github-io/outputs/agenticqwen-reproduction/artifacts/cloud_codelab/agenticqwen_codelab_curriculum_run1/fresh_replay/summary.json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轨迹页用 environment event ledger，而不是模型自述，证明每次读写、observation 和最终状态。</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/Users/hongbo/Documents/Codex/2026-08-02/https-yyhdbl-github-io/outputs/agenticqwen-reproduction/artifacts/cloud_codelab/agenticqwen_codelab_curriculum_run1/stage2/eval_final_traces.jsonl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这页区分官方 evaluator 流水线是否成功与模型实际得分；本次四类 smoke 的 base 和 Stage-2 得分均为 0.00%。</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/Users/hongbo/Documents/Codex/2026-08-02/https-yyhdbl-github-io/outputs/agenticqwen-reproduction/docs/benchmark_protocol.md</a:t>
            </a:r>
          </a:p>
          <a:p xmlns:a="http://schemas.openxmlformats.org/drawingml/2006/main">
            <a:r>
              <a:t>- /Users/hongbo/Documents/Codex/2026-08-02/https-yyhdbl-github-io/outputs/agenticqwen-reproduction/artifacts/cloud_codelab/agenticqwen_codelab_curriculum_run1/benchmarks/bfcl_smoke/manifest.json</a:t>
            </a:r>
          </a:p>
          <a:p xmlns:a="http://schemas.openxmlformats.org/drawingml/2006/main">
            <a:r>
              <a:t>- https://github.com/ShishirPatil/gorilla/tree/main/berkeley-function-call-leaderboard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审计门覆盖 adapter、权重变化、Stage-2 继承、数据隔离、轨迹、计划步数和真正的子进程重载。</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/Users/hongbo/Documents/Codex/2026-08-02/https-yyhdbl-github-io/outputs/agenticqwen-reproduction/artifacts/cloud_codelab/agenticqwen_codelab_curriculum_run1/verification.json</a:t>
            </a:r>
          </a:p>
          <a:p xmlns:a="http://schemas.openxmlformats.org/drawingml/2006/main">
            <a:r>
              <a:t>- /Users/hongbo/Documents/Codex/2026-08-02/https-yyhdbl-github-io/outputs/agenticqwen-reproduction/artifacts/cloud_codelab/agenticqwen_codelab_curriculum_run1/stage1/summary.json</a:t>
            </a:r>
          </a:p>
          <a:p xmlns:a="http://schemas.openxmlformats.org/drawingml/2006/main">
            <a:r>
              <a:t>- /Users/hongbo/Documents/Codex/2026-08-02/https-yyhdbl-github-io/outputs/agenticqwen-reproduction/artifacts/cloud_codelab/agenticqwen_codelab_curriculum_run1/stage2/summary.json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面试时最可信的讲法：先讲闭环与证据，再主动说 paper-scale 没做，最后给出扩展实验。</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/Users/hongbo/Documents/Codex/2026-08-02/https-yyhdbl-github-io/outputs/agenticqwen-reproduction/artifacts/cloud_codelab/agenticqwen_codelab_curriculum_run1/run_summary.json</a:t>
            </a:r>
          </a:p>
          <a:p xmlns:a="http://schemas.openxmlformats.org/drawingml/2006/main">
            <a:r>
              <a:t>- /Users/hongbo/Documents/Codex/2026-08-02/https-yyhdbl-github-io/outputs/agenticqwen-reproduction/README.md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这张机制图解释为什么第二阶段数据不是随机扩充：失败路径被反译成新的环境状态、用户指令、智能体约束与分支工作流。</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/Users/hongbo/Documents/Codex/2026-08-02/https-yyhdbl-github-io/outputs/agenticqwen-reproduction/agenticqwen_report/images/figure4_curriculum_stage_flow.png</a:t>
            </a:r>
          </a:p>
          <a:p xmlns:a="http://schemas.openxmlformats.org/drawingml/2006/main">
            <a:r>
              <a:t>- /Users/hongbo/Documents/Codex/2026-08-02/https-yyhdbl-github-io/outputs/agenticqwen-reproduction/artifacts/cloud_codelab/agenticqwen_codelab_curriculum_run1/stage2/synthesis_manifest.json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结尾把项目浓缩成一句可用于简历和面试、但不越过证据边界的话。</a:t>
            </a:r>
          </a:p>
          <a:p xmlns:a="http://schemas.openxmlformats.org/drawingml/2006/main">
            <a:r>
              <a:t/>
            </a:r>
          </a:p>
          <a:p xmlns:a="http://schemas.openxmlformats.org/drawingml/2006/main">
            <a:r>
              <a:t>[Sources]</a:t>
            </a:r>
          </a:p>
          <a:p xmlns:a="http://schemas.openxmlformats.org/drawingml/2006/main">
            <a:r>
              <a:t>- /Users/hongbo/Documents/Codex/2026-08-02/https-yyhdbl-github-io/outputs/agenticqwen-reproduction/artifacts/cloud_codelab/agenticqwen_codelab_curriculum_run1/verification.json</a:t>
            </a:r>
          </a:p>
          <a:p xmlns:a="http://schemas.openxmlformats.org/drawingml/2006/main">
            <a:r>
              <a:t>- /Users/hongbo/Documents/Codex/2026-08-02/https-yyhdbl-github-io/outputs/agenticqwen-reproduction/docs/benchmark_protocol.md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7cc0b8c5094c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718dfffab64811" /><Relationship Type="http://schemas.openxmlformats.org/officeDocument/2006/relationships/slideLayout" Target="/ppt/slideLayouts/slideLayout1.xml" Id="R257f05dd88e54d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7f05dd88e54d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887988936d4122" /><Relationship Type="http://schemas.openxmlformats.org/officeDocument/2006/relationships/notesSlide" Target="/ppt/notesSlides/notesSlide1.xml" Id="R95c09c8ce9e748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6bd97c052b44d8" /><Relationship Type="http://schemas.openxmlformats.org/officeDocument/2006/relationships/notesSlide" Target="/ppt/notesSlides/notesSlide2.xml" Id="Ra34cfba2de4c45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a24e8bc4b74e3d" /><Relationship Type="http://schemas.openxmlformats.org/officeDocument/2006/relationships/image" Target="/ppt/media/image.png" Id="Rd922421901d04ff8" /><Relationship Type="http://schemas.openxmlformats.org/officeDocument/2006/relationships/notesSlide" Target="/ppt/notesSlides/notesSlide3.xml" Id="Ra46e671ffcab4a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2bf121302c4a86" /><Relationship Type="http://schemas.openxmlformats.org/officeDocument/2006/relationships/notesSlide" Target="/ppt/notesSlides/notesSlide4.xml" Id="R317baacfc20045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a0254b75724a1d" /><Relationship Type="http://schemas.openxmlformats.org/officeDocument/2006/relationships/notesSlide" Target="/ppt/notesSlides/notesSlide5.xml" Id="R6f7abc5dc08949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71d00f5dd44da2" /><Relationship Type="http://schemas.openxmlformats.org/officeDocument/2006/relationships/notesSlide" Target="/ppt/notesSlides/notesSlide6.xml" Id="R7c5e79e873e34d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4ce1204ded4769" /><Relationship Type="http://schemas.openxmlformats.org/officeDocument/2006/relationships/notesSlide" Target="/ppt/notesSlides/notesSlide7.xml" Id="R369cd8c133d049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e42a932e174496c" /><Relationship Type="http://schemas.openxmlformats.org/officeDocument/2006/relationships/notesSlide" Target="/ppt/notesSlides/notesSlide8.xml" Id="R380c10a9b0254e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c920fcd57d4e7f" /><Relationship Type="http://schemas.openxmlformats.org/officeDocument/2006/relationships/notesSlide" Target="/ppt/notesSlides/notesSlide9.xml" Id="R6355c20a660946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b405f441234b62" /><Relationship Type="http://schemas.openxmlformats.org/officeDocument/2006/relationships/notesSlide" Target="/ppt/notesSlides/notesSlide10.xml" Id="R404529b4c3984a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c2d421d0e994dd8" /><Relationship Type="http://schemas.openxmlformats.org/officeDocument/2006/relationships/notesSlide" Target="/ppt/notesSlides/notesSlide11.xml" Id="R5827f5ee20bc40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02dcab59c854c55" /><Relationship Type="http://schemas.openxmlformats.org/officeDocument/2006/relationships/notesSlide" Target="/ppt/notesSlides/notesSlide12.xml" Id="Re9bba37e1c2641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d5aff55c504868" /><Relationship Type="http://schemas.openxmlformats.org/officeDocument/2006/relationships/notesSlide" Target="/ppt/notesSlides/notesSlide13.xml" Id="R34d357bc48df4a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883d4d2cee04032" /><Relationship Type="http://schemas.openxmlformats.org/officeDocument/2006/relationships/notesSlide" Target="/ppt/notesSlides/notesSlide14.xml" Id="Ra933cd3d99e742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50e141336cf4ce5" /><Relationship Type="http://schemas.openxmlformats.org/officeDocument/2006/relationships/image" Target="/ppt/media/image2.png" Id="R7eab3be56b494a28" /><Relationship Type="http://schemas.openxmlformats.org/officeDocument/2006/relationships/notesSlide" Target="/ppt/notesSlides/notesSlide15.xml" Id="Rb19b73291ef449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95ddeb8b4cb4efa" /><Relationship Type="http://schemas.openxmlformats.org/officeDocument/2006/relationships/notesSlide" Target="/ppt/notesSlides/notesSlide16.xml" Id="R18ffa45157a94c27" /></Relationships>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4" name="cover-copper">
            <a:extLst xmlns:a="http://schemas.openxmlformats.org/drawingml/2006/main">
              <a:ext uri="{FF2B5EF4-FFF2-40B4-BE49-F238E27FC236}">
                <a16:creationId xmlns:a16="http://schemas.microsoft.com/office/drawing/2014/main" id="{70F142B6-09EE-453A-AE77-577EAE9A4B0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C56D4A"/>
          </a:solidFill>
          <a:ln xmlns:a="http://schemas.openxmlformats.org/drawingml/2006/main" w="0">
            <a:solidFill>
              <a:srgbClr val="C56D4A"/>
            </a:solidFill>
            <a:prstDash val="solid"/>
          </a:ln>
        </p:spPr>
      </p:sp>
      <p:sp>
        <p:nvSpPr>
          <p:cNvPr id="2" name="cover-teal">
            <a:extLst xmlns:a="http://schemas.openxmlformats.org/drawingml/2006/main">
              <a:ext uri="{FF2B5EF4-FFF2-40B4-BE49-F238E27FC236}">
                <a16:creationId xmlns:a16="http://schemas.microsoft.com/office/drawing/2014/main" id="{D5884193-99D2-43C6-8964-033BBF0D043A}"/>
              </a:ext>
            </a:extLst>
          </p:cNvPr>
          <p:cNvSpPr>
            <a:spLocks xmlns:a="http://schemas.openxmlformats.org/drawingml/2006/main" noGrp="1"/>
          </p:cNvSpPr>
          <p:nvPr/>
        </p:nvSpPr>
        <p:spPr>
          <a:xfrm xmlns:a="http://schemas.openxmlformats.org/drawingml/2006/main">
            <a:off x="9620250" y="0"/>
            <a:ext cx="2571750" cy="6858000"/>
          </a:xfrm>
          <a:prstGeom xmlns:a="http://schemas.openxmlformats.org/drawingml/2006/main" prst="rect">
            <a:avLst/>
          </a:prstGeom>
          <a:solidFill xmlns:a="http://schemas.openxmlformats.org/drawingml/2006/main">
            <a:srgbClr val="0E2B3D"/>
          </a:solidFill>
          <a:ln xmlns:a="http://schemas.openxmlformats.org/drawingml/2006/main" w="0">
            <a:solidFill>
              <a:srgbClr val="0E2B3D"/>
            </a:solidFill>
            <a:prstDash val="solid"/>
          </a:ln>
        </p:spPr>
      </p:sp>
      <p:sp>
        <p:nvSpPr>
          <p:cNvPr id="3" name="cover-flourish">
            <a:extLst xmlns:a="http://schemas.openxmlformats.org/drawingml/2006/main">
              <a:ext uri="{FF2B5EF4-FFF2-40B4-BE49-F238E27FC236}">
                <a16:creationId xmlns:a16="http://schemas.microsoft.com/office/drawing/2014/main" id="{C11CDDC1-FCE8-4970-BD06-7E14E27A8460}"/>
              </a:ext>
            </a:extLst>
          </p:cNvPr>
          <p:cNvSpPr>
            <a:spLocks xmlns:a="http://schemas.openxmlformats.org/drawingml/2006/main" noGrp="1"/>
          </p:cNvSpPr>
          <p:nvPr/>
        </p:nvSpPr>
        <p:spPr>
          <a:xfrm xmlns:a="http://schemas.openxmlformats.org/drawingml/2006/main">
            <a:off x="800100" y="5905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325" b="1">
                <a:solidFill>
                  <a:srgbClr val="D6A84B"/>
                </a:solidFill>
              </a:defRPr>
            </a:pPr>
            <a:r>
              <a:rPr sz="2325" b="1">
                <a:solidFill>
                  <a:srgbClr val="D6A84B"/>
                </a:solidFill>
              </a:rPr>
              <a:t>长程多轮智能体强化学习</a:t>
            </a:r>
          </a:p>
        </p:txBody>
      </p:sp>
      <p:sp>
        <p:nvSpPr>
          <p:cNvPr id="4" name="">
            <a:extLst xmlns:a="http://schemas.openxmlformats.org/drawingml/2006/main">
              <a:ext uri="{FF2B5EF4-FFF2-40B4-BE49-F238E27FC236}">
                <a16:creationId xmlns:a16="http://schemas.microsoft.com/office/drawing/2014/main" id="{804EF941-9178-4238-A5B4-FF5CC0345151}"/>
              </a:ext>
            </a:extLst>
          </p:cNvPr>
          <p:cNvSpPr>
            <a:spLocks xmlns:a="http://schemas.openxmlformats.org/drawingml/2006/main" noGrp="1"/>
          </p:cNvSpPr>
          <p:nvPr/>
        </p:nvSpPr>
        <p:spPr>
          <a:xfrm xmlns:a="http://schemas.openxmlformats.org/drawingml/2006/main">
            <a:off x="819150" y="1466850"/>
            <a:ext cx="1762125" cy="0"/>
          </a:xfrm>
          <a:prstGeom xmlns:a="http://schemas.openxmlformats.org/drawingml/2006/main" prst="line">
            <a:avLst/>
          </a:prstGeom>
          <a:noFill xmlns:a="http://schemas.openxmlformats.org/drawingml/2006/main"/>
          <a:ln xmlns:a="http://schemas.openxmlformats.org/drawingml/2006/main" w="47625">
            <a:solidFill>
              <a:srgbClr val="C56D4A"/>
            </a:solidFill>
            <a:prstDash val="solid"/>
          </a:ln>
        </p:spPr>
      </p:sp>
      <p:sp>
        <p:nvSpPr>
          <p:cNvPr id="5" name="cover-title">
            <a:extLst xmlns:a="http://schemas.openxmlformats.org/drawingml/2006/main">
              <a:ext uri="{FF2B5EF4-FFF2-40B4-BE49-F238E27FC236}">
                <a16:creationId xmlns:a16="http://schemas.microsoft.com/office/drawing/2014/main" id="{94D3E510-7687-45D0-9E27-822B7EA9E3DB}"/>
              </a:ext>
            </a:extLst>
          </p:cNvPr>
          <p:cNvSpPr>
            <a:spLocks xmlns:a="http://schemas.openxmlformats.org/drawingml/2006/main" noGrp="1"/>
          </p:cNvSpPr>
          <p:nvPr/>
        </p:nvSpPr>
        <p:spPr>
          <a:xfrm xmlns:a="http://schemas.openxmlformats.org/drawingml/2006/main">
            <a:off x="762000" y="1857375"/>
            <a:ext cx="7620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92000"/>
              </a:lnSpc>
              <a:buNone/>
              <a:defRPr sz="5250" b="1">
                <a:solidFill>
                  <a:srgbClr val="F7F1E8"/>
                </a:solidFill>
              </a:defRPr>
            </a:pPr>
            <a:r>
              <a:rPr sz="5250" b="1">
                <a:solidFill>
                  <a:srgbClr val="F7F1E8"/>
                </a:solidFill>
              </a:rPr>
              <a:t>AgenticQwen</a:t>
            </a:r>
          </a:p>
          <a:p xmlns:a="http://schemas.openxmlformats.org/drawingml/2006/main">
            <a:pPr>
              <a:lnSpc>
                <a:spcPct val="92000"/>
              </a:lnSpc>
              <a:buNone/>
              <a:defRPr sz="5250" b="1">
                <a:solidFill>
                  <a:srgbClr val="F7F1E8"/>
                </a:solidFill>
              </a:defRPr>
            </a:pPr>
            <a:r>
              <a:rPr sz="5250" b="1">
                <a:solidFill>
                  <a:srgbClr val="F7F1E8"/>
                </a:solidFill>
              </a:rPr>
              <a:t>Curriculum Lab</a:t>
            </a:r>
          </a:p>
        </p:txBody>
      </p:sp>
      <p:sp>
        <p:nvSpPr>
          <p:cNvPr id="6" name="cover-sub">
            <a:extLst xmlns:a="http://schemas.openxmlformats.org/drawingml/2006/main">
              <a:ext uri="{FF2B5EF4-FFF2-40B4-BE49-F238E27FC236}">
                <a16:creationId xmlns:a16="http://schemas.microsoft.com/office/drawing/2014/main" id="{58CE585B-E19A-4696-B794-3B4066871B27}"/>
              </a:ext>
            </a:extLst>
          </p:cNvPr>
          <p:cNvSpPr>
            <a:spLocks xmlns:a="http://schemas.openxmlformats.org/drawingml/2006/main" noGrp="1"/>
          </p:cNvSpPr>
          <p:nvPr/>
        </p:nvSpPr>
        <p:spPr>
          <a:xfrm xmlns:a="http://schemas.openxmlformats.org/drawingml/2006/main">
            <a:off x="819150" y="373380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025" b="1">
                <a:solidFill>
                  <a:srgbClr val="FFFFFF"/>
                </a:solidFill>
              </a:defRPr>
            </a:pPr>
            <a:r>
              <a:rPr sz="2025" b="1">
                <a:solidFill>
                  <a:srgbClr val="FFFFFF"/>
                </a:solidFill>
              </a:rPr>
              <a:t>训练 → 失败诊断 → 困难数据合成 → 再训练</a:t>
            </a:r>
          </a:p>
        </p:txBody>
      </p:sp>
      <p:sp>
        <p:nvSpPr>
          <p:cNvPr id="7" name="cover-meta">
            <a:extLst xmlns:a="http://schemas.openxmlformats.org/drawingml/2006/main">
              <a:ext uri="{FF2B5EF4-FFF2-40B4-BE49-F238E27FC236}">
                <a16:creationId xmlns:a16="http://schemas.microsoft.com/office/drawing/2014/main" id="{B677DFE2-75A8-4E10-8909-EC2C75594C48}"/>
              </a:ext>
            </a:extLst>
          </p:cNvPr>
          <p:cNvSpPr>
            <a:spLocks xmlns:a="http://schemas.openxmlformats.org/drawingml/2006/main" noGrp="1"/>
          </p:cNvSpPr>
          <p:nvPr/>
        </p:nvSpPr>
        <p:spPr>
          <a:xfrm xmlns:a="http://schemas.openxmlformats.org/drawingml/2006/main">
            <a:off x="838200" y="4533900"/>
            <a:ext cx="752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ADC3CC"/>
                </a:solidFill>
              </a:defRPr>
            </a:pPr>
            <a:r>
              <a:rPr sz="1200">
                <a:solidFill>
                  <a:srgbClr val="ADC3CC"/>
                </a:solidFill>
              </a:rPr>
              <a:t>Qwen3-8B · response-token QLoRA-GRPO · NVIDIA H200</a:t>
            </a:r>
          </a:p>
          <a:p xmlns:a="http://schemas.openxmlformats.org/drawingml/2006/main">
            <a:pPr>
              <a:defRPr sz="1200">
                <a:solidFill>
                  <a:srgbClr val="ADC3CC"/>
                </a:solidFill>
              </a:defRPr>
            </a:pPr>
            <a:r>
              <a:rPr sz="1200">
                <a:solidFill>
                  <a:srgbClr val="ADC3CC"/>
                </a:solidFill>
              </a:rPr>
              <a:t>/home/hadoop-aipnlp/agenticqwen-paper-debug-20260804/artifacts/agenticqwen_codelab_curriculum_run1</a:t>
            </a:r>
          </a:p>
        </p:txBody>
      </p:sp>
      <p:sp>
        <p:nvSpPr>
          <p:cNvPr id="8" name="cover-02">
            <a:extLst xmlns:a="http://schemas.openxmlformats.org/drawingml/2006/main">
              <a:ext uri="{FF2B5EF4-FFF2-40B4-BE49-F238E27FC236}">
                <a16:creationId xmlns:a16="http://schemas.microsoft.com/office/drawing/2014/main" id="{DA0CB03C-4ABF-4476-B5C9-9480A9490460}"/>
              </a:ext>
            </a:extLst>
          </p:cNvPr>
          <p:cNvSpPr>
            <a:spLocks xmlns:a="http://schemas.openxmlformats.org/drawingml/2006/main" noGrp="1"/>
          </p:cNvSpPr>
          <p:nvPr/>
        </p:nvSpPr>
        <p:spPr>
          <a:xfrm xmlns:a="http://schemas.openxmlformats.org/drawingml/2006/main">
            <a:off x="9906000" y="857250"/>
            <a:ext cx="1619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0" b="1">
                <a:solidFill>
                  <a:srgbClr val="18A6A6"/>
                </a:solidFill>
              </a:defRPr>
            </a:pPr>
            <a:r>
              <a:rPr sz="9000" b="1">
                <a:solidFill>
                  <a:srgbClr val="18A6A6"/>
                </a:solidFill>
              </a:rPr>
              <a:t>02</a:t>
            </a:r>
          </a:p>
        </p:txBody>
      </p:sp>
      <p:sp>
        <p:nvSpPr>
          <p:cNvPr id="9" name="cover-side">
            <a:extLst xmlns:a="http://schemas.openxmlformats.org/drawingml/2006/main">
              <a:ext uri="{FF2B5EF4-FFF2-40B4-BE49-F238E27FC236}">
                <a16:creationId xmlns:a16="http://schemas.microsoft.com/office/drawing/2014/main" id="{3A33E0A3-51A6-4F1A-8BC5-A20FC35E1523}"/>
              </a:ext>
            </a:extLst>
          </p:cNvPr>
          <p:cNvSpPr>
            <a:spLocks xmlns:a="http://schemas.openxmlformats.org/drawingml/2006/main" noGrp="1"/>
          </p:cNvSpPr>
          <p:nvPr/>
        </p:nvSpPr>
        <p:spPr>
          <a:xfrm xmlns:a="http://schemas.openxmlformats.org/drawingml/2006/main">
            <a:off x="9810750" y="3143250"/>
            <a:ext cx="1857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25000"/>
              </a:lnSpc>
              <a:buNone/>
              <a:defRPr sz="1500" b="1">
                <a:solidFill>
                  <a:srgbClr val="F7F1E8"/>
                </a:solidFill>
              </a:defRPr>
            </a:pPr>
            <a:r>
              <a:rPr sz="1500" b="1">
                <a:solidFill>
                  <a:srgbClr val="F7F1E8"/>
                </a:solidFill>
              </a:rPr>
              <a:t>REAL RUN</a:t>
            </a:r>
          </a:p>
          <a:p xmlns:a="http://schemas.openxmlformats.org/drawingml/2006/main">
            <a:pPr algn="ctr">
              <a:lnSpc>
                <a:spcPct val="125000"/>
              </a:lnSpc>
              <a:buNone/>
              <a:defRPr sz="1500" b="1">
                <a:solidFill>
                  <a:srgbClr val="F7F1E8"/>
                </a:solidFill>
              </a:defRPr>
            </a:pPr>
            <a:r>
              <a:rPr sz="1500" b="1">
                <a:solidFill>
                  <a:srgbClr val="F7F1E8"/>
                </a:solidFill>
              </a:rPr>
              <a:t>FAILURE LOOP</a:t>
            </a:r>
          </a:p>
          <a:p xmlns:a="http://schemas.openxmlformats.org/drawingml/2006/main">
            <a:pPr algn="ctr">
              <a:lnSpc>
                <a:spcPct val="125000"/>
              </a:lnSpc>
              <a:buNone/>
              <a:defRPr sz="1500" b="1">
                <a:solidFill>
                  <a:srgbClr val="F7F1E8"/>
                </a:solidFill>
              </a:defRPr>
            </a:pPr>
            <a:r>
              <a:rPr sz="1500" b="1">
                <a:solidFill>
                  <a:srgbClr val="F7F1E8"/>
                </a:solidFill>
              </a:rPr>
              <a:t>AUDITED</a:t>
            </a:r>
          </a:p>
        </p:txBody>
      </p:sp>
      <p:sp>
        <p:nvSpPr>
          <p:cNvPr id="10" name="cover-pass-bg">
            <a:extLst xmlns:a="http://schemas.openxmlformats.org/drawingml/2006/main">
              <a:ext uri="{FF2B5EF4-FFF2-40B4-BE49-F238E27FC236}">
                <a16:creationId xmlns:a16="http://schemas.microsoft.com/office/drawing/2014/main" id="{87FEE3B0-DBBD-4175-8D22-F0FD5F2792BD}"/>
              </a:ext>
            </a:extLst>
          </p:cNvPr>
          <p:cNvSpPr>
            <a:spLocks xmlns:a="http://schemas.openxmlformats.org/drawingml/2006/main" noGrp="1"/>
          </p:cNvSpPr>
          <p:nvPr/>
        </p:nvSpPr>
        <p:spPr>
          <a:xfrm xmlns:a="http://schemas.openxmlformats.org/drawingml/2006/main">
            <a:off x="819150" y="5772150"/>
            <a:ext cx="1809750"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11" name="cover-pass-text">
            <a:extLst xmlns:a="http://schemas.openxmlformats.org/drawingml/2006/main">
              <a:ext uri="{FF2B5EF4-FFF2-40B4-BE49-F238E27FC236}">
                <a16:creationId xmlns:a16="http://schemas.microsoft.com/office/drawing/2014/main" id="{07B1B00A-B3AF-43F4-A9EA-591F35A1CF8B}"/>
              </a:ext>
            </a:extLst>
          </p:cNvPr>
          <p:cNvSpPr>
            <a:spLocks xmlns:a="http://schemas.openxmlformats.org/drawingml/2006/main" noGrp="1"/>
          </p:cNvSpPr>
          <p:nvPr/>
        </p:nvSpPr>
        <p:spPr>
          <a:xfrm xmlns:a="http://schemas.openxmlformats.org/drawingml/2006/main">
            <a:off x="914400" y="58197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CURRICULUM PASS</a:t>
            </a:r>
          </a:p>
        </p:txBody>
      </p:sp>
      <p:sp>
        <p:nvSpPr>
          <p:cNvPr id="12" name="cover-bfcl-bg">
            <a:extLst xmlns:a="http://schemas.openxmlformats.org/drawingml/2006/main">
              <a:ext uri="{FF2B5EF4-FFF2-40B4-BE49-F238E27FC236}">
                <a16:creationId xmlns:a16="http://schemas.microsoft.com/office/drawing/2014/main" id="{2AFDCC2C-6D57-4939-8D34-516A420FCFA0}"/>
              </a:ext>
            </a:extLst>
          </p:cNvPr>
          <p:cNvSpPr>
            <a:spLocks xmlns:a="http://schemas.openxmlformats.org/drawingml/2006/main" noGrp="1"/>
          </p:cNvSpPr>
          <p:nvPr/>
        </p:nvSpPr>
        <p:spPr>
          <a:xfrm xmlns:a="http://schemas.openxmlformats.org/drawingml/2006/main">
            <a:off x="2800350" y="5772150"/>
            <a:ext cx="1809750" cy="285750"/>
          </a:xfrm>
          <a:prstGeom xmlns:a="http://schemas.openxmlformats.org/drawingml/2006/main" prst="roundRect">
            <a:avLst>
              <a:gd name="adj" fmla="val 50000"/>
            </a:avLst>
          </a:prstGeom>
          <a:solidFill xmlns:a="http://schemas.openxmlformats.org/drawingml/2006/main">
            <a:srgbClr val="C56D4A"/>
          </a:solidFill>
          <a:ln xmlns:a="http://schemas.openxmlformats.org/drawingml/2006/main" w="0">
            <a:solidFill>
              <a:srgbClr val="C56D4A"/>
            </a:solidFill>
            <a:prstDash val="solid"/>
          </a:ln>
        </p:spPr>
      </p:sp>
      <p:sp>
        <p:nvSpPr>
          <p:cNvPr id="13" name="cover-bfcl-text">
            <a:extLst xmlns:a="http://schemas.openxmlformats.org/drawingml/2006/main">
              <a:ext uri="{FF2B5EF4-FFF2-40B4-BE49-F238E27FC236}">
                <a16:creationId xmlns:a16="http://schemas.microsoft.com/office/drawing/2014/main" id="{9D88E7DB-6E53-414F-AE75-D7C57A9C943A}"/>
              </a:ext>
            </a:extLst>
          </p:cNvPr>
          <p:cNvSpPr>
            <a:spLocks xmlns:a="http://schemas.openxmlformats.org/drawingml/2006/main" noGrp="1"/>
          </p:cNvSpPr>
          <p:nvPr/>
        </p:nvSpPr>
        <p:spPr>
          <a:xfrm xmlns:a="http://schemas.openxmlformats.org/drawingml/2006/main">
            <a:off x="2895600" y="58197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BFCL PASS</a:t>
            </a:r>
          </a:p>
        </p:txBody>
      </p:sp>
    </p:spTree>
    <p:extLst>
      <p:ext uri="{BB962C8B-B14F-4D97-AF65-F5344CB8AC3E}">
        <p14:creationId xmlns:p14="http://schemas.microsoft.com/office/powerpoint/2010/main" val="672282592"/>
      </p:ext>
    </p:extLst>
  </p:cSld>
</p:sld>
</file>

<file path=ppt/slides/slide2.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5" name="rail-2">
            <a:extLst xmlns:a="http://schemas.openxmlformats.org/drawingml/2006/main">
              <a:ext uri="{FF2B5EF4-FFF2-40B4-BE49-F238E27FC236}">
                <a16:creationId xmlns:a16="http://schemas.microsoft.com/office/drawing/2014/main" id="{251ABAD9-51A0-46C8-878F-9B92915AB88A}"/>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2">
            <a:extLst xmlns:a="http://schemas.openxmlformats.org/drawingml/2006/main">
              <a:ext uri="{FF2B5EF4-FFF2-40B4-BE49-F238E27FC236}">
                <a16:creationId xmlns:a16="http://schemas.microsoft.com/office/drawing/2014/main" id="{515AF971-5C7C-48AB-80D7-56ED389860A5}"/>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2">
            <a:extLst xmlns:a="http://schemas.openxmlformats.org/drawingml/2006/main">
              <a:ext uri="{FF2B5EF4-FFF2-40B4-BE49-F238E27FC236}">
                <a16:creationId xmlns:a16="http://schemas.microsoft.com/office/drawing/2014/main" id="{B9C3FBBE-681E-49D6-B64E-BF2D43CEF1BA}"/>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PROJECT MAP</a:t>
            </a:r>
          </a:p>
        </p:txBody>
      </p:sp>
      <p:sp>
        <p:nvSpPr>
          <p:cNvPr id="4" name="title-2">
            <a:extLst xmlns:a="http://schemas.openxmlformats.org/drawingml/2006/main">
              <a:ext uri="{FF2B5EF4-FFF2-40B4-BE49-F238E27FC236}">
                <a16:creationId xmlns:a16="http://schemas.microsoft.com/office/drawing/2014/main" id="{67E2B74F-CD4B-4780-B6D6-313F59ADEC36}"/>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拿到这个项目，你应该先建立四层心智模型</a:t>
            </a:r>
          </a:p>
        </p:txBody>
      </p:sp>
      <p:sp>
        <p:nvSpPr>
          <p:cNvPr id="5" name="subtitle-2">
            <a:extLst xmlns:a="http://schemas.openxmlformats.org/drawingml/2006/main">
              <a:ext uri="{FF2B5EF4-FFF2-40B4-BE49-F238E27FC236}">
                <a16:creationId xmlns:a16="http://schemas.microsoft.com/office/drawing/2014/main" id="{74D24A47-C48C-4855-A136-D096538DC562}"/>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Agentic RL 不是“模型会调工具”这一件事，而是 policy、environment、reward、curriculum 的闭环。</a:t>
            </a:r>
          </a:p>
        </p:txBody>
      </p:sp>
      <p:sp>
        <p:nvSpPr>
          <p:cNvPr id="6" name="">
            <a:extLst xmlns:a="http://schemas.openxmlformats.org/drawingml/2006/main">
              <a:ext uri="{FF2B5EF4-FFF2-40B4-BE49-F238E27FC236}">
                <a16:creationId xmlns:a16="http://schemas.microsoft.com/office/drawing/2014/main" id="{54AFC74D-33E9-431F-9685-1ABB20EB304C}"/>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2">
            <a:extLst xmlns:a="http://schemas.openxmlformats.org/drawingml/2006/main">
              <a:ext uri="{FF2B5EF4-FFF2-40B4-BE49-F238E27FC236}">
                <a16:creationId xmlns:a16="http://schemas.microsoft.com/office/drawing/2014/main" id="{D1276B06-1E9A-4863-886E-2D63F428CF65}"/>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02</a:t>
            </a:r>
          </a:p>
        </p:txBody>
      </p:sp>
      <p:sp>
        <p:nvSpPr>
          <p:cNvPr id="8" name="map-0">
            <a:extLst xmlns:a="http://schemas.openxmlformats.org/drawingml/2006/main">
              <a:ext uri="{FF2B5EF4-FFF2-40B4-BE49-F238E27FC236}">
                <a16:creationId xmlns:a16="http://schemas.microsoft.com/office/drawing/2014/main" id="{C33AB961-8E96-4E07-9D16-E65507B7442A}"/>
              </a:ext>
            </a:extLst>
          </p:cNvPr>
          <p:cNvSpPr>
            <a:spLocks xmlns:a="http://schemas.openxmlformats.org/drawingml/2006/main" noGrp="1"/>
          </p:cNvSpPr>
          <p:nvPr/>
        </p:nvSpPr>
        <p:spPr>
          <a:xfrm xmlns:a="http://schemas.openxmlformats.org/drawingml/2006/main">
            <a:off x="685800" y="2266950"/>
            <a:ext cx="2324100" cy="2781300"/>
          </a:xfrm>
          <a:prstGeom xmlns:a="http://schemas.openxmlformats.org/drawingml/2006/main" prst="roundRect">
            <a:avLst>
              <a:gd name="adj" fmla="val 4098"/>
            </a:avLst>
          </a:prstGeom>
          <a:solidFill xmlns:a="http://schemas.openxmlformats.org/drawingml/2006/main">
            <a:srgbClr val="FFFDFC"/>
          </a:solidFill>
          <a:ln xmlns:a="http://schemas.openxmlformats.org/drawingml/2006/main" w="9525">
            <a:solidFill>
              <a:srgbClr val="18A6A6"/>
            </a:solidFill>
            <a:prstDash val="solid"/>
          </a:ln>
        </p:spPr>
      </p:sp>
      <p:sp>
        <p:nvSpPr>
          <p:cNvPr id="9" name="map-num-0">
            <a:extLst xmlns:a="http://schemas.openxmlformats.org/drawingml/2006/main">
              <a:ext uri="{FF2B5EF4-FFF2-40B4-BE49-F238E27FC236}">
                <a16:creationId xmlns:a16="http://schemas.microsoft.com/office/drawing/2014/main" id="{0D18D9F0-C1EE-4ED0-BA95-2F4EACD623F2}"/>
              </a:ext>
            </a:extLst>
          </p:cNvPr>
          <p:cNvSpPr>
            <a:spLocks xmlns:a="http://schemas.openxmlformats.org/drawingml/2006/main" noGrp="1"/>
          </p:cNvSpPr>
          <p:nvPr/>
        </p:nvSpPr>
        <p:spPr>
          <a:xfrm xmlns:a="http://schemas.openxmlformats.org/drawingml/2006/main">
            <a:off x="876300" y="245745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18A6A6"/>
                </a:solidFill>
              </a:defRPr>
            </a:pPr>
            <a:r>
              <a:rPr sz="1875" b="1">
                <a:solidFill>
                  <a:srgbClr val="18A6A6"/>
                </a:solidFill>
              </a:rPr>
              <a:t>01</a:t>
            </a:r>
          </a:p>
        </p:txBody>
      </p:sp>
      <p:sp>
        <p:nvSpPr>
          <p:cNvPr id="10" name="map-name-0">
            <a:extLst xmlns:a="http://schemas.openxmlformats.org/drawingml/2006/main">
              <a:ext uri="{FF2B5EF4-FFF2-40B4-BE49-F238E27FC236}">
                <a16:creationId xmlns:a16="http://schemas.microsoft.com/office/drawing/2014/main" id="{BC070E0B-742C-4BAD-8D3A-51522E2E829D}"/>
              </a:ext>
            </a:extLst>
          </p:cNvPr>
          <p:cNvSpPr>
            <a:spLocks xmlns:a="http://schemas.openxmlformats.org/drawingml/2006/main" noGrp="1"/>
          </p:cNvSpPr>
          <p:nvPr/>
        </p:nvSpPr>
        <p:spPr>
          <a:xfrm xmlns:a="http://schemas.openxmlformats.org/drawingml/2006/main">
            <a:off x="876300" y="3067050"/>
            <a:ext cx="1943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071A2B"/>
                </a:solidFill>
              </a:defRPr>
            </a:pPr>
            <a:r>
              <a:rPr sz="1350" b="1">
                <a:solidFill>
                  <a:srgbClr val="071A2B"/>
                </a:solidFill>
              </a:rPr>
              <a:t>POLICY</a:t>
            </a:r>
          </a:p>
        </p:txBody>
      </p:sp>
      <p:sp>
        <p:nvSpPr>
          <p:cNvPr id="11" name="map-body-0">
            <a:extLst xmlns:a="http://schemas.openxmlformats.org/drawingml/2006/main">
              <a:ext uri="{FF2B5EF4-FFF2-40B4-BE49-F238E27FC236}">
                <a16:creationId xmlns:a16="http://schemas.microsoft.com/office/drawing/2014/main" id="{29852A5A-93DB-4466-94AC-919D1CA3AB58}"/>
              </a:ext>
            </a:extLst>
          </p:cNvPr>
          <p:cNvSpPr>
            <a:spLocks xmlns:a="http://schemas.openxmlformats.org/drawingml/2006/main" noGrp="1"/>
          </p:cNvSpPr>
          <p:nvPr/>
        </p:nvSpPr>
        <p:spPr>
          <a:xfrm xmlns:a="http://schemas.openxmlformats.org/drawingml/2006/main">
            <a:off x="876300" y="3714750"/>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20000"/>
              </a:lnSpc>
              <a:buNone/>
              <a:defRPr sz="1350" b="1">
                <a:solidFill>
                  <a:srgbClr val="64747B"/>
                </a:solidFill>
              </a:defRPr>
            </a:pPr>
            <a:r>
              <a:rPr sz="1350" b="1">
                <a:solidFill>
                  <a:srgbClr val="64747B"/>
                </a:solidFill>
              </a:rPr>
              <a:t>Qwen3-8B 生成完整 assistant response 与工具调用</a:t>
            </a:r>
          </a:p>
        </p:txBody>
      </p:sp>
      <p:sp>
        <p:nvSpPr>
          <p:cNvPr id="12" name="map-1">
            <a:extLst xmlns:a="http://schemas.openxmlformats.org/drawingml/2006/main">
              <a:ext uri="{FF2B5EF4-FFF2-40B4-BE49-F238E27FC236}">
                <a16:creationId xmlns:a16="http://schemas.microsoft.com/office/drawing/2014/main" id="{B83DC54D-E94D-4A6B-85A6-1680707D0B6C}"/>
              </a:ext>
            </a:extLst>
          </p:cNvPr>
          <p:cNvSpPr>
            <a:spLocks xmlns:a="http://schemas.openxmlformats.org/drawingml/2006/main" noGrp="1"/>
          </p:cNvSpPr>
          <p:nvPr/>
        </p:nvSpPr>
        <p:spPr>
          <a:xfrm xmlns:a="http://schemas.openxmlformats.org/drawingml/2006/main">
            <a:off x="3371850" y="2266950"/>
            <a:ext cx="2324100" cy="2781300"/>
          </a:xfrm>
          <a:prstGeom xmlns:a="http://schemas.openxmlformats.org/drawingml/2006/main" prst="roundRect">
            <a:avLst>
              <a:gd name="adj" fmla="val 4098"/>
            </a:avLst>
          </a:prstGeom>
          <a:solidFill xmlns:a="http://schemas.openxmlformats.org/drawingml/2006/main">
            <a:srgbClr val="F7F1E8"/>
          </a:solidFill>
          <a:ln xmlns:a="http://schemas.openxmlformats.org/drawingml/2006/main" w="9525">
            <a:solidFill>
              <a:srgbClr val="C56D4A"/>
            </a:solidFill>
            <a:prstDash val="solid"/>
          </a:ln>
        </p:spPr>
      </p:sp>
      <p:sp>
        <p:nvSpPr>
          <p:cNvPr id="13" name="map-num-1">
            <a:extLst xmlns:a="http://schemas.openxmlformats.org/drawingml/2006/main">
              <a:ext uri="{FF2B5EF4-FFF2-40B4-BE49-F238E27FC236}">
                <a16:creationId xmlns:a16="http://schemas.microsoft.com/office/drawing/2014/main" id="{4B14D295-88CA-4A54-8C54-BBB5F4666032}"/>
              </a:ext>
            </a:extLst>
          </p:cNvPr>
          <p:cNvSpPr>
            <a:spLocks xmlns:a="http://schemas.openxmlformats.org/drawingml/2006/main" noGrp="1"/>
          </p:cNvSpPr>
          <p:nvPr/>
        </p:nvSpPr>
        <p:spPr>
          <a:xfrm xmlns:a="http://schemas.openxmlformats.org/drawingml/2006/main">
            <a:off x="3562350" y="245745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C56D4A"/>
                </a:solidFill>
              </a:defRPr>
            </a:pPr>
            <a:r>
              <a:rPr sz="1875" b="1">
                <a:solidFill>
                  <a:srgbClr val="C56D4A"/>
                </a:solidFill>
              </a:rPr>
              <a:t>02</a:t>
            </a:r>
          </a:p>
        </p:txBody>
      </p:sp>
      <p:sp>
        <p:nvSpPr>
          <p:cNvPr id="14" name="map-name-1">
            <a:extLst xmlns:a="http://schemas.openxmlformats.org/drawingml/2006/main">
              <a:ext uri="{FF2B5EF4-FFF2-40B4-BE49-F238E27FC236}">
                <a16:creationId xmlns:a16="http://schemas.microsoft.com/office/drawing/2014/main" id="{A7F721CF-A393-4CAC-8C5E-47AAA2D5235B}"/>
              </a:ext>
            </a:extLst>
          </p:cNvPr>
          <p:cNvSpPr>
            <a:spLocks xmlns:a="http://schemas.openxmlformats.org/drawingml/2006/main" noGrp="1"/>
          </p:cNvSpPr>
          <p:nvPr/>
        </p:nvSpPr>
        <p:spPr>
          <a:xfrm xmlns:a="http://schemas.openxmlformats.org/drawingml/2006/main">
            <a:off x="3562350" y="3067050"/>
            <a:ext cx="1943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071A2B"/>
                </a:solidFill>
              </a:defRPr>
            </a:pPr>
            <a:r>
              <a:rPr sz="1350" b="1">
                <a:solidFill>
                  <a:srgbClr val="071A2B"/>
                </a:solidFill>
              </a:rPr>
              <a:t>ENVIRONMENT</a:t>
            </a:r>
          </a:p>
        </p:txBody>
      </p:sp>
      <p:sp>
        <p:nvSpPr>
          <p:cNvPr id="15" name="map-body-1">
            <a:extLst xmlns:a="http://schemas.openxmlformats.org/drawingml/2006/main">
              <a:ext uri="{FF2B5EF4-FFF2-40B4-BE49-F238E27FC236}">
                <a16:creationId xmlns:a16="http://schemas.microsoft.com/office/drawing/2014/main" id="{7ED2C38C-FB0B-4292-A952-DF3C9EFCC6BE}"/>
              </a:ext>
            </a:extLst>
          </p:cNvPr>
          <p:cNvSpPr>
            <a:spLocks xmlns:a="http://schemas.openxmlformats.org/drawingml/2006/main" noGrp="1"/>
          </p:cNvSpPr>
          <p:nvPr/>
        </p:nvSpPr>
        <p:spPr>
          <a:xfrm xmlns:a="http://schemas.openxmlformats.org/drawingml/2006/main">
            <a:off x="3562350" y="3714750"/>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20000"/>
              </a:lnSpc>
              <a:buNone/>
              <a:defRPr sz="1350" b="1">
                <a:solidFill>
                  <a:srgbClr val="64747B"/>
                </a:solidFill>
              </a:defRPr>
            </a:pPr>
            <a:r>
              <a:rPr sz="1350" b="1">
                <a:solidFill>
                  <a:srgbClr val="64747B"/>
                </a:solidFill>
              </a:rPr>
              <a:t>七个 stateful tools 执行读写与真实状态转移</a:t>
            </a:r>
          </a:p>
        </p:txBody>
      </p:sp>
      <p:sp>
        <p:nvSpPr>
          <p:cNvPr id="16" name="map-2">
            <a:extLst xmlns:a="http://schemas.openxmlformats.org/drawingml/2006/main">
              <a:ext uri="{FF2B5EF4-FFF2-40B4-BE49-F238E27FC236}">
                <a16:creationId xmlns:a16="http://schemas.microsoft.com/office/drawing/2014/main" id="{E8BCB5D0-5D8F-450A-8604-8CBA8BCA0794}"/>
              </a:ext>
            </a:extLst>
          </p:cNvPr>
          <p:cNvSpPr>
            <a:spLocks xmlns:a="http://schemas.openxmlformats.org/drawingml/2006/main" noGrp="1"/>
          </p:cNvSpPr>
          <p:nvPr/>
        </p:nvSpPr>
        <p:spPr>
          <a:xfrm xmlns:a="http://schemas.openxmlformats.org/drawingml/2006/main">
            <a:off x="6057900" y="2266950"/>
            <a:ext cx="2324100" cy="2781300"/>
          </a:xfrm>
          <a:prstGeom xmlns:a="http://schemas.openxmlformats.org/drawingml/2006/main" prst="roundRect">
            <a:avLst>
              <a:gd name="adj" fmla="val 4098"/>
            </a:avLst>
          </a:prstGeom>
          <a:solidFill xmlns:a="http://schemas.openxmlformats.org/drawingml/2006/main">
            <a:srgbClr val="FFFDFC"/>
          </a:solidFill>
          <a:ln xmlns:a="http://schemas.openxmlformats.org/drawingml/2006/main" w="9525">
            <a:solidFill>
              <a:srgbClr val="D6A84B"/>
            </a:solidFill>
            <a:prstDash val="solid"/>
          </a:ln>
        </p:spPr>
      </p:sp>
      <p:sp>
        <p:nvSpPr>
          <p:cNvPr id="17" name="map-num-2">
            <a:extLst xmlns:a="http://schemas.openxmlformats.org/drawingml/2006/main">
              <a:ext uri="{FF2B5EF4-FFF2-40B4-BE49-F238E27FC236}">
                <a16:creationId xmlns:a16="http://schemas.microsoft.com/office/drawing/2014/main" id="{BD8C4EE5-C98F-481A-974A-334B946B8FC4}"/>
              </a:ext>
            </a:extLst>
          </p:cNvPr>
          <p:cNvSpPr>
            <a:spLocks xmlns:a="http://schemas.openxmlformats.org/drawingml/2006/main" noGrp="1"/>
          </p:cNvSpPr>
          <p:nvPr/>
        </p:nvSpPr>
        <p:spPr>
          <a:xfrm xmlns:a="http://schemas.openxmlformats.org/drawingml/2006/main">
            <a:off x="6248400" y="245745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D6A84B"/>
                </a:solidFill>
              </a:defRPr>
            </a:pPr>
            <a:r>
              <a:rPr sz="1875" b="1">
                <a:solidFill>
                  <a:srgbClr val="D6A84B"/>
                </a:solidFill>
              </a:rPr>
              <a:t>03</a:t>
            </a:r>
          </a:p>
        </p:txBody>
      </p:sp>
      <p:sp>
        <p:nvSpPr>
          <p:cNvPr id="18" name="map-name-2">
            <a:extLst xmlns:a="http://schemas.openxmlformats.org/drawingml/2006/main">
              <a:ext uri="{FF2B5EF4-FFF2-40B4-BE49-F238E27FC236}">
                <a16:creationId xmlns:a16="http://schemas.microsoft.com/office/drawing/2014/main" id="{258E7CC3-0AFB-4B8C-BC26-4CC76D632C49}"/>
              </a:ext>
            </a:extLst>
          </p:cNvPr>
          <p:cNvSpPr>
            <a:spLocks xmlns:a="http://schemas.openxmlformats.org/drawingml/2006/main" noGrp="1"/>
          </p:cNvSpPr>
          <p:nvPr/>
        </p:nvSpPr>
        <p:spPr>
          <a:xfrm xmlns:a="http://schemas.openxmlformats.org/drawingml/2006/main">
            <a:off x="6248400" y="3067050"/>
            <a:ext cx="1943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071A2B"/>
                </a:solidFill>
              </a:defRPr>
            </a:pPr>
            <a:r>
              <a:rPr sz="1350" b="1">
                <a:solidFill>
                  <a:srgbClr val="071A2B"/>
                </a:solidFill>
              </a:rPr>
              <a:t>REWARD</a:t>
            </a:r>
          </a:p>
        </p:txBody>
      </p:sp>
      <p:sp>
        <p:nvSpPr>
          <p:cNvPr id="19" name="map-body-2">
            <a:extLst xmlns:a="http://schemas.openxmlformats.org/drawingml/2006/main">
              <a:ext uri="{FF2B5EF4-FFF2-40B4-BE49-F238E27FC236}">
                <a16:creationId xmlns:a16="http://schemas.microsoft.com/office/drawing/2014/main" id="{3D168BEC-CA99-41CB-94B0-219469E66E66}"/>
              </a:ext>
            </a:extLst>
          </p:cNvPr>
          <p:cNvSpPr>
            <a:spLocks xmlns:a="http://schemas.openxmlformats.org/drawingml/2006/main" noGrp="1"/>
          </p:cNvSpPr>
          <p:nvPr/>
        </p:nvSpPr>
        <p:spPr>
          <a:xfrm xmlns:a="http://schemas.openxmlformats.org/drawingml/2006/main">
            <a:off x="6248400" y="3714750"/>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20000"/>
              </a:lnSpc>
              <a:buNone/>
              <a:defRPr sz="1350" b="1">
                <a:solidFill>
                  <a:srgbClr val="64747B"/>
                </a:solidFill>
              </a:defRPr>
            </a:pPr>
            <a:r>
              <a:rPr sz="1350" b="1">
                <a:solidFill>
                  <a:srgbClr val="64747B"/>
                </a:solidFill>
              </a:rPr>
              <a:t>exact outcome + process shaping，按 group 求相对优势</a:t>
            </a:r>
          </a:p>
        </p:txBody>
      </p:sp>
      <p:sp>
        <p:nvSpPr>
          <p:cNvPr id="20" name="map-3">
            <a:extLst xmlns:a="http://schemas.openxmlformats.org/drawingml/2006/main">
              <a:ext uri="{FF2B5EF4-FFF2-40B4-BE49-F238E27FC236}">
                <a16:creationId xmlns:a16="http://schemas.microsoft.com/office/drawing/2014/main" id="{60948E6F-9609-4AA0-91BB-0D8543708CB7}"/>
              </a:ext>
            </a:extLst>
          </p:cNvPr>
          <p:cNvSpPr>
            <a:spLocks xmlns:a="http://schemas.openxmlformats.org/drawingml/2006/main" noGrp="1"/>
          </p:cNvSpPr>
          <p:nvPr/>
        </p:nvSpPr>
        <p:spPr>
          <a:xfrm xmlns:a="http://schemas.openxmlformats.org/drawingml/2006/main">
            <a:off x="8743950" y="2266950"/>
            <a:ext cx="2324100" cy="2781300"/>
          </a:xfrm>
          <a:prstGeom xmlns:a="http://schemas.openxmlformats.org/drawingml/2006/main" prst="roundRect">
            <a:avLst>
              <a:gd name="adj" fmla="val 4098"/>
            </a:avLst>
          </a:prstGeom>
          <a:solidFill xmlns:a="http://schemas.openxmlformats.org/drawingml/2006/main">
            <a:srgbClr val="F7F1E8"/>
          </a:solidFill>
          <a:ln xmlns:a="http://schemas.openxmlformats.org/drawingml/2006/main" w="9525">
            <a:solidFill>
              <a:srgbClr val="228B67"/>
            </a:solidFill>
            <a:prstDash val="solid"/>
          </a:ln>
        </p:spPr>
      </p:sp>
      <p:sp>
        <p:nvSpPr>
          <p:cNvPr id="21" name="map-num-3">
            <a:extLst xmlns:a="http://schemas.openxmlformats.org/drawingml/2006/main">
              <a:ext uri="{FF2B5EF4-FFF2-40B4-BE49-F238E27FC236}">
                <a16:creationId xmlns:a16="http://schemas.microsoft.com/office/drawing/2014/main" id="{1E23409C-EF76-4E90-89B4-C12FBEF20EEC}"/>
              </a:ext>
            </a:extLst>
          </p:cNvPr>
          <p:cNvSpPr>
            <a:spLocks xmlns:a="http://schemas.openxmlformats.org/drawingml/2006/main" noGrp="1"/>
          </p:cNvSpPr>
          <p:nvPr/>
        </p:nvSpPr>
        <p:spPr>
          <a:xfrm xmlns:a="http://schemas.openxmlformats.org/drawingml/2006/main">
            <a:off x="8934450" y="2457450"/>
            <a:ext cx="619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228B67"/>
                </a:solidFill>
              </a:defRPr>
            </a:pPr>
            <a:r>
              <a:rPr sz="1875" b="1">
                <a:solidFill>
                  <a:srgbClr val="228B67"/>
                </a:solidFill>
              </a:rPr>
              <a:t>04</a:t>
            </a:r>
          </a:p>
        </p:txBody>
      </p:sp>
      <p:sp>
        <p:nvSpPr>
          <p:cNvPr id="22" name="map-name-3">
            <a:extLst xmlns:a="http://schemas.openxmlformats.org/drawingml/2006/main">
              <a:ext uri="{FF2B5EF4-FFF2-40B4-BE49-F238E27FC236}">
                <a16:creationId xmlns:a16="http://schemas.microsoft.com/office/drawing/2014/main" id="{B8DDDCC2-5A01-4C37-9693-3051F6DEE1D0}"/>
              </a:ext>
            </a:extLst>
          </p:cNvPr>
          <p:cNvSpPr>
            <a:spLocks xmlns:a="http://schemas.openxmlformats.org/drawingml/2006/main" noGrp="1"/>
          </p:cNvSpPr>
          <p:nvPr/>
        </p:nvSpPr>
        <p:spPr>
          <a:xfrm xmlns:a="http://schemas.openxmlformats.org/drawingml/2006/main">
            <a:off x="8934450" y="3067050"/>
            <a:ext cx="1943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071A2B"/>
                </a:solidFill>
              </a:defRPr>
            </a:pPr>
            <a:r>
              <a:rPr sz="1350" b="1">
                <a:solidFill>
                  <a:srgbClr val="071A2B"/>
                </a:solidFill>
              </a:rPr>
              <a:t>CURRICULUM</a:t>
            </a:r>
          </a:p>
        </p:txBody>
      </p:sp>
      <p:sp>
        <p:nvSpPr>
          <p:cNvPr id="23" name="map-body-3">
            <a:extLst xmlns:a="http://schemas.openxmlformats.org/drawingml/2006/main">
              <a:ext uri="{FF2B5EF4-FFF2-40B4-BE49-F238E27FC236}">
                <a16:creationId xmlns:a16="http://schemas.microsoft.com/office/drawing/2014/main" id="{74830F03-C31F-4BC6-9AF2-7540CEF08C92}"/>
              </a:ext>
            </a:extLst>
          </p:cNvPr>
          <p:cNvSpPr>
            <a:spLocks xmlns:a="http://schemas.openxmlformats.org/drawingml/2006/main" noGrp="1"/>
          </p:cNvSpPr>
          <p:nvPr/>
        </p:nvSpPr>
        <p:spPr>
          <a:xfrm xmlns:a="http://schemas.openxmlformats.org/drawingml/2006/main">
            <a:off x="8934450" y="3714750"/>
            <a:ext cx="1943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20000"/>
              </a:lnSpc>
              <a:buNone/>
              <a:defRPr sz="1350" b="1">
                <a:solidFill>
                  <a:srgbClr val="64747B"/>
                </a:solidFill>
              </a:defRPr>
            </a:pPr>
            <a:r>
              <a:rPr sz="1350" b="1">
                <a:solidFill>
                  <a:srgbClr val="64747B"/>
                </a:solidFill>
              </a:rPr>
              <a:t>从真实失败类型制造 decoy、timeout 与 replay</a:t>
            </a:r>
          </a:p>
        </p:txBody>
      </p:sp>
      <p:sp>
        <p:nvSpPr>
          <p:cNvPr id="24" name="map-foot">
            <a:extLst xmlns:a="http://schemas.openxmlformats.org/drawingml/2006/main">
              <a:ext uri="{FF2B5EF4-FFF2-40B4-BE49-F238E27FC236}">
                <a16:creationId xmlns:a16="http://schemas.microsoft.com/office/drawing/2014/main" id="{BDA19CA5-50FC-4F68-9155-C7927D425966}"/>
              </a:ext>
            </a:extLst>
          </p:cNvPr>
          <p:cNvSpPr>
            <a:spLocks xmlns:a="http://schemas.openxmlformats.org/drawingml/2006/main" noGrp="1"/>
          </p:cNvSpPr>
          <p:nvPr/>
        </p:nvSpPr>
        <p:spPr>
          <a:xfrm xmlns:a="http://schemas.openxmlformats.org/drawingml/2006/main">
            <a:off x="1143000" y="5562600"/>
            <a:ext cx="962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B797B"/>
                </a:solidFill>
              </a:defRPr>
            </a:pPr>
            <a:r>
              <a:rPr sz="1350" b="1">
                <a:solidFill>
                  <a:srgbClr val="0B797B"/>
                </a:solidFill>
              </a:rPr>
              <a:t>训练完整性的证据链：trajectory → reward → optimizer step → adapter hash → fresh-process replay</a:t>
            </a:r>
          </a:p>
        </p:txBody>
      </p:sp>
    </p:spTree>
    <p:extLst>
      <p:ext uri="{BB962C8B-B14F-4D97-AF65-F5344CB8AC3E}">
        <p14:creationId xmlns:p14="http://schemas.microsoft.com/office/powerpoint/2010/main" val="556109581"/>
      </p:ext>
    </p:extLst>
  </p:cSld>
</p:sld>
</file>

<file path=ppt/slides/slide3.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1" name="rail-3">
            <a:extLst xmlns:a="http://schemas.openxmlformats.org/drawingml/2006/main">
              <a:ext uri="{FF2B5EF4-FFF2-40B4-BE49-F238E27FC236}">
                <a16:creationId xmlns:a16="http://schemas.microsoft.com/office/drawing/2014/main" id="{2B1DF3EE-D2CC-43F8-B706-9D2FFFE8D977}"/>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3">
            <a:extLst xmlns:a="http://schemas.openxmlformats.org/drawingml/2006/main">
              <a:ext uri="{FF2B5EF4-FFF2-40B4-BE49-F238E27FC236}">
                <a16:creationId xmlns:a16="http://schemas.microsoft.com/office/drawing/2014/main" id="{7F9C3B62-AEC7-45E2-A287-6AE2EBE89B19}"/>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3">
            <a:extLst xmlns:a="http://schemas.openxmlformats.org/drawingml/2006/main">
              <a:ext uri="{FF2B5EF4-FFF2-40B4-BE49-F238E27FC236}">
                <a16:creationId xmlns:a16="http://schemas.microsoft.com/office/drawing/2014/main" id="{5EDA809F-8273-41DA-993B-B0139E0D018F}"/>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PAPER → PROJECT</a:t>
            </a:r>
          </a:p>
        </p:txBody>
      </p:sp>
      <p:sp>
        <p:nvSpPr>
          <p:cNvPr id="4" name="title-3">
            <a:extLst xmlns:a="http://schemas.openxmlformats.org/drawingml/2006/main">
              <a:ext uri="{FF2B5EF4-FFF2-40B4-BE49-F238E27FC236}">
                <a16:creationId xmlns:a16="http://schemas.microsoft.com/office/drawing/2014/main" id="{9FBCEC35-756A-4160-B7CC-79CA06041132}"/>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论文方法如何被拆成一条可执行的工程链路</a:t>
            </a:r>
          </a:p>
        </p:txBody>
      </p:sp>
      <p:sp>
        <p:nvSpPr>
          <p:cNvPr id="5" name="subtitle-3">
            <a:extLst xmlns:a="http://schemas.openxmlformats.org/drawingml/2006/main">
              <a:ext uri="{FF2B5EF4-FFF2-40B4-BE49-F238E27FC236}">
                <a16:creationId xmlns:a16="http://schemas.microsoft.com/office/drawing/2014/main" id="{01AE1184-6DEF-4AA5-8054-516658A428FD}"/>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保留双飞轮的因果结构，缩小模型、数据和 benchmark 规模，并明确不支持的 claim。</a:t>
            </a:r>
          </a:p>
        </p:txBody>
      </p:sp>
      <p:sp>
        <p:nvSpPr>
          <p:cNvPr id="6" name="">
            <a:extLst xmlns:a="http://schemas.openxmlformats.org/drawingml/2006/main">
              <a:ext uri="{FF2B5EF4-FFF2-40B4-BE49-F238E27FC236}">
                <a16:creationId xmlns:a16="http://schemas.microsoft.com/office/drawing/2014/main" id="{86C0D0F2-0348-455B-8965-694B2B2D1920}"/>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3">
            <a:extLst xmlns:a="http://schemas.openxmlformats.org/drawingml/2006/main">
              <a:ext uri="{FF2B5EF4-FFF2-40B4-BE49-F238E27FC236}">
                <a16:creationId xmlns:a16="http://schemas.microsoft.com/office/drawing/2014/main" id="{8D80C023-C7B2-4FB3-9A42-834D592026F2}"/>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03</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922421901d04ff8"/>
          <a:stretch xmlns:a="http://schemas.openxmlformats.org/drawingml/2006/main"/>
        </p:blipFill>
        <p:spPr>
          <a:xfrm xmlns:a="http://schemas.openxmlformats.org/drawingml/2006/main">
            <a:off x="666750" y="2117031"/>
            <a:ext cx="5429250" cy="308113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178A17E-197D-4033-BE49-B9E44B68FDED}"/>
              </a:ext>
            </a:extLst>
          </p:cNvPr>
          <p:cNvSpPr>
            <a:spLocks xmlns:a="http://schemas.openxmlformats.org/drawingml/2006/main" noGrp="1"/>
          </p:cNvSpPr>
          <p:nvPr/>
        </p:nvSpPr>
        <p:spPr>
          <a:xfrm xmlns:a="http://schemas.openxmlformats.org/drawingml/2006/main">
            <a:off x="6667500" y="2209800"/>
            <a:ext cx="342900" cy="0"/>
          </a:xfrm>
          <a:prstGeom xmlns:a="http://schemas.openxmlformats.org/drawingml/2006/main" prst="line">
            <a:avLst/>
          </a:prstGeom>
          <a:noFill xmlns:a="http://schemas.openxmlformats.org/drawingml/2006/main"/>
          <a:ln xmlns:a="http://schemas.openxmlformats.org/drawingml/2006/main" w="47625">
            <a:solidFill>
              <a:srgbClr val="C56D4A"/>
            </a:solidFill>
            <a:prstDash val="solid"/>
          </a:ln>
        </p:spPr>
      </p:sp>
      <p:sp>
        <p:nvSpPr>
          <p:cNvPr id="10" name="paper-k-0">
            <a:extLst xmlns:a="http://schemas.openxmlformats.org/drawingml/2006/main">
              <a:ext uri="{FF2B5EF4-FFF2-40B4-BE49-F238E27FC236}">
                <a16:creationId xmlns:a16="http://schemas.microsoft.com/office/drawing/2014/main" id="{F62AA5E2-1439-4E7A-A841-E19F1BC62AFA}"/>
              </a:ext>
            </a:extLst>
          </p:cNvPr>
          <p:cNvSpPr>
            <a:spLocks xmlns:a="http://schemas.openxmlformats.org/drawingml/2006/main" noGrp="1"/>
          </p:cNvSpPr>
          <p:nvPr/>
        </p:nvSpPr>
        <p:spPr>
          <a:xfrm xmlns:a="http://schemas.openxmlformats.org/drawingml/2006/main">
            <a:off x="7219950" y="2095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论文</a:t>
            </a:r>
          </a:p>
        </p:txBody>
      </p:sp>
      <p:sp>
        <p:nvSpPr>
          <p:cNvPr id="11" name="paper-v-0">
            <a:extLst xmlns:a="http://schemas.openxmlformats.org/drawingml/2006/main">
              <a:ext uri="{FF2B5EF4-FFF2-40B4-BE49-F238E27FC236}">
                <a16:creationId xmlns:a16="http://schemas.microsoft.com/office/drawing/2014/main" id="{F1E698E5-4ECA-4F35-865B-753A032A54A7}"/>
              </a:ext>
            </a:extLst>
          </p:cNvPr>
          <p:cNvSpPr>
            <a:spLocks xmlns:a="http://schemas.openxmlformats.org/drawingml/2006/main" noGrp="1"/>
          </p:cNvSpPr>
          <p:nvPr/>
        </p:nvSpPr>
        <p:spPr>
          <a:xfrm xmlns:a="http://schemas.openxmlformats.org/drawingml/2006/main">
            <a:off x="7219950" y="2428875"/>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64747B"/>
                </a:solidFill>
              </a:defRPr>
            </a:pPr>
            <a:r>
              <a:rPr sz="1200" b="1">
                <a:solidFill>
                  <a:srgbClr val="64747B"/>
                </a:solidFill>
              </a:rPr>
              <a:t>≈100K 数据 · 235B simulator/judge · 8×H100</a:t>
            </a:r>
          </a:p>
        </p:txBody>
      </p:sp>
      <p:sp>
        <p:nvSpPr>
          <p:cNvPr id="12" name="">
            <a:extLst xmlns:a="http://schemas.openxmlformats.org/drawingml/2006/main">
              <a:ext uri="{FF2B5EF4-FFF2-40B4-BE49-F238E27FC236}">
                <a16:creationId xmlns:a16="http://schemas.microsoft.com/office/drawing/2014/main" id="{C60BEE0D-8AAC-438D-8A50-4D9A92A10C22}"/>
              </a:ext>
            </a:extLst>
          </p:cNvPr>
          <p:cNvSpPr>
            <a:spLocks xmlns:a="http://schemas.openxmlformats.org/drawingml/2006/main" noGrp="1"/>
          </p:cNvSpPr>
          <p:nvPr/>
        </p:nvSpPr>
        <p:spPr>
          <a:xfrm xmlns:a="http://schemas.openxmlformats.org/drawingml/2006/main">
            <a:off x="6667500" y="3105150"/>
            <a:ext cx="342900" cy="0"/>
          </a:xfrm>
          <a:prstGeom xmlns:a="http://schemas.openxmlformats.org/drawingml/2006/main" prst="line">
            <a:avLst/>
          </a:prstGeom>
          <a:noFill xmlns:a="http://schemas.openxmlformats.org/drawingml/2006/main"/>
          <a:ln xmlns:a="http://schemas.openxmlformats.org/drawingml/2006/main" w="47625">
            <a:solidFill>
              <a:srgbClr val="18A6A6"/>
            </a:solidFill>
            <a:prstDash val="solid"/>
          </a:ln>
        </p:spPr>
      </p:sp>
      <p:sp>
        <p:nvSpPr>
          <p:cNvPr id="13" name="paper-k-1">
            <a:extLst xmlns:a="http://schemas.openxmlformats.org/drawingml/2006/main">
              <a:ext uri="{FF2B5EF4-FFF2-40B4-BE49-F238E27FC236}">
                <a16:creationId xmlns:a16="http://schemas.microsoft.com/office/drawing/2014/main" id="{AC60F34E-B1F3-4E18-A184-EFFA0C390E1F}"/>
              </a:ext>
            </a:extLst>
          </p:cNvPr>
          <p:cNvSpPr>
            <a:spLocks xmlns:a="http://schemas.openxmlformats.org/drawingml/2006/main" noGrp="1"/>
          </p:cNvSpPr>
          <p:nvPr/>
        </p:nvSpPr>
        <p:spPr>
          <a:xfrm xmlns:a="http://schemas.openxmlformats.org/drawingml/2006/main">
            <a:off x="7219950" y="29908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18A6A6"/>
                </a:solidFill>
              </a:defRPr>
            </a:pPr>
            <a:r>
              <a:rPr sz="1500" b="1">
                <a:solidFill>
                  <a:srgbClr val="18A6A6"/>
                </a:solidFill>
              </a:rPr>
              <a:t>本次</a:t>
            </a:r>
          </a:p>
        </p:txBody>
      </p:sp>
      <p:sp>
        <p:nvSpPr>
          <p:cNvPr id="14" name="paper-v-1">
            <a:extLst xmlns:a="http://schemas.openxmlformats.org/drawingml/2006/main">
              <a:ext uri="{FF2B5EF4-FFF2-40B4-BE49-F238E27FC236}">
                <a16:creationId xmlns:a16="http://schemas.microsoft.com/office/drawing/2014/main" id="{60D3593E-EC8A-49F0-B45D-032A761120BB}"/>
              </a:ext>
            </a:extLst>
          </p:cNvPr>
          <p:cNvSpPr>
            <a:spLocks xmlns:a="http://schemas.openxmlformats.org/drawingml/2006/main" noGrp="1"/>
          </p:cNvSpPr>
          <p:nvPr/>
        </p:nvSpPr>
        <p:spPr>
          <a:xfrm xmlns:a="http://schemas.openxmlformats.org/drawingml/2006/main">
            <a:off x="7219950" y="3324225"/>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64747B"/>
                </a:solidFill>
              </a:defRPr>
            </a:pPr>
            <a:r>
              <a:rPr sz="1200" b="1">
                <a:solidFill>
                  <a:srgbClr val="64747B"/>
                </a:solidFill>
              </a:rPr>
              <a:t>8+12 训练任务 · 24 optimizer steps · 1×NVIDIA H200</a:t>
            </a:r>
          </a:p>
        </p:txBody>
      </p:sp>
      <p:sp>
        <p:nvSpPr>
          <p:cNvPr id="15" name="">
            <a:extLst xmlns:a="http://schemas.openxmlformats.org/drawingml/2006/main">
              <a:ext uri="{FF2B5EF4-FFF2-40B4-BE49-F238E27FC236}">
                <a16:creationId xmlns:a16="http://schemas.microsoft.com/office/drawing/2014/main" id="{45FE5486-AE4D-48F5-AFCD-2B5F1C7A8C1D}"/>
              </a:ext>
            </a:extLst>
          </p:cNvPr>
          <p:cNvSpPr>
            <a:spLocks xmlns:a="http://schemas.openxmlformats.org/drawingml/2006/main" noGrp="1"/>
          </p:cNvSpPr>
          <p:nvPr/>
        </p:nvSpPr>
        <p:spPr>
          <a:xfrm xmlns:a="http://schemas.openxmlformats.org/drawingml/2006/main">
            <a:off x="6667500" y="4000500"/>
            <a:ext cx="342900" cy="0"/>
          </a:xfrm>
          <a:prstGeom xmlns:a="http://schemas.openxmlformats.org/drawingml/2006/main" prst="line">
            <a:avLst/>
          </a:prstGeom>
          <a:noFill xmlns:a="http://schemas.openxmlformats.org/drawingml/2006/main"/>
          <a:ln xmlns:a="http://schemas.openxmlformats.org/drawingml/2006/main" w="47625">
            <a:solidFill>
              <a:srgbClr val="228B67"/>
            </a:solidFill>
            <a:prstDash val="solid"/>
          </a:ln>
        </p:spPr>
      </p:sp>
      <p:sp>
        <p:nvSpPr>
          <p:cNvPr id="16" name="paper-k-2">
            <a:extLst xmlns:a="http://schemas.openxmlformats.org/drawingml/2006/main">
              <a:ext uri="{FF2B5EF4-FFF2-40B4-BE49-F238E27FC236}">
                <a16:creationId xmlns:a16="http://schemas.microsoft.com/office/drawing/2014/main" id="{05DFBBDA-DCFB-4D64-ADA6-0B6418A74D0D}"/>
              </a:ext>
            </a:extLst>
          </p:cNvPr>
          <p:cNvSpPr>
            <a:spLocks xmlns:a="http://schemas.openxmlformats.org/drawingml/2006/main" noGrp="1"/>
          </p:cNvSpPr>
          <p:nvPr/>
        </p:nvSpPr>
        <p:spPr>
          <a:xfrm xmlns:a="http://schemas.openxmlformats.org/drawingml/2006/main">
            <a:off x="7219950" y="38862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228B67"/>
                </a:solidFill>
              </a:defRPr>
            </a:pPr>
            <a:r>
              <a:rPr sz="1500" b="1">
                <a:solidFill>
                  <a:srgbClr val="228B67"/>
                </a:solidFill>
              </a:rPr>
              <a:t>保留</a:t>
            </a:r>
          </a:p>
        </p:txBody>
      </p:sp>
      <p:sp>
        <p:nvSpPr>
          <p:cNvPr id="17" name="paper-v-2">
            <a:extLst xmlns:a="http://schemas.openxmlformats.org/drawingml/2006/main">
              <a:ext uri="{FF2B5EF4-FFF2-40B4-BE49-F238E27FC236}">
                <a16:creationId xmlns:a16="http://schemas.microsoft.com/office/drawing/2014/main" id="{0544EBEE-BD5B-4D2B-8E38-3270FE4E60CE}"/>
              </a:ext>
            </a:extLst>
          </p:cNvPr>
          <p:cNvSpPr>
            <a:spLocks xmlns:a="http://schemas.openxmlformats.org/drawingml/2006/main" noGrp="1"/>
          </p:cNvSpPr>
          <p:nvPr/>
        </p:nvSpPr>
        <p:spPr>
          <a:xfrm xmlns:a="http://schemas.openxmlformats.org/drawingml/2006/main">
            <a:off x="7219950" y="4219575"/>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64747B"/>
                </a:solidFill>
              </a:defRPr>
            </a:pPr>
            <a:r>
              <a:rPr sz="1200" b="1">
                <a:solidFill>
                  <a:srgbClr val="64747B"/>
                </a:solidFill>
              </a:rPr>
              <a:t>多轮 response token · stateful tools · GRPO · failure loop</a:t>
            </a:r>
          </a:p>
        </p:txBody>
      </p:sp>
      <p:sp>
        <p:nvSpPr>
          <p:cNvPr id="18" name="">
            <a:extLst xmlns:a="http://schemas.openxmlformats.org/drawingml/2006/main">
              <a:ext uri="{FF2B5EF4-FFF2-40B4-BE49-F238E27FC236}">
                <a16:creationId xmlns:a16="http://schemas.microsoft.com/office/drawing/2014/main" id="{9DD11A86-1492-4D31-8ABC-B4A5EA900EBB}"/>
              </a:ext>
            </a:extLst>
          </p:cNvPr>
          <p:cNvSpPr>
            <a:spLocks xmlns:a="http://schemas.openxmlformats.org/drawingml/2006/main" noGrp="1"/>
          </p:cNvSpPr>
          <p:nvPr/>
        </p:nvSpPr>
        <p:spPr>
          <a:xfrm xmlns:a="http://schemas.openxmlformats.org/drawingml/2006/main">
            <a:off x="6667500" y="4895850"/>
            <a:ext cx="342900" cy="0"/>
          </a:xfrm>
          <a:prstGeom xmlns:a="http://schemas.openxmlformats.org/drawingml/2006/main" prst="line">
            <a:avLst/>
          </a:prstGeom>
          <a:noFill xmlns:a="http://schemas.openxmlformats.org/drawingml/2006/main"/>
          <a:ln xmlns:a="http://schemas.openxmlformats.org/drawingml/2006/main" w="47625">
            <a:solidFill>
              <a:srgbClr val="B44C4C"/>
            </a:solidFill>
            <a:prstDash val="solid"/>
          </a:ln>
        </p:spPr>
      </p:sp>
      <p:sp>
        <p:nvSpPr>
          <p:cNvPr id="19" name="paper-k-3">
            <a:extLst xmlns:a="http://schemas.openxmlformats.org/drawingml/2006/main">
              <a:ext uri="{FF2B5EF4-FFF2-40B4-BE49-F238E27FC236}">
                <a16:creationId xmlns:a16="http://schemas.microsoft.com/office/drawing/2014/main" id="{3BBEA9BD-A04F-47E0-816B-70EB370C5158}"/>
              </a:ext>
            </a:extLst>
          </p:cNvPr>
          <p:cNvSpPr>
            <a:spLocks xmlns:a="http://schemas.openxmlformats.org/drawingml/2006/main" noGrp="1"/>
          </p:cNvSpPr>
          <p:nvPr/>
        </p:nvSpPr>
        <p:spPr>
          <a:xfrm xmlns:a="http://schemas.openxmlformats.org/drawingml/2006/main">
            <a:off x="7219950" y="47815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B44C4C"/>
                </a:solidFill>
              </a:defRPr>
            </a:pPr>
            <a:r>
              <a:rPr sz="1500" b="1">
                <a:solidFill>
                  <a:srgbClr val="B44C4C"/>
                </a:solidFill>
              </a:rPr>
              <a:t>不声称</a:t>
            </a:r>
          </a:p>
        </p:txBody>
      </p:sp>
      <p:sp>
        <p:nvSpPr>
          <p:cNvPr id="20" name="paper-v-3">
            <a:extLst xmlns:a="http://schemas.openxmlformats.org/drawingml/2006/main">
              <a:ext uri="{FF2B5EF4-FFF2-40B4-BE49-F238E27FC236}">
                <a16:creationId xmlns:a16="http://schemas.microsoft.com/office/drawing/2014/main" id="{4831035E-E961-4E65-8D42-182BB7CB9BE1}"/>
              </a:ext>
            </a:extLst>
          </p:cNvPr>
          <p:cNvSpPr>
            <a:spLocks xmlns:a="http://schemas.openxmlformats.org/drawingml/2006/main" noGrp="1"/>
          </p:cNvSpPr>
          <p:nvPr/>
        </p:nvSpPr>
        <p:spPr>
          <a:xfrm xmlns:a="http://schemas.openxmlformats.org/drawingml/2006/main">
            <a:off x="7219950" y="5114925"/>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64747B"/>
                </a:solidFill>
              </a:defRPr>
            </a:pPr>
            <a:r>
              <a:rPr sz="1200" b="1">
                <a:solidFill>
                  <a:srgbClr val="64747B"/>
                </a:solidFill>
              </a:rPr>
              <a:t>论文 47.4 平均分 · 全量 TAU-2/BFCL · 统计显著性</a:t>
            </a:r>
          </a:p>
        </p:txBody>
      </p:sp>
    </p:spTree>
    <p:extLst>
      <p:ext uri="{BB962C8B-B14F-4D97-AF65-F5344CB8AC3E}">
        <p14:creationId xmlns:p14="http://schemas.microsoft.com/office/powerpoint/2010/main" val="1081484946"/>
      </p:ext>
    </p:extLst>
  </p:cSld>
</p:sld>
</file>

<file path=ppt/slides/slide4.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40" name="rail-4">
            <a:extLst xmlns:a="http://schemas.openxmlformats.org/drawingml/2006/main">
              <a:ext uri="{FF2B5EF4-FFF2-40B4-BE49-F238E27FC236}">
                <a16:creationId xmlns:a16="http://schemas.microsoft.com/office/drawing/2014/main" id="{25712915-4426-4E8F-9BFD-B314C70F8682}"/>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4">
            <a:extLst xmlns:a="http://schemas.openxmlformats.org/drawingml/2006/main">
              <a:ext uri="{FF2B5EF4-FFF2-40B4-BE49-F238E27FC236}">
                <a16:creationId xmlns:a16="http://schemas.microsoft.com/office/drawing/2014/main" id="{FAB95C4F-2BD9-4370-8AB5-66C3BC97A147}"/>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4">
            <a:extLst xmlns:a="http://schemas.openxmlformats.org/drawingml/2006/main">
              <a:ext uri="{FF2B5EF4-FFF2-40B4-BE49-F238E27FC236}">
                <a16:creationId xmlns:a16="http://schemas.microsoft.com/office/drawing/2014/main" id="{A5A0048D-A2FD-48AE-931A-968E3692075D}"/>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SYSTEM ARCHITECTURE</a:t>
            </a:r>
          </a:p>
        </p:txBody>
      </p:sp>
      <p:sp>
        <p:nvSpPr>
          <p:cNvPr id="4" name="title-4">
            <a:extLst xmlns:a="http://schemas.openxmlformats.org/drawingml/2006/main">
              <a:ext uri="{FF2B5EF4-FFF2-40B4-BE49-F238E27FC236}">
                <a16:creationId xmlns:a16="http://schemas.microsoft.com/office/drawing/2014/main" id="{22D87F0B-B729-4BF9-8215-F485D6EC8223}"/>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一次 rollout 究竟发生了什么？</a:t>
            </a:r>
          </a:p>
        </p:txBody>
      </p:sp>
      <p:sp>
        <p:nvSpPr>
          <p:cNvPr id="5" name="subtitle-4">
            <a:extLst xmlns:a="http://schemas.openxmlformats.org/drawingml/2006/main">
              <a:ext uri="{FF2B5EF4-FFF2-40B4-BE49-F238E27FC236}">
                <a16:creationId xmlns:a16="http://schemas.microsoft.com/office/drawing/2014/main" id="{953A31EC-789C-4D96-A1F2-CCB0EB759CCB}"/>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模型不能直接改业务状态；所有 side effect 都经过工具、先决条件和 verifier。</a:t>
            </a:r>
          </a:p>
        </p:txBody>
      </p:sp>
      <p:sp>
        <p:nvSpPr>
          <p:cNvPr id="6" name="">
            <a:extLst xmlns:a="http://schemas.openxmlformats.org/drawingml/2006/main">
              <a:ext uri="{FF2B5EF4-FFF2-40B4-BE49-F238E27FC236}">
                <a16:creationId xmlns:a16="http://schemas.microsoft.com/office/drawing/2014/main" id="{50821572-66A4-432F-A6FF-D30EDFB5C193}"/>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4">
            <a:extLst xmlns:a="http://schemas.openxmlformats.org/drawingml/2006/main">
              <a:ext uri="{FF2B5EF4-FFF2-40B4-BE49-F238E27FC236}">
                <a16:creationId xmlns:a16="http://schemas.microsoft.com/office/drawing/2014/main" id="{8E4D1BF1-92B0-4B0F-A0A9-DC6C49E89C6D}"/>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04</a:t>
            </a:r>
          </a:p>
        </p:txBody>
      </p:sp>
      <p:sp>
        <p:nvSpPr>
          <p:cNvPr id="8" name="">
            <a:extLst xmlns:a="http://schemas.openxmlformats.org/drawingml/2006/main">
              <a:ext uri="{FF2B5EF4-FFF2-40B4-BE49-F238E27FC236}">
                <a16:creationId xmlns:a16="http://schemas.microsoft.com/office/drawing/2014/main" id="{0C09F84B-62FD-4C35-B2E4-46A7278020D8}"/>
              </a:ext>
            </a:extLst>
          </p:cNvPr>
          <p:cNvSpPr>
            <a:spLocks xmlns:a="http://schemas.openxmlformats.org/drawingml/2006/main" noGrp="1"/>
          </p:cNvSpPr>
          <p:nvPr/>
        </p:nvSpPr>
        <p:spPr>
          <a:xfrm xmlns:a="http://schemas.openxmlformats.org/drawingml/2006/main">
            <a:off x="2381250" y="3438525"/>
            <a:ext cx="514350" cy="0"/>
          </a:xfrm>
          <a:prstGeom xmlns:a="http://schemas.openxmlformats.org/drawingml/2006/main" prst="line">
            <a:avLst/>
          </a:prstGeom>
          <a:noFill xmlns:a="http://schemas.openxmlformats.org/drawingml/2006/main"/>
          <a:ln xmlns:a="http://schemas.openxmlformats.org/drawingml/2006/main" w="19050">
            <a:solidFill>
              <a:srgbClr val="0B797B"/>
            </a:solidFill>
            <a:prstDash val="solid"/>
          </a:ln>
        </p:spPr>
      </p:sp>
      <p:sp>
        <p:nvSpPr>
          <p:cNvPr id="9" name="">
            <a:extLst xmlns:a="http://schemas.openxmlformats.org/drawingml/2006/main">
              <a:ext uri="{FF2B5EF4-FFF2-40B4-BE49-F238E27FC236}">
                <a16:creationId xmlns:a16="http://schemas.microsoft.com/office/drawing/2014/main" id="{527B47FB-546C-4507-B55D-7C3192FC7025}"/>
              </a:ext>
            </a:extLst>
          </p:cNvPr>
          <p:cNvSpPr>
            <a:spLocks xmlns:a="http://schemas.openxmlformats.org/drawingml/2006/main" noGrp="1"/>
          </p:cNvSpPr>
          <p:nvPr/>
        </p:nvSpPr>
        <p:spPr>
          <a:xfrm xmlns:a="http://schemas.openxmlformats.org/drawingml/2006/main">
            <a:off x="4533900" y="3438525"/>
            <a:ext cx="685800" cy="0"/>
          </a:xfrm>
          <a:prstGeom xmlns:a="http://schemas.openxmlformats.org/drawingml/2006/main" prst="line">
            <a:avLst/>
          </a:prstGeom>
          <a:noFill xmlns:a="http://schemas.openxmlformats.org/drawingml/2006/main"/>
          <a:ln xmlns:a="http://schemas.openxmlformats.org/drawingml/2006/main" w="19050">
            <a:solidFill>
              <a:srgbClr val="0B797B"/>
            </a:solidFill>
            <a:prstDash val="solid"/>
          </a:ln>
        </p:spPr>
      </p:sp>
      <p:sp>
        <p:nvSpPr>
          <p:cNvPr id="10" name="">
            <a:extLst xmlns:a="http://schemas.openxmlformats.org/drawingml/2006/main">
              <a:ext uri="{FF2B5EF4-FFF2-40B4-BE49-F238E27FC236}">
                <a16:creationId xmlns:a16="http://schemas.microsoft.com/office/drawing/2014/main" id="{4C867E7A-6205-4FBE-89DD-D406C4EB48D0}"/>
              </a:ext>
            </a:extLst>
          </p:cNvPr>
          <p:cNvSpPr>
            <a:spLocks xmlns:a="http://schemas.openxmlformats.org/drawingml/2006/main" noGrp="1"/>
          </p:cNvSpPr>
          <p:nvPr/>
        </p:nvSpPr>
        <p:spPr>
          <a:xfrm xmlns:a="http://schemas.openxmlformats.org/drawingml/2006/main">
            <a:off x="6858000" y="3438525"/>
            <a:ext cx="685800" cy="0"/>
          </a:xfrm>
          <a:prstGeom xmlns:a="http://schemas.openxmlformats.org/drawingml/2006/main" prst="line">
            <a:avLst/>
          </a:prstGeom>
          <a:noFill xmlns:a="http://schemas.openxmlformats.org/drawingml/2006/main"/>
          <a:ln xmlns:a="http://schemas.openxmlformats.org/drawingml/2006/main" w="19050">
            <a:solidFill>
              <a:srgbClr val="0B797B"/>
            </a:solidFill>
            <a:prstDash val="solid"/>
          </a:ln>
        </p:spPr>
      </p:sp>
      <p:sp>
        <p:nvSpPr>
          <p:cNvPr id="11" name="">
            <a:extLst xmlns:a="http://schemas.openxmlformats.org/drawingml/2006/main">
              <a:ext uri="{FF2B5EF4-FFF2-40B4-BE49-F238E27FC236}">
                <a16:creationId xmlns:a16="http://schemas.microsoft.com/office/drawing/2014/main" id="{619E800F-2858-4AF9-A7FA-E3E0D56644E8}"/>
              </a:ext>
            </a:extLst>
          </p:cNvPr>
          <p:cNvSpPr>
            <a:spLocks xmlns:a="http://schemas.openxmlformats.org/drawingml/2006/main" noGrp="1"/>
          </p:cNvSpPr>
          <p:nvPr/>
        </p:nvSpPr>
        <p:spPr>
          <a:xfrm xmlns:a="http://schemas.openxmlformats.org/drawingml/2006/main">
            <a:off x="9182100" y="3438525"/>
            <a:ext cx="685800" cy="0"/>
          </a:xfrm>
          <a:prstGeom xmlns:a="http://schemas.openxmlformats.org/drawingml/2006/main" prst="line">
            <a:avLst/>
          </a:prstGeom>
          <a:noFill xmlns:a="http://schemas.openxmlformats.org/drawingml/2006/main"/>
          <a:ln xmlns:a="http://schemas.openxmlformats.org/drawingml/2006/main" w="19050">
            <a:solidFill>
              <a:srgbClr val="0B797B"/>
            </a:solidFill>
            <a:prstDash val="solid"/>
          </a:ln>
        </p:spPr>
      </p:sp>
      <p:sp>
        <p:nvSpPr>
          <p:cNvPr id="12" name="arch-0">
            <a:extLst xmlns:a="http://schemas.openxmlformats.org/drawingml/2006/main">
              <a:ext uri="{FF2B5EF4-FFF2-40B4-BE49-F238E27FC236}">
                <a16:creationId xmlns:a16="http://schemas.microsoft.com/office/drawing/2014/main" id="{4D3D6D4E-B0B9-44C0-9BFB-4888000BF839}"/>
              </a:ext>
            </a:extLst>
          </p:cNvPr>
          <p:cNvSpPr>
            <a:spLocks xmlns:a="http://schemas.openxmlformats.org/drawingml/2006/main" noGrp="1"/>
          </p:cNvSpPr>
          <p:nvPr/>
        </p:nvSpPr>
        <p:spPr>
          <a:xfrm xmlns:a="http://schemas.openxmlformats.org/drawingml/2006/main">
            <a:off x="742950" y="2714625"/>
            <a:ext cx="1638300" cy="1447800"/>
          </a:xfrm>
          <a:prstGeom xmlns:a="http://schemas.openxmlformats.org/drawingml/2006/main" prst="roundRect">
            <a:avLst>
              <a:gd name="adj" fmla="val 7895"/>
            </a:avLst>
          </a:prstGeom>
          <a:solidFill xmlns:a="http://schemas.openxmlformats.org/drawingml/2006/main">
            <a:srgbClr val="F7F1E8"/>
          </a:solidFill>
          <a:ln xmlns:a="http://schemas.openxmlformats.org/drawingml/2006/main" w="9525">
            <a:solidFill>
              <a:srgbClr val="CAD9D8"/>
            </a:solidFill>
            <a:prstDash val="solid"/>
          </a:ln>
        </p:spPr>
      </p:sp>
      <p:sp>
        <p:nvSpPr>
          <p:cNvPr id="13" name="arch-k-0">
            <a:extLst xmlns:a="http://schemas.openxmlformats.org/drawingml/2006/main">
              <a:ext uri="{FF2B5EF4-FFF2-40B4-BE49-F238E27FC236}">
                <a16:creationId xmlns:a16="http://schemas.microsoft.com/office/drawing/2014/main" id="{254AF8BE-AFC8-4354-81DB-52898930F3BB}"/>
              </a:ext>
            </a:extLst>
          </p:cNvPr>
          <p:cNvSpPr>
            <a:spLocks xmlns:a="http://schemas.openxmlformats.org/drawingml/2006/main" noGrp="1"/>
          </p:cNvSpPr>
          <p:nvPr/>
        </p:nvSpPr>
        <p:spPr>
          <a:xfrm xmlns:a="http://schemas.openxmlformats.org/drawingml/2006/main">
            <a:off x="885825" y="2924175"/>
            <a:ext cx="1352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0B797B"/>
                </a:solidFill>
              </a:defRPr>
            </a:pPr>
            <a:r>
              <a:rPr sz="1050" b="1">
                <a:solidFill>
                  <a:srgbClr val="0B797B"/>
                </a:solidFill>
              </a:rPr>
              <a:t>PROMPT</a:t>
            </a:r>
          </a:p>
        </p:txBody>
      </p:sp>
      <p:sp>
        <p:nvSpPr>
          <p:cNvPr id="14" name="arch-v-0">
            <a:extLst xmlns:a="http://schemas.openxmlformats.org/drawingml/2006/main">
              <a:ext uri="{FF2B5EF4-FFF2-40B4-BE49-F238E27FC236}">
                <a16:creationId xmlns:a16="http://schemas.microsoft.com/office/drawing/2014/main" id="{700CC552-C2FE-4775-8319-FF85968F0400}"/>
              </a:ext>
            </a:extLst>
          </p:cNvPr>
          <p:cNvSpPr>
            <a:spLocks xmlns:a="http://schemas.openxmlformats.org/drawingml/2006/main" noGrp="1"/>
          </p:cNvSpPr>
          <p:nvPr/>
        </p:nvSpPr>
        <p:spPr>
          <a:xfrm xmlns:a="http://schemas.openxmlformats.org/drawingml/2006/main">
            <a:off x="885825" y="3381375"/>
            <a:ext cx="1352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71A2B"/>
                </a:solidFill>
              </a:defRPr>
            </a:pPr>
            <a:r>
              <a:rPr sz="1350" b="1">
                <a:solidFill>
                  <a:srgbClr val="071A2B"/>
                </a:solidFill>
              </a:rPr>
              <a:t>模糊退款诉求</a:t>
            </a:r>
          </a:p>
        </p:txBody>
      </p:sp>
      <p:sp>
        <p:nvSpPr>
          <p:cNvPr id="15" name="arch-1">
            <a:extLst xmlns:a="http://schemas.openxmlformats.org/drawingml/2006/main">
              <a:ext uri="{FF2B5EF4-FFF2-40B4-BE49-F238E27FC236}">
                <a16:creationId xmlns:a16="http://schemas.microsoft.com/office/drawing/2014/main" id="{41EAE2C1-3337-410F-9D69-778A6D46C00C}"/>
              </a:ext>
            </a:extLst>
          </p:cNvPr>
          <p:cNvSpPr>
            <a:spLocks xmlns:a="http://schemas.openxmlformats.org/drawingml/2006/main" noGrp="1"/>
          </p:cNvSpPr>
          <p:nvPr/>
        </p:nvSpPr>
        <p:spPr>
          <a:xfrm xmlns:a="http://schemas.openxmlformats.org/drawingml/2006/main">
            <a:off x="2895600" y="2714625"/>
            <a:ext cx="1638300" cy="1447800"/>
          </a:xfrm>
          <a:prstGeom xmlns:a="http://schemas.openxmlformats.org/drawingml/2006/main" prst="roundRect">
            <a:avLst>
              <a:gd name="adj" fmla="val 7895"/>
            </a:avLst>
          </a:prstGeom>
          <a:solidFill xmlns:a="http://schemas.openxmlformats.org/drawingml/2006/main">
            <a:srgbClr val="E5F5F3"/>
          </a:solidFill>
          <a:ln xmlns:a="http://schemas.openxmlformats.org/drawingml/2006/main" w="9525">
            <a:solidFill>
              <a:srgbClr val="CAD9D8"/>
            </a:solidFill>
            <a:prstDash val="solid"/>
          </a:ln>
        </p:spPr>
      </p:sp>
      <p:sp>
        <p:nvSpPr>
          <p:cNvPr id="16" name="arch-k-1">
            <a:extLst xmlns:a="http://schemas.openxmlformats.org/drawingml/2006/main">
              <a:ext uri="{FF2B5EF4-FFF2-40B4-BE49-F238E27FC236}">
                <a16:creationId xmlns:a16="http://schemas.microsoft.com/office/drawing/2014/main" id="{E968C422-A40B-46E3-8DB7-A5CD36A4952E}"/>
              </a:ext>
            </a:extLst>
          </p:cNvPr>
          <p:cNvSpPr>
            <a:spLocks xmlns:a="http://schemas.openxmlformats.org/drawingml/2006/main" noGrp="1"/>
          </p:cNvSpPr>
          <p:nvPr/>
        </p:nvSpPr>
        <p:spPr>
          <a:xfrm xmlns:a="http://schemas.openxmlformats.org/drawingml/2006/main">
            <a:off x="3038475" y="2924175"/>
            <a:ext cx="1352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0B797B"/>
                </a:solidFill>
              </a:defRPr>
            </a:pPr>
            <a:r>
              <a:rPr sz="1050" b="1">
                <a:solidFill>
                  <a:srgbClr val="0B797B"/>
                </a:solidFill>
              </a:rPr>
              <a:t>POLICY</a:t>
            </a:r>
          </a:p>
        </p:txBody>
      </p:sp>
      <p:sp>
        <p:nvSpPr>
          <p:cNvPr id="17" name="arch-v-1">
            <a:extLst xmlns:a="http://schemas.openxmlformats.org/drawingml/2006/main">
              <a:ext uri="{FF2B5EF4-FFF2-40B4-BE49-F238E27FC236}">
                <a16:creationId xmlns:a16="http://schemas.microsoft.com/office/drawing/2014/main" id="{0CD20252-D9C0-4C5C-B5D8-C20D4DF5ADD2}"/>
              </a:ext>
            </a:extLst>
          </p:cNvPr>
          <p:cNvSpPr>
            <a:spLocks xmlns:a="http://schemas.openxmlformats.org/drawingml/2006/main" noGrp="1"/>
          </p:cNvSpPr>
          <p:nvPr/>
        </p:nvSpPr>
        <p:spPr>
          <a:xfrm xmlns:a="http://schemas.openxmlformats.org/drawingml/2006/main">
            <a:off x="3038475" y="3381375"/>
            <a:ext cx="1352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71A2B"/>
                </a:solidFill>
              </a:defRPr>
            </a:pPr>
            <a:r>
              <a:rPr sz="1350" b="1">
                <a:solidFill>
                  <a:srgbClr val="071A2B"/>
                </a:solidFill>
              </a:rPr>
              <a:t>Qwen3-8B</a:t>
            </a:r>
          </a:p>
          <a:p xmlns:a="http://schemas.openxmlformats.org/drawingml/2006/main">
            <a:pPr algn="ctr">
              <a:defRPr sz="1350" b="1">
                <a:solidFill>
                  <a:srgbClr val="071A2B"/>
                </a:solidFill>
              </a:defRPr>
            </a:pPr>
            <a:r>
              <a:rPr sz="1350" b="1">
                <a:solidFill>
                  <a:srgbClr val="071A2B"/>
                </a:solidFill>
              </a:rPr>
              <a:t>response tokens</a:t>
            </a:r>
          </a:p>
        </p:txBody>
      </p:sp>
      <p:sp>
        <p:nvSpPr>
          <p:cNvPr id="18" name="arch-2">
            <a:extLst xmlns:a="http://schemas.openxmlformats.org/drawingml/2006/main">
              <a:ext uri="{FF2B5EF4-FFF2-40B4-BE49-F238E27FC236}">
                <a16:creationId xmlns:a16="http://schemas.microsoft.com/office/drawing/2014/main" id="{57EE7BD2-9FEB-4E6C-8F9C-61BFDA0AA842}"/>
              </a:ext>
            </a:extLst>
          </p:cNvPr>
          <p:cNvSpPr>
            <a:spLocks xmlns:a="http://schemas.openxmlformats.org/drawingml/2006/main" noGrp="1"/>
          </p:cNvSpPr>
          <p:nvPr/>
        </p:nvSpPr>
        <p:spPr>
          <a:xfrm xmlns:a="http://schemas.openxmlformats.org/drawingml/2006/main">
            <a:off x="5219700" y="2714625"/>
            <a:ext cx="1638300" cy="1447800"/>
          </a:xfrm>
          <a:prstGeom xmlns:a="http://schemas.openxmlformats.org/drawingml/2006/main" prst="roundRect">
            <a:avLst>
              <a:gd name="adj" fmla="val 7895"/>
            </a:avLst>
          </a:prstGeom>
          <a:solidFill xmlns:a="http://schemas.openxmlformats.org/drawingml/2006/main">
            <a:srgbClr val="FAF2DE"/>
          </a:solidFill>
          <a:ln xmlns:a="http://schemas.openxmlformats.org/drawingml/2006/main" w="9525">
            <a:solidFill>
              <a:srgbClr val="CAD9D8"/>
            </a:solidFill>
            <a:prstDash val="solid"/>
          </a:ln>
        </p:spPr>
      </p:sp>
      <p:sp>
        <p:nvSpPr>
          <p:cNvPr id="19" name="arch-k-2">
            <a:extLst xmlns:a="http://schemas.openxmlformats.org/drawingml/2006/main">
              <a:ext uri="{FF2B5EF4-FFF2-40B4-BE49-F238E27FC236}">
                <a16:creationId xmlns:a16="http://schemas.microsoft.com/office/drawing/2014/main" id="{2810FE73-0B19-49E0-8866-416B45BB0923}"/>
              </a:ext>
            </a:extLst>
          </p:cNvPr>
          <p:cNvSpPr>
            <a:spLocks xmlns:a="http://schemas.openxmlformats.org/drawingml/2006/main" noGrp="1"/>
          </p:cNvSpPr>
          <p:nvPr/>
        </p:nvSpPr>
        <p:spPr>
          <a:xfrm xmlns:a="http://schemas.openxmlformats.org/drawingml/2006/main">
            <a:off x="5362575" y="2924175"/>
            <a:ext cx="1352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0B797B"/>
                </a:solidFill>
              </a:defRPr>
            </a:pPr>
            <a:r>
              <a:rPr sz="1050" b="1">
                <a:solidFill>
                  <a:srgbClr val="0B797B"/>
                </a:solidFill>
              </a:rPr>
              <a:t>TOOLS</a:t>
            </a:r>
          </a:p>
        </p:txBody>
      </p:sp>
      <p:sp>
        <p:nvSpPr>
          <p:cNvPr id="20" name="arch-v-2">
            <a:extLst xmlns:a="http://schemas.openxmlformats.org/drawingml/2006/main">
              <a:ext uri="{FF2B5EF4-FFF2-40B4-BE49-F238E27FC236}">
                <a16:creationId xmlns:a16="http://schemas.microsoft.com/office/drawing/2014/main" id="{925F35FB-6F9C-4A3A-8004-1E235A65A05F}"/>
              </a:ext>
            </a:extLst>
          </p:cNvPr>
          <p:cNvSpPr>
            <a:spLocks xmlns:a="http://schemas.openxmlformats.org/drawingml/2006/main" noGrp="1"/>
          </p:cNvSpPr>
          <p:nvPr/>
        </p:nvSpPr>
        <p:spPr>
          <a:xfrm xmlns:a="http://schemas.openxmlformats.org/drawingml/2006/main">
            <a:off x="5362575" y="3381375"/>
            <a:ext cx="1352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71A2B"/>
                </a:solidFill>
              </a:defRPr>
            </a:pPr>
            <a:r>
              <a:rPr sz="1350" b="1">
                <a:solidFill>
                  <a:srgbClr val="071A2B"/>
                </a:solidFill>
              </a:rPr>
              <a:t>7 个工具</a:t>
            </a:r>
          </a:p>
          <a:p xmlns:a="http://schemas.openxmlformats.org/drawingml/2006/main">
            <a:pPr algn="ctr">
              <a:defRPr sz="1350" b="1">
                <a:solidFill>
                  <a:srgbClr val="071A2B"/>
                </a:solidFill>
              </a:defRPr>
            </a:pPr>
            <a:r>
              <a:rPr sz="1350" b="1">
                <a:solidFill>
                  <a:srgbClr val="071A2B"/>
                </a:solidFill>
              </a:rPr>
              <a:t>observation</a:t>
            </a:r>
          </a:p>
        </p:txBody>
      </p:sp>
      <p:sp>
        <p:nvSpPr>
          <p:cNvPr id="21" name="arch-3">
            <a:extLst xmlns:a="http://schemas.openxmlformats.org/drawingml/2006/main">
              <a:ext uri="{FF2B5EF4-FFF2-40B4-BE49-F238E27FC236}">
                <a16:creationId xmlns:a16="http://schemas.microsoft.com/office/drawing/2014/main" id="{3A48335F-48E2-49C8-AD6A-BF86A1C8069B}"/>
              </a:ext>
            </a:extLst>
          </p:cNvPr>
          <p:cNvSpPr>
            <a:spLocks xmlns:a="http://schemas.openxmlformats.org/drawingml/2006/main" noGrp="1"/>
          </p:cNvSpPr>
          <p:nvPr/>
        </p:nvSpPr>
        <p:spPr>
          <a:xfrm xmlns:a="http://schemas.openxmlformats.org/drawingml/2006/main">
            <a:off x="7543800" y="2714625"/>
            <a:ext cx="1638300" cy="1447800"/>
          </a:xfrm>
          <a:prstGeom xmlns:a="http://schemas.openxmlformats.org/drawingml/2006/main" prst="roundRect">
            <a:avLst>
              <a:gd name="adj" fmla="val 7895"/>
            </a:avLst>
          </a:prstGeom>
          <a:solidFill xmlns:a="http://schemas.openxmlformats.org/drawingml/2006/main">
            <a:srgbClr val="E5F5F3"/>
          </a:solidFill>
          <a:ln xmlns:a="http://schemas.openxmlformats.org/drawingml/2006/main" w="9525">
            <a:solidFill>
              <a:srgbClr val="CAD9D8"/>
            </a:solidFill>
            <a:prstDash val="solid"/>
          </a:ln>
        </p:spPr>
      </p:sp>
      <p:sp>
        <p:nvSpPr>
          <p:cNvPr id="22" name="arch-k-3">
            <a:extLst xmlns:a="http://schemas.openxmlformats.org/drawingml/2006/main">
              <a:ext uri="{FF2B5EF4-FFF2-40B4-BE49-F238E27FC236}">
                <a16:creationId xmlns:a16="http://schemas.microsoft.com/office/drawing/2014/main" id="{11AE2CBA-E856-4527-9787-67D2773E7D41}"/>
              </a:ext>
            </a:extLst>
          </p:cNvPr>
          <p:cNvSpPr>
            <a:spLocks xmlns:a="http://schemas.openxmlformats.org/drawingml/2006/main" noGrp="1"/>
          </p:cNvSpPr>
          <p:nvPr/>
        </p:nvSpPr>
        <p:spPr>
          <a:xfrm xmlns:a="http://schemas.openxmlformats.org/drawingml/2006/main">
            <a:off x="7686675" y="2924175"/>
            <a:ext cx="1352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0B797B"/>
                </a:solidFill>
              </a:defRPr>
            </a:pPr>
            <a:r>
              <a:rPr sz="1050" b="1">
                <a:solidFill>
                  <a:srgbClr val="0B797B"/>
                </a:solidFill>
              </a:rPr>
              <a:t>STATE</a:t>
            </a:r>
          </a:p>
        </p:txBody>
      </p:sp>
      <p:sp>
        <p:nvSpPr>
          <p:cNvPr id="23" name="arch-v-3">
            <a:extLst xmlns:a="http://schemas.openxmlformats.org/drawingml/2006/main">
              <a:ext uri="{FF2B5EF4-FFF2-40B4-BE49-F238E27FC236}">
                <a16:creationId xmlns:a16="http://schemas.microsoft.com/office/drawing/2014/main" id="{5492B061-2DD5-47B7-9512-02F3F5DB6004}"/>
              </a:ext>
            </a:extLst>
          </p:cNvPr>
          <p:cNvSpPr>
            <a:spLocks xmlns:a="http://schemas.openxmlformats.org/drawingml/2006/main" noGrp="1"/>
          </p:cNvSpPr>
          <p:nvPr/>
        </p:nvSpPr>
        <p:spPr>
          <a:xfrm xmlns:a="http://schemas.openxmlformats.org/drawingml/2006/main">
            <a:off x="7686675" y="3381375"/>
            <a:ext cx="1352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71A2B"/>
                </a:solidFill>
              </a:defRPr>
            </a:pPr>
            <a:r>
              <a:rPr sz="1350" b="1">
                <a:solidFill>
                  <a:srgbClr val="071A2B"/>
                </a:solidFill>
              </a:rPr>
              <a:t>身份/订单/支付</a:t>
            </a:r>
          </a:p>
          <a:p xmlns:a="http://schemas.openxmlformats.org/drawingml/2006/main">
            <a:pPr algn="ctr">
              <a:defRPr sz="1350" b="1">
                <a:solidFill>
                  <a:srgbClr val="071A2B"/>
                </a:solidFill>
              </a:defRPr>
            </a:pPr>
            <a:r>
              <a:rPr sz="1350" b="1">
                <a:solidFill>
                  <a:srgbClr val="071A2B"/>
                </a:solidFill>
              </a:rPr>
              <a:t>确认/退款</a:t>
            </a:r>
          </a:p>
        </p:txBody>
      </p:sp>
      <p:sp>
        <p:nvSpPr>
          <p:cNvPr id="24" name="arch-4">
            <a:extLst xmlns:a="http://schemas.openxmlformats.org/drawingml/2006/main">
              <a:ext uri="{FF2B5EF4-FFF2-40B4-BE49-F238E27FC236}">
                <a16:creationId xmlns:a16="http://schemas.microsoft.com/office/drawing/2014/main" id="{0A3E7378-4388-4D94-B088-45808592E1AB}"/>
              </a:ext>
            </a:extLst>
          </p:cNvPr>
          <p:cNvSpPr>
            <a:spLocks xmlns:a="http://schemas.openxmlformats.org/drawingml/2006/main" noGrp="1"/>
          </p:cNvSpPr>
          <p:nvPr/>
        </p:nvSpPr>
        <p:spPr>
          <a:xfrm xmlns:a="http://schemas.openxmlformats.org/drawingml/2006/main">
            <a:off x="9867900" y="2714625"/>
            <a:ext cx="1638300" cy="1447800"/>
          </a:xfrm>
          <a:prstGeom xmlns:a="http://schemas.openxmlformats.org/drawingml/2006/main" prst="roundRect">
            <a:avLst>
              <a:gd name="adj" fmla="val 7895"/>
            </a:avLst>
          </a:prstGeom>
          <a:solidFill xmlns:a="http://schemas.openxmlformats.org/drawingml/2006/main">
            <a:srgbClr val="F9E9E6"/>
          </a:solidFill>
          <a:ln xmlns:a="http://schemas.openxmlformats.org/drawingml/2006/main" w="9525">
            <a:solidFill>
              <a:srgbClr val="C56D4A"/>
            </a:solidFill>
            <a:prstDash val="solid"/>
          </a:ln>
        </p:spPr>
      </p:sp>
      <p:sp>
        <p:nvSpPr>
          <p:cNvPr id="25" name="arch-k-4">
            <a:extLst xmlns:a="http://schemas.openxmlformats.org/drawingml/2006/main">
              <a:ext uri="{FF2B5EF4-FFF2-40B4-BE49-F238E27FC236}">
                <a16:creationId xmlns:a16="http://schemas.microsoft.com/office/drawing/2014/main" id="{7C2B3C0E-E089-4951-B7C4-FC357F2D3A99}"/>
              </a:ext>
            </a:extLst>
          </p:cNvPr>
          <p:cNvSpPr>
            <a:spLocks xmlns:a="http://schemas.openxmlformats.org/drawingml/2006/main" noGrp="1"/>
          </p:cNvSpPr>
          <p:nvPr/>
        </p:nvSpPr>
        <p:spPr>
          <a:xfrm xmlns:a="http://schemas.openxmlformats.org/drawingml/2006/main">
            <a:off x="10010775" y="2924175"/>
            <a:ext cx="1352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C56D4A"/>
                </a:solidFill>
              </a:defRPr>
            </a:pPr>
            <a:r>
              <a:rPr sz="1050" b="1">
                <a:solidFill>
                  <a:srgbClr val="C56D4A"/>
                </a:solidFill>
              </a:rPr>
              <a:t>REWARD</a:t>
            </a:r>
          </a:p>
        </p:txBody>
      </p:sp>
      <p:sp>
        <p:nvSpPr>
          <p:cNvPr id="26" name="arch-v-4">
            <a:extLst xmlns:a="http://schemas.openxmlformats.org/drawingml/2006/main">
              <a:ext uri="{FF2B5EF4-FFF2-40B4-BE49-F238E27FC236}">
                <a16:creationId xmlns:a16="http://schemas.microsoft.com/office/drawing/2014/main" id="{ED229051-10A1-4092-80FB-E5327ACC4681}"/>
              </a:ext>
            </a:extLst>
          </p:cNvPr>
          <p:cNvSpPr>
            <a:spLocks xmlns:a="http://schemas.openxmlformats.org/drawingml/2006/main" noGrp="1"/>
          </p:cNvSpPr>
          <p:nvPr/>
        </p:nvSpPr>
        <p:spPr>
          <a:xfrm xmlns:a="http://schemas.openxmlformats.org/drawingml/2006/main">
            <a:off x="10010775" y="3381375"/>
            <a:ext cx="1352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71A2B"/>
                </a:solidFill>
              </a:defRPr>
            </a:pPr>
            <a:r>
              <a:rPr sz="1350" b="1">
                <a:solidFill>
                  <a:srgbClr val="071A2B"/>
                </a:solidFill>
              </a:rPr>
              <a:t>outcome +</a:t>
            </a:r>
          </a:p>
          <a:p xmlns:a="http://schemas.openxmlformats.org/drawingml/2006/main">
            <a:pPr algn="ctr">
              <a:defRPr sz="1350" b="1">
                <a:solidFill>
                  <a:srgbClr val="071A2B"/>
                </a:solidFill>
              </a:defRPr>
            </a:pPr>
            <a:r>
              <a:rPr sz="1350" b="1">
                <a:solidFill>
                  <a:srgbClr val="071A2B"/>
                </a:solidFill>
              </a:rPr>
              <a:t>0.30 process</a:t>
            </a:r>
          </a:p>
        </p:txBody>
      </p:sp>
      <p:sp>
        <p:nvSpPr>
          <p:cNvPr id="27" name="arch-loop">
            <a:extLst xmlns:a="http://schemas.openxmlformats.org/drawingml/2006/main">
              <a:ext uri="{FF2B5EF4-FFF2-40B4-BE49-F238E27FC236}">
                <a16:creationId xmlns:a16="http://schemas.microsoft.com/office/drawing/2014/main" id="{E53E1922-CCA0-40D4-BFD6-8B0742946B50}"/>
              </a:ext>
            </a:extLst>
          </p:cNvPr>
          <p:cNvSpPr>
            <a:spLocks xmlns:a="http://schemas.openxmlformats.org/drawingml/2006/main" noGrp="1"/>
          </p:cNvSpPr>
          <p:nvPr/>
        </p:nvSpPr>
        <p:spPr>
          <a:xfrm xmlns:a="http://schemas.openxmlformats.org/drawingml/2006/main">
            <a:off x="2952750" y="4762500"/>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C56D4A"/>
                </a:solidFill>
              </a:defRPr>
            </a:pPr>
            <a:r>
              <a:rPr sz="1500" b="1">
                <a:solidFill>
                  <a:srgbClr val="C56D4A"/>
                </a:solidFill>
              </a:rPr>
              <a:t>↺ tool observation 回到同一对话，直到完成或 10 次上限</a:t>
            </a:r>
          </a:p>
        </p:txBody>
      </p:sp>
      <p:sp>
        <p:nvSpPr>
          <p:cNvPr id="28" name="">
            <a:extLst xmlns:a="http://schemas.openxmlformats.org/drawingml/2006/main">
              <a:ext uri="{FF2B5EF4-FFF2-40B4-BE49-F238E27FC236}">
                <a16:creationId xmlns:a16="http://schemas.microsoft.com/office/drawing/2014/main" id="{F5577310-8D00-4BD6-988A-F063F306E682}"/>
              </a:ext>
            </a:extLst>
          </p:cNvPr>
          <p:cNvSpPr>
            <a:spLocks xmlns:a="http://schemas.openxmlformats.org/drawingml/2006/main" noGrp="1"/>
          </p:cNvSpPr>
          <p:nvPr/>
        </p:nvSpPr>
        <p:spPr>
          <a:xfrm xmlns:a="http://schemas.openxmlformats.org/drawingml/2006/main">
            <a:off x="1619250" y="5429250"/>
            <a:ext cx="2000250" cy="0"/>
          </a:xfrm>
          <a:prstGeom xmlns:a="http://schemas.openxmlformats.org/drawingml/2006/main" prst="line">
            <a:avLst/>
          </a:prstGeom>
          <a:noFill xmlns:a="http://schemas.openxmlformats.org/drawingml/2006/main"/>
          <a:ln xmlns:a="http://schemas.openxmlformats.org/drawingml/2006/main" w="38100">
            <a:solidFill>
              <a:srgbClr val="18A6A6"/>
            </a:solidFill>
            <a:prstDash val="solid"/>
          </a:ln>
        </p:spPr>
      </p:sp>
      <p:sp>
        <p:nvSpPr>
          <p:cNvPr id="29" name="arch-tools-value">
            <a:extLst xmlns:a="http://schemas.openxmlformats.org/drawingml/2006/main">
              <a:ext uri="{FF2B5EF4-FFF2-40B4-BE49-F238E27FC236}">
                <a16:creationId xmlns:a16="http://schemas.microsoft.com/office/drawing/2014/main" id="{3E44AC19-A84F-4FA5-83EC-38A68DDC045B}"/>
              </a:ext>
            </a:extLst>
          </p:cNvPr>
          <p:cNvSpPr>
            <a:spLocks xmlns:a="http://schemas.openxmlformats.org/drawingml/2006/main" noGrp="1"/>
          </p:cNvSpPr>
          <p:nvPr/>
        </p:nvSpPr>
        <p:spPr>
          <a:xfrm xmlns:a="http://schemas.openxmlformats.org/drawingml/2006/main">
            <a:off x="161925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7</a:t>
            </a:r>
          </a:p>
        </p:txBody>
      </p:sp>
      <p:sp>
        <p:nvSpPr>
          <p:cNvPr id="30" name="arch-tools-label">
            <a:extLst xmlns:a="http://schemas.openxmlformats.org/drawingml/2006/main">
              <a:ext uri="{FF2B5EF4-FFF2-40B4-BE49-F238E27FC236}">
                <a16:creationId xmlns:a16="http://schemas.microsoft.com/office/drawing/2014/main" id="{ED3E3C91-20D1-472A-A987-EFF654D994FC}"/>
              </a:ext>
            </a:extLst>
          </p:cNvPr>
          <p:cNvSpPr>
            <a:spLocks xmlns:a="http://schemas.openxmlformats.org/drawingml/2006/main" noGrp="1"/>
          </p:cNvSpPr>
          <p:nvPr/>
        </p:nvSpPr>
        <p:spPr>
          <a:xfrm xmlns:a="http://schemas.openxmlformats.org/drawingml/2006/main">
            <a:off x="161925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typed tools</a:t>
            </a:r>
          </a:p>
        </p:txBody>
      </p:sp>
      <p:sp>
        <p:nvSpPr>
          <p:cNvPr id="31" name="">
            <a:extLst xmlns:a="http://schemas.openxmlformats.org/drawingml/2006/main">
              <a:ext uri="{FF2B5EF4-FFF2-40B4-BE49-F238E27FC236}">
                <a16:creationId xmlns:a16="http://schemas.microsoft.com/office/drawing/2014/main" id="{2A8B98F9-B889-4679-9826-96AA937771D6}"/>
              </a:ext>
            </a:extLst>
          </p:cNvPr>
          <p:cNvSpPr>
            <a:spLocks xmlns:a="http://schemas.openxmlformats.org/drawingml/2006/main" noGrp="1"/>
          </p:cNvSpPr>
          <p:nvPr/>
        </p:nvSpPr>
        <p:spPr>
          <a:xfrm xmlns:a="http://schemas.openxmlformats.org/drawingml/2006/main">
            <a:off x="4286250" y="5429250"/>
            <a:ext cx="2000250" cy="0"/>
          </a:xfrm>
          <a:prstGeom xmlns:a="http://schemas.openxmlformats.org/drawingml/2006/main" prst="line">
            <a:avLst/>
          </a:prstGeom>
          <a:noFill xmlns:a="http://schemas.openxmlformats.org/drawingml/2006/main"/>
          <a:ln xmlns:a="http://schemas.openxmlformats.org/drawingml/2006/main" w="38100">
            <a:solidFill>
              <a:srgbClr val="C56D4A"/>
            </a:solidFill>
            <a:prstDash val="solid"/>
          </a:ln>
        </p:spPr>
      </p:sp>
      <p:sp>
        <p:nvSpPr>
          <p:cNvPr id="32" name="arch-group-value">
            <a:extLst xmlns:a="http://schemas.openxmlformats.org/drawingml/2006/main">
              <a:ext uri="{FF2B5EF4-FFF2-40B4-BE49-F238E27FC236}">
                <a16:creationId xmlns:a16="http://schemas.microsoft.com/office/drawing/2014/main" id="{0B3ABCCC-5745-4A2F-A777-9E50756627B3}"/>
              </a:ext>
            </a:extLst>
          </p:cNvPr>
          <p:cNvSpPr>
            <a:spLocks xmlns:a="http://schemas.openxmlformats.org/drawingml/2006/main" noGrp="1"/>
          </p:cNvSpPr>
          <p:nvPr/>
        </p:nvSpPr>
        <p:spPr>
          <a:xfrm xmlns:a="http://schemas.openxmlformats.org/drawingml/2006/main">
            <a:off x="428625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4</a:t>
            </a:r>
          </a:p>
        </p:txBody>
      </p:sp>
      <p:sp>
        <p:nvSpPr>
          <p:cNvPr id="33" name="arch-group-label">
            <a:extLst xmlns:a="http://schemas.openxmlformats.org/drawingml/2006/main">
              <a:ext uri="{FF2B5EF4-FFF2-40B4-BE49-F238E27FC236}">
                <a16:creationId xmlns:a16="http://schemas.microsoft.com/office/drawing/2014/main" id="{14A19D6F-57DF-40A7-A8C4-67707E133B03}"/>
              </a:ext>
            </a:extLst>
          </p:cNvPr>
          <p:cNvSpPr>
            <a:spLocks xmlns:a="http://schemas.openxmlformats.org/drawingml/2006/main" noGrp="1"/>
          </p:cNvSpPr>
          <p:nvPr/>
        </p:nvSpPr>
        <p:spPr>
          <a:xfrm xmlns:a="http://schemas.openxmlformats.org/drawingml/2006/main">
            <a:off x="428625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rollouts / group</a:t>
            </a:r>
          </a:p>
        </p:txBody>
      </p:sp>
      <p:sp>
        <p:nvSpPr>
          <p:cNvPr id="34" name="">
            <a:extLst xmlns:a="http://schemas.openxmlformats.org/drawingml/2006/main">
              <a:ext uri="{FF2B5EF4-FFF2-40B4-BE49-F238E27FC236}">
                <a16:creationId xmlns:a16="http://schemas.microsoft.com/office/drawing/2014/main" id="{3C0362F0-DB80-46B0-93C0-C1D8E2EA9EEB}"/>
              </a:ext>
            </a:extLst>
          </p:cNvPr>
          <p:cNvSpPr>
            <a:spLocks xmlns:a="http://schemas.openxmlformats.org/drawingml/2006/main" noGrp="1"/>
          </p:cNvSpPr>
          <p:nvPr/>
        </p:nvSpPr>
        <p:spPr>
          <a:xfrm xmlns:a="http://schemas.openxmlformats.org/drawingml/2006/main">
            <a:off x="6953250" y="5429250"/>
            <a:ext cx="2000250" cy="0"/>
          </a:xfrm>
          <a:prstGeom xmlns:a="http://schemas.openxmlformats.org/drawingml/2006/main" prst="line">
            <a:avLst/>
          </a:prstGeom>
          <a:noFill xmlns:a="http://schemas.openxmlformats.org/drawingml/2006/main"/>
          <a:ln xmlns:a="http://schemas.openxmlformats.org/drawingml/2006/main" w="38100">
            <a:solidFill>
              <a:srgbClr val="D6A84B"/>
            </a:solidFill>
            <a:prstDash val="solid"/>
          </a:ln>
        </p:spPr>
      </p:sp>
      <p:sp>
        <p:nvSpPr>
          <p:cNvPr id="35" name="arch-max-value">
            <a:extLst xmlns:a="http://schemas.openxmlformats.org/drawingml/2006/main">
              <a:ext uri="{FF2B5EF4-FFF2-40B4-BE49-F238E27FC236}">
                <a16:creationId xmlns:a16="http://schemas.microsoft.com/office/drawing/2014/main" id="{DDC2DC88-A352-4622-8513-55410B8C7B71}"/>
              </a:ext>
            </a:extLst>
          </p:cNvPr>
          <p:cNvSpPr>
            <a:spLocks xmlns:a="http://schemas.openxmlformats.org/drawingml/2006/main" noGrp="1"/>
          </p:cNvSpPr>
          <p:nvPr/>
        </p:nvSpPr>
        <p:spPr>
          <a:xfrm xmlns:a="http://schemas.openxmlformats.org/drawingml/2006/main">
            <a:off x="695325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10</a:t>
            </a:r>
          </a:p>
        </p:txBody>
      </p:sp>
      <p:sp>
        <p:nvSpPr>
          <p:cNvPr id="36" name="arch-max-label">
            <a:extLst xmlns:a="http://schemas.openxmlformats.org/drawingml/2006/main">
              <a:ext uri="{FF2B5EF4-FFF2-40B4-BE49-F238E27FC236}">
                <a16:creationId xmlns:a16="http://schemas.microsoft.com/office/drawing/2014/main" id="{7B355EF2-E393-43A2-A7C7-AF580D3DD2C8}"/>
              </a:ext>
            </a:extLst>
          </p:cNvPr>
          <p:cNvSpPr>
            <a:spLocks xmlns:a="http://schemas.openxmlformats.org/drawingml/2006/main" noGrp="1"/>
          </p:cNvSpPr>
          <p:nvPr/>
        </p:nvSpPr>
        <p:spPr>
          <a:xfrm xmlns:a="http://schemas.openxmlformats.org/drawingml/2006/main">
            <a:off x="695325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max tool turns</a:t>
            </a:r>
          </a:p>
        </p:txBody>
      </p:sp>
      <p:sp>
        <p:nvSpPr>
          <p:cNvPr id="37" name="">
            <a:extLst xmlns:a="http://schemas.openxmlformats.org/drawingml/2006/main">
              <a:ext uri="{FF2B5EF4-FFF2-40B4-BE49-F238E27FC236}">
                <a16:creationId xmlns:a16="http://schemas.microsoft.com/office/drawing/2014/main" id="{C5A44CF4-68D6-4458-9BFB-9BD48A84A7CB}"/>
              </a:ext>
            </a:extLst>
          </p:cNvPr>
          <p:cNvSpPr>
            <a:spLocks xmlns:a="http://schemas.openxmlformats.org/drawingml/2006/main" noGrp="1"/>
          </p:cNvSpPr>
          <p:nvPr/>
        </p:nvSpPr>
        <p:spPr>
          <a:xfrm xmlns:a="http://schemas.openxmlformats.org/drawingml/2006/main">
            <a:off x="9620250" y="5429250"/>
            <a:ext cx="2000250" cy="0"/>
          </a:xfrm>
          <a:prstGeom xmlns:a="http://schemas.openxmlformats.org/drawingml/2006/main" prst="line">
            <a:avLst/>
          </a:prstGeom>
          <a:noFill xmlns:a="http://schemas.openxmlformats.org/drawingml/2006/main"/>
          <a:ln xmlns:a="http://schemas.openxmlformats.org/drawingml/2006/main" w="38100">
            <a:solidFill>
              <a:srgbClr val="228B67"/>
            </a:solidFill>
            <a:prstDash val="solid"/>
          </a:ln>
        </p:spPr>
      </p:sp>
      <p:sp>
        <p:nvSpPr>
          <p:cNvPr id="38" name="arch-token-value">
            <a:extLst xmlns:a="http://schemas.openxmlformats.org/drawingml/2006/main">
              <a:ext uri="{FF2B5EF4-FFF2-40B4-BE49-F238E27FC236}">
                <a16:creationId xmlns:a16="http://schemas.microsoft.com/office/drawing/2014/main" id="{6EAC9FEC-CD52-462A-93E9-3A87AC18667F}"/>
              </a:ext>
            </a:extLst>
          </p:cNvPr>
          <p:cNvSpPr>
            <a:spLocks xmlns:a="http://schemas.openxmlformats.org/drawingml/2006/main" noGrp="1"/>
          </p:cNvSpPr>
          <p:nvPr/>
        </p:nvSpPr>
        <p:spPr>
          <a:xfrm xmlns:a="http://schemas.openxmlformats.org/drawingml/2006/main">
            <a:off x="962025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1,400</a:t>
            </a:r>
          </a:p>
        </p:txBody>
      </p:sp>
      <p:sp>
        <p:nvSpPr>
          <p:cNvPr id="39" name="arch-token-label">
            <a:extLst xmlns:a="http://schemas.openxmlformats.org/drawingml/2006/main">
              <a:ext uri="{FF2B5EF4-FFF2-40B4-BE49-F238E27FC236}">
                <a16:creationId xmlns:a16="http://schemas.microsoft.com/office/drawing/2014/main" id="{CB63B9FC-8B24-40D4-8516-486ED1D320D0}"/>
              </a:ext>
            </a:extLst>
          </p:cNvPr>
          <p:cNvSpPr>
            <a:spLocks xmlns:a="http://schemas.openxmlformats.org/drawingml/2006/main" noGrp="1"/>
          </p:cNvSpPr>
          <p:nvPr/>
        </p:nvSpPr>
        <p:spPr>
          <a:xfrm xmlns:a="http://schemas.openxmlformats.org/drawingml/2006/main">
            <a:off x="962025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max completion tokens</a:t>
            </a:r>
          </a:p>
        </p:txBody>
      </p:sp>
    </p:spTree>
    <p:extLst>
      <p:ext uri="{BB962C8B-B14F-4D97-AF65-F5344CB8AC3E}">
        <p14:creationId xmlns:p14="http://schemas.microsoft.com/office/powerpoint/2010/main" val="575894917"/>
      </p:ext>
    </p:extLst>
  </p:cSld>
</p:sld>
</file>

<file path=ppt/slides/slide5.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7" name="rail-5">
            <a:extLst xmlns:a="http://schemas.openxmlformats.org/drawingml/2006/main">
              <a:ext uri="{FF2B5EF4-FFF2-40B4-BE49-F238E27FC236}">
                <a16:creationId xmlns:a16="http://schemas.microsoft.com/office/drawing/2014/main" id="{61923480-4E79-4B18-BA1C-115E5B00961F}"/>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5">
            <a:extLst xmlns:a="http://schemas.openxmlformats.org/drawingml/2006/main">
              <a:ext uri="{FF2B5EF4-FFF2-40B4-BE49-F238E27FC236}">
                <a16:creationId xmlns:a16="http://schemas.microsoft.com/office/drawing/2014/main" id="{352D1874-8E1F-401E-B8EE-BA766A682435}"/>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5">
            <a:extLst xmlns:a="http://schemas.openxmlformats.org/drawingml/2006/main">
              <a:ext uri="{FF2B5EF4-FFF2-40B4-BE49-F238E27FC236}">
                <a16:creationId xmlns:a16="http://schemas.microsoft.com/office/drawing/2014/main" id="{797FDCB2-3E41-4184-BD1C-B78E01AE57A6}"/>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STATE MACHINE</a:t>
            </a:r>
          </a:p>
        </p:txBody>
      </p:sp>
      <p:sp>
        <p:nvSpPr>
          <p:cNvPr id="4" name="title-5">
            <a:extLst xmlns:a="http://schemas.openxmlformats.org/drawingml/2006/main">
              <a:ext uri="{FF2B5EF4-FFF2-40B4-BE49-F238E27FC236}">
                <a16:creationId xmlns:a16="http://schemas.microsoft.com/office/drawing/2014/main" id="{9F3208AB-0569-4059-88C1-E18B7AD1DF5B}"/>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退款不是一句话：它是一条受约束的状态机</a:t>
            </a:r>
          </a:p>
        </p:txBody>
      </p:sp>
      <p:sp>
        <p:nvSpPr>
          <p:cNvPr id="5" name="subtitle-5">
            <a:extLst xmlns:a="http://schemas.openxmlformats.org/drawingml/2006/main">
              <a:ext uri="{FF2B5EF4-FFF2-40B4-BE49-F238E27FC236}">
                <a16:creationId xmlns:a16="http://schemas.microsoft.com/office/drawing/2014/main" id="{FAEDCE4C-7B78-480F-A459-517816F0BBFA}"/>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训练目标既包含任务成功，也包含 read-before-write、精确确认和错误恢复。</a:t>
            </a:r>
          </a:p>
        </p:txBody>
      </p:sp>
      <p:sp>
        <p:nvSpPr>
          <p:cNvPr id="6" name="">
            <a:extLst xmlns:a="http://schemas.openxmlformats.org/drawingml/2006/main">
              <a:ext uri="{FF2B5EF4-FFF2-40B4-BE49-F238E27FC236}">
                <a16:creationId xmlns:a16="http://schemas.microsoft.com/office/drawing/2014/main" id="{75900F2F-222D-4A8E-8782-896E75FB7421}"/>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5">
            <a:extLst xmlns:a="http://schemas.openxmlformats.org/drawingml/2006/main">
              <a:ext uri="{FF2B5EF4-FFF2-40B4-BE49-F238E27FC236}">
                <a16:creationId xmlns:a16="http://schemas.microsoft.com/office/drawing/2014/main" id="{D43AC12D-D5B8-465C-BF62-2304BADFF6AC}"/>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05</a:t>
            </a:r>
          </a:p>
        </p:txBody>
      </p:sp>
      <p:sp>
        <p:nvSpPr>
          <p:cNvPr id="8" name="">
            <a:extLst xmlns:a="http://schemas.openxmlformats.org/drawingml/2006/main">
              <a:ext uri="{FF2B5EF4-FFF2-40B4-BE49-F238E27FC236}">
                <a16:creationId xmlns:a16="http://schemas.microsoft.com/office/drawing/2014/main" id="{61EA9A92-0BF5-4849-A401-DE07876E3AE4}"/>
              </a:ext>
            </a:extLst>
          </p:cNvPr>
          <p:cNvSpPr>
            <a:spLocks xmlns:a="http://schemas.openxmlformats.org/drawingml/2006/main" noGrp="1"/>
          </p:cNvSpPr>
          <p:nvPr/>
        </p:nvSpPr>
        <p:spPr>
          <a:xfrm xmlns:a="http://schemas.openxmlformats.org/drawingml/2006/main">
            <a:off x="1295400" y="3133725"/>
            <a:ext cx="952500" cy="0"/>
          </a:xfrm>
          <a:prstGeom xmlns:a="http://schemas.openxmlformats.org/drawingml/2006/main" prst="line">
            <a:avLst/>
          </a:prstGeom>
          <a:noFill xmlns:a="http://schemas.openxmlformats.org/drawingml/2006/main"/>
          <a:ln xmlns:a="http://schemas.openxmlformats.org/drawingml/2006/main" w="28575">
            <a:solidFill>
              <a:srgbClr val="18A6A6"/>
            </a:solidFill>
            <a:prstDash val="solid"/>
          </a:ln>
        </p:spPr>
      </p:sp>
      <p:sp>
        <p:nvSpPr>
          <p:cNvPr id="9" name="">
            <a:extLst xmlns:a="http://schemas.openxmlformats.org/drawingml/2006/main">
              <a:ext uri="{FF2B5EF4-FFF2-40B4-BE49-F238E27FC236}">
                <a16:creationId xmlns:a16="http://schemas.microsoft.com/office/drawing/2014/main" id="{FD488DD5-BF2C-4632-AEFF-437C4B3C0402}"/>
              </a:ext>
            </a:extLst>
          </p:cNvPr>
          <p:cNvSpPr>
            <a:spLocks xmlns:a="http://schemas.openxmlformats.org/drawingml/2006/main" noGrp="1"/>
          </p:cNvSpPr>
          <p:nvPr/>
        </p:nvSpPr>
        <p:spPr>
          <a:xfrm xmlns:a="http://schemas.openxmlformats.org/drawingml/2006/main">
            <a:off x="2800350" y="3133725"/>
            <a:ext cx="952500" cy="0"/>
          </a:xfrm>
          <a:prstGeom xmlns:a="http://schemas.openxmlformats.org/drawingml/2006/main" prst="line">
            <a:avLst/>
          </a:prstGeom>
          <a:noFill xmlns:a="http://schemas.openxmlformats.org/drawingml/2006/main"/>
          <a:ln xmlns:a="http://schemas.openxmlformats.org/drawingml/2006/main" w="28575">
            <a:solidFill>
              <a:srgbClr val="18A6A6"/>
            </a:solidFill>
            <a:prstDash val="solid"/>
          </a:ln>
        </p:spPr>
      </p:sp>
      <p:sp>
        <p:nvSpPr>
          <p:cNvPr id="10" name="">
            <a:extLst xmlns:a="http://schemas.openxmlformats.org/drawingml/2006/main">
              <a:ext uri="{FF2B5EF4-FFF2-40B4-BE49-F238E27FC236}">
                <a16:creationId xmlns:a16="http://schemas.microsoft.com/office/drawing/2014/main" id="{8DDC4A85-01EC-428F-BD07-587E9458CDA6}"/>
              </a:ext>
            </a:extLst>
          </p:cNvPr>
          <p:cNvSpPr>
            <a:spLocks xmlns:a="http://schemas.openxmlformats.org/drawingml/2006/main" noGrp="1"/>
          </p:cNvSpPr>
          <p:nvPr/>
        </p:nvSpPr>
        <p:spPr>
          <a:xfrm xmlns:a="http://schemas.openxmlformats.org/drawingml/2006/main">
            <a:off x="4305300" y="3133725"/>
            <a:ext cx="952500" cy="0"/>
          </a:xfrm>
          <a:prstGeom xmlns:a="http://schemas.openxmlformats.org/drawingml/2006/main" prst="line">
            <a:avLst/>
          </a:prstGeom>
          <a:noFill xmlns:a="http://schemas.openxmlformats.org/drawingml/2006/main"/>
          <a:ln xmlns:a="http://schemas.openxmlformats.org/drawingml/2006/main" w="28575">
            <a:solidFill>
              <a:srgbClr val="18A6A6"/>
            </a:solidFill>
            <a:prstDash val="solid"/>
          </a:ln>
        </p:spPr>
      </p:sp>
      <p:sp>
        <p:nvSpPr>
          <p:cNvPr id="11" name="">
            <a:extLst xmlns:a="http://schemas.openxmlformats.org/drawingml/2006/main">
              <a:ext uri="{FF2B5EF4-FFF2-40B4-BE49-F238E27FC236}">
                <a16:creationId xmlns:a16="http://schemas.microsoft.com/office/drawing/2014/main" id="{99635A45-F373-4F57-902C-BE1A42A66281}"/>
              </a:ext>
            </a:extLst>
          </p:cNvPr>
          <p:cNvSpPr>
            <a:spLocks xmlns:a="http://schemas.openxmlformats.org/drawingml/2006/main" noGrp="1"/>
          </p:cNvSpPr>
          <p:nvPr/>
        </p:nvSpPr>
        <p:spPr>
          <a:xfrm xmlns:a="http://schemas.openxmlformats.org/drawingml/2006/main">
            <a:off x="5810250" y="3133725"/>
            <a:ext cx="952500" cy="0"/>
          </a:xfrm>
          <a:prstGeom xmlns:a="http://schemas.openxmlformats.org/drawingml/2006/main" prst="line">
            <a:avLst/>
          </a:prstGeom>
          <a:noFill xmlns:a="http://schemas.openxmlformats.org/drawingml/2006/main"/>
          <a:ln xmlns:a="http://schemas.openxmlformats.org/drawingml/2006/main" w="28575">
            <a:solidFill>
              <a:srgbClr val="18A6A6"/>
            </a:solidFill>
            <a:prstDash val="solid"/>
          </a:ln>
        </p:spPr>
      </p:sp>
      <p:sp>
        <p:nvSpPr>
          <p:cNvPr id="12" name="">
            <a:extLst xmlns:a="http://schemas.openxmlformats.org/drawingml/2006/main">
              <a:ext uri="{FF2B5EF4-FFF2-40B4-BE49-F238E27FC236}">
                <a16:creationId xmlns:a16="http://schemas.microsoft.com/office/drawing/2014/main" id="{95610F0F-0B76-4C4A-A069-151B7DD34257}"/>
              </a:ext>
            </a:extLst>
          </p:cNvPr>
          <p:cNvSpPr>
            <a:spLocks xmlns:a="http://schemas.openxmlformats.org/drawingml/2006/main" noGrp="1"/>
          </p:cNvSpPr>
          <p:nvPr/>
        </p:nvSpPr>
        <p:spPr>
          <a:xfrm xmlns:a="http://schemas.openxmlformats.org/drawingml/2006/main">
            <a:off x="7315200" y="3133725"/>
            <a:ext cx="952500" cy="0"/>
          </a:xfrm>
          <a:prstGeom xmlns:a="http://schemas.openxmlformats.org/drawingml/2006/main" prst="line">
            <a:avLst/>
          </a:prstGeom>
          <a:noFill xmlns:a="http://schemas.openxmlformats.org/drawingml/2006/main"/>
          <a:ln xmlns:a="http://schemas.openxmlformats.org/drawingml/2006/main" w="28575">
            <a:solidFill>
              <a:srgbClr val="C56D4A"/>
            </a:solidFill>
            <a:prstDash val="solid"/>
          </a:ln>
        </p:spPr>
      </p:sp>
      <p:sp>
        <p:nvSpPr>
          <p:cNvPr id="13" name="">
            <a:extLst xmlns:a="http://schemas.openxmlformats.org/drawingml/2006/main">
              <a:ext uri="{FF2B5EF4-FFF2-40B4-BE49-F238E27FC236}">
                <a16:creationId xmlns:a16="http://schemas.microsoft.com/office/drawing/2014/main" id="{B730BF38-118C-4D61-B046-C7C550787543}"/>
              </a:ext>
            </a:extLst>
          </p:cNvPr>
          <p:cNvSpPr>
            <a:spLocks xmlns:a="http://schemas.openxmlformats.org/drawingml/2006/main" noGrp="1"/>
          </p:cNvSpPr>
          <p:nvPr/>
        </p:nvSpPr>
        <p:spPr>
          <a:xfrm xmlns:a="http://schemas.openxmlformats.org/drawingml/2006/main">
            <a:off x="8820150" y="3133725"/>
            <a:ext cx="952500" cy="0"/>
          </a:xfrm>
          <a:prstGeom xmlns:a="http://schemas.openxmlformats.org/drawingml/2006/main" prst="line">
            <a:avLst/>
          </a:prstGeom>
          <a:noFill xmlns:a="http://schemas.openxmlformats.org/drawingml/2006/main"/>
          <a:ln xmlns:a="http://schemas.openxmlformats.org/drawingml/2006/main" w="28575">
            <a:solidFill>
              <a:srgbClr val="C56D4A"/>
            </a:solidFill>
            <a:prstDash val="solid"/>
          </a:ln>
        </p:spPr>
      </p:sp>
      <p:sp>
        <p:nvSpPr>
          <p:cNvPr id="14" name="state-dot-0">
            <a:extLst xmlns:a="http://schemas.openxmlformats.org/drawingml/2006/main">
              <a:ext uri="{FF2B5EF4-FFF2-40B4-BE49-F238E27FC236}">
                <a16:creationId xmlns:a16="http://schemas.microsoft.com/office/drawing/2014/main" id="{25266659-B19C-4F13-B2E9-D432B9B804A9}"/>
              </a:ext>
            </a:extLst>
          </p:cNvPr>
          <p:cNvSpPr>
            <a:spLocks xmlns:a="http://schemas.openxmlformats.org/drawingml/2006/main" noGrp="1"/>
          </p:cNvSpPr>
          <p:nvPr/>
        </p:nvSpPr>
        <p:spPr>
          <a:xfrm xmlns:a="http://schemas.openxmlformats.org/drawingml/2006/main">
            <a:off x="742950" y="2857500"/>
            <a:ext cx="552450" cy="552450"/>
          </a:xfrm>
          <a:prstGeom xmlns:a="http://schemas.openxmlformats.org/drawingml/2006/main" prst="roundRect">
            <a:avLst>
              <a:gd name="adj" fmla="val 50000"/>
            </a:avLst>
          </a:prstGeom>
          <a:solidFill xmlns:a="http://schemas.openxmlformats.org/drawingml/2006/main">
            <a:srgbClr val="071A2B"/>
          </a:solidFill>
          <a:ln xmlns:a="http://schemas.openxmlformats.org/drawingml/2006/main" w="0">
            <a:solidFill>
              <a:srgbClr val="071A2B"/>
            </a:solidFill>
            <a:prstDash val="solid"/>
          </a:ln>
        </p:spPr>
      </p:sp>
      <p:sp>
        <p:nvSpPr>
          <p:cNvPr id="15" name="state-n-0">
            <a:extLst xmlns:a="http://schemas.openxmlformats.org/drawingml/2006/main">
              <a:ext uri="{FF2B5EF4-FFF2-40B4-BE49-F238E27FC236}">
                <a16:creationId xmlns:a16="http://schemas.microsoft.com/office/drawing/2014/main" id="{9AF4244B-2B21-4C3D-98AA-C5F2F9D681C8}"/>
              </a:ext>
            </a:extLst>
          </p:cNvPr>
          <p:cNvSpPr>
            <a:spLocks xmlns:a="http://schemas.openxmlformats.org/drawingml/2006/main" noGrp="1"/>
          </p:cNvSpPr>
          <p:nvPr/>
        </p:nvSpPr>
        <p:spPr>
          <a:xfrm xmlns:a="http://schemas.openxmlformats.org/drawingml/2006/main">
            <a:off x="742950" y="29718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16" name="state-label-0">
            <a:extLst xmlns:a="http://schemas.openxmlformats.org/drawingml/2006/main">
              <a:ext uri="{FF2B5EF4-FFF2-40B4-BE49-F238E27FC236}">
                <a16:creationId xmlns:a16="http://schemas.microsoft.com/office/drawing/2014/main" id="{03327AD5-EA60-4A2E-B9F4-F9C1644EADEC}"/>
              </a:ext>
            </a:extLst>
          </p:cNvPr>
          <p:cNvSpPr>
            <a:spLocks xmlns:a="http://schemas.openxmlformats.org/drawingml/2006/main" noGrp="1"/>
          </p:cNvSpPr>
          <p:nvPr/>
        </p:nvSpPr>
        <p:spPr>
          <a:xfrm xmlns:a="http://schemas.openxmlformats.org/drawingml/2006/main">
            <a:off x="495300" y="36671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330"/>
                </a:solidFill>
              </a:defRPr>
            </a:pPr>
            <a:r>
              <a:rPr sz="1200" b="1">
                <a:solidFill>
                  <a:srgbClr val="102330"/>
                </a:solidFill>
              </a:rPr>
              <a:t>索取身份</a:t>
            </a:r>
          </a:p>
        </p:txBody>
      </p:sp>
      <p:sp>
        <p:nvSpPr>
          <p:cNvPr id="17" name="state-dot-1">
            <a:extLst xmlns:a="http://schemas.openxmlformats.org/drawingml/2006/main">
              <a:ext uri="{FF2B5EF4-FFF2-40B4-BE49-F238E27FC236}">
                <a16:creationId xmlns:a16="http://schemas.microsoft.com/office/drawing/2014/main" id="{CC5A8B23-A899-472F-AF06-5FE0BB38C2E5}"/>
              </a:ext>
            </a:extLst>
          </p:cNvPr>
          <p:cNvSpPr>
            <a:spLocks xmlns:a="http://schemas.openxmlformats.org/drawingml/2006/main" noGrp="1"/>
          </p:cNvSpPr>
          <p:nvPr/>
        </p:nvSpPr>
        <p:spPr>
          <a:xfrm xmlns:a="http://schemas.openxmlformats.org/drawingml/2006/main">
            <a:off x="2247900" y="2857500"/>
            <a:ext cx="552450" cy="552450"/>
          </a:xfrm>
          <a:prstGeom xmlns:a="http://schemas.openxmlformats.org/drawingml/2006/main" prst="roundRect">
            <a:avLst>
              <a:gd name="adj" fmla="val 50000"/>
            </a:avLst>
          </a:prstGeom>
          <a:solidFill xmlns:a="http://schemas.openxmlformats.org/drawingml/2006/main">
            <a:srgbClr val="071A2B"/>
          </a:solidFill>
          <a:ln xmlns:a="http://schemas.openxmlformats.org/drawingml/2006/main" w="0">
            <a:solidFill>
              <a:srgbClr val="071A2B"/>
            </a:solidFill>
            <a:prstDash val="solid"/>
          </a:ln>
        </p:spPr>
      </p:sp>
      <p:sp>
        <p:nvSpPr>
          <p:cNvPr id="18" name="state-n-1">
            <a:extLst xmlns:a="http://schemas.openxmlformats.org/drawingml/2006/main">
              <a:ext uri="{FF2B5EF4-FFF2-40B4-BE49-F238E27FC236}">
                <a16:creationId xmlns:a16="http://schemas.microsoft.com/office/drawing/2014/main" id="{2B43A021-E494-4FBE-B16B-9F485FDB2CB5}"/>
              </a:ext>
            </a:extLst>
          </p:cNvPr>
          <p:cNvSpPr>
            <a:spLocks xmlns:a="http://schemas.openxmlformats.org/drawingml/2006/main" noGrp="1"/>
          </p:cNvSpPr>
          <p:nvPr/>
        </p:nvSpPr>
        <p:spPr>
          <a:xfrm xmlns:a="http://schemas.openxmlformats.org/drawingml/2006/main">
            <a:off x="2247900" y="29718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19" name="state-label-1">
            <a:extLst xmlns:a="http://schemas.openxmlformats.org/drawingml/2006/main">
              <a:ext uri="{FF2B5EF4-FFF2-40B4-BE49-F238E27FC236}">
                <a16:creationId xmlns:a16="http://schemas.microsoft.com/office/drawing/2014/main" id="{0D9E8A91-6CE6-423E-8559-0484EDE09BE8}"/>
              </a:ext>
            </a:extLst>
          </p:cNvPr>
          <p:cNvSpPr>
            <a:spLocks xmlns:a="http://schemas.openxmlformats.org/drawingml/2006/main" noGrp="1"/>
          </p:cNvSpPr>
          <p:nvPr/>
        </p:nvSpPr>
        <p:spPr>
          <a:xfrm xmlns:a="http://schemas.openxmlformats.org/drawingml/2006/main">
            <a:off x="2000250" y="36671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330"/>
                </a:solidFill>
              </a:defRPr>
            </a:pPr>
            <a:r>
              <a:rPr sz="1200" b="1">
                <a:solidFill>
                  <a:srgbClr val="102330"/>
                </a:solidFill>
              </a:rPr>
              <a:t>验证客户</a:t>
            </a:r>
          </a:p>
        </p:txBody>
      </p:sp>
      <p:sp>
        <p:nvSpPr>
          <p:cNvPr id="20" name="state-dot-2">
            <a:extLst xmlns:a="http://schemas.openxmlformats.org/drawingml/2006/main">
              <a:ext uri="{FF2B5EF4-FFF2-40B4-BE49-F238E27FC236}">
                <a16:creationId xmlns:a16="http://schemas.microsoft.com/office/drawing/2014/main" id="{4C364DBC-140E-4DE2-9923-539F34030D80}"/>
              </a:ext>
            </a:extLst>
          </p:cNvPr>
          <p:cNvSpPr>
            <a:spLocks xmlns:a="http://schemas.openxmlformats.org/drawingml/2006/main" noGrp="1"/>
          </p:cNvSpPr>
          <p:nvPr/>
        </p:nvSpPr>
        <p:spPr>
          <a:xfrm xmlns:a="http://schemas.openxmlformats.org/drawingml/2006/main">
            <a:off x="3752850" y="2857500"/>
            <a:ext cx="552450" cy="552450"/>
          </a:xfrm>
          <a:prstGeom xmlns:a="http://schemas.openxmlformats.org/drawingml/2006/main" prst="roundRect">
            <a:avLst>
              <a:gd name="adj" fmla="val 50000"/>
            </a:avLst>
          </a:prstGeom>
          <a:solidFill xmlns:a="http://schemas.openxmlformats.org/drawingml/2006/main">
            <a:srgbClr val="071A2B"/>
          </a:solidFill>
          <a:ln xmlns:a="http://schemas.openxmlformats.org/drawingml/2006/main" w="0">
            <a:solidFill>
              <a:srgbClr val="071A2B"/>
            </a:solidFill>
            <a:prstDash val="solid"/>
          </a:ln>
        </p:spPr>
      </p:sp>
      <p:sp>
        <p:nvSpPr>
          <p:cNvPr id="21" name="state-n-2">
            <a:extLst xmlns:a="http://schemas.openxmlformats.org/drawingml/2006/main">
              <a:ext uri="{FF2B5EF4-FFF2-40B4-BE49-F238E27FC236}">
                <a16:creationId xmlns:a16="http://schemas.microsoft.com/office/drawing/2014/main" id="{1DD22662-1257-4636-B424-8242DE22CE60}"/>
              </a:ext>
            </a:extLst>
          </p:cNvPr>
          <p:cNvSpPr>
            <a:spLocks xmlns:a="http://schemas.openxmlformats.org/drawingml/2006/main" noGrp="1"/>
          </p:cNvSpPr>
          <p:nvPr/>
        </p:nvSpPr>
        <p:spPr>
          <a:xfrm xmlns:a="http://schemas.openxmlformats.org/drawingml/2006/main">
            <a:off x="3752850" y="29718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22" name="state-label-2">
            <a:extLst xmlns:a="http://schemas.openxmlformats.org/drawingml/2006/main">
              <a:ext uri="{FF2B5EF4-FFF2-40B4-BE49-F238E27FC236}">
                <a16:creationId xmlns:a16="http://schemas.microsoft.com/office/drawing/2014/main" id="{53BF0AF4-6393-455B-A8A2-1315E460AC0F}"/>
              </a:ext>
            </a:extLst>
          </p:cNvPr>
          <p:cNvSpPr>
            <a:spLocks xmlns:a="http://schemas.openxmlformats.org/drawingml/2006/main" noGrp="1"/>
          </p:cNvSpPr>
          <p:nvPr/>
        </p:nvSpPr>
        <p:spPr>
          <a:xfrm xmlns:a="http://schemas.openxmlformats.org/drawingml/2006/main">
            <a:off x="3505200" y="36671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330"/>
                </a:solidFill>
              </a:defRPr>
            </a:pPr>
            <a:r>
              <a:rPr sz="1200" b="1">
                <a:solidFill>
                  <a:srgbClr val="102330"/>
                </a:solidFill>
              </a:rPr>
              <a:t>读取订单</a:t>
            </a:r>
          </a:p>
        </p:txBody>
      </p:sp>
      <p:sp>
        <p:nvSpPr>
          <p:cNvPr id="23" name="state-dot-3">
            <a:extLst xmlns:a="http://schemas.openxmlformats.org/drawingml/2006/main">
              <a:ext uri="{FF2B5EF4-FFF2-40B4-BE49-F238E27FC236}">
                <a16:creationId xmlns:a16="http://schemas.microsoft.com/office/drawing/2014/main" id="{C182CB6B-9A78-4C38-B071-6FBA1EF3E07F}"/>
              </a:ext>
            </a:extLst>
          </p:cNvPr>
          <p:cNvSpPr>
            <a:spLocks xmlns:a="http://schemas.openxmlformats.org/drawingml/2006/main" noGrp="1"/>
          </p:cNvSpPr>
          <p:nvPr/>
        </p:nvSpPr>
        <p:spPr>
          <a:xfrm xmlns:a="http://schemas.openxmlformats.org/drawingml/2006/main">
            <a:off x="5257800" y="2857500"/>
            <a:ext cx="552450" cy="552450"/>
          </a:xfrm>
          <a:prstGeom xmlns:a="http://schemas.openxmlformats.org/drawingml/2006/main" prst="roundRect">
            <a:avLst>
              <a:gd name="adj" fmla="val 50000"/>
            </a:avLst>
          </a:prstGeom>
          <a:solidFill xmlns:a="http://schemas.openxmlformats.org/drawingml/2006/main">
            <a:srgbClr val="071A2B"/>
          </a:solidFill>
          <a:ln xmlns:a="http://schemas.openxmlformats.org/drawingml/2006/main" w="0">
            <a:solidFill>
              <a:srgbClr val="071A2B"/>
            </a:solidFill>
            <a:prstDash val="solid"/>
          </a:ln>
        </p:spPr>
      </p:sp>
      <p:sp>
        <p:nvSpPr>
          <p:cNvPr id="24" name="state-n-3">
            <a:extLst xmlns:a="http://schemas.openxmlformats.org/drawingml/2006/main">
              <a:ext uri="{FF2B5EF4-FFF2-40B4-BE49-F238E27FC236}">
                <a16:creationId xmlns:a16="http://schemas.microsoft.com/office/drawing/2014/main" id="{6259D46B-0B38-4B9B-BE8D-BA75C742951B}"/>
              </a:ext>
            </a:extLst>
          </p:cNvPr>
          <p:cNvSpPr>
            <a:spLocks xmlns:a="http://schemas.openxmlformats.org/drawingml/2006/main" noGrp="1"/>
          </p:cNvSpPr>
          <p:nvPr/>
        </p:nvSpPr>
        <p:spPr>
          <a:xfrm xmlns:a="http://schemas.openxmlformats.org/drawingml/2006/main">
            <a:off x="5257800" y="29718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25" name="state-label-3">
            <a:extLst xmlns:a="http://schemas.openxmlformats.org/drawingml/2006/main">
              <a:ext uri="{FF2B5EF4-FFF2-40B4-BE49-F238E27FC236}">
                <a16:creationId xmlns:a16="http://schemas.microsoft.com/office/drawing/2014/main" id="{715A0C48-88DC-4787-B61E-94C9C4A138B7}"/>
              </a:ext>
            </a:extLst>
          </p:cNvPr>
          <p:cNvSpPr>
            <a:spLocks xmlns:a="http://schemas.openxmlformats.org/drawingml/2006/main" noGrp="1"/>
          </p:cNvSpPr>
          <p:nvPr/>
        </p:nvSpPr>
        <p:spPr>
          <a:xfrm xmlns:a="http://schemas.openxmlformats.org/drawingml/2006/main">
            <a:off x="5010150" y="36671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330"/>
                </a:solidFill>
              </a:defRPr>
            </a:pPr>
            <a:r>
              <a:rPr sz="1200" b="1">
                <a:solidFill>
                  <a:srgbClr val="102330"/>
                </a:solidFill>
              </a:rPr>
              <a:t>检查支付</a:t>
            </a:r>
          </a:p>
        </p:txBody>
      </p:sp>
      <p:sp>
        <p:nvSpPr>
          <p:cNvPr id="26" name="state-dot-4">
            <a:extLst xmlns:a="http://schemas.openxmlformats.org/drawingml/2006/main">
              <a:ext uri="{FF2B5EF4-FFF2-40B4-BE49-F238E27FC236}">
                <a16:creationId xmlns:a16="http://schemas.microsoft.com/office/drawing/2014/main" id="{16552393-702E-4CDC-8EE6-2AF64F7D8BEA}"/>
              </a:ext>
            </a:extLst>
          </p:cNvPr>
          <p:cNvSpPr>
            <a:spLocks xmlns:a="http://schemas.openxmlformats.org/drawingml/2006/main" noGrp="1"/>
          </p:cNvSpPr>
          <p:nvPr/>
        </p:nvSpPr>
        <p:spPr>
          <a:xfrm xmlns:a="http://schemas.openxmlformats.org/drawingml/2006/main">
            <a:off x="6762750" y="2857500"/>
            <a:ext cx="552450" cy="552450"/>
          </a:xfrm>
          <a:prstGeom xmlns:a="http://schemas.openxmlformats.org/drawingml/2006/main" prst="roundRect">
            <a:avLst>
              <a:gd name="adj" fmla="val 50000"/>
            </a:avLst>
          </a:prstGeom>
          <a:solidFill xmlns:a="http://schemas.openxmlformats.org/drawingml/2006/main">
            <a:srgbClr val="071A2B"/>
          </a:solidFill>
          <a:ln xmlns:a="http://schemas.openxmlformats.org/drawingml/2006/main" w="0">
            <a:solidFill>
              <a:srgbClr val="071A2B"/>
            </a:solidFill>
            <a:prstDash val="solid"/>
          </a:ln>
        </p:spPr>
      </p:sp>
      <p:sp>
        <p:nvSpPr>
          <p:cNvPr id="27" name="state-n-4">
            <a:extLst xmlns:a="http://schemas.openxmlformats.org/drawingml/2006/main">
              <a:ext uri="{FF2B5EF4-FFF2-40B4-BE49-F238E27FC236}">
                <a16:creationId xmlns:a16="http://schemas.microsoft.com/office/drawing/2014/main" id="{E52043EB-E5BA-41C0-9A24-CFC1E5F79B77}"/>
              </a:ext>
            </a:extLst>
          </p:cNvPr>
          <p:cNvSpPr>
            <a:spLocks xmlns:a="http://schemas.openxmlformats.org/drawingml/2006/main" noGrp="1"/>
          </p:cNvSpPr>
          <p:nvPr/>
        </p:nvSpPr>
        <p:spPr>
          <a:xfrm xmlns:a="http://schemas.openxmlformats.org/drawingml/2006/main">
            <a:off x="6762750" y="29718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5</a:t>
            </a:r>
          </a:p>
        </p:txBody>
      </p:sp>
      <p:sp>
        <p:nvSpPr>
          <p:cNvPr id="28" name="state-label-4">
            <a:extLst xmlns:a="http://schemas.openxmlformats.org/drawingml/2006/main">
              <a:ext uri="{FF2B5EF4-FFF2-40B4-BE49-F238E27FC236}">
                <a16:creationId xmlns:a16="http://schemas.microsoft.com/office/drawing/2014/main" id="{811A9C8A-4671-4E4A-BF56-AA60E84CBD24}"/>
              </a:ext>
            </a:extLst>
          </p:cNvPr>
          <p:cNvSpPr>
            <a:spLocks xmlns:a="http://schemas.openxmlformats.org/drawingml/2006/main" noGrp="1"/>
          </p:cNvSpPr>
          <p:nvPr/>
        </p:nvSpPr>
        <p:spPr>
          <a:xfrm xmlns:a="http://schemas.openxmlformats.org/drawingml/2006/main">
            <a:off x="6515100" y="36671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330"/>
                </a:solidFill>
              </a:defRPr>
            </a:pPr>
            <a:r>
              <a:rPr sz="1200" b="1">
                <a:solidFill>
                  <a:srgbClr val="102330"/>
                </a:solidFill>
              </a:rPr>
              <a:t>读取政策</a:t>
            </a:r>
          </a:p>
        </p:txBody>
      </p:sp>
      <p:sp>
        <p:nvSpPr>
          <p:cNvPr id="29" name="state-dot-5">
            <a:extLst xmlns:a="http://schemas.openxmlformats.org/drawingml/2006/main">
              <a:ext uri="{FF2B5EF4-FFF2-40B4-BE49-F238E27FC236}">
                <a16:creationId xmlns:a16="http://schemas.microsoft.com/office/drawing/2014/main" id="{DA4674C9-054E-4EE5-AF32-C9F34DCE20C3}"/>
              </a:ext>
            </a:extLst>
          </p:cNvPr>
          <p:cNvSpPr>
            <a:spLocks xmlns:a="http://schemas.openxmlformats.org/drawingml/2006/main" noGrp="1"/>
          </p:cNvSpPr>
          <p:nvPr/>
        </p:nvSpPr>
        <p:spPr>
          <a:xfrm xmlns:a="http://schemas.openxmlformats.org/drawingml/2006/main">
            <a:off x="8267700" y="2857500"/>
            <a:ext cx="552450" cy="552450"/>
          </a:xfrm>
          <a:prstGeom xmlns:a="http://schemas.openxmlformats.org/drawingml/2006/main" prst="roundRect">
            <a:avLst>
              <a:gd name="adj" fmla="val 50000"/>
            </a:avLst>
          </a:prstGeom>
          <a:solidFill xmlns:a="http://schemas.openxmlformats.org/drawingml/2006/main">
            <a:srgbClr val="071A2B"/>
          </a:solidFill>
          <a:ln xmlns:a="http://schemas.openxmlformats.org/drawingml/2006/main" w="0">
            <a:solidFill>
              <a:srgbClr val="071A2B"/>
            </a:solidFill>
            <a:prstDash val="solid"/>
          </a:ln>
        </p:spPr>
      </p:sp>
      <p:sp>
        <p:nvSpPr>
          <p:cNvPr id="30" name="state-n-5">
            <a:extLst xmlns:a="http://schemas.openxmlformats.org/drawingml/2006/main">
              <a:ext uri="{FF2B5EF4-FFF2-40B4-BE49-F238E27FC236}">
                <a16:creationId xmlns:a16="http://schemas.microsoft.com/office/drawing/2014/main" id="{791211E9-5290-48B5-B42C-399828DA6D0F}"/>
              </a:ext>
            </a:extLst>
          </p:cNvPr>
          <p:cNvSpPr>
            <a:spLocks xmlns:a="http://schemas.openxmlformats.org/drawingml/2006/main" noGrp="1"/>
          </p:cNvSpPr>
          <p:nvPr/>
        </p:nvSpPr>
        <p:spPr>
          <a:xfrm xmlns:a="http://schemas.openxmlformats.org/drawingml/2006/main">
            <a:off x="8267700" y="29718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6</a:t>
            </a:r>
          </a:p>
        </p:txBody>
      </p:sp>
      <p:sp>
        <p:nvSpPr>
          <p:cNvPr id="31" name="state-label-5">
            <a:extLst xmlns:a="http://schemas.openxmlformats.org/drawingml/2006/main">
              <a:ext uri="{FF2B5EF4-FFF2-40B4-BE49-F238E27FC236}">
                <a16:creationId xmlns:a16="http://schemas.microsoft.com/office/drawing/2014/main" id="{0094E523-5FE4-46CB-94BE-0B0AE7FC9681}"/>
              </a:ext>
            </a:extLst>
          </p:cNvPr>
          <p:cNvSpPr>
            <a:spLocks xmlns:a="http://schemas.openxmlformats.org/drawingml/2006/main" noGrp="1"/>
          </p:cNvSpPr>
          <p:nvPr/>
        </p:nvSpPr>
        <p:spPr>
          <a:xfrm xmlns:a="http://schemas.openxmlformats.org/drawingml/2006/main">
            <a:off x="8020050" y="36671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330"/>
                </a:solidFill>
              </a:defRPr>
            </a:pPr>
            <a:r>
              <a:rPr sz="1200" b="1">
                <a:solidFill>
                  <a:srgbClr val="102330"/>
                </a:solidFill>
              </a:rPr>
              <a:t>精确确认</a:t>
            </a:r>
          </a:p>
        </p:txBody>
      </p:sp>
      <p:sp>
        <p:nvSpPr>
          <p:cNvPr id="32" name="state-dot-6">
            <a:extLst xmlns:a="http://schemas.openxmlformats.org/drawingml/2006/main">
              <a:ext uri="{FF2B5EF4-FFF2-40B4-BE49-F238E27FC236}">
                <a16:creationId xmlns:a16="http://schemas.microsoft.com/office/drawing/2014/main" id="{157792AC-CE9C-4130-9771-0C9A2C62125D}"/>
              </a:ext>
            </a:extLst>
          </p:cNvPr>
          <p:cNvSpPr>
            <a:spLocks xmlns:a="http://schemas.openxmlformats.org/drawingml/2006/main" noGrp="1"/>
          </p:cNvSpPr>
          <p:nvPr/>
        </p:nvSpPr>
        <p:spPr>
          <a:xfrm xmlns:a="http://schemas.openxmlformats.org/drawingml/2006/main">
            <a:off x="9772650" y="2857500"/>
            <a:ext cx="552450" cy="5524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33" name="state-n-6">
            <a:extLst xmlns:a="http://schemas.openxmlformats.org/drawingml/2006/main">
              <a:ext uri="{FF2B5EF4-FFF2-40B4-BE49-F238E27FC236}">
                <a16:creationId xmlns:a16="http://schemas.microsoft.com/office/drawing/2014/main" id="{C09365DF-1A5D-47D0-B80B-CB8AE50F6A61}"/>
              </a:ext>
            </a:extLst>
          </p:cNvPr>
          <p:cNvSpPr>
            <a:spLocks xmlns:a="http://schemas.openxmlformats.org/drawingml/2006/main" noGrp="1"/>
          </p:cNvSpPr>
          <p:nvPr/>
        </p:nvSpPr>
        <p:spPr>
          <a:xfrm xmlns:a="http://schemas.openxmlformats.org/drawingml/2006/main">
            <a:off x="9772650" y="29718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7</a:t>
            </a:r>
          </a:p>
        </p:txBody>
      </p:sp>
      <p:sp>
        <p:nvSpPr>
          <p:cNvPr id="34" name="state-label-6">
            <a:extLst xmlns:a="http://schemas.openxmlformats.org/drawingml/2006/main">
              <a:ext uri="{FF2B5EF4-FFF2-40B4-BE49-F238E27FC236}">
                <a16:creationId xmlns:a16="http://schemas.microsoft.com/office/drawing/2014/main" id="{4F973D1B-506A-46F7-BAC6-E1989894B964}"/>
              </a:ext>
            </a:extLst>
          </p:cNvPr>
          <p:cNvSpPr>
            <a:spLocks xmlns:a="http://schemas.openxmlformats.org/drawingml/2006/main" noGrp="1"/>
          </p:cNvSpPr>
          <p:nvPr/>
        </p:nvSpPr>
        <p:spPr>
          <a:xfrm xmlns:a="http://schemas.openxmlformats.org/drawingml/2006/main">
            <a:off x="9525000" y="36671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02330"/>
                </a:solidFill>
              </a:defRPr>
            </a:pPr>
            <a:r>
              <a:rPr sz="1200" b="1">
                <a:solidFill>
                  <a:srgbClr val="102330"/>
                </a:solidFill>
              </a:rPr>
              <a:t>幂等退款</a:t>
            </a:r>
          </a:p>
        </p:txBody>
      </p:sp>
      <p:sp>
        <p:nvSpPr>
          <p:cNvPr id="35" name="state-guard">
            <a:extLst xmlns:a="http://schemas.openxmlformats.org/drawingml/2006/main">
              <a:ext uri="{FF2B5EF4-FFF2-40B4-BE49-F238E27FC236}">
                <a16:creationId xmlns:a16="http://schemas.microsoft.com/office/drawing/2014/main" id="{62EA6CFB-2472-474E-8778-87238EE6A948}"/>
              </a:ext>
            </a:extLst>
          </p:cNvPr>
          <p:cNvSpPr>
            <a:spLocks xmlns:a="http://schemas.openxmlformats.org/drawingml/2006/main" noGrp="1"/>
          </p:cNvSpPr>
          <p:nvPr/>
        </p:nvSpPr>
        <p:spPr>
          <a:xfrm xmlns:a="http://schemas.openxmlformats.org/drawingml/2006/main">
            <a:off x="1238250" y="4762500"/>
            <a:ext cx="9715500" cy="876300"/>
          </a:xfrm>
          <a:prstGeom xmlns:a="http://schemas.openxmlformats.org/drawingml/2006/main" prst="roundRect">
            <a:avLst>
              <a:gd name="adj" fmla="val 10870"/>
            </a:avLst>
          </a:prstGeom>
          <a:solidFill xmlns:a="http://schemas.openxmlformats.org/drawingml/2006/main">
            <a:srgbClr val="071A2B"/>
          </a:solidFill>
          <a:ln xmlns:a="http://schemas.openxmlformats.org/drawingml/2006/main" w="0">
            <a:solidFill>
              <a:srgbClr val="071A2B"/>
            </a:solidFill>
            <a:prstDash val="solid"/>
          </a:ln>
        </p:spPr>
      </p:sp>
      <p:sp>
        <p:nvSpPr>
          <p:cNvPr id="36" name="state-guard-text">
            <a:extLst xmlns:a="http://schemas.openxmlformats.org/drawingml/2006/main">
              <a:ext uri="{FF2B5EF4-FFF2-40B4-BE49-F238E27FC236}">
                <a16:creationId xmlns:a16="http://schemas.microsoft.com/office/drawing/2014/main" id="{DDDF9A70-9751-45E4-9DB6-6EB9FDC9A173}"/>
              </a:ext>
            </a:extLst>
          </p:cNvPr>
          <p:cNvSpPr>
            <a:spLocks xmlns:a="http://schemas.openxmlformats.org/drawingml/2006/main" noGrp="1"/>
          </p:cNvSpPr>
          <p:nvPr/>
        </p:nvSpPr>
        <p:spPr>
          <a:xfrm xmlns:a="http://schemas.openxmlformats.org/drawingml/2006/main">
            <a:off x="1571625" y="4991100"/>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7F1E8"/>
                </a:solidFill>
              </a:defRPr>
            </a:pPr>
            <a:r>
              <a:rPr sz="1125" b="1">
                <a:solidFill>
                  <a:srgbClr val="F7F1E8"/>
                </a:solidFill>
              </a:rPr>
              <a:t>WRITE GUARD  ·  verified identity ∧ orders read ∧ payment read ∧ policy read ∧ exact confirmation ∧ duplicate charge ∧ exact amount ∧ idempotency key</a:t>
            </a:r>
          </a:p>
        </p:txBody>
      </p:sp>
    </p:spTree>
    <p:extLst>
      <p:ext uri="{BB962C8B-B14F-4D97-AF65-F5344CB8AC3E}">
        <p14:creationId xmlns:p14="http://schemas.microsoft.com/office/powerpoint/2010/main" val="1341806939"/>
      </p:ext>
    </p:extLst>
  </p:cSld>
</p:sld>
</file>

<file path=ppt/slides/slide6.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4" name="rail-6">
            <a:extLst xmlns:a="http://schemas.openxmlformats.org/drawingml/2006/main">
              <a:ext uri="{FF2B5EF4-FFF2-40B4-BE49-F238E27FC236}">
                <a16:creationId xmlns:a16="http://schemas.microsoft.com/office/drawing/2014/main" id="{0E0E0400-6913-4F2A-84B3-44DB639629D5}"/>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6">
            <a:extLst xmlns:a="http://schemas.openxmlformats.org/drawingml/2006/main">
              <a:ext uri="{FF2B5EF4-FFF2-40B4-BE49-F238E27FC236}">
                <a16:creationId xmlns:a16="http://schemas.microsoft.com/office/drawing/2014/main" id="{3FA51A5A-D09B-44AC-9914-119DBB13C457}"/>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6">
            <a:extLst xmlns:a="http://schemas.openxmlformats.org/drawingml/2006/main">
              <a:ext uri="{FF2B5EF4-FFF2-40B4-BE49-F238E27FC236}">
                <a16:creationId xmlns:a16="http://schemas.microsoft.com/office/drawing/2014/main" id="{6BC728F9-A9DA-4250-B502-92236366C5E0}"/>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OPTIMIZATION</a:t>
            </a:r>
          </a:p>
        </p:txBody>
      </p:sp>
      <p:sp>
        <p:nvSpPr>
          <p:cNvPr id="4" name="title-6">
            <a:extLst xmlns:a="http://schemas.openxmlformats.org/drawingml/2006/main">
              <a:ext uri="{FF2B5EF4-FFF2-40B4-BE49-F238E27FC236}">
                <a16:creationId xmlns:a16="http://schemas.microsoft.com/office/drawing/2014/main" id="{2312A1AE-479B-481F-84A6-F73813010774}"/>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为什么用 response-token GRPO，而不是动作分类？</a:t>
            </a:r>
          </a:p>
        </p:txBody>
      </p:sp>
      <p:sp>
        <p:nvSpPr>
          <p:cNvPr id="5" name="subtitle-6">
            <a:extLst xmlns:a="http://schemas.openxmlformats.org/drawingml/2006/main">
              <a:ext uri="{FF2B5EF4-FFF2-40B4-BE49-F238E27FC236}">
                <a16:creationId xmlns:a16="http://schemas.microsoft.com/office/drawing/2014/main" id="{E534FB07-1849-4B8F-BF27-FCA001C2279A}"/>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每个样本是一条完整多轮轨迹；梯度只覆盖 assistant completion token。</a:t>
            </a:r>
          </a:p>
        </p:txBody>
      </p:sp>
      <p:sp>
        <p:nvSpPr>
          <p:cNvPr id="6" name="">
            <a:extLst xmlns:a="http://schemas.openxmlformats.org/drawingml/2006/main">
              <a:ext uri="{FF2B5EF4-FFF2-40B4-BE49-F238E27FC236}">
                <a16:creationId xmlns:a16="http://schemas.microsoft.com/office/drawing/2014/main" id="{D374763E-E0C2-4E53-AE62-5C39F7044B5F}"/>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6">
            <a:extLst xmlns:a="http://schemas.openxmlformats.org/drawingml/2006/main">
              <a:ext uri="{FF2B5EF4-FFF2-40B4-BE49-F238E27FC236}">
                <a16:creationId xmlns:a16="http://schemas.microsoft.com/office/drawing/2014/main" id="{A839A490-AEE0-4E64-975A-944857AF35F0}"/>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06</a:t>
            </a:r>
          </a:p>
        </p:txBody>
      </p:sp>
      <p:sp>
        <p:nvSpPr>
          <p:cNvPr id="8" name="grpo-formula">
            <a:extLst xmlns:a="http://schemas.openxmlformats.org/drawingml/2006/main">
              <a:ext uri="{FF2B5EF4-FFF2-40B4-BE49-F238E27FC236}">
                <a16:creationId xmlns:a16="http://schemas.microsoft.com/office/drawing/2014/main" id="{25999C7A-E2FA-49F2-BF1C-93C4FCAFD955}"/>
              </a:ext>
            </a:extLst>
          </p:cNvPr>
          <p:cNvSpPr>
            <a:spLocks xmlns:a="http://schemas.openxmlformats.org/drawingml/2006/main" noGrp="1"/>
          </p:cNvSpPr>
          <p:nvPr/>
        </p:nvSpPr>
        <p:spPr>
          <a:xfrm xmlns:a="http://schemas.openxmlformats.org/drawingml/2006/main">
            <a:off x="714375" y="2190750"/>
            <a:ext cx="4953000" cy="2857500"/>
          </a:xfrm>
          <a:prstGeom xmlns:a="http://schemas.openxmlformats.org/drawingml/2006/main" prst="roundRect">
            <a:avLst>
              <a:gd name="adj" fmla="val 4000"/>
            </a:avLst>
          </a:prstGeom>
          <a:solidFill xmlns:a="http://schemas.openxmlformats.org/drawingml/2006/main">
            <a:srgbClr val="071A2B"/>
          </a:solidFill>
          <a:ln xmlns:a="http://schemas.openxmlformats.org/drawingml/2006/main" w="0">
            <a:solidFill>
              <a:srgbClr val="071A2B"/>
            </a:solidFill>
            <a:prstDash val="solid"/>
          </a:ln>
        </p:spPr>
      </p:sp>
      <p:sp>
        <p:nvSpPr>
          <p:cNvPr id="9" name="grpo-formula-title">
            <a:extLst xmlns:a="http://schemas.openxmlformats.org/drawingml/2006/main">
              <a:ext uri="{FF2B5EF4-FFF2-40B4-BE49-F238E27FC236}">
                <a16:creationId xmlns:a16="http://schemas.microsoft.com/office/drawing/2014/main" id="{CB6BE685-7A1E-4B51-A26E-4C19FA60E48C}"/>
              </a:ext>
            </a:extLst>
          </p:cNvPr>
          <p:cNvSpPr>
            <a:spLocks xmlns:a="http://schemas.openxmlformats.org/drawingml/2006/main" noGrp="1"/>
          </p:cNvSpPr>
          <p:nvPr/>
        </p:nvSpPr>
        <p:spPr>
          <a:xfrm xmlns:a="http://schemas.openxmlformats.org/drawingml/2006/main">
            <a:off x="1047750" y="2476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6A84B"/>
                </a:solidFill>
              </a:defRPr>
            </a:pPr>
            <a:r>
              <a:rPr sz="1275" b="1">
                <a:solidFill>
                  <a:srgbClr val="D6A84B"/>
                </a:solidFill>
              </a:rPr>
              <a:t>GROUP-RELATIVE ADVANTAGE</a:t>
            </a:r>
          </a:p>
        </p:txBody>
      </p:sp>
      <p:sp>
        <p:nvSpPr>
          <p:cNvPr id="10" name="grpo-formula-main">
            <a:extLst xmlns:a="http://schemas.openxmlformats.org/drawingml/2006/main">
              <a:ext uri="{FF2B5EF4-FFF2-40B4-BE49-F238E27FC236}">
                <a16:creationId xmlns:a16="http://schemas.microsoft.com/office/drawing/2014/main" id="{6C87645E-B279-4C3C-9B7C-D9069C9071BB}"/>
              </a:ext>
            </a:extLst>
          </p:cNvPr>
          <p:cNvSpPr>
            <a:spLocks xmlns:a="http://schemas.openxmlformats.org/drawingml/2006/main" noGrp="1"/>
          </p:cNvSpPr>
          <p:nvPr/>
        </p:nvSpPr>
        <p:spPr>
          <a:xfrm xmlns:a="http://schemas.openxmlformats.org/drawingml/2006/main">
            <a:off x="1000125" y="3209925"/>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FFFFFF"/>
                </a:solidFill>
              </a:defRPr>
            </a:pPr>
            <a:r>
              <a:rPr sz="2250" b="1">
                <a:solidFill>
                  <a:srgbClr val="FFFFFF"/>
                </a:solidFill>
              </a:rPr>
              <a:t>Aᵢ = (Rᵢ − μgroup) / (σgroup + ε)</a:t>
            </a:r>
          </a:p>
        </p:txBody>
      </p:sp>
      <p:sp>
        <p:nvSpPr>
          <p:cNvPr id="11" name="grpo-reward">
            <a:extLst xmlns:a="http://schemas.openxmlformats.org/drawingml/2006/main">
              <a:ext uri="{FF2B5EF4-FFF2-40B4-BE49-F238E27FC236}">
                <a16:creationId xmlns:a16="http://schemas.microsoft.com/office/drawing/2014/main" id="{D1E0DABA-E737-4ED7-A201-075DBB97908B}"/>
              </a:ext>
            </a:extLst>
          </p:cNvPr>
          <p:cNvSpPr>
            <a:spLocks xmlns:a="http://schemas.openxmlformats.org/drawingml/2006/main" noGrp="1"/>
          </p:cNvSpPr>
          <p:nvPr/>
        </p:nvSpPr>
        <p:spPr>
          <a:xfrm xmlns:a="http://schemas.openxmlformats.org/drawingml/2006/main">
            <a:off x="1047750" y="40767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a:solidFill>
                  <a:srgbClr val="BFD9DD"/>
                </a:solidFill>
              </a:defRPr>
            </a:pPr>
            <a:r>
              <a:rPr sz="1500">
                <a:solidFill>
                  <a:srgbClr val="BFD9DD"/>
                </a:solidFill>
              </a:rPr>
              <a:t>R = 𝟙[exact outcome] + 0.30 × Rprocess</a:t>
            </a:r>
          </a:p>
        </p:txBody>
      </p:sp>
      <p:sp>
        <p:nvSpPr>
          <p:cNvPr id="12" name="grpo-num-0">
            <a:extLst xmlns:a="http://schemas.openxmlformats.org/drawingml/2006/main">
              <a:ext uri="{FF2B5EF4-FFF2-40B4-BE49-F238E27FC236}">
                <a16:creationId xmlns:a16="http://schemas.microsoft.com/office/drawing/2014/main" id="{6B2A1735-43CA-4411-A55C-1FAB66F9BF63}"/>
              </a:ext>
            </a:extLst>
          </p:cNvPr>
          <p:cNvSpPr>
            <a:spLocks xmlns:a="http://schemas.openxmlformats.org/drawingml/2006/main" noGrp="1"/>
          </p:cNvSpPr>
          <p:nvPr/>
        </p:nvSpPr>
        <p:spPr>
          <a:xfrm xmlns:a="http://schemas.openxmlformats.org/drawingml/2006/main">
            <a:off x="6429375" y="21621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18A6A6"/>
                </a:solidFill>
              </a:defRPr>
            </a:pPr>
            <a:r>
              <a:rPr sz="1350" b="1">
                <a:solidFill>
                  <a:srgbClr val="18A6A6"/>
                </a:solidFill>
              </a:rPr>
              <a:t>01</a:t>
            </a:r>
          </a:p>
        </p:txBody>
      </p:sp>
      <p:sp>
        <p:nvSpPr>
          <p:cNvPr id="13" name="grpo-head-0">
            <a:extLst xmlns:a="http://schemas.openxmlformats.org/drawingml/2006/main">
              <a:ext uri="{FF2B5EF4-FFF2-40B4-BE49-F238E27FC236}">
                <a16:creationId xmlns:a16="http://schemas.microsoft.com/office/drawing/2014/main" id="{49386B27-4844-42A7-9561-D81DEB5D1D0E}"/>
              </a:ext>
            </a:extLst>
          </p:cNvPr>
          <p:cNvSpPr>
            <a:spLocks xmlns:a="http://schemas.openxmlformats.org/drawingml/2006/main" noGrp="1"/>
          </p:cNvSpPr>
          <p:nvPr/>
        </p:nvSpPr>
        <p:spPr>
          <a:xfrm xmlns:a="http://schemas.openxmlformats.org/drawingml/2006/main">
            <a:off x="7067550" y="2133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a:solidFill>
                  <a:srgbClr val="071A2B"/>
                </a:solidFill>
              </a:defRPr>
            </a:pPr>
            <a:r>
              <a:rPr sz="1425" b="1">
                <a:solidFill>
                  <a:srgbClr val="071A2B"/>
                </a:solidFill>
              </a:rPr>
              <a:t>同 prompt 采样 4 条 trajectory</a:t>
            </a:r>
          </a:p>
        </p:txBody>
      </p:sp>
      <p:sp>
        <p:nvSpPr>
          <p:cNvPr id="14" name="grpo-sub-0">
            <a:extLst xmlns:a="http://schemas.openxmlformats.org/drawingml/2006/main">
              <a:ext uri="{FF2B5EF4-FFF2-40B4-BE49-F238E27FC236}">
                <a16:creationId xmlns:a16="http://schemas.microsoft.com/office/drawing/2014/main" id="{3FF3F384-579F-4A94-867E-81009A686193}"/>
              </a:ext>
            </a:extLst>
          </p:cNvPr>
          <p:cNvSpPr>
            <a:spLocks xmlns:a="http://schemas.openxmlformats.org/drawingml/2006/main" noGrp="1"/>
          </p:cNvSpPr>
          <p:nvPr/>
        </p:nvSpPr>
        <p:spPr>
          <a:xfrm xmlns:a="http://schemas.openxmlformats.org/drawingml/2006/main">
            <a:off x="7067550" y="248602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a:solidFill>
                  <a:srgbClr val="64747B"/>
                </a:solidFill>
              </a:defRPr>
            </a:pPr>
            <a:r>
              <a:rPr sz="1125">
                <a:solidFill>
                  <a:srgbClr val="64747B"/>
                </a:solidFill>
              </a:rPr>
              <a:t>不依赖单独 value model</a:t>
            </a:r>
          </a:p>
        </p:txBody>
      </p:sp>
      <p:sp>
        <p:nvSpPr>
          <p:cNvPr id="15" name="grpo-num-1">
            <a:extLst xmlns:a="http://schemas.openxmlformats.org/drawingml/2006/main">
              <a:ext uri="{FF2B5EF4-FFF2-40B4-BE49-F238E27FC236}">
                <a16:creationId xmlns:a16="http://schemas.microsoft.com/office/drawing/2014/main" id="{337F4681-8488-43BA-B761-7035E945E363}"/>
              </a:ext>
            </a:extLst>
          </p:cNvPr>
          <p:cNvSpPr>
            <a:spLocks xmlns:a="http://schemas.openxmlformats.org/drawingml/2006/main" noGrp="1"/>
          </p:cNvSpPr>
          <p:nvPr/>
        </p:nvSpPr>
        <p:spPr>
          <a:xfrm xmlns:a="http://schemas.openxmlformats.org/drawingml/2006/main">
            <a:off x="6429375" y="30194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C56D4A"/>
                </a:solidFill>
              </a:defRPr>
            </a:pPr>
            <a:r>
              <a:rPr sz="1350" b="1">
                <a:solidFill>
                  <a:srgbClr val="C56D4A"/>
                </a:solidFill>
              </a:rPr>
              <a:t>02</a:t>
            </a:r>
          </a:p>
        </p:txBody>
      </p:sp>
      <p:sp>
        <p:nvSpPr>
          <p:cNvPr id="16" name="grpo-head-1">
            <a:extLst xmlns:a="http://schemas.openxmlformats.org/drawingml/2006/main">
              <a:ext uri="{FF2B5EF4-FFF2-40B4-BE49-F238E27FC236}">
                <a16:creationId xmlns:a16="http://schemas.microsoft.com/office/drawing/2014/main" id="{35189033-90AF-42F3-8669-FE240E378BFF}"/>
              </a:ext>
            </a:extLst>
          </p:cNvPr>
          <p:cNvSpPr>
            <a:spLocks xmlns:a="http://schemas.openxmlformats.org/drawingml/2006/main" noGrp="1"/>
          </p:cNvSpPr>
          <p:nvPr/>
        </p:nvSpPr>
        <p:spPr>
          <a:xfrm xmlns:a="http://schemas.openxmlformats.org/drawingml/2006/main">
            <a:off x="7067550" y="2990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a:solidFill>
                  <a:srgbClr val="071A2B"/>
                </a:solidFill>
              </a:defRPr>
            </a:pPr>
            <a:r>
              <a:rPr sz="1425" b="1">
                <a:solidFill>
                  <a:srgbClr val="071A2B"/>
                </a:solidFill>
              </a:rPr>
              <a:t>DAPO-style clipped objective</a:t>
            </a:r>
          </a:p>
        </p:txBody>
      </p:sp>
      <p:sp>
        <p:nvSpPr>
          <p:cNvPr id="17" name="grpo-sub-1">
            <a:extLst xmlns:a="http://schemas.openxmlformats.org/drawingml/2006/main">
              <a:ext uri="{FF2B5EF4-FFF2-40B4-BE49-F238E27FC236}">
                <a16:creationId xmlns:a16="http://schemas.microsoft.com/office/drawing/2014/main" id="{C5400195-5019-4C41-8DD7-69DE19F1F29C}"/>
              </a:ext>
            </a:extLst>
          </p:cNvPr>
          <p:cNvSpPr>
            <a:spLocks xmlns:a="http://schemas.openxmlformats.org/drawingml/2006/main" noGrp="1"/>
          </p:cNvSpPr>
          <p:nvPr/>
        </p:nvSpPr>
        <p:spPr>
          <a:xfrm xmlns:a="http://schemas.openxmlformats.org/drawingml/2006/main">
            <a:off x="7067550" y="33432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a:solidFill>
                  <a:srgbClr val="64747B"/>
                </a:solidFill>
              </a:defRPr>
            </a:pPr>
            <a:r>
              <a:rPr sz="1125">
                <a:solidFill>
                  <a:srgbClr val="64747B"/>
                </a:solidFill>
              </a:rPr>
              <a:t>LoRA 更新 Q/K/V/O + MLP</a:t>
            </a:r>
          </a:p>
        </p:txBody>
      </p:sp>
      <p:sp>
        <p:nvSpPr>
          <p:cNvPr id="18" name="grpo-num-2">
            <a:extLst xmlns:a="http://schemas.openxmlformats.org/drawingml/2006/main">
              <a:ext uri="{FF2B5EF4-FFF2-40B4-BE49-F238E27FC236}">
                <a16:creationId xmlns:a16="http://schemas.microsoft.com/office/drawing/2014/main" id="{8B582AE4-5120-45B1-85EB-5BC30E41123D}"/>
              </a:ext>
            </a:extLst>
          </p:cNvPr>
          <p:cNvSpPr>
            <a:spLocks xmlns:a="http://schemas.openxmlformats.org/drawingml/2006/main" noGrp="1"/>
          </p:cNvSpPr>
          <p:nvPr/>
        </p:nvSpPr>
        <p:spPr>
          <a:xfrm xmlns:a="http://schemas.openxmlformats.org/drawingml/2006/main">
            <a:off x="6429375" y="38766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18A6A6"/>
                </a:solidFill>
              </a:defRPr>
            </a:pPr>
            <a:r>
              <a:rPr sz="1350" b="1">
                <a:solidFill>
                  <a:srgbClr val="18A6A6"/>
                </a:solidFill>
              </a:rPr>
              <a:t>03</a:t>
            </a:r>
          </a:p>
        </p:txBody>
      </p:sp>
      <p:sp>
        <p:nvSpPr>
          <p:cNvPr id="19" name="grpo-head-2">
            <a:extLst xmlns:a="http://schemas.openxmlformats.org/drawingml/2006/main">
              <a:ext uri="{FF2B5EF4-FFF2-40B4-BE49-F238E27FC236}">
                <a16:creationId xmlns:a16="http://schemas.microsoft.com/office/drawing/2014/main" id="{51278A02-D4ED-4CEE-B1D2-BB675E98634E}"/>
              </a:ext>
            </a:extLst>
          </p:cNvPr>
          <p:cNvSpPr>
            <a:spLocks xmlns:a="http://schemas.openxmlformats.org/drawingml/2006/main" noGrp="1"/>
          </p:cNvSpPr>
          <p:nvPr/>
        </p:nvSpPr>
        <p:spPr>
          <a:xfrm xmlns:a="http://schemas.openxmlformats.org/drawingml/2006/main">
            <a:off x="7067550" y="38481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a:solidFill>
                  <a:srgbClr val="071A2B"/>
                </a:solidFill>
              </a:defRPr>
            </a:pPr>
            <a:r>
              <a:rPr sz="1425" b="1">
                <a:solidFill>
                  <a:srgbClr val="071A2B"/>
                </a:solidFill>
              </a:rPr>
              <a:t>NF4 base + BF16 compute</a:t>
            </a:r>
          </a:p>
        </p:txBody>
      </p:sp>
      <p:sp>
        <p:nvSpPr>
          <p:cNvPr id="20" name="grpo-sub-2">
            <a:extLst xmlns:a="http://schemas.openxmlformats.org/drawingml/2006/main">
              <a:ext uri="{FF2B5EF4-FFF2-40B4-BE49-F238E27FC236}">
                <a16:creationId xmlns:a16="http://schemas.microsoft.com/office/drawing/2014/main" id="{9F9B0E57-ED8F-432C-BE2E-B0747BC9CB9F}"/>
              </a:ext>
            </a:extLst>
          </p:cNvPr>
          <p:cNvSpPr>
            <a:spLocks xmlns:a="http://schemas.openxmlformats.org/drawingml/2006/main" noGrp="1"/>
          </p:cNvSpPr>
          <p:nvPr/>
        </p:nvSpPr>
        <p:spPr>
          <a:xfrm xmlns:a="http://schemas.openxmlformats.org/drawingml/2006/main">
            <a:off x="7067550" y="420052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a:solidFill>
                  <a:srgbClr val="64747B"/>
                </a:solidFill>
              </a:defRPr>
            </a:pPr>
            <a:r>
              <a:rPr sz="1125">
                <a:solidFill>
                  <a:srgbClr val="64747B"/>
                </a:solidFill>
              </a:rPr>
              <a:t>在单张 NVIDIA H200 上完成</a:t>
            </a:r>
          </a:p>
        </p:txBody>
      </p:sp>
      <p:sp>
        <p:nvSpPr>
          <p:cNvPr id="21" name="grpo-num-3">
            <a:extLst xmlns:a="http://schemas.openxmlformats.org/drawingml/2006/main">
              <a:ext uri="{FF2B5EF4-FFF2-40B4-BE49-F238E27FC236}">
                <a16:creationId xmlns:a16="http://schemas.microsoft.com/office/drawing/2014/main" id="{1F3FCF52-0AC1-4829-982F-98627EA82E81}"/>
              </a:ext>
            </a:extLst>
          </p:cNvPr>
          <p:cNvSpPr>
            <a:spLocks xmlns:a="http://schemas.openxmlformats.org/drawingml/2006/main" noGrp="1"/>
          </p:cNvSpPr>
          <p:nvPr/>
        </p:nvSpPr>
        <p:spPr>
          <a:xfrm xmlns:a="http://schemas.openxmlformats.org/drawingml/2006/main">
            <a:off x="6429375" y="47339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a:solidFill>
                  <a:srgbClr val="C56D4A"/>
                </a:solidFill>
              </a:defRPr>
            </a:pPr>
            <a:r>
              <a:rPr sz="1350" b="1">
                <a:solidFill>
                  <a:srgbClr val="C56D4A"/>
                </a:solidFill>
              </a:rPr>
              <a:t>04</a:t>
            </a:r>
          </a:p>
        </p:txBody>
      </p:sp>
      <p:sp>
        <p:nvSpPr>
          <p:cNvPr id="22" name="grpo-head-3">
            <a:extLst xmlns:a="http://schemas.openxmlformats.org/drawingml/2006/main">
              <a:ext uri="{FF2B5EF4-FFF2-40B4-BE49-F238E27FC236}">
                <a16:creationId xmlns:a16="http://schemas.microsoft.com/office/drawing/2014/main" id="{182D024C-3DD5-43BE-94F8-858B4F492A3C}"/>
              </a:ext>
            </a:extLst>
          </p:cNvPr>
          <p:cNvSpPr>
            <a:spLocks xmlns:a="http://schemas.openxmlformats.org/drawingml/2006/main" noGrp="1"/>
          </p:cNvSpPr>
          <p:nvPr/>
        </p:nvSpPr>
        <p:spPr>
          <a:xfrm xmlns:a="http://schemas.openxmlformats.org/drawingml/2006/main">
            <a:off x="7067550" y="47053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a:solidFill>
                  <a:srgbClr val="071A2B"/>
                </a:solidFill>
              </a:defRPr>
            </a:pPr>
            <a:r>
              <a:rPr sz="1425" b="1">
                <a:solidFill>
                  <a:srgbClr val="071A2B"/>
                </a:solidFill>
              </a:rPr>
              <a:t>过程分只打破失败平局</a:t>
            </a:r>
          </a:p>
        </p:txBody>
      </p:sp>
      <p:sp>
        <p:nvSpPr>
          <p:cNvPr id="23" name="grpo-sub-3">
            <a:extLst xmlns:a="http://schemas.openxmlformats.org/drawingml/2006/main">
              <a:ext uri="{FF2B5EF4-FFF2-40B4-BE49-F238E27FC236}">
                <a16:creationId xmlns:a16="http://schemas.microsoft.com/office/drawing/2014/main" id="{8380093F-8776-4FFD-970B-6601AB84852E}"/>
              </a:ext>
            </a:extLst>
          </p:cNvPr>
          <p:cNvSpPr>
            <a:spLocks xmlns:a="http://schemas.openxmlformats.org/drawingml/2006/main" noGrp="1"/>
          </p:cNvSpPr>
          <p:nvPr/>
        </p:nvSpPr>
        <p:spPr>
          <a:xfrm xmlns:a="http://schemas.openxmlformats.org/drawingml/2006/main">
            <a:off x="7067550" y="50577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a:solidFill>
                  <a:srgbClr val="64747B"/>
                </a:solidFill>
              </a:defRPr>
            </a:pPr>
            <a:r>
              <a:rPr sz="1125">
                <a:solidFill>
                  <a:srgbClr val="64747B"/>
                </a:solidFill>
              </a:rPr>
              <a:t>exact outcome 仍是主目标</a:t>
            </a:r>
          </a:p>
        </p:txBody>
      </p:sp>
    </p:spTree>
    <p:extLst>
      <p:ext uri="{BB962C8B-B14F-4D97-AF65-F5344CB8AC3E}">
        <p14:creationId xmlns:p14="http://schemas.microsoft.com/office/powerpoint/2010/main" val="1446781046"/>
      </p:ext>
    </p:extLst>
  </p:cSld>
</p:sld>
</file>

<file path=ppt/slides/slide7.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0" name="copper-7">
            <a:extLst xmlns:a="http://schemas.openxmlformats.org/drawingml/2006/main">
              <a:ext uri="{FF2B5EF4-FFF2-40B4-BE49-F238E27FC236}">
                <a16:creationId xmlns:a16="http://schemas.microsoft.com/office/drawing/2014/main" id="{F07DE91A-F153-4142-A040-B583E50C735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56D4A"/>
          </a:solidFill>
          <a:ln xmlns:a="http://schemas.openxmlformats.org/drawingml/2006/main" w="0">
            <a:solidFill>
              <a:srgbClr val="C56D4A"/>
            </a:solidFill>
            <a:prstDash val="solid"/>
          </a:ln>
        </p:spPr>
      </p:sp>
      <p:sp>
        <p:nvSpPr>
          <p:cNvPr id="2" name="chapter-script-7">
            <a:extLst xmlns:a="http://schemas.openxmlformats.org/drawingml/2006/main">
              <a:ext uri="{FF2B5EF4-FFF2-40B4-BE49-F238E27FC236}">
                <a16:creationId xmlns:a16="http://schemas.microsoft.com/office/drawing/2014/main" id="{FB08A8D0-8A25-446D-AD9B-BA706F983AA4}"/>
              </a:ext>
            </a:extLst>
          </p:cNvPr>
          <p:cNvSpPr>
            <a:spLocks xmlns:a="http://schemas.openxmlformats.org/drawingml/2006/main" noGrp="1"/>
          </p:cNvSpPr>
          <p:nvPr/>
        </p:nvSpPr>
        <p:spPr>
          <a:xfrm xmlns:a="http://schemas.openxmlformats.org/drawingml/2006/main">
            <a:off x="800100" y="6477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75" b="1">
                <a:solidFill>
                  <a:srgbClr val="D6A84B"/>
                </a:solidFill>
              </a:defRPr>
            </a:pPr>
            <a:r>
              <a:rPr sz="2175" b="1">
                <a:solidFill>
                  <a:srgbClr val="D6A84B"/>
                </a:solidFill>
              </a:rPr>
              <a:t>长程智能体 · 强化学习</a:t>
            </a:r>
          </a:p>
        </p:txBody>
      </p:sp>
      <p:sp>
        <p:nvSpPr>
          <p:cNvPr id="3" name="roman-7">
            <a:extLst xmlns:a="http://schemas.openxmlformats.org/drawingml/2006/main">
              <a:ext uri="{FF2B5EF4-FFF2-40B4-BE49-F238E27FC236}">
                <a16:creationId xmlns:a16="http://schemas.microsoft.com/office/drawing/2014/main" id="{F7BA3A62-E1A7-4692-B795-B52BC7363570}"/>
              </a:ext>
            </a:extLst>
          </p:cNvPr>
          <p:cNvSpPr>
            <a:spLocks xmlns:a="http://schemas.openxmlformats.org/drawingml/2006/main" noGrp="1"/>
          </p:cNvSpPr>
          <p:nvPr/>
        </p:nvSpPr>
        <p:spPr>
          <a:xfrm xmlns:a="http://schemas.openxmlformats.org/drawingml/2006/main">
            <a:off x="8001000" y="323850"/>
            <a:ext cx="3048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450" b="1">
                <a:solidFill>
                  <a:srgbClr val="0E2B3D"/>
                </a:solidFill>
              </a:defRPr>
            </a:pPr>
            <a:r>
              <a:rPr sz="12450" b="1">
                <a:solidFill>
                  <a:srgbClr val="0E2B3D"/>
                </a:solidFill>
              </a:rPr>
              <a:t>II</a:t>
            </a:r>
          </a:p>
        </p:txBody>
      </p:sp>
      <p:sp>
        <p:nvSpPr>
          <p:cNvPr id="4" name="">
            <a:extLst xmlns:a="http://schemas.openxmlformats.org/drawingml/2006/main">
              <a:ext uri="{FF2B5EF4-FFF2-40B4-BE49-F238E27FC236}">
                <a16:creationId xmlns:a16="http://schemas.microsoft.com/office/drawing/2014/main" id="{F8F95CA4-DF6D-448F-AFE1-900995D1219F}"/>
              </a:ext>
            </a:extLst>
          </p:cNvPr>
          <p:cNvSpPr>
            <a:spLocks xmlns:a="http://schemas.openxmlformats.org/drawingml/2006/main" noGrp="1"/>
          </p:cNvSpPr>
          <p:nvPr/>
        </p:nvSpPr>
        <p:spPr>
          <a:xfrm xmlns:a="http://schemas.openxmlformats.org/drawingml/2006/main">
            <a:off x="819150" y="1628775"/>
            <a:ext cx="1619250" cy="0"/>
          </a:xfrm>
          <a:prstGeom xmlns:a="http://schemas.openxmlformats.org/drawingml/2006/main" prst="line">
            <a:avLst/>
          </a:prstGeom>
          <a:noFill xmlns:a="http://schemas.openxmlformats.org/drawingml/2006/main"/>
          <a:ln xmlns:a="http://schemas.openxmlformats.org/drawingml/2006/main" w="47625">
            <a:solidFill>
              <a:srgbClr val="C56D4A"/>
            </a:solidFill>
            <a:prstDash val="solid"/>
          </a:ln>
        </p:spPr>
      </p:sp>
      <p:sp>
        <p:nvSpPr>
          <p:cNvPr id="5" name="zh-7">
            <a:extLst xmlns:a="http://schemas.openxmlformats.org/drawingml/2006/main">
              <a:ext uri="{FF2B5EF4-FFF2-40B4-BE49-F238E27FC236}">
                <a16:creationId xmlns:a16="http://schemas.microsoft.com/office/drawing/2014/main" id="{2FEE802C-4CF5-4DB0-AAAF-DF1FEE44E9AC}"/>
              </a:ext>
            </a:extLst>
          </p:cNvPr>
          <p:cNvSpPr>
            <a:spLocks xmlns:a="http://schemas.openxmlformats.org/drawingml/2006/main" noGrp="1"/>
          </p:cNvSpPr>
          <p:nvPr/>
        </p:nvSpPr>
        <p:spPr>
          <a:xfrm xmlns:a="http://schemas.openxmlformats.org/drawingml/2006/main">
            <a:off x="781050" y="2038350"/>
            <a:ext cx="7620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275" b="1">
                <a:solidFill>
                  <a:srgbClr val="F7F1E8"/>
                </a:solidFill>
              </a:defRPr>
            </a:pPr>
            <a:r>
              <a:rPr sz="4275" b="1">
                <a:solidFill>
                  <a:srgbClr val="F7F1E8"/>
                </a:solidFill>
              </a:rPr>
              <a:t>课程学习闭环</a:t>
            </a:r>
          </a:p>
        </p:txBody>
      </p:sp>
      <p:sp>
        <p:nvSpPr>
          <p:cNvPr id="6" name="en-7">
            <a:extLst xmlns:a="http://schemas.openxmlformats.org/drawingml/2006/main">
              <a:ext uri="{FF2B5EF4-FFF2-40B4-BE49-F238E27FC236}">
                <a16:creationId xmlns:a16="http://schemas.microsoft.com/office/drawing/2014/main" id="{B591350E-5D5A-44C2-A310-EE04A7094901}"/>
              </a:ext>
            </a:extLst>
          </p:cNvPr>
          <p:cNvSpPr>
            <a:spLocks xmlns:a="http://schemas.openxmlformats.org/drawingml/2006/main" noGrp="1"/>
          </p:cNvSpPr>
          <p:nvPr/>
        </p:nvSpPr>
        <p:spPr>
          <a:xfrm xmlns:a="http://schemas.openxmlformats.org/drawingml/2006/main">
            <a:off x="828675" y="3028950"/>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18A6A6"/>
                </a:solidFill>
              </a:defRPr>
            </a:pPr>
            <a:r>
              <a:rPr sz="1800" b="1">
                <a:solidFill>
                  <a:srgbClr val="18A6A6"/>
                </a:solidFill>
              </a:rPr>
              <a:t>DIAGNOSE → SYNTHESIZE → RETRAIN</a:t>
            </a:r>
          </a:p>
        </p:txBody>
      </p:sp>
      <p:sp>
        <p:nvSpPr>
          <p:cNvPr id="7" name="body-7">
            <a:extLst xmlns:a="http://schemas.openxmlformats.org/drawingml/2006/main">
              <a:ext uri="{FF2B5EF4-FFF2-40B4-BE49-F238E27FC236}">
                <a16:creationId xmlns:a16="http://schemas.microsoft.com/office/drawing/2014/main" id="{57B79237-C71C-48C6-B5D1-1630B128D816}"/>
              </a:ext>
            </a:extLst>
          </p:cNvPr>
          <p:cNvSpPr>
            <a:spLocks xmlns:a="http://schemas.openxmlformats.org/drawingml/2006/main" noGrp="1"/>
          </p:cNvSpPr>
          <p:nvPr/>
        </p:nvSpPr>
        <p:spPr>
          <a:xfrm xmlns:a="http://schemas.openxmlformats.org/drawingml/2006/main">
            <a:off x="828675" y="3905250"/>
            <a:ext cx="7905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18000"/>
              </a:lnSpc>
              <a:buNone/>
              <a:defRPr sz="1575">
                <a:solidFill>
                  <a:srgbClr val="C7D6DC"/>
                </a:solidFill>
              </a:defRPr>
            </a:pPr>
            <a:r>
              <a:rPr sz="1575">
                <a:solidFill>
                  <a:srgbClr val="C7D6DC"/>
                </a:solidFill>
              </a:rPr>
              <a:t>真正有价值的不是“又训了一遍”，而是把第一次训练后的残余失败或能力边界变成下一轮可验证的数据分布。</a:t>
            </a:r>
          </a:p>
        </p:txBody>
      </p:sp>
      <p:sp>
        <p:nvSpPr>
          <p:cNvPr id="8" name="chapter-pill-7-bg">
            <a:extLst xmlns:a="http://schemas.openxmlformats.org/drawingml/2006/main">
              <a:ext uri="{FF2B5EF4-FFF2-40B4-BE49-F238E27FC236}">
                <a16:creationId xmlns:a16="http://schemas.microsoft.com/office/drawing/2014/main" id="{8876D663-0707-45C3-B4E1-3187C9360B8F}"/>
              </a:ext>
            </a:extLst>
          </p:cNvPr>
          <p:cNvSpPr>
            <a:spLocks xmlns:a="http://schemas.openxmlformats.org/drawingml/2006/main" noGrp="1"/>
          </p:cNvSpPr>
          <p:nvPr/>
        </p:nvSpPr>
        <p:spPr>
          <a:xfrm xmlns:a="http://schemas.openxmlformats.org/drawingml/2006/main">
            <a:off x="828675" y="5638800"/>
            <a:ext cx="1428750" cy="285750"/>
          </a:xfrm>
          <a:prstGeom xmlns:a="http://schemas.openxmlformats.org/drawingml/2006/main" prst="roundRect">
            <a:avLst>
              <a:gd name="adj" fmla="val 50000"/>
            </a:avLst>
          </a:prstGeom>
          <a:solidFill xmlns:a="http://schemas.openxmlformats.org/drawingml/2006/main">
            <a:srgbClr val="C56D4A"/>
          </a:solidFill>
          <a:ln xmlns:a="http://schemas.openxmlformats.org/drawingml/2006/main" w="0">
            <a:solidFill>
              <a:srgbClr val="C56D4A"/>
            </a:solidFill>
            <a:prstDash val="solid"/>
          </a:ln>
        </p:spPr>
      </p:sp>
      <p:sp>
        <p:nvSpPr>
          <p:cNvPr id="9" name="chapter-pill-7-text">
            <a:extLst xmlns:a="http://schemas.openxmlformats.org/drawingml/2006/main">
              <a:ext uri="{FF2B5EF4-FFF2-40B4-BE49-F238E27FC236}">
                <a16:creationId xmlns:a16="http://schemas.microsoft.com/office/drawing/2014/main" id="{47D3FFB8-2727-4B32-B369-788EB212BB0B}"/>
              </a:ext>
            </a:extLst>
          </p:cNvPr>
          <p:cNvSpPr>
            <a:spLocks xmlns:a="http://schemas.openxmlformats.org/drawingml/2006/main" noGrp="1"/>
          </p:cNvSpPr>
          <p:nvPr/>
        </p:nvSpPr>
        <p:spPr>
          <a:xfrm xmlns:a="http://schemas.openxmlformats.org/drawingml/2006/main">
            <a:off x="923925" y="56864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CHAPTER 07</a:t>
            </a:r>
          </a:p>
        </p:txBody>
      </p:sp>
    </p:spTree>
    <p:extLst>
      <p:ext uri="{BB962C8B-B14F-4D97-AF65-F5344CB8AC3E}">
        <p14:creationId xmlns:p14="http://schemas.microsoft.com/office/powerpoint/2010/main" val="736577123"/>
      </p:ext>
    </p:extLst>
  </p:cSld>
</p:sld>
</file>

<file path=ppt/slides/slide8.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6" name="rail-8">
            <a:extLst xmlns:a="http://schemas.openxmlformats.org/drawingml/2006/main">
              <a:ext uri="{FF2B5EF4-FFF2-40B4-BE49-F238E27FC236}">
                <a16:creationId xmlns:a16="http://schemas.microsoft.com/office/drawing/2014/main" id="{B0549258-4B2D-4EDE-8970-71743819ABCE}"/>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8">
            <a:extLst xmlns:a="http://schemas.openxmlformats.org/drawingml/2006/main">
              <a:ext uri="{FF2B5EF4-FFF2-40B4-BE49-F238E27FC236}">
                <a16:creationId xmlns:a16="http://schemas.microsoft.com/office/drawing/2014/main" id="{E3662FCF-887C-464C-8FC7-16855B50C490}"/>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8">
            <a:extLst xmlns:a="http://schemas.openxmlformats.org/drawingml/2006/main">
              <a:ext uri="{FF2B5EF4-FFF2-40B4-BE49-F238E27FC236}">
                <a16:creationId xmlns:a16="http://schemas.microsoft.com/office/drawing/2014/main" id="{273CD08F-5C31-456B-9FEF-D8F77CD63226}"/>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STAGE 1</a:t>
            </a:r>
          </a:p>
        </p:txBody>
      </p:sp>
      <p:sp>
        <p:nvSpPr>
          <p:cNvPr id="4" name="title-8">
            <a:extLst xmlns:a="http://schemas.openxmlformats.org/drawingml/2006/main">
              <a:ext uri="{FF2B5EF4-FFF2-40B4-BE49-F238E27FC236}">
                <a16:creationId xmlns:a16="http://schemas.microsoft.com/office/drawing/2014/main" id="{3FCDF0A0-3130-4649-A31C-047FC3BEC323}"/>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第一次训练之后，模型在哪里失败？</a:t>
            </a:r>
          </a:p>
        </p:txBody>
      </p:sp>
      <p:sp>
        <p:nvSpPr>
          <p:cNvPr id="5" name="subtitle-8">
            <a:extLst xmlns:a="http://schemas.openxmlformats.org/drawingml/2006/main">
              <a:ext uri="{FF2B5EF4-FFF2-40B4-BE49-F238E27FC236}">
                <a16:creationId xmlns:a16="http://schemas.microsoft.com/office/drawing/2014/main" id="{F2961246-526A-4C32-B7D1-E77187323039}"/>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报告保留负结果：成功率下降也不会被隐藏，curriculum 依据 failure composition 而不是漂亮样例。</a:t>
            </a:r>
          </a:p>
        </p:txBody>
      </p:sp>
      <p:sp>
        <p:nvSpPr>
          <p:cNvPr id="6" name="">
            <a:extLst xmlns:a="http://schemas.openxmlformats.org/drawingml/2006/main">
              <a:ext uri="{FF2B5EF4-FFF2-40B4-BE49-F238E27FC236}">
                <a16:creationId xmlns:a16="http://schemas.microsoft.com/office/drawing/2014/main" id="{E42CED7B-A673-4292-A064-5E9F4049CA54}"/>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8">
            <a:extLst xmlns:a="http://schemas.openxmlformats.org/drawingml/2006/main">
              <a:ext uri="{FF2B5EF4-FFF2-40B4-BE49-F238E27FC236}">
                <a16:creationId xmlns:a16="http://schemas.microsoft.com/office/drawing/2014/main" id="{AC3263D2-C8EB-460A-89FE-1932E504E214}"/>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08</a:t>
            </a:r>
          </a:p>
        </p:txBody>
      </p:sp>
      <p:sp>
        <p:nvSpPr>
          <p:cNvPr id="8" name="">
            <a:extLst xmlns:a="http://schemas.openxmlformats.org/drawingml/2006/main">
              <a:ext uri="{FF2B5EF4-FFF2-40B4-BE49-F238E27FC236}">
                <a16:creationId xmlns:a16="http://schemas.microsoft.com/office/drawing/2014/main" id="{7943AE99-E1CC-42E6-B01C-612716519118}"/>
              </a:ext>
            </a:extLst>
          </p:cNvPr>
          <p:cNvSpPr>
            <a:spLocks xmlns:a="http://schemas.openxmlformats.org/drawingml/2006/main" noGrp="1"/>
          </p:cNvSpPr>
          <p:nvPr/>
        </p:nvSpPr>
        <p:spPr>
          <a:xfrm xmlns:a="http://schemas.openxmlformats.org/drawingml/2006/main">
            <a:off x="809625" y="2238375"/>
            <a:ext cx="2000250" cy="0"/>
          </a:xfrm>
          <a:prstGeom xmlns:a="http://schemas.openxmlformats.org/drawingml/2006/main" prst="line">
            <a:avLst/>
          </a:prstGeom>
          <a:noFill xmlns:a="http://schemas.openxmlformats.org/drawingml/2006/main"/>
          <a:ln xmlns:a="http://schemas.openxmlformats.org/drawingml/2006/main" w="38100">
            <a:solidFill>
              <a:srgbClr val="64747B"/>
            </a:solidFill>
            <a:prstDash val="solid"/>
          </a:ln>
        </p:spPr>
      </p:sp>
      <p:sp>
        <p:nvSpPr>
          <p:cNvPr id="9" name="s1-before-value">
            <a:extLst xmlns:a="http://schemas.openxmlformats.org/drawingml/2006/main">
              <a:ext uri="{FF2B5EF4-FFF2-40B4-BE49-F238E27FC236}">
                <a16:creationId xmlns:a16="http://schemas.microsoft.com/office/drawing/2014/main" id="{C34860DA-DB12-47C3-B75F-C0164E1E1E79}"/>
              </a:ext>
            </a:extLst>
          </p:cNvPr>
          <p:cNvSpPr>
            <a:spLocks xmlns:a="http://schemas.openxmlformats.org/drawingml/2006/main" noGrp="1"/>
          </p:cNvSpPr>
          <p:nvPr/>
        </p:nvSpPr>
        <p:spPr>
          <a:xfrm xmlns:a="http://schemas.openxmlformats.org/drawingml/2006/main">
            <a:off x="809625" y="2409825"/>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75.0%</a:t>
            </a:r>
          </a:p>
        </p:txBody>
      </p:sp>
      <p:sp>
        <p:nvSpPr>
          <p:cNvPr id="10" name="s1-before-label">
            <a:extLst xmlns:a="http://schemas.openxmlformats.org/drawingml/2006/main">
              <a:ext uri="{FF2B5EF4-FFF2-40B4-BE49-F238E27FC236}">
                <a16:creationId xmlns:a16="http://schemas.microsoft.com/office/drawing/2014/main" id="{82FD2C4F-4712-4917-BAB6-116AEB021EBA}"/>
              </a:ext>
            </a:extLst>
          </p:cNvPr>
          <p:cNvSpPr>
            <a:spLocks xmlns:a="http://schemas.openxmlformats.org/drawingml/2006/main" noGrp="1"/>
          </p:cNvSpPr>
          <p:nvPr/>
        </p:nvSpPr>
        <p:spPr>
          <a:xfrm xmlns:a="http://schemas.openxmlformats.org/drawingml/2006/main">
            <a:off x="809625" y="2981325"/>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probe success · before</a:t>
            </a:r>
          </a:p>
        </p:txBody>
      </p:sp>
      <p:sp>
        <p:nvSpPr>
          <p:cNvPr id="11" name="">
            <a:extLst xmlns:a="http://schemas.openxmlformats.org/drawingml/2006/main">
              <a:ext uri="{FF2B5EF4-FFF2-40B4-BE49-F238E27FC236}">
                <a16:creationId xmlns:a16="http://schemas.microsoft.com/office/drawing/2014/main" id="{4C97AAB6-3678-4207-8D15-A6204E234A98}"/>
              </a:ext>
            </a:extLst>
          </p:cNvPr>
          <p:cNvSpPr>
            <a:spLocks xmlns:a="http://schemas.openxmlformats.org/drawingml/2006/main" noGrp="1"/>
          </p:cNvSpPr>
          <p:nvPr/>
        </p:nvSpPr>
        <p:spPr>
          <a:xfrm xmlns:a="http://schemas.openxmlformats.org/drawingml/2006/main">
            <a:off x="3286125" y="2238375"/>
            <a:ext cx="2000250" cy="0"/>
          </a:xfrm>
          <a:prstGeom xmlns:a="http://schemas.openxmlformats.org/drawingml/2006/main" prst="line">
            <a:avLst/>
          </a:prstGeom>
          <a:noFill xmlns:a="http://schemas.openxmlformats.org/drawingml/2006/main"/>
          <a:ln xmlns:a="http://schemas.openxmlformats.org/drawingml/2006/main" w="38100">
            <a:solidFill>
              <a:srgbClr val="18A6A6"/>
            </a:solidFill>
            <a:prstDash val="solid"/>
          </a:ln>
        </p:spPr>
      </p:sp>
      <p:sp>
        <p:nvSpPr>
          <p:cNvPr id="12" name="s1-after-value">
            <a:extLst xmlns:a="http://schemas.openxmlformats.org/drawingml/2006/main">
              <a:ext uri="{FF2B5EF4-FFF2-40B4-BE49-F238E27FC236}">
                <a16:creationId xmlns:a16="http://schemas.microsoft.com/office/drawing/2014/main" id="{20355646-2BA1-47B2-9820-A197779BC5C0}"/>
              </a:ext>
            </a:extLst>
          </p:cNvPr>
          <p:cNvSpPr>
            <a:spLocks xmlns:a="http://schemas.openxmlformats.org/drawingml/2006/main" noGrp="1"/>
          </p:cNvSpPr>
          <p:nvPr/>
        </p:nvSpPr>
        <p:spPr>
          <a:xfrm xmlns:a="http://schemas.openxmlformats.org/drawingml/2006/main">
            <a:off x="3286125" y="2409825"/>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100.0%</a:t>
            </a:r>
          </a:p>
        </p:txBody>
      </p:sp>
      <p:sp>
        <p:nvSpPr>
          <p:cNvPr id="13" name="s1-after-label">
            <a:extLst xmlns:a="http://schemas.openxmlformats.org/drawingml/2006/main">
              <a:ext uri="{FF2B5EF4-FFF2-40B4-BE49-F238E27FC236}">
                <a16:creationId xmlns:a16="http://schemas.microsoft.com/office/drawing/2014/main" id="{511F4118-19F8-46A9-9AF7-FF007E525CFB}"/>
              </a:ext>
            </a:extLst>
          </p:cNvPr>
          <p:cNvSpPr>
            <a:spLocks xmlns:a="http://schemas.openxmlformats.org/drawingml/2006/main" noGrp="1"/>
          </p:cNvSpPr>
          <p:nvPr/>
        </p:nvSpPr>
        <p:spPr>
          <a:xfrm xmlns:a="http://schemas.openxmlformats.org/drawingml/2006/main">
            <a:off x="3286125" y="2981325"/>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probe success · after</a:t>
            </a:r>
          </a:p>
        </p:txBody>
      </p:sp>
      <p:sp>
        <p:nvSpPr>
          <p:cNvPr id="14" name="">
            <a:extLst xmlns:a="http://schemas.openxmlformats.org/drawingml/2006/main">
              <a:ext uri="{FF2B5EF4-FFF2-40B4-BE49-F238E27FC236}">
                <a16:creationId xmlns:a16="http://schemas.microsoft.com/office/drawing/2014/main" id="{8268E76A-BA8E-4FA8-A8CC-94BA880D8350}"/>
              </a:ext>
            </a:extLst>
          </p:cNvPr>
          <p:cNvSpPr>
            <a:spLocks xmlns:a="http://schemas.openxmlformats.org/drawingml/2006/main" noGrp="1"/>
          </p:cNvSpPr>
          <p:nvPr/>
        </p:nvSpPr>
        <p:spPr>
          <a:xfrm xmlns:a="http://schemas.openxmlformats.org/drawingml/2006/main">
            <a:off x="5762625" y="2238375"/>
            <a:ext cx="2000250" cy="0"/>
          </a:xfrm>
          <a:prstGeom xmlns:a="http://schemas.openxmlformats.org/drawingml/2006/main" prst="line">
            <a:avLst/>
          </a:prstGeom>
          <a:noFill xmlns:a="http://schemas.openxmlformats.org/drawingml/2006/main"/>
          <a:ln xmlns:a="http://schemas.openxmlformats.org/drawingml/2006/main" w="38100">
            <a:solidFill>
              <a:srgbClr val="228B67"/>
            </a:solidFill>
            <a:prstDash val="solid"/>
          </a:ln>
        </p:spPr>
      </p:sp>
      <p:sp>
        <p:nvSpPr>
          <p:cNvPr id="15" name="s1-delta-value">
            <a:extLst xmlns:a="http://schemas.openxmlformats.org/drawingml/2006/main">
              <a:ext uri="{FF2B5EF4-FFF2-40B4-BE49-F238E27FC236}">
                <a16:creationId xmlns:a16="http://schemas.microsoft.com/office/drawing/2014/main" id="{E84C9E59-5905-4A99-B631-8FE99F23B357}"/>
              </a:ext>
            </a:extLst>
          </p:cNvPr>
          <p:cNvSpPr>
            <a:spLocks xmlns:a="http://schemas.openxmlformats.org/drawingml/2006/main" noGrp="1"/>
          </p:cNvSpPr>
          <p:nvPr/>
        </p:nvSpPr>
        <p:spPr>
          <a:xfrm xmlns:a="http://schemas.openxmlformats.org/drawingml/2006/main">
            <a:off x="5762625" y="2409825"/>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+25.0 pt</a:t>
            </a:r>
          </a:p>
        </p:txBody>
      </p:sp>
      <p:sp>
        <p:nvSpPr>
          <p:cNvPr id="16" name="s1-delta-label">
            <a:extLst xmlns:a="http://schemas.openxmlformats.org/drawingml/2006/main">
              <a:ext uri="{FF2B5EF4-FFF2-40B4-BE49-F238E27FC236}">
                <a16:creationId xmlns:a16="http://schemas.microsoft.com/office/drawing/2014/main" id="{F445619B-1DE9-44F0-B151-CA14090C8F9E}"/>
              </a:ext>
            </a:extLst>
          </p:cNvPr>
          <p:cNvSpPr>
            <a:spLocks xmlns:a="http://schemas.openxmlformats.org/drawingml/2006/main" noGrp="1"/>
          </p:cNvSpPr>
          <p:nvPr/>
        </p:nvSpPr>
        <p:spPr>
          <a:xfrm xmlns:a="http://schemas.openxmlformats.org/drawingml/2006/main">
            <a:off x="5762625" y="2981325"/>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success delta</a:t>
            </a:r>
          </a:p>
        </p:txBody>
      </p:sp>
      <p:sp>
        <p:nvSpPr>
          <p:cNvPr id="17" name="">
            <a:extLst xmlns:a="http://schemas.openxmlformats.org/drawingml/2006/main">
              <a:ext uri="{FF2B5EF4-FFF2-40B4-BE49-F238E27FC236}">
                <a16:creationId xmlns:a16="http://schemas.microsoft.com/office/drawing/2014/main" id="{6DEACA59-4D07-4FDF-A3AE-CD1E37857817}"/>
              </a:ext>
            </a:extLst>
          </p:cNvPr>
          <p:cNvSpPr>
            <a:spLocks xmlns:a="http://schemas.openxmlformats.org/drawingml/2006/main" noGrp="1"/>
          </p:cNvSpPr>
          <p:nvPr/>
        </p:nvSpPr>
        <p:spPr>
          <a:xfrm xmlns:a="http://schemas.openxmlformats.org/drawingml/2006/main">
            <a:off x="8239125" y="2238375"/>
            <a:ext cx="2000250" cy="0"/>
          </a:xfrm>
          <a:prstGeom xmlns:a="http://schemas.openxmlformats.org/drawingml/2006/main" prst="line">
            <a:avLst/>
          </a:prstGeom>
          <a:noFill xmlns:a="http://schemas.openxmlformats.org/drawingml/2006/main"/>
          <a:ln xmlns:a="http://schemas.openxmlformats.org/drawingml/2006/main" w="38100">
            <a:solidFill>
              <a:srgbClr val="C56D4A"/>
            </a:solidFill>
            <a:prstDash val="solid"/>
          </a:ln>
        </p:spPr>
      </p:sp>
      <p:sp>
        <p:nvSpPr>
          <p:cNvPr id="18" name="s1-steps-value">
            <a:extLst xmlns:a="http://schemas.openxmlformats.org/drawingml/2006/main">
              <a:ext uri="{FF2B5EF4-FFF2-40B4-BE49-F238E27FC236}">
                <a16:creationId xmlns:a16="http://schemas.microsoft.com/office/drawing/2014/main" id="{452215A1-B299-4614-B1E1-5AAC8434B2FF}"/>
              </a:ext>
            </a:extLst>
          </p:cNvPr>
          <p:cNvSpPr>
            <a:spLocks xmlns:a="http://schemas.openxmlformats.org/drawingml/2006/main" noGrp="1"/>
          </p:cNvSpPr>
          <p:nvPr/>
        </p:nvSpPr>
        <p:spPr>
          <a:xfrm xmlns:a="http://schemas.openxmlformats.org/drawingml/2006/main">
            <a:off x="8239125" y="2409825"/>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12</a:t>
            </a:r>
          </a:p>
        </p:txBody>
      </p:sp>
      <p:sp>
        <p:nvSpPr>
          <p:cNvPr id="19" name="s1-steps-label">
            <a:extLst xmlns:a="http://schemas.openxmlformats.org/drawingml/2006/main">
              <a:ext uri="{FF2B5EF4-FFF2-40B4-BE49-F238E27FC236}">
                <a16:creationId xmlns:a16="http://schemas.microsoft.com/office/drawing/2014/main" id="{F027325A-2809-4070-BF5F-4D86BD39657A}"/>
              </a:ext>
            </a:extLst>
          </p:cNvPr>
          <p:cNvSpPr>
            <a:spLocks xmlns:a="http://schemas.openxmlformats.org/drawingml/2006/main" noGrp="1"/>
          </p:cNvSpPr>
          <p:nvPr/>
        </p:nvSpPr>
        <p:spPr>
          <a:xfrm xmlns:a="http://schemas.openxmlformats.org/drawingml/2006/main">
            <a:off x="8239125" y="2981325"/>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optimizer steps</a:t>
            </a:r>
          </a:p>
        </p:txBody>
      </p:sp>
      <p:sp>
        <p:nvSpPr>
          <p:cNvPr id="20" name="failure-head">
            <a:extLst xmlns:a="http://schemas.openxmlformats.org/drawingml/2006/main">
              <a:ext uri="{FF2B5EF4-FFF2-40B4-BE49-F238E27FC236}">
                <a16:creationId xmlns:a16="http://schemas.microsoft.com/office/drawing/2014/main" id="{F67EE0AE-9D5E-45EF-85A8-F32470FF9CD6}"/>
              </a:ext>
            </a:extLst>
          </p:cNvPr>
          <p:cNvSpPr>
            <a:spLocks xmlns:a="http://schemas.openxmlformats.org/drawingml/2006/main" noGrp="1"/>
          </p:cNvSpPr>
          <p:nvPr/>
        </p:nvSpPr>
        <p:spPr>
          <a:xfrm xmlns:a="http://schemas.openxmlformats.org/drawingml/2006/main">
            <a:off x="838200" y="39052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a:solidFill>
                  <a:srgbClr val="C56D4A"/>
                </a:solidFill>
              </a:defRPr>
            </a:pPr>
            <a:r>
              <a:rPr sz="1125" b="1">
                <a:solidFill>
                  <a:srgbClr val="C56D4A"/>
                </a:solidFill>
              </a:rPr>
              <a:t>TERMINAL FAILURE TAXONOMY</a:t>
            </a:r>
          </a:p>
        </p:txBody>
      </p:sp>
      <p:sp>
        <p:nvSpPr>
          <p:cNvPr id="21" name="failure-name-0">
            <a:extLst xmlns:a="http://schemas.openxmlformats.org/drawingml/2006/main">
              <a:ext uri="{FF2B5EF4-FFF2-40B4-BE49-F238E27FC236}">
                <a16:creationId xmlns:a16="http://schemas.microsoft.com/office/drawing/2014/main" id="{BE4EC4BF-B564-46CE-86C2-8DF648B8E62A}"/>
              </a:ext>
            </a:extLst>
          </p:cNvPr>
          <p:cNvSpPr>
            <a:spLocks xmlns:a="http://schemas.openxmlformats.org/drawingml/2006/main" noGrp="1"/>
          </p:cNvSpPr>
          <p:nvPr/>
        </p:nvSpPr>
        <p:spPr>
          <a:xfrm xmlns:a="http://schemas.openxmlformats.org/drawingml/2006/main">
            <a:off x="876300" y="43624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a:solidFill>
                  <a:srgbClr val="102330"/>
                </a:solidFill>
              </a:defRPr>
            </a:pPr>
            <a:r>
              <a:rPr sz="1050">
                <a:solidFill>
                  <a:srgbClr val="102330"/>
                </a:solidFill>
              </a:rPr>
              <a:t>POLICY_NOT_INSPECTED</a:t>
            </a:r>
          </a:p>
        </p:txBody>
      </p:sp>
      <p:sp>
        <p:nvSpPr>
          <p:cNvPr id="22" name="failure-track-0">
            <a:extLst xmlns:a="http://schemas.openxmlformats.org/drawingml/2006/main">
              <a:ext uri="{FF2B5EF4-FFF2-40B4-BE49-F238E27FC236}">
                <a16:creationId xmlns:a16="http://schemas.microsoft.com/office/drawing/2014/main" id="{CED5DE4C-75B7-4F71-9F5A-C1D40239DA04}"/>
              </a:ext>
            </a:extLst>
          </p:cNvPr>
          <p:cNvSpPr>
            <a:spLocks xmlns:a="http://schemas.openxmlformats.org/drawingml/2006/main" noGrp="1"/>
          </p:cNvSpPr>
          <p:nvPr/>
        </p:nvSpPr>
        <p:spPr>
          <a:xfrm xmlns:a="http://schemas.openxmlformats.org/drawingml/2006/main">
            <a:off x="4667250" y="4391025"/>
            <a:ext cx="4762500" cy="133350"/>
          </a:xfrm>
          <a:prstGeom xmlns:a="http://schemas.openxmlformats.org/drawingml/2006/main" prst="roundRect">
            <a:avLst>
              <a:gd name="adj" fmla="val 50000"/>
            </a:avLst>
          </a:prstGeom>
          <a:solidFill xmlns:a="http://schemas.openxmlformats.org/drawingml/2006/main">
            <a:srgbClr val="E8F0F0"/>
          </a:solidFill>
          <a:ln xmlns:a="http://schemas.openxmlformats.org/drawingml/2006/main" w="0">
            <a:solidFill>
              <a:srgbClr val="E8F0F0"/>
            </a:solidFill>
            <a:prstDash val="solid"/>
          </a:ln>
        </p:spPr>
      </p:sp>
      <p:sp>
        <p:nvSpPr>
          <p:cNvPr id="23" name="failure-before-0">
            <a:extLst xmlns:a="http://schemas.openxmlformats.org/drawingml/2006/main">
              <a:ext uri="{FF2B5EF4-FFF2-40B4-BE49-F238E27FC236}">
                <a16:creationId xmlns:a16="http://schemas.microsoft.com/office/drawing/2014/main" id="{17EB89DE-6AD0-4A27-943E-F5158E120CBF}"/>
              </a:ext>
            </a:extLst>
          </p:cNvPr>
          <p:cNvSpPr>
            <a:spLocks xmlns:a="http://schemas.openxmlformats.org/drawingml/2006/main" noGrp="1"/>
          </p:cNvSpPr>
          <p:nvPr/>
        </p:nvSpPr>
        <p:spPr>
          <a:xfrm xmlns:a="http://schemas.openxmlformats.org/drawingml/2006/main">
            <a:off x="4667250" y="4391025"/>
            <a:ext cx="1666875" cy="133350"/>
          </a:xfrm>
          <a:prstGeom xmlns:a="http://schemas.openxmlformats.org/drawingml/2006/main" prst="roundRect">
            <a:avLst>
              <a:gd name="adj" fmla="val 50000"/>
            </a:avLst>
          </a:prstGeom>
          <a:solidFill xmlns:a="http://schemas.openxmlformats.org/drawingml/2006/main">
            <a:srgbClr val="9AA8AD"/>
          </a:solidFill>
          <a:ln xmlns:a="http://schemas.openxmlformats.org/drawingml/2006/main" w="0">
            <a:solidFill>
              <a:srgbClr val="9AA8AD"/>
            </a:solidFill>
            <a:prstDash val="solid"/>
          </a:ln>
        </p:spPr>
      </p:sp>
      <p:sp>
        <p:nvSpPr>
          <p:cNvPr id="24" name="failure-after-0">
            <a:extLst xmlns:a="http://schemas.openxmlformats.org/drawingml/2006/main">
              <a:ext uri="{FF2B5EF4-FFF2-40B4-BE49-F238E27FC236}">
                <a16:creationId xmlns:a16="http://schemas.microsoft.com/office/drawing/2014/main" id="{A3D9B5ED-35FA-4F63-8325-854FBDE379D0}"/>
              </a:ext>
            </a:extLst>
          </p:cNvPr>
          <p:cNvSpPr>
            <a:spLocks xmlns:a="http://schemas.openxmlformats.org/drawingml/2006/main" noGrp="1"/>
          </p:cNvSpPr>
          <p:nvPr/>
        </p:nvSpPr>
        <p:spPr>
          <a:xfrm xmlns:a="http://schemas.openxmlformats.org/drawingml/2006/main">
            <a:off x="6572250" y="4391025"/>
            <a:ext cx="47625" cy="133350"/>
          </a:xfrm>
          <a:prstGeom xmlns:a="http://schemas.openxmlformats.org/drawingml/2006/main" prst="roundRect">
            <a:avLst>
              <a:gd name="adj" fmla="val 50000"/>
            </a:avLst>
          </a:prstGeom>
          <a:solidFill xmlns:a="http://schemas.openxmlformats.org/drawingml/2006/main">
            <a:srgbClr val="C56D4A"/>
          </a:solidFill>
          <a:ln xmlns:a="http://schemas.openxmlformats.org/drawingml/2006/main" w="0">
            <a:solidFill>
              <a:srgbClr val="C56D4A"/>
            </a:solidFill>
            <a:prstDash val="solid"/>
          </a:ln>
        </p:spPr>
      </p:sp>
      <p:sp>
        <p:nvSpPr>
          <p:cNvPr id="25" name="failure-count-0">
            <a:extLst xmlns:a="http://schemas.openxmlformats.org/drawingml/2006/main">
              <a:ext uri="{FF2B5EF4-FFF2-40B4-BE49-F238E27FC236}">
                <a16:creationId xmlns:a16="http://schemas.microsoft.com/office/drawing/2014/main" id="{97B4BAF6-B4A4-4E6E-A510-1C84E62CE97C}"/>
              </a:ext>
            </a:extLst>
          </p:cNvPr>
          <p:cNvSpPr>
            <a:spLocks xmlns:a="http://schemas.openxmlformats.org/drawingml/2006/main" noGrp="1"/>
          </p:cNvSpPr>
          <p:nvPr/>
        </p:nvSpPr>
        <p:spPr>
          <a:xfrm xmlns:a="http://schemas.openxmlformats.org/drawingml/2006/main">
            <a:off x="9715500" y="43434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071A2B"/>
                </a:solidFill>
              </a:defRPr>
            </a:pPr>
            <a:r>
              <a:rPr sz="1125" b="1">
                <a:solidFill>
                  <a:srgbClr val="071A2B"/>
                </a:solidFill>
              </a:rPr>
              <a:t>1 → 0</a:t>
            </a:r>
          </a:p>
        </p:txBody>
      </p:sp>
    </p:spTree>
    <p:extLst>
      <p:ext uri="{BB962C8B-B14F-4D97-AF65-F5344CB8AC3E}">
        <p14:creationId xmlns:p14="http://schemas.microsoft.com/office/powerpoint/2010/main" val="267666660"/>
      </p:ext>
    </p:extLst>
  </p:cSld>
</p:sld>
</file>

<file path=ppt/slides/slide9.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0" name="rail-9">
            <a:extLst xmlns:a="http://schemas.openxmlformats.org/drawingml/2006/main">
              <a:ext uri="{FF2B5EF4-FFF2-40B4-BE49-F238E27FC236}">
                <a16:creationId xmlns:a16="http://schemas.microsoft.com/office/drawing/2014/main" id="{8D09FA97-A0F2-4277-A115-42574C8EBD2C}"/>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9">
            <a:extLst xmlns:a="http://schemas.openxmlformats.org/drawingml/2006/main">
              <a:ext uri="{FF2B5EF4-FFF2-40B4-BE49-F238E27FC236}">
                <a16:creationId xmlns:a16="http://schemas.microsoft.com/office/drawing/2014/main" id="{24D410B9-3720-432E-B62C-ACCE352D5397}"/>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9">
            <a:extLst xmlns:a="http://schemas.openxmlformats.org/drawingml/2006/main">
              <a:ext uri="{FF2B5EF4-FFF2-40B4-BE49-F238E27FC236}">
                <a16:creationId xmlns:a16="http://schemas.microsoft.com/office/drawing/2014/main" id="{3DE7445B-5A56-45FC-BE93-75741121C065}"/>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HARD-DATA SYNTHESIS</a:t>
            </a:r>
          </a:p>
        </p:txBody>
      </p:sp>
      <p:sp>
        <p:nvSpPr>
          <p:cNvPr id="4" name="title-9">
            <a:extLst xmlns:a="http://schemas.openxmlformats.org/drawingml/2006/main">
              <a:ext uri="{FF2B5EF4-FFF2-40B4-BE49-F238E27FC236}">
                <a16:creationId xmlns:a16="http://schemas.microsoft.com/office/drawing/2014/main" id="{81491FA3-D4FB-4A44-B928-FB0F72629188}"/>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残余失败或能力边界，都会进入下一轮数据生成器</a:t>
            </a:r>
          </a:p>
        </p:txBody>
      </p:sp>
      <p:sp>
        <p:nvSpPr>
          <p:cNvPr id="5" name="subtitle-9">
            <a:extLst xmlns:a="http://schemas.openxmlformats.org/drawingml/2006/main">
              <a:ext uri="{FF2B5EF4-FFF2-40B4-BE49-F238E27FC236}">
                <a16:creationId xmlns:a16="http://schemas.microsoft.com/office/drawing/2014/main" id="{BA86F256-3AC9-4C79-B7AB-2DDDA304F6F9}"/>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ground truth 由确定性代码生成；模型自然语言永远不充当 charge、amount 或 verifier target。</a:t>
            </a:r>
          </a:p>
        </p:txBody>
      </p:sp>
      <p:sp>
        <p:nvSpPr>
          <p:cNvPr id="6" name="">
            <a:extLst xmlns:a="http://schemas.openxmlformats.org/drawingml/2006/main">
              <a:ext uri="{FF2B5EF4-FFF2-40B4-BE49-F238E27FC236}">
                <a16:creationId xmlns:a16="http://schemas.microsoft.com/office/drawing/2014/main" id="{9618BEC3-A57E-4D33-B9E3-095E14B83EAD}"/>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9">
            <a:extLst xmlns:a="http://schemas.openxmlformats.org/drawingml/2006/main">
              <a:ext uri="{FF2B5EF4-FFF2-40B4-BE49-F238E27FC236}">
                <a16:creationId xmlns:a16="http://schemas.microsoft.com/office/drawing/2014/main" id="{542EDAD2-FCFA-4452-B230-1A35DD1047A8}"/>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09</a:t>
            </a:r>
          </a:p>
        </p:txBody>
      </p:sp>
      <p:sp>
        <p:nvSpPr>
          <p:cNvPr id="8" name="">
            <a:extLst xmlns:a="http://schemas.openxmlformats.org/drawingml/2006/main">
              <a:ext uri="{FF2B5EF4-FFF2-40B4-BE49-F238E27FC236}">
                <a16:creationId xmlns:a16="http://schemas.microsoft.com/office/drawing/2014/main" id="{CBAC4E96-532A-4890-A777-257D1CF7F7AB}"/>
              </a:ext>
            </a:extLst>
          </p:cNvPr>
          <p:cNvSpPr>
            <a:spLocks xmlns:a="http://schemas.openxmlformats.org/drawingml/2006/main" noGrp="1"/>
          </p:cNvSpPr>
          <p:nvPr/>
        </p:nvSpPr>
        <p:spPr>
          <a:xfrm xmlns:a="http://schemas.openxmlformats.org/drawingml/2006/main">
            <a:off x="3571875" y="3714750"/>
            <a:ext cx="1095375" cy="0"/>
          </a:xfrm>
          <a:prstGeom xmlns:a="http://schemas.openxmlformats.org/drawingml/2006/main" prst="line">
            <a:avLst/>
          </a:prstGeom>
          <a:noFill xmlns:a="http://schemas.openxmlformats.org/drawingml/2006/main"/>
          <a:ln xmlns:a="http://schemas.openxmlformats.org/drawingml/2006/main" w="28575">
            <a:solidFill>
              <a:srgbClr val="C56D4A"/>
            </a:solidFill>
            <a:prstDash val="solid"/>
          </a:ln>
        </p:spPr>
      </p:sp>
      <p:sp>
        <p:nvSpPr>
          <p:cNvPr id="9" name="">
            <a:extLst xmlns:a="http://schemas.openxmlformats.org/drawingml/2006/main">
              <a:ext uri="{FF2B5EF4-FFF2-40B4-BE49-F238E27FC236}">
                <a16:creationId xmlns:a16="http://schemas.microsoft.com/office/drawing/2014/main" id="{9343FCDE-520E-423B-AE4D-991821E39530}"/>
              </a:ext>
            </a:extLst>
          </p:cNvPr>
          <p:cNvSpPr>
            <a:spLocks xmlns:a="http://schemas.openxmlformats.org/drawingml/2006/main" noGrp="1"/>
          </p:cNvSpPr>
          <p:nvPr/>
        </p:nvSpPr>
        <p:spPr>
          <a:xfrm xmlns:a="http://schemas.openxmlformats.org/drawingml/2006/main">
            <a:off x="7524750" y="3714750"/>
            <a:ext cx="1095375" cy="0"/>
          </a:xfrm>
          <a:prstGeom xmlns:a="http://schemas.openxmlformats.org/drawingml/2006/main" prst="line">
            <a:avLst/>
          </a:prstGeom>
          <a:noFill xmlns:a="http://schemas.openxmlformats.org/drawingml/2006/main"/>
          <a:ln xmlns:a="http://schemas.openxmlformats.org/drawingml/2006/main" w="28575">
            <a:solidFill>
              <a:srgbClr val="18A6A6"/>
            </a:solidFill>
            <a:prstDash val="solid"/>
          </a:ln>
        </p:spPr>
      </p:sp>
      <p:sp>
        <p:nvSpPr>
          <p:cNvPr id="10" name="synth-left">
            <a:extLst xmlns:a="http://schemas.openxmlformats.org/drawingml/2006/main">
              <a:ext uri="{FF2B5EF4-FFF2-40B4-BE49-F238E27FC236}">
                <a16:creationId xmlns:a16="http://schemas.microsoft.com/office/drawing/2014/main" id="{BE10167B-B4C0-4D63-A7C1-B03F26EB0647}"/>
              </a:ext>
            </a:extLst>
          </p:cNvPr>
          <p:cNvSpPr>
            <a:spLocks xmlns:a="http://schemas.openxmlformats.org/drawingml/2006/main" noGrp="1"/>
          </p:cNvSpPr>
          <p:nvPr/>
        </p:nvSpPr>
        <p:spPr>
          <a:xfrm xmlns:a="http://schemas.openxmlformats.org/drawingml/2006/main">
            <a:off x="714375" y="2286000"/>
            <a:ext cx="2857500" cy="2857500"/>
          </a:xfrm>
          <a:prstGeom xmlns:a="http://schemas.openxmlformats.org/drawingml/2006/main" prst="roundRect">
            <a:avLst>
              <a:gd name="adj" fmla="val 4000"/>
            </a:avLst>
          </a:prstGeom>
          <a:solidFill xmlns:a="http://schemas.openxmlformats.org/drawingml/2006/main">
            <a:srgbClr val="F9E9E6"/>
          </a:solidFill>
          <a:ln xmlns:a="http://schemas.openxmlformats.org/drawingml/2006/main" w="9525">
            <a:solidFill>
              <a:srgbClr val="C56D4A"/>
            </a:solidFill>
            <a:prstDash val="solid"/>
          </a:ln>
        </p:spPr>
      </p:sp>
      <p:sp>
        <p:nvSpPr>
          <p:cNvPr id="11" name="synth-mid">
            <a:extLst xmlns:a="http://schemas.openxmlformats.org/drawingml/2006/main">
              <a:ext uri="{FF2B5EF4-FFF2-40B4-BE49-F238E27FC236}">
                <a16:creationId xmlns:a16="http://schemas.microsoft.com/office/drawing/2014/main" id="{13D6B1F5-C83C-40BF-B739-2622934E34DD}"/>
              </a:ext>
            </a:extLst>
          </p:cNvPr>
          <p:cNvSpPr>
            <a:spLocks xmlns:a="http://schemas.openxmlformats.org/drawingml/2006/main" noGrp="1"/>
          </p:cNvSpPr>
          <p:nvPr/>
        </p:nvSpPr>
        <p:spPr>
          <a:xfrm xmlns:a="http://schemas.openxmlformats.org/drawingml/2006/main">
            <a:off x="4667250" y="2286000"/>
            <a:ext cx="2857500" cy="2857500"/>
          </a:xfrm>
          <a:prstGeom xmlns:a="http://schemas.openxmlformats.org/drawingml/2006/main" prst="roundRect">
            <a:avLst>
              <a:gd name="adj" fmla="val 4000"/>
            </a:avLst>
          </a:prstGeom>
          <a:solidFill xmlns:a="http://schemas.openxmlformats.org/drawingml/2006/main">
            <a:srgbClr val="071A2B"/>
          </a:solidFill>
          <a:ln xmlns:a="http://schemas.openxmlformats.org/drawingml/2006/main" w="0">
            <a:solidFill>
              <a:srgbClr val="071A2B"/>
            </a:solidFill>
            <a:prstDash val="solid"/>
          </a:ln>
        </p:spPr>
      </p:sp>
      <p:sp>
        <p:nvSpPr>
          <p:cNvPr id="12" name="synth-right">
            <a:extLst xmlns:a="http://schemas.openxmlformats.org/drawingml/2006/main">
              <a:ext uri="{FF2B5EF4-FFF2-40B4-BE49-F238E27FC236}">
                <a16:creationId xmlns:a16="http://schemas.microsoft.com/office/drawing/2014/main" id="{6781C529-A2C5-4EF8-BB64-FBB65378B808}"/>
              </a:ext>
            </a:extLst>
          </p:cNvPr>
          <p:cNvSpPr>
            <a:spLocks xmlns:a="http://schemas.openxmlformats.org/drawingml/2006/main" noGrp="1"/>
          </p:cNvSpPr>
          <p:nvPr/>
        </p:nvSpPr>
        <p:spPr>
          <a:xfrm xmlns:a="http://schemas.openxmlformats.org/drawingml/2006/main">
            <a:off x="8620125" y="2286000"/>
            <a:ext cx="2857500" cy="2857500"/>
          </a:xfrm>
          <a:prstGeom xmlns:a="http://schemas.openxmlformats.org/drawingml/2006/main" prst="roundRect">
            <a:avLst>
              <a:gd name="adj" fmla="val 4000"/>
            </a:avLst>
          </a:prstGeom>
          <a:solidFill xmlns:a="http://schemas.openxmlformats.org/drawingml/2006/main">
            <a:srgbClr val="E5F5F3"/>
          </a:solidFill>
          <a:ln xmlns:a="http://schemas.openxmlformats.org/drawingml/2006/main" w="9525">
            <a:solidFill>
              <a:srgbClr val="18A6A6"/>
            </a:solidFill>
            <a:prstDash val="solid"/>
          </a:ln>
        </p:spPr>
      </p:sp>
      <p:sp>
        <p:nvSpPr>
          <p:cNvPr id="13" name="synth-left-k">
            <a:extLst xmlns:a="http://schemas.openxmlformats.org/drawingml/2006/main">
              <a:ext uri="{FF2B5EF4-FFF2-40B4-BE49-F238E27FC236}">
                <a16:creationId xmlns:a16="http://schemas.microsoft.com/office/drawing/2014/main" id="{2CE97276-27DD-4E01-BC3C-5EEA433D76C6}"/>
              </a:ext>
            </a:extLst>
          </p:cNvPr>
          <p:cNvSpPr>
            <a:spLocks xmlns:a="http://schemas.openxmlformats.org/drawingml/2006/main" noGrp="1"/>
          </p:cNvSpPr>
          <p:nvPr/>
        </p:nvSpPr>
        <p:spPr>
          <a:xfrm xmlns:a="http://schemas.openxmlformats.org/drawingml/2006/main">
            <a:off x="1000125" y="2571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C56D4A"/>
                </a:solidFill>
              </a:defRPr>
            </a:pPr>
            <a:r>
              <a:rPr sz="1125" b="1">
                <a:solidFill>
                  <a:srgbClr val="C56D4A"/>
                </a:solidFill>
              </a:rPr>
              <a:t>OBSERVED FAILURES</a:t>
            </a:r>
          </a:p>
        </p:txBody>
      </p:sp>
      <p:sp>
        <p:nvSpPr>
          <p:cNvPr id="14" name="synth-left-v">
            <a:extLst xmlns:a="http://schemas.openxmlformats.org/drawingml/2006/main">
              <a:ext uri="{FF2B5EF4-FFF2-40B4-BE49-F238E27FC236}">
                <a16:creationId xmlns:a16="http://schemas.microsoft.com/office/drawing/2014/main" id="{188F3C1B-04B1-4685-80D3-E673EB51ADC3}"/>
              </a:ext>
            </a:extLst>
          </p:cNvPr>
          <p:cNvSpPr>
            <a:spLocks xmlns:a="http://schemas.openxmlformats.org/drawingml/2006/main" noGrp="1"/>
          </p:cNvSpPr>
          <p:nvPr/>
        </p:nvSpPr>
        <p:spPr>
          <a:xfrm xmlns:a="http://schemas.openxmlformats.org/drawingml/2006/main">
            <a:off x="1000125" y="314325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a:solidFill>
                  <a:srgbClr val="102330"/>
                </a:solidFill>
              </a:defRPr>
            </a:pPr>
            <a:r>
              <a:rPr sz="1050">
                <a:solidFill>
                  <a:srgbClr val="102330"/>
                </a:solidFill>
              </a:rPr>
              <a:t>POLICY_NOT_INSPECTED  ×11</a:t>
            </a:r>
          </a:p>
          <a:p xmlns:a="http://schemas.openxmlformats.org/drawingml/2006/main">
            <a:pPr algn="ctr">
              <a:defRPr sz="1050">
                <a:solidFill>
                  <a:srgbClr val="102330"/>
                </a:solidFill>
              </a:defRPr>
            </a:pPr>
            <a:r>
              <a:rPr sz="1050">
                <a:solidFill>
                  <a:srgbClr val="102330"/>
                </a:solidFill>
              </a:rPr>
              <a:t>TOOL_ERROR_NOT_RECOVERED  ×1</a:t>
            </a:r>
          </a:p>
        </p:txBody>
      </p:sp>
      <p:sp>
        <p:nvSpPr>
          <p:cNvPr id="15" name="synth-mid-k">
            <a:extLst xmlns:a="http://schemas.openxmlformats.org/drawingml/2006/main">
              <a:ext uri="{FF2B5EF4-FFF2-40B4-BE49-F238E27FC236}">
                <a16:creationId xmlns:a16="http://schemas.microsoft.com/office/drawing/2014/main" id="{8F18A5D2-D41B-4960-90FC-17C839E9E14A}"/>
              </a:ext>
            </a:extLst>
          </p:cNvPr>
          <p:cNvSpPr>
            <a:spLocks xmlns:a="http://schemas.openxmlformats.org/drawingml/2006/main" noGrp="1"/>
          </p:cNvSpPr>
          <p:nvPr/>
        </p:nvSpPr>
        <p:spPr>
          <a:xfrm xmlns:a="http://schemas.openxmlformats.org/drawingml/2006/main">
            <a:off x="5048250" y="2590800"/>
            <a:ext cx="209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D6A84B"/>
                </a:solidFill>
              </a:defRPr>
            </a:pPr>
            <a:r>
              <a:rPr sz="1200" b="1">
                <a:solidFill>
                  <a:srgbClr val="D6A84B"/>
                </a:solidFill>
              </a:rPr>
              <a:t>DETERMINISTIC</a:t>
            </a:r>
          </a:p>
          <a:p xmlns:a="http://schemas.openxmlformats.org/drawingml/2006/main">
            <a:pPr algn="ctr">
              <a:defRPr sz="1200" b="1">
                <a:solidFill>
                  <a:srgbClr val="D6A84B"/>
                </a:solidFill>
              </a:defRPr>
            </a:pPr>
            <a:r>
              <a:rPr sz="1200" b="1">
                <a:solidFill>
                  <a:srgbClr val="D6A84B"/>
                </a:solidFill>
              </a:rPr>
              <a:t>TRANSFORMS</a:t>
            </a:r>
          </a:p>
        </p:txBody>
      </p:sp>
      <p:sp>
        <p:nvSpPr>
          <p:cNvPr id="16" name="synth-mid-v">
            <a:extLst xmlns:a="http://schemas.openxmlformats.org/drawingml/2006/main">
              <a:ext uri="{FF2B5EF4-FFF2-40B4-BE49-F238E27FC236}">
                <a16:creationId xmlns:a16="http://schemas.microsoft.com/office/drawing/2014/main" id="{5F28B06A-4C0C-468D-AFB9-3ED1BE81DAFB}"/>
              </a:ext>
            </a:extLst>
          </p:cNvPr>
          <p:cNvSpPr>
            <a:spLocks xmlns:a="http://schemas.openxmlformats.org/drawingml/2006/main" noGrp="1"/>
          </p:cNvSpPr>
          <p:nvPr/>
        </p:nvSpPr>
        <p:spPr>
          <a:xfrm xmlns:a="http://schemas.openxmlformats.org/drawingml/2006/main">
            <a:off x="5095875" y="3429000"/>
            <a:ext cx="2000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20000"/>
              </a:lnSpc>
              <a:buNone/>
              <a:defRPr sz="1350" b="1">
                <a:solidFill>
                  <a:srgbClr val="FFFFFF"/>
                </a:solidFill>
              </a:defRPr>
            </a:pPr>
            <a:r>
              <a:rPr sz="1350" b="1">
                <a:solidFill>
                  <a:srgbClr val="FFFFFF"/>
                </a:solidFill>
              </a:rPr>
              <a:t>+ decoy orders</a:t>
            </a:r>
          </a:p>
          <a:p xmlns:a="http://schemas.openxmlformats.org/drawingml/2006/main">
            <a:pPr algn="ctr">
              <a:lnSpc>
                <a:spcPct val="120000"/>
              </a:lnSpc>
              <a:buNone/>
              <a:defRPr sz="1350" b="1">
                <a:solidFill>
                  <a:srgbClr val="FFFFFF"/>
                </a:solidFill>
              </a:defRPr>
            </a:pPr>
            <a:r>
              <a:rPr sz="1350" b="1">
                <a:solidFill>
                  <a:srgbClr val="FFFFFF"/>
                </a:solidFill>
              </a:rPr>
              <a:t>+ transient timeout</a:t>
            </a:r>
          </a:p>
          <a:p xmlns:a="http://schemas.openxmlformats.org/drawingml/2006/main">
            <a:pPr algn="ctr">
              <a:lnSpc>
                <a:spcPct val="120000"/>
              </a:lnSpc>
              <a:buNone/>
              <a:defRPr sz="1350" b="1">
                <a:solidFill>
                  <a:srgbClr val="FFFFFF"/>
                </a:solidFill>
              </a:defRPr>
            </a:pPr>
            <a:r>
              <a:rPr sz="1350" b="1">
                <a:solidFill>
                  <a:srgbClr val="FFFFFF"/>
                </a:solidFill>
              </a:rPr>
              <a:t>+ exact confirmation</a:t>
            </a:r>
          </a:p>
          <a:p xmlns:a="http://schemas.openxmlformats.org/drawingml/2006/main">
            <a:pPr algn="ctr">
              <a:lnSpc>
                <a:spcPct val="120000"/>
              </a:lnSpc>
              <a:buNone/>
              <a:defRPr sz="1350" b="1">
                <a:solidFill>
                  <a:srgbClr val="FFFFFF"/>
                </a:solidFill>
              </a:defRPr>
            </a:pPr>
            <a:r>
              <a:rPr sz="1350" b="1">
                <a:solidFill>
                  <a:srgbClr val="FFFFFF"/>
                </a:solidFill>
              </a:rPr>
              <a:t>+ old-task replay</a:t>
            </a:r>
          </a:p>
        </p:txBody>
      </p:sp>
      <p:sp>
        <p:nvSpPr>
          <p:cNvPr id="17" name="synth-right-k">
            <a:extLst xmlns:a="http://schemas.openxmlformats.org/drawingml/2006/main">
              <a:ext uri="{FF2B5EF4-FFF2-40B4-BE49-F238E27FC236}">
                <a16:creationId xmlns:a16="http://schemas.microsoft.com/office/drawing/2014/main" id="{54652350-DBE1-4820-A6A5-5B40A1CBCDD4}"/>
              </a:ext>
            </a:extLst>
          </p:cNvPr>
          <p:cNvSpPr>
            <a:spLocks xmlns:a="http://schemas.openxmlformats.org/drawingml/2006/main" noGrp="1"/>
          </p:cNvSpPr>
          <p:nvPr/>
        </p:nvSpPr>
        <p:spPr>
          <a:xfrm xmlns:a="http://schemas.openxmlformats.org/drawingml/2006/main">
            <a:off x="8953500" y="25717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0B797B"/>
                </a:solidFill>
              </a:defRPr>
            </a:pPr>
            <a:r>
              <a:rPr sz="1125" b="1">
                <a:solidFill>
                  <a:srgbClr val="0B797B"/>
                </a:solidFill>
              </a:rPr>
              <a:t>STAGE-2 MIX</a:t>
            </a:r>
          </a:p>
        </p:txBody>
      </p:sp>
      <p:sp>
        <p:nvSpPr>
          <p:cNvPr id="18" name="synth-right-v">
            <a:extLst xmlns:a="http://schemas.openxmlformats.org/drawingml/2006/main">
              <a:ext uri="{FF2B5EF4-FFF2-40B4-BE49-F238E27FC236}">
                <a16:creationId xmlns:a16="http://schemas.microsoft.com/office/drawing/2014/main" id="{E5F5F287-03C4-4684-BD2D-93FD468881DD}"/>
              </a:ext>
            </a:extLst>
          </p:cNvPr>
          <p:cNvSpPr>
            <a:spLocks xmlns:a="http://schemas.openxmlformats.org/drawingml/2006/main" noGrp="1"/>
          </p:cNvSpPr>
          <p:nvPr/>
        </p:nvSpPr>
        <p:spPr>
          <a:xfrm xmlns:a="http://schemas.openxmlformats.org/drawingml/2006/main">
            <a:off x="9001125" y="3314700"/>
            <a:ext cx="2095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071A2B"/>
                </a:solidFill>
              </a:defRPr>
            </a:pPr>
            <a:r>
              <a:rPr sz="2025" b="1">
                <a:solidFill>
                  <a:srgbClr val="071A2B"/>
                </a:solidFill>
              </a:rPr>
              <a:t>8 hard tasks</a:t>
            </a:r>
          </a:p>
          <a:p xmlns:a="http://schemas.openxmlformats.org/drawingml/2006/main">
            <a:pPr algn="ctr">
              <a:defRPr sz="2025" b="1">
                <a:solidFill>
                  <a:srgbClr val="071A2B"/>
                </a:solidFill>
              </a:defRPr>
            </a:pPr>
            <a:r>
              <a:rPr sz="2025" b="1">
                <a:solidFill>
                  <a:srgbClr val="071A2B"/>
                </a:solidFill>
              </a:rPr>
              <a:t>+</a:t>
            </a:r>
          </a:p>
          <a:p xmlns:a="http://schemas.openxmlformats.org/drawingml/2006/main">
            <a:pPr algn="ctr">
              <a:defRPr sz="2025" b="1">
                <a:solidFill>
                  <a:srgbClr val="071A2B"/>
                </a:solidFill>
              </a:defRPr>
            </a:pPr>
            <a:r>
              <a:rPr sz="2025" b="1">
                <a:solidFill>
                  <a:srgbClr val="071A2B"/>
                </a:solidFill>
              </a:rPr>
              <a:t>4 replay tasks</a:t>
            </a:r>
          </a:p>
        </p:txBody>
      </p:sp>
      <p:sp>
        <p:nvSpPr>
          <p:cNvPr id="19" name="synth-hash">
            <a:extLst xmlns:a="http://schemas.openxmlformats.org/drawingml/2006/main">
              <a:ext uri="{FF2B5EF4-FFF2-40B4-BE49-F238E27FC236}">
                <a16:creationId xmlns:a16="http://schemas.microsoft.com/office/drawing/2014/main" id="{64D92B63-EE34-4FB7-B995-AD2F91007787}"/>
              </a:ext>
            </a:extLst>
          </p:cNvPr>
          <p:cNvSpPr>
            <a:spLocks xmlns:a="http://schemas.openxmlformats.org/drawingml/2006/main" noGrp="1"/>
          </p:cNvSpPr>
          <p:nvPr/>
        </p:nvSpPr>
        <p:spPr>
          <a:xfrm xmlns:a="http://schemas.openxmlformats.org/drawingml/2006/main">
            <a:off x="1762125" y="5619750"/>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64747B"/>
                </a:solidFill>
              </a:defRPr>
            </a:pPr>
            <a:r>
              <a:rPr sz="1050" b="1">
                <a:solidFill>
                  <a:srgbClr val="64747B"/>
                </a:solidFill>
              </a:rPr>
              <a:t>source trace  7388b93f024da…    stage2 data  222bd26ad5247…</a:t>
            </a:r>
          </a:p>
        </p:txBody>
      </p:sp>
    </p:spTree>
    <p:extLst>
      <p:ext uri="{BB962C8B-B14F-4D97-AF65-F5344CB8AC3E}">
        <p14:creationId xmlns:p14="http://schemas.microsoft.com/office/powerpoint/2010/main" val="893588770"/>
      </p:ext>
    </p:extLst>
  </p:cSld>
</p:sld>
</file>

<file path=ppt/slides/slide10.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2" name="rail-10">
            <a:extLst xmlns:a="http://schemas.openxmlformats.org/drawingml/2006/main">
              <a:ext uri="{FF2B5EF4-FFF2-40B4-BE49-F238E27FC236}">
                <a16:creationId xmlns:a16="http://schemas.microsoft.com/office/drawing/2014/main" id="{846E9163-1072-483F-A031-D76EB4027C97}"/>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10">
            <a:extLst xmlns:a="http://schemas.openxmlformats.org/drawingml/2006/main">
              <a:ext uri="{FF2B5EF4-FFF2-40B4-BE49-F238E27FC236}">
                <a16:creationId xmlns:a16="http://schemas.microsoft.com/office/drawing/2014/main" id="{F9132E4B-4E0F-4E3F-BBBF-5F1651381804}"/>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10">
            <a:extLst xmlns:a="http://schemas.openxmlformats.org/drawingml/2006/main">
              <a:ext uri="{FF2B5EF4-FFF2-40B4-BE49-F238E27FC236}">
                <a16:creationId xmlns:a16="http://schemas.microsoft.com/office/drawing/2014/main" id="{10F36FDA-4583-4FDB-B53C-D49E2182B016}"/>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STAGE 2</a:t>
            </a:r>
          </a:p>
        </p:txBody>
      </p:sp>
      <p:sp>
        <p:nvSpPr>
          <p:cNvPr id="4" name="title-10">
            <a:extLst xmlns:a="http://schemas.openxmlformats.org/drawingml/2006/main">
              <a:ext uri="{FF2B5EF4-FFF2-40B4-BE49-F238E27FC236}">
                <a16:creationId xmlns:a16="http://schemas.microsoft.com/office/drawing/2014/main" id="{D195182F-0697-44E7-94F4-7A3B7C3A1591}"/>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从 Stage-1 adapter 继续训练，效果是否真的改变？</a:t>
            </a:r>
          </a:p>
        </p:txBody>
      </p:sp>
      <p:sp>
        <p:nvSpPr>
          <p:cNvPr id="5" name="subtitle-10">
            <a:extLst xmlns:a="http://schemas.openxmlformats.org/drawingml/2006/main">
              <a:ext uri="{FF2B5EF4-FFF2-40B4-BE49-F238E27FC236}">
                <a16:creationId xmlns:a16="http://schemas.microsoft.com/office/drawing/2014/main" id="{C6E91734-E86E-4CD7-A297-ACF665F87C91}"/>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算法效果和工程完整性分开判断：即使指标不升，只要审计通过，它仍是一个真实负结果。</a:t>
            </a:r>
          </a:p>
        </p:txBody>
      </p:sp>
      <p:sp>
        <p:nvSpPr>
          <p:cNvPr id="6" name="">
            <a:extLst xmlns:a="http://schemas.openxmlformats.org/drawingml/2006/main">
              <a:ext uri="{FF2B5EF4-FFF2-40B4-BE49-F238E27FC236}">
                <a16:creationId xmlns:a16="http://schemas.microsoft.com/office/drawing/2014/main" id="{2DE76772-32E6-4F59-B495-D7240EF2A78B}"/>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10">
            <a:extLst xmlns:a="http://schemas.openxmlformats.org/drawingml/2006/main">
              <a:ext uri="{FF2B5EF4-FFF2-40B4-BE49-F238E27FC236}">
                <a16:creationId xmlns:a16="http://schemas.microsoft.com/office/drawing/2014/main" id="{4FC35EDA-890C-45BA-AD46-E88818E22BBA}"/>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10</a:t>
            </a:r>
          </a:p>
        </p:txBody>
      </p:sp>
      <p:sp>
        <p:nvSpPr>
          <p:cNvPr id="8" name="s2-label-0">
            <a:extLst xmlns:a="http://schemas.openxmlformats.org/drawingml/2006/main">
              <a:ext uri="{FF2B5EF4-FFF2-40B4-BE49-F238E27FC236}">
                <a16:creationId xmlns:a16="http://schemas.microsoft.com/office/drawing/2014/main" id="{1453389A-5D3A-4FDC-88BC-5AA50BD80903}"/>
              </a:ext>
            </a:extLst>
          </p:cNvPr>
          <p:cNvSpPr>
            <a:spLocks xmlns:a="http://schemas.openxmlformats.org/drawingml/2006/main" noGrp="1"/>
          </p:cNvSpPr>
          <p:nvPr/>
        </p:nvSpPr>
        <p:spPr>
          <a:xfrm xmlns:a="http://schemas.openxmlformats.org/drawingml/2006/main">
            <a:off x="857250" y="24479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071A2B"/>
                </a:solidFill>
              </a:defRPr>
            </a:pPr>
            <a:r>
              <a:rPr sz="1500" b="1">
                <a:solidFill>
                  <a:srgbClr val="071A2B"/>
                </a:solidFill>
              </a:rPr>
              <a:t>Final holdout success</a:t>
            </a:r>
          </a:p>
        </p:txBody>
      </p:sp>
      <p:sp>
        <p:nvSpPr>
          <p:cNvPr id="9" name="s2-track-a-0">
            <a:extLst xmlns:a="http://schemas.openxmlformats.org/drawingml/2006/main">
              <a:ext uri="{FF2B5EF4-FFF2-40B4-BE49-F238E27FC236}">
                <a16:creationId xmlns:a16="http://schemas.microsoft.com/office/drawing/2014/main" id="{4405C75A-7F5C-4331-A611-48A76AEA9FFD}"/>
              </a:ext>
            </a:extLst>
          </p:cNvPr>
          <p:cNvSpPr>
            <a:spLocks xmlns:a="http://schemas.openxmlformats.org/drawingml/2006/main" noGrp="1"/>
          </p:cNvSpPr>
          <p:nvPr/>
        </p:nvSpPr>
        <p:spPr>
          <a:xfrm xmlns:a="http://schemas.openxmlformats.org/drawingml/2006/main">
            <a:off x="3905250" y="2524125"/>
            <a:ext cx="5429250" cy="209550"/>
          </a:xfrm>
          <a:prstGeom xmlns:a="http://schemas.openxmlformats.org/drawingml/2006/main" prst="roundRect">
            <a:avLst>
              <a:gd name="adj" fmla="val 50000"/>
            </a:avLst>
          </a:prstGeom>
          <a:solidFill xmlns:a="http://schemas.openxmlformats.org/drawingml/2006/main">
            <a:srgbClr val="E8F0F0"/>
          </a:solidFill>
          <a:ln xmlns:a="http://schemas.openxmlformats.org/drawingml/2006/main" w="0">
            <a:solidFill>
              <a:srgbClr val="E8F0F0"/>
            </a:solidFill>
            <a:prstDash val="solid"/>
          </a:ln>
        </p:spPr>
      </p:sp>
      <p:sp>
        <p:nvSpPr>
          <p:cNvPr id="10" name="s2-a-0">
            <a:extLst xmlns:a="http://schemas.openxmlformats.org/drawingml/2006/main">
              <a:ext uri="{FF2B5EF4-FFF2-40B4-BE49-F238E27FC236}">
                <a16:creationId xmlns:a16="http://schemas.microsoft.com/office/drawing/2014/main" id="{33A52E19-33EC-4AFC-BBD4-54D072558314}"/>
              </a:ext>
            </a:extLst>
          </p:cNvPr>
          <p:cNvSpPr>
            <a:spLocks xmlns:a="http://schemas.openxmlformats.org/drawingml/2006/main" noGrp="1"/>
          </p:cNvSpPr>
          <p:nvPr/>
        </p:nvSpPr>
        <p:spPr>
          <a:xfrm xmlns:a="http://schemas.openxmlformats.org/drawingml/2006/main">
            <a:off x="3905250" y="2524125"/>
            <a:ext cx="5429250" cy="209550"/>
          </a:xfrm>
          <a:prstGeom xmlns:a="http://schemas.openxmlformats.org/drawingml/2006/main" prst="roundRect">
            <a:avLst>
              <a:gd name="adj" fmla="val 50000"/>
            </a:avLst>
          </a:prstGeom>
          <a:solidFill xmlns:a="http://schemas.openxmlformats.org/drawingml/2006/main">
            <a:srgbClr val="9AA8AD"/>
          </a:solidFill>
          <a:ln xmlns:a="http://schemas.openxmlformats.org/drawingml/2006/main" w="0">
            <a:solidFill>
              <a:srgbClr val="9AA8AD"/>
            </a:solidFill>
            <a:prstDash val="solid"/>
          </a:ln>
        </p:spPr>
      </p:sp>
      <p:sp>
        <p:nvSpPr>
          <p:cNvPr id="11" name="s2-track-b-0">
            <a:extLst xmlns:a="http://schemas.openxmlformats.org/drawingml/2006/main">
              <a:ext uri="{FF2B5EF4-FFF2-40B4-BE49-F238E27FC236}">
                <a16:creationId xmlns:a16="http://schemas.microsoft.com/office/drawing/2014/main" id="{B4E18613-BC60-4F16-88AE-D62664A2832D}"/>
              </a:ext>
            </a:extLst>
          </p:cNvPr>
          <p:cNvSpPr>
            <a:spLocks xmlns:a="http://schemas.openxmlformats.org/drawingml/2006/main" noGrp="1"/>
          </p:cNvSpPr>
          <p:nvPr/>
        </p:nvSpPr>
        <p:spPr>
          <a:xfrm xmlns:a="http://schemas.openxmlformats.org/drawingml/2006/main">
            <a:off x="3905250" y="2981325"/>
            <a:ext cx="5429250" cy="209550"/>
          </a:xfrm>
          <a:prstGeom xmlns:a="http://schemas.openxmlformats.org/drawingml/2006/main" prst="roundRect">
            <a:avLst>
              <a:gd name="adj" fmla="val 50000"/>
            </a:avLst>
          </a:prstGeom>
          <a:solidFill xmlns:a="http://schemas.openxmlformats.org/drawingml/2006/main">
            <a:srgbClr val="E8F0F0"/>
          </a:solidFill>
          <a:ln xmlns:a="http://schemas.openxmlformats.org/drawingml/2006/main" w="0">
            <a:solidFill>
              <a:srgbClr val="E8F0F0"/>
            </a:solidFill>
            <a:prstDash val="solid"/>
          </a:ln>
        </p:spPr>
      </p:sp>
      <p:sp>
        <p:nvSpPr>
          <p:cNvPr id="12" name="s2-b-0">
            <a:extLst xmlns:a="http://schemas.openxmlformats.org/drawingml/2006/main">
              <a:ext uri="{FF2B5EF4-FFF2-40B4-BE49-F238E27FC236}">
                <a16:creationId xmlns:a16="http://schemas.microsoft.com/office/drawing/2014/main" id="{89AC094F-1491-49CB-9253-7410A415D3DA}"/>
              </a:ext>
            </a:extLst>
          </p:cNvPr>
          <p:cNvSpPr>
            <a:spLocks xmlns:a="http://schemas.openxmlformats.org/drawingml/2006/main" noGrp="1"/>
          </p:cNvSpPr>
          <p:nvPr/>
        </p:nvSpPr>
        <p:spPr>
          <a:xfrm xmlns:a="http://schemas.openxmlformats.org/drawingml/2006/main">
            <a:off x="3905250" y="2981325"/>
            <a:ext cx="5429250" cy="20955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13" name="s2-value-0">
            <a:extLst xmlns:a="http://schemas.openxmlformats.org/drawingml/2006/main">
              <a:ext uri="{FF2B5EF4-FFF2-40B4-BE49-F238E27FC236}">
                <a16:creationId xmlns:a16="http://schemas.microsoft.com/office/drawing/2014/main" id="{685F312B-3FD5-4A69-9378-221DADB35984}"/>
              </a:ext>
            </a:extLst>
          </p:cNvPr>
          <p:cNvSpPr>
            <a:spLocks xmlns:a="http://schemas.openxmlformats.org/drawingml/2006/main" noGrp="1"/>
          </p:cNvSpPr>
          <p:nvPr/>
        </p:nvSpPr>
        <p:spPr>
          <a:xfrm xmlns:a="http://schemas.openxmlformats.org/drawingml/2006/main">
            <a:off x="9525000" y="267652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500" b="1">
                <a:solidFill>
                  <a:srgbClr val="228B67"/>
                </a:solidFill>
              </a:defRPr>
            </a:pPr>
            <a:r>
              <a:rPr sz="1500" b="1">
                <a:solidFill>
                  <a:srgbClr val="228B67"/>
                </a:solidFill>
              </a:rPr>
              <a:t>100.0%  →  100.0%</a:t>
            </a:r>
          </a:p>
        </p:txBody>
      </p:sp>
      <p:sp>
        <p:nvSpPr>
          <p:cNvPr id="14" name="s2-label-1">
            <a:extLst xmlns:a="http://schemas.openxmlformats.org/drawingml/2006/main">
              <a:ext uri="{FF2B5EF4-FFF2-40B4-BE49-F238E27FC236}">
                <a16:creationId xmlns:a16="http://schemas.microsoft.com/office/drawing/2014/main" id="{3333F335-2851-4863-92E5-B8C9FCE634F3}"/>
              </a:ext>
            </a:extLst>
          </p:cNvPr>
          <p:cNvSpPr>
            <a:spLocks xmlns:a="http://schemas.openxmlformats.org/drawingml/2006/main" noGrp="1"/>
          </p:cNvSpPr>
          <p:nvPr/>
        </p:nvSpPr>
        <p:spPr>
          <a:xfrm xmlns:a="http://schemas.openxmlformats.org/drawingml/2006/main">
            <a:off x="857250" y="3876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071A2B"/>
                </a:solidFill>
              </a:defRPr>
            </a:pPr>
            <a:r>
              <a:rPr sz="1500" b="1">
                <a:solidFill>
                  <a:srgbClr val="071A2B"/>
                </a:solidFill>
              </a:rPr>
              <a:t>Mean combined reward</a:t>
            </a:r>
          </a:p>
        </p:txBody>
      </p:sp>
      <p:sp>
        <p:nvSpPr>
          <p:cNvPr id="15" name="s2-track-a-1">
            <a:extLst xmlns:a="http://schemas.openxmlformats.org/drawingml/2006/main">
              <a:ext uri="{FF2B5EF4-FFF2-40B4-BE49-F238E27FC236}">
                <a16:creationId xmlns:a16="http://schemas.microsoft.com/office/drawing/2014/main" id="{F2F06AF3-5D57-4D63-8112-3BF00B53CC9A}"/>
              </a:ext>
            </a:extLst>
          </p:cNvPr>
          <p:cNvSpPr>
            <a:spLocks xmlns:a="http://schemas.openxmlformats.org/drawingml/2006/main" noGrp="1"/>
          </p:cNvSpPr>
          <p:nvPr/>
        </p:nvSpPr>
        <p:spPr>
          <a:xfrm xmlns:a="http://schemas.openxmlformats.org/drawingml/2006/main">
            <a:off x="3905250" y="3952875"/>
            <a:ext cx="5429250" cy="209550"/>
          </a:xfrm>
          <a:prstGeom xmlns:a="http://schemas.openxmlformats.org/drawingml/2006/main" prst="roundRect">
            <a:avLst>
              <a:gd name="adj" fmla="val 50000"/>
            </a:avLst>
          </a:prstGeom>
          <a:solidFill xmlns:a="http://schemas.openxmlformats.org/drawingml/2006/main">
            <a:srgbClr val="E8F0F0"/>
          </a:solidFill>
          <a:ln xmlns:a="http://schemas.openxmlformats.org/drawingml/2006/main" w="0">
            <a:solidFill>
              <a:srgbClr val="E8F0F0"/>
            </a:solidFill>
            <a:prstDash val="solid"/>
          </a:ln>
        </p:spPr>
      </p:sp>
      <p:sp>
        <p:nvSpPr>
          <p:cNvPr id="16" name="s2-a-1">
            <a:extLst xmlns:a="http://schemas.openxmlformats.org/drawingml/2006/main">
              <a:ext uri="{FF2B5EF4-FFF2-40B4-BE49-F238E27FC236}">
                <a16:creationId xmlns:a16="http://schemas.microsoft.com/office/drawing/2014/main" id="{C1C57106-5CF2-435F-8E0F-1F5F80FCE637}"/>
              </a:ext>
            </a:extLst>
          </p:cNvPr>
          <p:cNvSpPr>
            <a:spLocks xmlns:a="http://schemas.openxmlformats.org/drawingml/2006/main" noGrp="1"/>
          </p:cNvSpPr>
          <p:nvPr/>
        </p:nvSpPr>
        <p:spPr>
          <a:xfrm xmlns:a="http://schemas.openxmlformats.org/drawingml/2006/main">
            <a:off x="3905250" y="3952875"/>
            <a:ext cx="5231110" cy="209550"/>
          </a:xfrm>
          <a:prstGeom xmlns:a="http://schemas.openxmlformats.org/drawingml/2006/main" prst="roundRect">
            <a:avLst>
              <a:gd name="adj" fmla="val 50000"/>
            </a:avLst>
          </a:prstGeom>
          <a:solidFill xmlns:a="http://schemas.openxmlformats.org/drawingml/2006/main">
            <a:srgbClr val="9AA8AD"/>
          </a:solidFill>
          <a:ln xmlns:a="http://schemas.openxmlformats.org/drawingml/2006/main" w="0">
            <a:solidFill>
              <a:srgbClr val="9AA8AD"/>
            </a:solidFill>
            <a:prstDash val="solid"/>
          </a:ln>
        </p:spPr>
      </p:sp>
      <p:sp>
        <p:nvSpPr>
          <p:cNvPr id="17" name="s2-track-b-1">
            <a:extLst xmlns:a="http://schemas.openxmlformats.org/drawingml/2006/main">
              <a:ext uri="{FF2B5EF4-FFF2-40B4-BE49-F238E27FC236}">
                <a16:creationId xmlns:a16="http://schemas.microsoft.com/office/drawing/2014/main" id="{D66EBAF3-0D90-420D-9593-F1902C71C7AA}"/>
              </a:ext>
            </a:extLst>
          </p:cNvPr>
          <p:cNvSpPr>
            <a:spLocks xmlns:a="http://schemas.openxmlformats.org/drawingml/2006/main" noGrp="1"/>
          </p:cNvSpPr>
          <p:nvPr/>
        </p:nvSpPr>
        <p:spPr>
          <a:xfrm xmlns:a="http://schemas.openxmlformats.org/drawingml/2006/main">
            <a:off x="3905250" y="4410075"/>
            <a:ext cx="5429250" cy="209550"/>
          </a:xfrm>
          <a:prstGeom xmlns:a="http://schemas.openxmlformats.org/drawingml/2006/main" prst="roundRect">
            <a:avLst>
              <a:gd name="adj" fmla="val 50000"/>
            </a:avLst>
          </a:prstGeom>
          <a:solidFill xmlns:a="http://schemas.openxmlformats.org/drawingml/2006/main">
            <a:srgbClr val="E8F0F0"/>
          </a:solidFill>
          <a:ln xmlns:a="http://schemas.openxmlformats.org/drawingml/2006/main" w="0">
            <a:solidFill>
              <a:srgbClr val="E8F0F0"/>
            </a:solidFill>
            <a:prstDash val="solid"/>
          </a:ln>
        </p:spPr>
      </p:sp>
      <p:sp>
        <p:nvSpPr>
          <p:cNvPr id="18" name="s2-b-1">
            <a:extLst xmlns:a="http://schemas.openxmlformats.org/drawingml/2006/main">
              <a:ext uri="{FF2B5EF4-FFF2-40B4-BE49-F238E27FC236}">
                <a16:creationId xmlns:a16="http://schemas.microsoft.com/office/drawing/2014/main" id="{20DE278D-5342-45FD-8876-4D812CC5324A}"/>
              </a:ext>
            </a:extLst>
          </p:cNvPr>
          <p:cNvSpPr>
            <a:spLocks xmlns:a="http://schemas.openxmlformats.org/drawingml/2006/main" noGrp="1"/>
          </p:cNvSpPr>
          <p:nvPr/>
        </p:nvSpPr>
        <p:spPr>
          <a:xfrm xmlns:a="http://schemas.openxmlformats.org/drawingml/2006/main">
            <a:off x="3905250" y="4410075"/>
            <a:ext cx="5230890" cy="209550"/>
          </a:xfrm>
          <a:prstGeom xmlns:a="http://schemas.openxmlformats.org/drawingml/2006/main" prst="roundRect">
            <a:avLst>
              <a:gd name="adj" fmla="val 50000"/>
            </a:avLst>
          </a:prstGeom>
          <a:solidFill xmlns:a="http://schemas.openxmlformats.org/drawingml/2006/main">
            <a:srgbClr val="C56D4A"/>
          </a:solidFill>
          <a:ln xmlns:a="http://schemas.openxmlformats.org/drawingml/2006/main" w="0">
            <a:solidFill>
              <a:srgbClr val="C56D4A"/>
            </a:solidFill>
            <a:prstDash val="solid"/>
          </a:ln>
        </p:spPr>
      </p:sp>
      <p:sp>
        <p:nvSpPr>
          <p:cNvPr id="19" name="s2-value-1">
            <a:extLst xmlns:a="http://schemas.openxmlformats.org/drawingml/2006/main">
              <a:ext uri="{FF2B5EF4-FFF2-40B4-BE49-F238E27FC236}">
                <a16:creationId xmlns:a16="http://schemas.microsoft.com/office/drawing/2014/main" id="{8F6B6F56-472B-40D0-B76C-E2909AA1103E}"/>
              </a:ext>
            </a:extLst>
          </p:cNvPr>
          <p:cNvSpPr>
            <a:spLocks xmlns:a="http://schemas.openxmlformats.org/drawingml/2006/main" noGrp="1"/>
          </p:cNvSpPr>
          <p:nvPr/>
        </p:nvSpPr>
        <p:spPr>
          <a:xfrm xmlns:a="http://schemas.openxmlformats.org/drawingml/2006/main">
            <a:off x="9525000" y="4105275"/>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500" b="1">
                <a:solidFill>
                  <a:srgbClr val="B44C4C"/>
                </a:solidFill>
              </a:defRPr>
            </a:pPr>
            <a:r>
              <a:rPr sz="1500" b="1">
                <a:solidFill>
                  <a:srgbClr val="B44C4C"/>
                </a:solidFill>
              </a:rPr>
              <a:t>1.253  →  1.253</a:t>
            </a:r>
          </a:p>
        </p:txBody>
      </p:sp>
      <p:sp>
        <p:nvSpPr>
          <p:cNvPr id="20" name="">
            <a:extLst xmlns:a="http://schemas.openxmlformats.org/drawingml/2006/main">
              <a:ext uri="{FF2B5EF4-FFF2-40B4-BE49-F238E27FC236}">
                <a16:creationId xmlns:a16="http://schemas.microsoft.com/office/drawing/2014/main" id="{93DB2FAE-4D0A-4568-AEF6-A5FDFB52C145}"/>
              </a:ext>
            </a:extLst>
          </p:cNvPr>
          <p:cNvSpPr>
            <a:spLocks xmlns:a="http://schemas.openxmlformats.org/drawingml/2006/main" noGrp="1"/>
          </p:cNvSpPr>
          <p:nvPr/>
        </p:nvSpPr>
        <p:spPr>
          <a:xfrm xmlns:a="http://schemas.openxmlformats.org/drawingml/2006/main">
            <a:off x="1143000" y="5429250"/>
            <a:ext cx="2000250" cy="0"/>
          </a:xfrm>
          <a:prstGeom xmlns:a="http://schemas.openxmlformats.org/drawingml/2006/main" prst="line">
            <a:avLst/>
          </a:prstGeom>
          <a:noFill xmlns:a="http://schemas.openxmlformats.org/drawingml/2006/main"/>
          <a:ln xmlns:a="http://schemas.openxmlformats.org/drawingml/2006/main" w="38100">
            <a:solidFill>
              <a:srgbClr val="18A6A6"/>
            </a:solidFill>
            <a:prstDash val="solid"/>
          </a:ln>
        </p:spPr>
      </p:sp>
      <p:sp>
        <p:nvSpPr>
          <p:cNvPr id="21" name="s2-step-value">
            <a:extLst xmlns:a="http://schemas.openxmlformats.org/drawingml/2006/main">
              <a:ext uri="{FF2B5EF4-FFF2-40B4-BE49-F238E27FC236}">
                <a16:creationId xmlns:a16="http://schemas.microsoft.com/office/drawing/2014/main" id="{6B51B2B4-B095-4144-AD31-31A390798E57}"/>
              </a:ext>
            </a:extLst>
          </p:cNvPr>
          <p:cNvSpPr>
            <a:spLocks xmlns:a="http://schemas.openxmlformats.org/drawingml/2006/main" noGrp="1"/>
          </p:cNvSpPr>
          <p:nvPr/>
        </p:nvSpPr>
        <p:spPr>
          <a:xfrm xmlns:a="http://schemas.openxmlformats.org/drawingml/2006/main">
            <a:off x="114300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12</a:t>
            </a:r>
          </a:p>
        </p:txBody>
      </p:sp>
      <p:sp>
        <p:nvSpPr>
          <p:cNvPr id="22" name="s2-step-label">
            <a:extLst xmlns:a="http://schemas.openxmlformats.org/drawingml/2006/main">
              <a:ext uri="{FF2B5EF4-FFF2-40B4-BE49-F238E27FC236}">
                <a16:creationId xmlns:a16="http://schemas.microsoft.com/office/drawing/2014/main" id="{37ABE640-5F80-4B3E-892F-822F9B8C0FEF}"/>
              </a:ext>
            </a:extLst>
          </p:cNvPr>
          <p:cNvSpPr>
            <a:spLocks xmlns:a="http://schemas.openxmlformats.org/drawingml/2006/main" noGrp="1"/>
          </p:cNvSpPr>
          <p:nvPr/>
        </p:nvSpPr>
        <p:spPr>
          <a:xfrm xmlns:a="http://schemas.openxmlformats.org/drawingml/2006/main">
            <a:off x="114300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Stage-2 optimizer steps</a:t>
            </a:r>
          </a:p>
        </p:txBody>
      </p:sp>
      <p:sp>
        <p:nvSpPr>
          <p:cNvPr id="23" name="">
            <a:extLst xmlns:a="http://schemas.openxmlformats.org/drawingml/2006/main">
              <a:ext uri="{FF2B5EF4-FFF2-40B4-BE49-F238E27FC236}">
                <a16:creationId xmlns:a16="http://schemas.microsoft.com/office/drawing/2014/main" id="{E762D2CC-92E9-42C3-A319-E90054703029}"/>
              </a:ext>
            </a:extLst>
          </p:cNvPr>
          <p:cNvSpPr>
            <a:spLocks xmlns:a="http://schemas.openxmlformats.org/drawingml/2006/main" noGrp="1"/>
          </p:cNvSpPr>
          <p:nvPr/>
        </p:nvSpPr>
        <p:spPr>
          <a:xfrm xmlns:a="http://schemas.openxmlformats.org/drawingml/2006/main">
            <a:off x="4000500" y="5429250"/>
            <a:ext cx="2000250" cy="0"/>
          </a:xfrm>
          <a:prstGeom xmlns:a="http://schemas.openxmlformats.org/drawingml/2006/main" prst="line">
            <a:avLst/>
          </a:prstGeom>
          <a:noFill xmlns:a="http://schemas.openxmlformats.org/drawingml/2006/main"/>
          <a:ln xmlns:a="http://schemas.openxmlformats.org/drawingml/2006/main" w="38100">
            <a:solidFill>
              <a:srgbClr val="C56D4A"/>
            </a:solidFill>
            <a:prstDash val="solid"/>
          </a:ln>
        </p:spPr>
      </p:sp>
      <p:sp>
        <p:nvSpPr>
          <p:cNvPr id="24" name="s2-time-value">
            <a:extLst xmlns:a="http://schemas.openxmlformats.org/drawingml/2006/main">
              <a:ext uri="{FF2B5EF4-FFF2-40B4-BE49-F238E27FC236}">
                <a16:creationId xmlns:a16="http://schemas.microsoft.com/office/drawing/2014/main" id="{9CC4F79F-D9F8-48B3-872B-B026178BAA20}"/>
              </a:ext>
            </a:extLst>
          </p:cNvPr>
          <p:cNvSpPr>
            <a:spLocks xmlns:a="http://schemas.openxmlformats.org/drawingml/2006/main" noGrp="1"/>
          </p:cNvSpPr>
          <p:nvPr/>
        </p:nvSpPr>
        <p:spPr>
          <a:xfrm xmlns:a="http://schemas.openxmlformats.org/drawingml/2006/main">
            <a:off x="400050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7m</a:t>
            </a:r>
          </a:p>
        </p:txBody>
      </p:sp>
      <p:sp>
        <p:nvSpPr>
          <p:cNvPr id="25" name="s2-time-label">
            <a:extLst xmlns:a="http://schemas.openxmlformats.org/drawingml/2006/main">
              <a:ext uri="{FF2B5EF4-FFF2-40B4-BE49-F238E27FC236}">
                <a16:creationId xmlns:a16="http://schemas.microsoft.com/office/drawing/2014/main" id="{CB2122EE-DADA-4A0F-891F-F74115A78583}"/>
              </a:ext>
            </a:extLst>
          </p:cNvPr>
          <p:cNvSpPr>
            <a:spLocks xmlns:a="http://schemas.openxmlformats.org/drawingml/2006/main" noGrp="1"/>
          </p:cNvSpPr>
          <p:nvPr/>
        </p:nvSpPr>
        <p:spPr>
          <a:xfrm xmlns:a="http://schemas.openxmlformats.org/drawingml/2006/main">
            <a:off x="400050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training wall time</a:t>
            </a:r>
          </a:p>
        </p:txBody>
      </p:sp>
      <p:sp>
        <p:nvSpPr>
          <p:cNvPr id="26" name="">
            <a:extLst xmlns:a="http://schemas.openxmlformats.org/drawingml/2006/main">
              <a:ext uri="{FF2B5EF4-FFF2-40B4-BE49-F238E27FC236}">
                <a16:creationId xmlns:a16="http://schemas.microsoft.com/office/drawing/2014/main" id="{C7524F4B-D2BD-4A4C-B207-7A510631C876}"/>
              </a:ext>
            </a:extLst>
          </p:cNvPr>
          <p:cNvSpPr>
            <a:spLocks xmlns:a="http://schemas.openxmlformats.org/drawingml/2006/main" noGrp="1"/>
          </p:cNvSpPr>
          <p:nvPr/>
        </p:nvSpPr>
        <p:spPr>
          <a:xfrm xmlns:a="http://schemas.openxmlformats.org/drawingml/2006/main">
            <a:off x="6858000" y="5429250"/>
            <a:ext cx="2000250" cy="0"/>
          </a:xfrm>
          <a:prstGeom xmlns:a="http://schemas.openxmlformats.org/drawingml/2006/main" prst="line">
            <a:avLst/>
          </a:prstGeom>
          <a:noFill xmlns:a="http://schemas.openxmlformats.org/drawingml/2006/main"/>
          <a:ln xmlns:a="http://schemas.openxmlformats.org/drawingml/2006/main" w="38100">
            <a:solidFill>
              <a:srgbClr val="228B67"/>
            </a:solidFill>
            <a:prstDash val="solid"/>
          </a:ln>
        </p:spPr>
      </p:sp>
      <p:sp>
        <p:nvSpPr>
          <p:cNvPr id="27" name="s2-replay-value">
            <a:extLst xmlns:a="http://schemas.openxmlformats.org/drawingml/2006/main">
              <a:ext uri="{FF2B5EF4-FFF2-40B4-BE49-F238E27FC236}">
                <a16:creationId xmlns:a16="http://schemas.microsoft.com/office/drawing/2014/main" id="{F8FDBD75-7098-4AB7-99BD-8A43F140A042}"/>
              </a:ext>
            </a:extLst>
          </p:cNvPr>
          <p:cNvSpPr>
            <a:spLocks xmlns:a="http://schemas.openxmlformats.org/drawingml/2006/main" noGrp="1"/>
          </p:cNvSpPr>
          <p:nvPr/>
        </p:nvSpPr>
        <p:spPr>
          <a:xfrm xmlns:a="http://schemas.openxmlformats.org/drawingml/2006/main">
            <a:off x="685800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6</a:t>
            </a:r>
          </a:p>
        </p:txBody>
      </p:sp>
      <p:sp>
        <p:nvSpPr>
          <p:cNvPr id="28" name="s2-replay-label">
            <a:extLst xmlns:a="http://schemas.openxmlformats.org/drawingml/2006/main">
              <a:ext uri="{FF2B5EF4-FFF2-40B4-BE49-F238E27FC236}">
                <a16:creationId xmlns:a16="http://schemas.microsoft.com/office/drawing/2014/main" id="{E258F0E0-DD7A-41DF-843D-E3279E949F7B}"/>
              </a:ext>
            </a:extLst>
          </p:cNvPr>
          <p:cNvSpPr>
            <a:spLocks xmlns:a="http://schemas.openxmlformats.org/drawingml/2006/main" noGrp="1"/>
          </p:cNvSpPr>
          <p:nvPr/>
        </p:nvSpPr>
        <p:spPr>
          <a:xfrm xmlns:a="http://schemas.openxmlformats.org/drawingml/2006/main">
            <a:off x="685800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fresh-process episodes</a:t>
            </a:r>
          </a:p>
        </p:txBody>
      </p:sp>
      <p:sp>
        <p:nvSpPr>
          <p:cNvPr id="29" name="">
            <a:extLst xmlns:a="http://schemas.openxmlformats.org/drawingml/2006/main">
              <a:ext uri="{FF2B5EF4-FFF2-40B4-BE49-F238E27FC236}">
                <a16:creationId xmlns:a16="http://schemas.microsoft.com/office/drawing/2014/main" id="{F432B5F4-9E1B-4B72-85E2-5DFC0BACB798}"/>
              </a:ext>
            </a:extLst>
          </p:cNvPr>
          <p:cNvSpPr>
            <a:spLocks xmlns:a="http://schemas.openxmlformats.org/drawingml/2006/main" noGrp="1"/>
          </p:cNvSpPr>
          <p:nvPr/>
        </p:nvSpPr>
        <p:spPr>
          <a:xfrm xmlns:a="http://schemas.openxmlformats.org/drawingml/2006/main">
            <a:off x="9715500" y="5429250"/>
            <a:ext cx="2000250" cy="0"/>
          </a:xfrm>
          <a:prstGeom xmlns:a="http://schemas.openxmlformats.org/drawingml/2006/main" prst="line">
            <a:avLst/>
          </a:prstGeom>
          <a:noFill xmlns:a="http://schemas.openxmlformats.org/drawingml/2006/main"/>
          <a:ln xmlns:a="http://schemas.openxmlformats.org/drawingml/2006/main" w="38100">
            <a:solidFill>
              <a:srgbClr val="D6A84B"/>
            </a:solidFill>
            <a:prstDash val="solid"/>
          </a:ln>
        </p:spPr>
      </p:sp>
      <p:sp>
        <p:nvSpPr>
          <p:cNvPr id="30" name="s2-gpu-value">
            <a:extLst xmlns:a="http://schemas.openxmlformats.org/drawingml/2006/main">
              <a:ext uri="{FF2B5EF4-FFF2-40B4-BE49-F238E27FC236}">
                <a16:creationId xmlns:a16="http://schemas.microsoft.com/office/drawing/2014/main" id="{E68B4812-2C4E-4523-A638-26F136D0BCC4}"/>
              </a:ext>
            </a:extLst>
          </p:cNvPr>
          <p:cNvSpPr>
            <a:spLocks xmlns:a="http://schemas.openxmlformats.org/drawingml/2006/main" noGrp="1"/>
          </p:cNvSpPr>
          <p:nvPr/>
        </p:nvSpPr>
        <p:spPr>
          <a:xfrm xmlns:a="http://schemas.openxmlformats.org/drawingml/2006/main">
            <a:off x="9715500" y="560070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700" b="1">
                <a:solidFill>
                  <a:srgbClr val="071A2B"/>
                </a:solidFill>
              </a:defRPr>
            </a:pPr>
            <a:r>
              <a:rPr sz="2700" b="1">
                <a:solidFill>
                  <a:srgbClr val="071A2B"/>
                </a:solidFill>
              </a:rPr>
              <a:t>1×</a:t>
            </a:r>
          </a:p>
        </p:txBody>
      </p:sp>
      <p:sp>
        <p:nvSpPr>
          <p:cNvPr id="31" name="s2-gpu-label">
            <a:extLst xmlns:a="http://schemas.openxmlformats.org/drawingml/2006/main">
              <a:ext uri="{FF2B5EF4-FFF2-40B4-BE49-F238E27FC236}">
                <a16:creationId xmlns:a16="http://schemas.microsoft.com/office/drawing/2014/main" id="{3E978D4C-95D0-48DF-A6AD-9BF34EE72B94}"/>
              </a:ext>
            </a:extLst>
          </p:cNvPr>
          <p:cNvSpPr>
            <a:spLocks xmlns:a="http://schemas.openxmlformats.org/drawingml/2006/main" noGrp="1"/>
          </p:cNvSpPr>
          <p:nvPr/>
        </p:nvSpPr>
        <p:spPr>
          <a:xfrm xmlns:a="http://schemas.openxmlformats.org/drawingml/2006/main">
            <a:off x="9715500" y="61722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a:solidFill>
                  <a:srgbClr val="64747B"/>
                </a:solidFill>
              </a:defRPr>
            </a:pPr>
            <a:r>
              <a:rPr sz="1050" b="1">
                <a:solidFill>
                  <a:srgbClr val="64747B"/>
                </a:solidFill>
              </a:rPr>
              <a:t>NVIDIA H200 · 139.719 GiB</a:t>
            </a:r>
          </a:p>
        </p:txBody>
      </p:sp>
    </p:spTree>
    <p:extLst>
      <p:ext uri="{BB962C8B-B14F-4D97-AF65-F5344CB8AC3E}">
        <p14:creationId xmlns:p14="http://schemas.microsoft.com/office/powerpoint/2010/main" val="2111542157"/>
      </p:ext>
    </p:extLst>
  </p:cSld>
</p:sld>
</file>

<file path=ppt/slides/slide11.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9" name="rail-11">
            <a:extLst xmlns:a="http://schemas.openxmlformats.org/drawingml/2006/main">
              <a:ext uri="{FF2B5EF4-FFF2-40B4-BE49-F238E27FC236}">
                <a16:creationId xmlns:a16="http://schemas.microsoft.com/office/drawing/2014/main" id="{45253415-ED7F-44A1-8BA2-C3EA19175EFF}"/>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11">
            <a:extLst xmlns:a="http://schemas.openxmlformats.org/drawingml/2006/main">
              <a:ext uri="{FF2B5EF4-FFF2-40B4-BE49-F238E27FC236}">
                <a16:creationId xmlns:a16="http://schemas.microsoft.com/office/drawing/2014/main" id="{C769EFF0-CD2B-4E8F-AAC3-B8EBBBEAC0E3}"/>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11">
            <a:extLst xmlns:a="http://schemas.openxmlformats.org/drawingml/2006/main">
              <a:ext uri="{FF2B5EF4-FFF2-40B4-BE49-F238E27FC236}">
                <a16:creationId xmlns:a16="http://schemas.microsoft.com/office/drawing/2014/main" id="{A6CC07FB-2A85-4CB6-AB55-F3BE8907FE63}"/>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TRAJECTORY EVIDENCE</a:t>
            </a:r>
          </a:p>
        </p:txBody>
      </p:sp>
      <p:sp>
        <p:nvSpPr>
          <p:cNvPr id="4" name="title-11">
            <a:extLst xmlns:a="http://schemas.openxmlformats.org/drawingml/2006/main">
              <a:ext uri="{FF2B5EF4-FFF2-40B4-BE49-F238E27FC236}">
                <a16:creationId xmlns:a16="http://schemas.microsoft.com/office/drawing/2014/main" id="{2E62F51E-0F1F-43B2-A96D-FA05CC7FB77F}"/>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一条完整轨迹：从模糊诉求到安全 side effect</a:t>
            </a:r>
          </a:p>
        </p:txBody>
      </p:sp>
      <p:sp>
        <p:nvSpPr>
          <p:cNvPr id="5" name="subtitle-11">
            <a:extLst xmlns:a="http://schemas.openxmlformats.org/drawingml/2006/main">
              <a:ext uri="{FF2B5EF4-FFF2-40B4-BE49-F238E27FC236}">
                <a16:creationId xmlns:a16="http://schemas.microsoft.com/office/drawing/2014/main" id="{2277AB01-C5B4-4C2F-A2CF-A9B2CB5CE19B}"/>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task=refund-final_holdout-0204 · reward=1.248 · SUCCESS</a:t>
            </a:r>
          </a:p>
        </p:txBody>
      </p:sp>
      <p:sp>
        <p:nvSpPr>
          <p:cNvPr id="6" name="">
            <a:extLst xmlns:a="http://schemas.openxmlformats.org/drawingml/2006/main">
              <a:ext uri="{FF2B5EF4-FFF2-40B4-BE49-F238E27FC236}">
                <a16:creationId xmlns:a16="http://schemas.microsoft.com/office/drawing/2014/main" id="{F10CC192-8472-4B8E-BD24-C634F13FEE98}"/>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11">
            <a:extLst xmlns:a="http://schemas.openxmlformats.org/drawingml/2006/main">
              <a:ext uri="{FF2B5EF4-FFF2-40B4-BE49-F238E27FC236}">
                <a16:creationId xmlns:a16="http://schemas.microsoft.com/office/drawing/2014/main" id="{81E131FE-01DD-48F5-9F00-70B509E4D2C7}"/>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11</a:t>
            </a:r>
          </a:p>
        </p:txBody>
      </p:sp>
      <p:sp>
        <p:nvSpPr>
          <p:cNvPr id="8" name="traj-spine">
            <a:extLst xmlns:a="http://schemas.openxmlformats.org/drawingml/2006/main">
              <a:ext uri="{FF2B5EF4-FFF2-40B4-BE49-F238E27FC236}">
                <a16:creationId xmlns:a16="http://schemas.microsoft.com/office/drawing/2014/main" id="{FDB69B23-061C-45A6-A263-C029D7442EE4}"/>
              </a:ext>
            </a:extLst>
          </p:cNvPr>
          <p:cNvSpPr>
            <a:spLocks xmlns:a="http://schemas.openxmlformats.org/drawingml/2006/main" noGrp="1"/>
          </p:cNvSpPr>
          <p:nvPr/>
        </p:nvSpPr>
        <p:spPr>
          <a:xfrm xmlns:a="http://schemas.openxmlformats.org/drawingml/2006/main">
            <a:off x="1162050" y="2324100"/>
            <a:ext cx="28575" cy="3200400"/>
          </a:xfrm>
          <a:prstGeom xmlns:a="http://schemas.openxmlformats.org/drawingml/2006/main" prst="rect">
            <a:avLst/>
          </a:prstGeom>
          <a:solidFill xmlns:a="http://schemas.openxmlformats.org/drawingml/2006/main">
            <a:srgbClr val="CAD9D8"/>
          </a:solidFill>
          <a:ln xmlns:a="http://schemas.openxmlformats.org/drawingml/2006/main" w="0">
            <a:solidFill>
              <a:srgbClr val="CAD9D8"/>
            </a:solidFill>
            <a:prstDash val="solid"/>
          </a:ln>
        </p:spPr>
      </p:sp>
      <p:sp>
        <p:nvSpPr>
          <p:cNvPr id="9" name="traj-dot-0">
            <a:extLst xmlns:a="http://schemas.openxmlformats.org/drawingml/2006/main">
              <a:ext uri="{FF2B5EF4-FFF2-40B4-BE49-F238E27FC236}">
                <a16:creationId xmlns:a16="http://schemas.microsoft.com/office/drawing/2014/main" id="{A2F43B5E-B037-4A88-96EA-01D6D5E2D2A3}"/>
              </a:ext>
            </a:extLst>
          </p:cNvPr>
          <p:cNvSpPr>
            <a:spLocks xmlns:a="http://schemas.openxmlformats.org/drawingml/2006/main" noGrp="1"/>
          </p:cNvSpPr>
          <p:nvPr/>
        </p:nvSpPr>
        <p:spPr>
          <a:xfrm xmlns:a="http://schemas.openxmlformats.org/drawingml/2006/main">
            <a:off x="1000125" y="2143125"/>
            <a:ext cx="342900" cy="34290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10" name="traj-num-0">
            <a:extLst xmlns:a="http://schemas.openxmlformats.org/drawingml/2006/main">
              <a:ext uri="{FF2B5EF4-FFF2-40B4-BE49-F238E27FC236}">
                <a16:creationId xmlns:a16="http://schemas.microsoft.com/office/drawing/2014/main" id="{0A4601ED-F501-4C31-9AE5-247FF20FF9C2}"/>
              </a:ext>
            </a:extLst>
          </p:cNvPr>
          <p:cNvSpPr>
            <a:spLocks xmlns:a="http://schemas.openxmlformats.org/drawingml/2006/main" noGrp="1"/>
          </p:cNvSpPr>
          <p:nvPr/>
        </p:nvSpPr>
        <p:spPr>
          <a:xfrm xmlns:a="http://schemas.openxmlformats.org/drawingml/2006/main">
            <a:off x="1000125" y="22098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1</a:t>
            </a:r>
          </a:p>
        </p:txBody>
      </p:sp>
      <p:sp>
        <p:nvSpPr>
          <p:cNvPr id="11" name="traj-tool-0">
            <a:extLst xmlns:a="http://schemas.openxmlformats.org/drawingml/2006/main">
              <a:ext uri="{FF2B5EF4-FFF2-40B4-BE49-F238E27FC236}">
                <a16:creationId xmlns:a16="http://schemas.microsoft.com/office/drawing/2014/main" id="{E18CD4E0-F1DE-4D83-AB5A-844E2152DCFE}"/>
              </a:ext>
            </a:extLst>
          </p:cNvPr>
          <p:cNvSpPr>
            <a:spLocks xmlns:a="http://schemas.openxmlformats.org/drawingml/2006/main" noGrp="1"/>
          </p:cNvSpPr>
          <p:nvPr/>
        </p:nvSpPr>
        <p:spPr>
          <a:xfrm xmlns:a="http://schemas.openxmlformats.org/drawingml/2006/main">
            <a:off x="1666875" y="2133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request_identity</a:t>
            </a:r>
          </a:p>
        </p:txBody>
      </p:sp>
      <p:sp>
        <p:nvSpPr>
          <p:cNvPr id="12" name="traj-obs-0">
            <a:extLst xmlns:a="http://schemas.openxmlformats.org/drawingml/2006/main">
              <a:ext uri="{FF2B5EF4-FFF2-40B4-BE49-F238E27FC236}">
                <a16:creationId xmlns:a16="http://schemas.microsoft.com/office/drawing/2014/main" id="{3C193EBC-C905-48A5-BD4C-E0A8A9F96C2F}"/>
              </a:ext>
            </a:extLst>
          </p:cNvPr>
          <p:cNvSpPr>
            <a:spLocks xmlns:a="http://schemas.openxmlformats.org/drawingml/2006/main" noGrp="1"/>
          </p:cNvSpPr>
          <p:nvPr/>
        </p:nvSpPr>
        <p:spPr>
          <a:xfrm xmlns:a="http://schemas.openxmlformats.org/drawingml/2006/main">
            <a:off x="4333875" y="21336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4747B"/>
                </a:solidFill>
              </a:defRPr>
            </a:pPr>
            <a:r>
              <a:rPr sz="900">
                <a:solidFill>
                  <a:srgbClr val="64747B"/>
                </a:solidFill>
              </a:rPr>
              <a:t>{"email":"customer0204@example.com","phone_last4":"2369"}</a:t>
            </a:r>
          </a:p>
        </p:txBody>
      </p:sp>
      <p:sp>
        <p:nvSpPr>
          <p:cNvPr id="13" name="traj-dot-1">
            <a:extLst xmlns:a="http://schemas.openxmlformats.org/drawingml/2006/main">
              <a:ext uri="{FF2B5EF4-FFF2-40B4-BE49-F238E27FC236}">
                <a16:creationId xmlns:a16="http://schemas.microsoft.com/office/drawing/2014/main" id="{D6D085A7-6BED-47C8-9090-2E6E867BC9D1}"/>
              </a:ext>
            </a:extLst>
          </p:cNvPr>
          <p:cNvSpPr>
            <a:spLocks xmlns:a="http://schemas.openxmlformats.org/drawingml/2006/main" noGrp="1"/>
          </p:cNvSpPr>
          <p:nvPr/>
        </p:nvSpPr>
        <p:spPr>
          <a:xfrm xmlns:a="http://schemas.openxmlformats.org/drawingml/2006/main">
            <a:off x="1000125" y="2676525"/>
            <a:ext cx="342900" cy="34290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14" name="traj-num-1">
            <a:extLst xmlns:a="http://schemas.openxmlformats.org/drawingml/2006/main">
              <a:ext uri="{FF2B5EF4-FFF2-40B4-BE49-F238E27FC236}">
                <a16:creationId xmlns:a16="http://schemas.microsoft.com/office/drawing/2014/main" id="{4F76CFCF-EE40-470C-A7EC-3AD5E792F417}"/>
              </a:ext>
            </a:extLst>
          </p:cNvPr>
          <p:cNvSpPr>
            <a:spLocks xmlns:a="http://schemas.openxmlformats.org/drawingml/2006/main" noGrp="1"/>
          </p:cNvSpPr>
          <p:nvPr/>
        </p:nvSpPr>
        <p:spPr>
          <a:xfrm xmlns:a="http://schemas.openxmlformats.org/drawingml/2006/main">
            <a:off x="1000125" y="2743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2</a:t>
            </a:r>
          </a:p>
        </p:txBody>
      </p:sp>
      <p:sp>
        <p:nvSpPr>
          <p:cNvPr id="15" name="traj-tool-1">
            <a:extLst xmlns:a="http://schemas.openxmlformats.org/drawingml/2006/main">
              <a:ext uri="{FF2B5EF4-FFF2-40B4-BE49-F238E27FC236}">
                <a16:creationId xmlns:a16="http://schemas.microsoft.com/office/drawing/2014/main" id="{9E9CF642-A673-4288-9B12-F7DD30BC70E2}"/>
              </a:ext>
            </a:extLst>
          </p:cNvPr>
          <p:cNvSpPr>
            <a:spLocks xmlns:a="http://schemas.openxmlformats.org/drawingml/2006/main" noGrp="1"/>
          </p:cNvSpPr>
          <p:nvPr/>
        </p:nvSpPr>
        <p:spPr>
          <a:xfrm xmlns:a="http://schemas.openxmlformats.org/drawingml/2006/main">
            <a:off x="1666875" y="26670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lookup_customer</a:t>
            </a:r>
          </a:p>
        </p:txBody>
      </p:sp>
      <p:sp>
        <p:nvSpPr>
          <p:cNvPr id="16" name="traj-obs-1">
            <a:extLst xmlns:a="http://schemas.openxmlformats.org/drawingml/2006/main">
              <a:ext uri="{FF2B5EF4-FFF2-40B4-BE49-F238E27FC236}">
                <a16:creationId xmlns:a16="http://schemas.microsoft.com/office/drawing/2014/main" id="{69BE1AFF-8AB9-4F7A-AA4D-75AEC9194BD0}"/>
              </a:ext>
            </a:extLst>
          </p:cNvPr>
          <p:cNvSpPr>
            <a:spLocks xmlns:a="http://schemas.openxmlformats.org/drawingml/2006/main" noGrp="1"/>
          </p:cNvSpPr>
          <p:nvPr/>
        </p:nvSpPr>
        <p:spPr>
          <a:xfrm xmlns:a="http://schemas.openxmlformats.org/drawingml/2006/main">
            <a:off x="4333875" y="26670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4747B"/>
                </a:solidFill>
              </a:defRPr>
            </a:pPr>
            <a:r>
              <a:rPr sz="900">
                <a:solidFill>
                  <a:srgbClr val="64747B"/>
                </a:solidFill>
              </a:rPr>
              <a:t>{"customer_id":"CUS-1204","verified":true}</a:t>
            </a:r>
          </a:p>
        </p:txBody>
      </p:sp>
      <p:sp>
        <p:nvSpPr>
          <p:cNvPr id="17" name="traj-dot-2">
            <a:extLst xmlns:a="http://schemas.openxmlformats.org/drawingml/2006/main">
              <a:ext uri="{FF2B5EF4-FFF2-40B4-BE49-F238E27FC236}">
                <a16:creationId xmlns:a16="http://schemas.microsoft.com/office/drawing/2014/main" id="{1242D489-DD8E-4CA4-96E2-71FFC65E0106}"/>
              </a:ext>
            </a:extLst>
          </p:cNvPr>
          <p:cNvSpPr>
            <a:spLocks xmlns:a="http://schemas.openxmlformats.org/drawingml/2006/main" noGrp="1"/>
          </p:cNvSpPr>
          <p:nvPr/>
        </p:nvSpPr>
        <p:spPr>
          <a:xfrm xmlns:a="http://schemas.openxmlformats.org/drawingml/2006/main">
            <a:off x="1000125" y="3209925"/>
            <a:ext cx="342900" cy="34290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18" name="traj-num-2">
            <a:extLst xmlns:a="http://schemas.openxmlformats.org/drawingml/2006/main">
              <a:ext uri="{FF2B5EF4-FFF2-40B4-BE49-F238E27FC236}">
                <a16:creationId xmlns:a16="http://schemas.microsoft.com/office/drawing/2014/main" id="{750B89FD-AA1A-42F6-993B-FAAFFC66259D}"/>
              </a:ext>
            </a:extLst>
          </p:cNvPr>
          <p:cNvSpPr>
            <a:spLocks xmlns:a="http://schemas.openxmlformats.org/drawingml/2006/main" noGrp="1"/>
          </p:cNvSpPr>
          <p:nvPr/>
        </p:nvSpPr>
        <p:spPr>
          <a:xfrm xmlns:a="http://schemas.openxmlformats.org/drawingml/2006/main">
            <a:off x="1000125" y="32766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3</a:t>
            </a:r>
          </a:p>
        </p:txBody>
      </p:sp>
      <p:sp>
        <p:nvSpPr>
          <p:cNvPr id="19" name="traj-tool-2">
            <a:extLst xmlns:a="http://schemas.openxmlformats.org/drawingml/2006/main">
              <a:ext uri="{FF2B5EF4-FFF2-40B4-BE49-F238E27FC236}">
                <a16:creationId xmlns:a16="http://schemas.microsoft.com/office/drawing/2014/main" id="{05E14A60-AE03-4821-B28C-80D94C3C0386}"/>
              </a:ext>
            </a:extLst>
          </p:cNvPr>
          <p:cNvSpPr>
            <a:spLocks xmlns:a="http://schemas.openxmlformats.org/drawingml/2006/main" noGrp="1"/>
          </p:cNvSpPr>
          <p:nvPr/>
        </p:nvSpPr>
        <p:spPr>
          <a:xfrm xmlns:a="http://schemas.openxmlformats.org/drawingml/2006/main">
            <a:off x="1666875" y="32004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list_orders</a:t>
            </a:r>
          </a:p>
        </p:txBody>
      </p:sp>
      <p:sp>
        <p:nvSpPr>
          <p:cNvPr id="20" name="traj-obs-2">
            <a:extLst xmlns:a="http://schemas.openxmlformats.org/drawingml/2006/main">
              <a:ext uri="{FF2B5EF4-FFF2-40B4-BE49-F238E27FC236}">
                <a16:creationId xmlns:a16="http://schemas.microsoft.com/office/drawing/2014/main" id="{FE7B8E6E-7FA9-4938-9833-9C0361C3BAE3}"/>
              </a:ext>
            </a:extLst>
          </p:cNvPr>
          <p:cNvSpPr>
            <a:spLocks xmlns:a="http://schemas.openxmlformats.org/drawingml/2006/main" noGrp="1"/>
          </p:cNvSpPr>
          <p:nvPr/>
        </p:nvSpPr>
        <p:spPr>
          <a:xfrm xmlns:a="http://schemas.openxmlformats.org/drawingml/2006/main">
            <a:off x="4333875" y="32004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4747B"/>
                </a:solidFill>
              </a:defRPr>
            </a:pPr>
            <a:r>
              <a:rPr sz="900">
                <a:solidFill>
                  <a:srgbClr val="64747B"/>
                </a:solidFill>
              </a:rPr>
              <a:t>{"orders":[{"amount":349,"currency":"CNY","order_id":"ORD-2026-4204"},{"amount":478.13,…</a:t>
            </a:r>
          </a:p>
        </p:txBody>
      </p:sp>
      <p:sp>
        <p:nvSpPr>
          <p:cNvPr id="21" name="traj-dot-3">
            <a:extLst xmlns:a="http://schemas.openxmlformats.org/drawingml/2006/main">
              <a:ext uri="{FF2B5EF4-FFF2-40B4-BE49-F238E27FC236}">
                <a16:creationId xmlns:a16="http://schemas.microsoft.com/office/drawing/2014/main" id="{1A9788F3-8192-42AC-97A3-970FC45095C4}"/>
              </a:ext>
            </a:extLst>
          </p:cNvPr>
          <p:cNvSpPr>
            <a:spLocks xmlns:a="http://schemas.openxmlformats.org/drawingml/2006/main" noGrp="1"/>
          </p:cNvSpPr>
          <p:nvPr/>
        </p:nvSpPr>
        <p:spPr>
          <a:xfrm xmlns:a="http://schemas.openxmlformats.org/drawingml/2006/main">
            <a:off x="1000125" y="3743325"/>
            <a:ext cx="342900" cy="34290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22" name="traj-num-3">
            <a:extLst xmlns:a="http://schemas.openxmlformats.org/drawingml/2006/main">
              <a:ext uri="{FF2B5EF4-FFF2-40B4-BE49-F238E27FC236}">
                <a16:creationId xmlns:a16="http://schemas.microsoft.com/office/drawing/2014/main" id="{A9C27B96-4DC8-48CA-B83C-307CF3392E48}"/>
              </a:ext>
            </a:extLst>
          </p:cNvPr>
          <p:cNvSpPr>
            <a:spLocks xmlns:a="http://schemas.openxmlformats.org/drawingml/2006/main" noGrp="1"/>
          </p:cNvSpPr>
          <p:nvPr/>
        </p:nvSpPr>
        <p:spPr>
          <a:xfrm xmlns:a="http://schemas.openxmlformats.org/drawingml/2006/main">
            <a:off x="1000125" y="38100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4</a:t>
            </a:r>
          </a:p>
        </p:txBody>
      </p:sp>
      <p:sp>
        <p:nvSpPr>
          <p:cNvPr id="23" name="traj-tool-3">
            <a:extLst xmlns:a="http://schemas.openxmlformats.org/drawingml/2006/main">
              <a:ext uri="{FF2B5EF4-FFF2-40B4-BE49-F238E27FC236}">
                <a16:creationId xmlns:a16="http://schemas.microsoft.com/office/drawing/2014/main" id="{BBEA6BE3-CB94-4D4F-B7FB-B3F5ED0D739A}"/>
              </a:ext>
            </a:extLst>
          </p:cNvPr>
          <p:cNvSpPr>
            <a:spLocks xmlns:a="http://schemas.openxmlformats.org/drawingml/2006/main" noGrp="1"/>
          </p:cNvSpPr>
          <p:nvPr/>
        </p:nvSpPr>
        <p:spPr>
          <a:xfrm xmlns:a="http://schemas.openxmlformats.org/drawingml/2006/main">
            <a:off x="1666875" y="3733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get_payment_history</a:t>
            </a:r>
          </a:p>
        </p:txBody>
      </p:sp>
      <p:sp>
        <p:nvSpPr>
          <p:cNvPr id="24" name="traj-obs-3">
            <a:extLst xmlns:a="http://schemas.openxmlformats.org/drawingml/2006/main">
              <a:ext uri="{FF2B5EF4-FFF2-40B4-BE49-F238E27FC236}">
                <a16:creationId xmlns:a16="http://schemas.microsoft.com/office/drawing/2014/main" id="{F873FD7A-20B1-4AA5-8302-41B5A2F02EF9}"/>
              </a:ext>
            </a:extLst>
          </p:cNvPr>
          <p:cNvSpPr>
            <a:spLocks xmlns:a="http://schemas.openxmlformats.org/drawingml/2006/main" noGrp="1"/>
          </p:cNvSpPr>
          <p:nvPr/>
        </p:nvSpPr>
        <p:spPr>
          <a:xfrm xmlns:a="http://schemas.openxmlformats.org/drawingml/2006/main">
            <a:off x="4333875" y="37338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4747B"/>
                </a:solidFill>
              </a:defRPr>
            </a:pPr>
            <a:r>
              <a:rPr sz="900">
                <a:solidFill>
                  <a:srgbClr val="64747B"/>
                </a:solidFill>
              </a:rPr>
              <a:t>{"charges":[{"amount":349,"captured_at":"2026-07-25T09:31:08+08:00","charge_id":"CHG-74…</a:t>
            </a:r>
          </a:p>
        </p:txBody>
      </p:sp>
      <p:sp>
        <p:nvSpPr>
          <p:cNvPr id="25" name="traj-dot-4">
            <a:extLst xmlns:a="http://schemas.openxmlformats.org/drawingml/2006/main">
              <a:ext uri="{FF2B5EF4-FFF2-40B4-BE49-F238E27FC236}">
                <a16:creationId xmlns:a16="http://schemas.microsoft.com/office/drawing/2014/main" id="{0D84FB06-9BC4-4281-A720-6F5882A9797C}"/>
              </a:ext>
            </a:extLst>
          </p:cNvPr>
          <p:cNvSpPr>
            <a:spLocks xmlns:a="http://schemas.openxmlformats.org/drawingml/2006/main" noGrp="1"/>
          </p:cNvSpPr>
          <p:nvPr/>
        </p:nvSpPr>
        <p:spPr>
          <a:xfrm xmlns:a="http://schemas.openxmlformats.org/drawingml/2006/main">
            <a:off x="1000125" y="4276725"/>
            <a:ext cx="342900" cy="34290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26" name="traj-num-4">
            <a:extLst xmlns:a="http://schemas.openxmlformats.org/drawingml/2006/main">
              <a:ext uri="{FF2B5EF4-FFF2-40B4-BE49-F238E27FC236}">
                <a16:creationId xmlns:a16="http://schemas.microsoft.com/office/drawing/2014/main" id="{3B476BE7-5CAA-487A-BC70-46E6A2EBB63C}"/>
              </a:ext>
            </a:extLst>
          </p:cNvPr>
          <p:cNvSpPr>
            <a:spLocks xmlns:a="http://schemas.openxmlformats.org/drawingml/2006/main" noGrp="1"/>
          </p:cNvSpPr>
          <p:nvPr/>
        </p:nvSpPr>
        <p:spPr>
          <a:xfrm xmlns:a="http://schemas.openxmlformats.org/drawingml/2006/main">
            <a:off x="1000125" y="43434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5</a:t>
            </a:r>
          </a:p>
        </p:txBody>
      </p:sp>
      <p:sp>
        <p:nvSpPr>
          <p:cNvPr id="27" name="traj-tool-4">
            <a:extLst xmlns:a="http://schemas.openxmlformats.org/drawingml/2006/main">
              <a:ext uri="{FF2B5EF4-FFF2-40B4-BE49-F238E27FC236}">
                <a16:creationId xmlns:a16="http://schemas.microsoft.com/office/drawing/2014/main" id="{78E7AE13-F0C6-41D7-A49B-E028021ECAB6}"/>
              </a:ext>
            </a:extLst>
          </p:cNvPr>
          <p:cNvSpPr>
            <a:spLocks xmlns:a="http://schemas.openxmlformats.org/drawingml/2006/main" noGrp="1"/>
          </p:cNvSpPr>
          <p:nvPr/>
        </p:nvSpPr>
        <p:spPr>
          <a:xfrm xmlns:a="http://schemas.openxmlformats.org/drawingml/2006/main">
            <a:off x="1666875" y="4267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get_refund_policy</a:t>
            </a:r>
          </a:p>
        </p:txBody>
      </p:sp>
      <p:sp>
        <p:nvSpPr>
          <p:cNvPr id="28" name="traj-obs-4">
            <a:extLst xmlns:a="http://schemas.openxmlformats.org/drawingml/2006/main">
              <a:ext uri="{FF2B5EF4-FFF2-40B4-BE49-F238E27FC236}">
                <a16:creationId xmlns:a16="http://schemas.microsoft.com/office/drawing/2014/main" id="{18993677-DA6C-4F15-B52A-C050A2D67E14}"/>
              </a:ext>
            </a:extLst>
          </p:cNvPr>
          <p:cNvSpPr>
            <a:spLocks xmlns:a="http://schemas.openxmlformats.org/drawingml/2006/main" noGrp="1"/>
          </p:cNvSpPr>
          <p:nvPr/>
        </p:nvSpPr>
        <p:spPr>
          <a:xfrm xmlns:a="http://schemas.openxmlformats.org/drawingml/2006/main">
            <a:off x="4333875" y="42672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4747B"/>
                </a:solidFill>
              </a:defRPr>
            </a:pPr>
            <a:r>
              <a:rPr sz="900">
                <a:solidFill>
                  <a:srgbClr val="64747B"/>
                </a:solidFill>
              </a:rPr>
              <a:t>{"arrival_window":"3-5 business days","currency":"CNY","eligible":true,"max_refund":349…</a:t>
            </a:r>
          </a:p>
        </p:txBody>
      </p:sp>
      <p:sp>
        <p:nvSpPr>
          <p:cNvPr id="29" name="traj-dot-5">
            <a:extLst xmlns:a="http://schemas.openxmlformats.org/drawingml/2006/main">
              <a:ext uri="{FF2B5EF4-FFF2-40B4-BE49-F238E27FC236}">
                <a16:creationId xmlns:a16="http://schemas.microsoft.com/office/drawing/2014/main" id="{DE7B7989-CE07-484E-AC13-8A30FB08F4BC}"/>
              </a:ext>
            </a:extLst>
          </p:cNvPr>
          <p:cNvSpPr>
            <a:spLocks xmlns:a="http://schemas.openxmlformats.org/drawingml/2006/main" noGrp="1"/>
          </p:cNvSpPr>
          <p:nvPr/>
        </p:nvSpPr>
        <p:spPr>
          <a:xfrm xmlns:a="http://schemas.openxmlformats.org/drawingml/2006/main">
            <a:off x="1000125" y="4810125"/>
            <a:ext cx="342900" cy="34290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30" name="traj-num-5">
            <a:extLst xmlns:a="http://schemas.openxmlformats.org/drawingml/2006/main">
              <a:ext uri="{FF2B5EF4-FFF2-40B4-BE49-F238E27FC236}">
                <a16:creationId xmlns:a16="http://schemas.microsoft.com/office/drawing/2014/main" id="{79A2A69B-3F5B-43CD-A1CD-01A4399D2C85}"/>
              </a:ext>
            </a:extLst>
          </p:cNvPr>
          <p:cNvSpPr>
            <a:spLocks xmlns:a="http://schemas.openxmlformats.org/drawingml/2006/main" noGrp="1"/>
          </p:cNvSpPr>
          <p:nvPr/>
        </p:nvSpPr>
        <p:spPr>
          <a:xfrm xmlns:a="http://schemas.openxmlformats.org/drawingml/2006/main">
            <a:off x="1000125" y="48768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6</a:t>
            </a:r>
          </a:p>
        </p:txBody>
      </p:sp>
      <p:sp>
        <p:nvSpPr>
          <p:cNvPr id="31" name="traj-tool-5">
            <a:extLst xmlns:a="http://schemas.openxmlformats.org/drawingml/2006/main">
              <a:ext uri="{FF2B5EF4-FFF2-40B4-BE49-F238E27FC236}">
                <a16:creationId xmlns:a16="http://schemas.microsoft.com/office/drawing/2014/main" id="{20867DE7-2517-4FB5-A65F-79C49C426B27}"/>
              </a:ext>
            </a:extLst>
          </p:cNvPr>
          <p:cNvSpPr>
            <a:spLocks xmlns:a="http://schemas.openxmlformats.org/drawingml/2006/main" noGrp="1"/>
          </p:cNvSpPr>
          <p:nvPr/>
        </p:nvSpPr>
        <p:spPr>
          <a:xfrm xmlns:a="http://schemas.openxmlformats.org/drawingml/2006/main">
            <a:off x="1666875" y="4800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request_confirmation</a:t>
            </a:r>
          </a:p>
        </p:txBody>
      </p:sp>
      <p:sp>
        <p:nvSpPr>
          <p:cNvPr id="32" name="traj-obs-5">
            <a:extLst xmlns:a="http://schemas.openxmlformats.org/drawingml/2006/main">
              <a:ext uri="{FF2B5EF4-FFF2-40B4-BE49-F238E27FC236}">
                <a16:creationId xmlns:a16="http://schemas.microsoft.com/office/drawing/2014/main" id="{E341F772-7E94-437B-9D97-6A3F832A9AF7}"/>
              </a:ext>
            </a:extLst>
          </p:cNvPr>
          <p:cNvSpPr>
            <a:spLocks xmlns:a="http://schemas.openxmlformats.org/drawingml/2006/main" noGrp="1"/>
          </p:cNvSpPr>
          <p:nvPr/>
        </p:nvSpPr>
        <p:spPr>
          <a:xfrm xmlns:a="http://schemas.openxmlformats.org/drawingml/2006/main">
            <a:off x="4333875" y="48006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4747B"/>
                </a:solidFill>
              </a:defRPr>
            </a:pPr>
            <a:r>
              <a:rPr sz="900">
                <a:solidFill>
                  <a:srgbClr val="64747B"/>
                </a:solidFill>
              </a:rPr>
              <a:t>{"confirmed":true,"user_message":"I confirm refunding only CHG-7409 for CNY 349.00."}</a:t>
            </a:r>
          </a:p>
        </p:txBody>
      </p:sp>
      <p:sp>
        <p:nvSpPr>
          <p:cNvPr id="33" name="traj-dot-6">
            <a:extLst xmlns:a="http://schemas.openxmlformats.org/drawingml/2006/main">
              <a:ext uri="{FF2B5EF4-FFF2-40B4-BE49-F238E27FC236}">
                <a16:creationId xmlns:a16="http://schemas.microsoft.com/office/drawing/2014/main" id="{785369F1-71C8-4DC9-9DB7-FE8CFEAA473A}"/>
              </a:ext>
            </a:extLst>
          </p:cNvPr>
          <p:cNvSpPr>
            <a:spLocks xmlns:a="http://schemas.openxmlformats.org/drawingml/2006/main" noGrp="1"/>
          </p:cNvSpPr>
          <p:nvPr/>
        </p:nvSpPr>
        <p:spPr>
          <a:xfrm xmlns:a="http://schemas.openxmlformats.org/drawingml/2006/main">
            <a:off x="1000125" y="5343525"/>
            <a:ext cx="342900" cy="342900"/>
          </a:xfrm>
          <a:prstGeom xmlns:a="http://schemas.openxmlformats.org/drawingml/2006/main" prst="roundRect">
            <a:avLst>
              <a:gd name="adj" fmla="val 50000"/>
            </a:avLst>
          </a:prstGeom>
          <a:solidFill xmlns:a="http://schemas.openxmlformats.org/drawingml/2006/main">
            <a:srgbClr val="18A6A6"/>
          </a:solidFill>
          <a:ln xmlns:a="http://schemas.openxmlformats.org/drawingml/2006/main" w="0">
            <a:solidFill>
              <a:srgbClr val="18A6A6"/>
            </a:solidFill>
            <a:prstDash val="solid"/>
          </a:ln>
        </p:spPr>
      </p:sp>
      <p:sp>
        <p:nvSpPr>
          <p:cNvPr id="34" name="traj-num-6">
            <a:extLst xmlns:a="http://schemas.openxmlformats.org/drawingml/2006/main">
              <a:ext uri="{FF2B5EF4-FFF2-40B4-BE49-F238E27FC236}">
                <a16:creationId xmlns:a16="http://schemas.microsoft.com/office/drawing/2014/main" id="{14830442-2447-4C39-B8DA-3EFC975408B5}"/>
              </a:ext>
            </a:extLst>
          </p:cNvPr>
          <p:cNvSpPr>
            <a:spLocks xmlns:a="http://schemas.openxmlformats.org/drawingml/2006/main" noGrp="1"/>
          </p:cNvSpPr>
          <p:nvPr/>
        </p:nvSpPr>
        <p:spPr>
          <a:xfrm xmlns:a="http://schemas.openxmlformats.org/drawingml/2006/main">
            <a:off x="1000125" y="5410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defRPr>
            </a:pPr>
            <a:r>
              <a:rPr sz="1050" b="1">
                <a:solidFill>
                  <a:srgbClr val="FFFFFF"/>
                </a:solidFill>
              </a:rPr>
              <a:t>7</a:t>
            </a:r>
          </a:p>
        </p:txBody>
      </p:sp>
      <p:sp>
        <p:nvSpPr>
          <p:cNvPr id="35" name="traj-tool-6">
            <a:extLst xmlns:a="http://schemas.openxmlformats.org/drawingml/2006/main">
              <a:ext uri="{FF2B5EF4-FFF2-40B4-BE49-F238E27FC236}">
                <a16:creationId xmlns:a16="http://schemas.microsoft.com/office/drawing/2014/main" id="{AE0C56DA-FFAF-4C93-B9F7-24C1053DA089}"/>
              </a:ext>
            </a:extLst>
          </p:cNvPr>
          <p:cNvSpPr>
            <a:spLocks xmlns:a="http://schemas.openxmlformats.org/drawingml/2006/main" noGrp="1"/>
          </p:cNvSpPr>
          <p:nvPr/>
        </p:nvSpPr>
        <p:spPr>
          <a:xfrm xmlns:a="http://schemas.openxmlformats.org/drawingml/2006/main">
            <a:off x="1666875" y="53340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create_refund</a:t>
            </a:r>
          </a:p>
        </p:txBody>
      </p:sp>
      <p:sp>
        <p:nvSpPr>
          <p:cNvPr id="36" name="traj-obs-6">
            <a:extLst xmlns:a="http://schemas.openxmlformats.org/drawingml/2006/main">
              <a:ext uri="{FF2B5EF4-FFF2-40B4-BE49-F238E27FC236}">
                <a16:creationId xmlns:a16="http://schemas.microsoft.com/office/drawing/2014/main" id="{4ECECDAC-EDF4-4F7A-AA7C-3A7B6C8B0B77}"/>
              </a:ext>
            </a:extLst>
          </p:cNvPr>
          <p:cNvSpPr>
            <a:spLocks xmlns:a="http://schemas.openxmlformats.org/drawingml/2006/main" noGrp="1"/>
          </p:cNvSpPr>
          <p:nvPr/>
        </p:nvSpPr>
        <p:spPr>
          <a:xfrm xmlns:a="http://schemas.openxmlformats.org/drawingml/2006/main">
            <a:off x="4333875" y="53340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a:solidFill>
                  <a:srgbClr val="64747B"/>
                </a:solidFill>
              </a:defRPr>
            </a:pPr>
            <a:r>
              <a:rPr sz="900">
                <a:solidFill>
                  <a:srgbClr val="64747B"/>
                </a:solidFill>
              </a:rPr>
              <a:t>{"amount":349,"arrival_window":"3-5 business days","currency":"CNY","refund_id":"RF-275…</a:t>
            </a:r>
          </a:p>
        </p:txBody>
      </p:sp>
      <p:sp>
        <p:nvSpPr>
          <p:cNvPr id="37" name="traj-outcome-bg">
            <a:extLst xmlns:a="http://schemas.openxmlformats.org/drawingml/2006/main">
              <a:ext uri="{FF2B5EF4-FFF2-40B4-BE49-F238E27FC236}">
                <a16:creationId xmlns:a16="http://schemas.microsoft.com/office/drawing/2014/main" id="{E3C48573-4DDC-4486-86E2-D0EC282BDE02}"/>
              </a:ext>
            </a:extLst>
          </p:cNvPr>
          <p:cNvSpPr>
            <a:spLocks xmlns:a="http://schemas.openxmlformats.org/drawingml/2006/main" noGrp="1"/>
          </p:cNvSpPr>
          <p:nvPr/>
        </p:nvSpPr>
        <p:spPr>
          <a:xfrm xmlns:a="http://schemas.openxmlformats.org/drawingml/2006/main">
            <a:off x="8191500" y="5753100"/>
            <a:ext cx="2381250"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38" name="traj-outcome-text">
            <a:extLst xmlns:a="http://schemas.openxmlformats.org/drawingml/2006/main">
              <a:ext uri="{FF2B5EF4-FFF2-40B4-BE49-F238E27FC236}">
                <a16:creationId xmlns:a16="http://schemas.microsoft.com/office/drawing/2014/main" id="{9FCAEF98-6A62-4E4F-83FD-DC1A38090412}"/>
              </a:ext>
            </a:extLst>
          </p:cNvPr>
          <p:cNvSpPr>
            <a:spLocks xmlns:a="http://schemas.openxmlformats.org/drawingml/2006/main" noGrp="1"/>
          </p:cNvSpPr>
          <p:nvPr/>
        </p:nvSpPr>
        <p:spPr>
          <a:xfrm xmlns:a="http://schemas.openxmlformats.org/drawingml/2006/main">
            <a:off x="8286750" y="580072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EXACT OUTCOME PASS</a:t>
            </a:r>
          </a:p>
        </p:txBody>
      </p:sp>
    </p:spTree>
    <p:extLst>
      <p:ext uri="{BB962C8B-B14F-4D97-AF65-F5344CB8AC3E}">
        <p14:creationId xmlns:p14="http://schemas.microsoft.com/office/powerpoint/2010/main" val="1058272750"/>
      </p:ext>
    </p:extLst>
  </p:cSld>
</p:sld>
</file>

<file path=ppt/slides/slide12.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14" name="rail-12">
            <a:extLst xmlns:a="http://schemas.openxmlformats.org/drawingml/2006/main">
              <a:ext uri="{FF2B5EF4-FFF2-40B4-BE49-F238E27FC236}">
                <a16:creationId xmlns:a16="http://schemas.microsoft.com/office/drawing/2014/main" id="{7DBED2C2-1109-4B4E-9B1B-44E6B0C902F5}"/>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12">
            <a:extLst xmlns:a="http://schemas.openxmlformats.org/drawingml/2006/main">
              <a:ext uri="{FF2B5EF4-FFF2-40B4-BE49-F238E27FC236}">
                <a16:creationId xmlns:a16="http://schemas.microsoft.com/office/drawing/2014/main" id="{3D416E70-C4D7-465A-9BD3-A4EC634F0FB4}"/>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12">
            <a:extLst xmlns:a="http://schemas.openxmlformats.org/drawingml/2006/main">
              <a:ext uri="{FF2B5EF4-FFF2-40B4-BE49-F238E27FC236}">
                <a16:creationId xmlns:a16="http://schemas.microsoft.com/office/drawing/2014/main" id="{B95EFD7C-A162-4778-B2CD-FC56ABFCCA2E}"/>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BENCHMARK BOUNDARY</a:t>
            </a:r>
          </a:p>
        </p:txBody>
      </p:sp>
      <p:sp>
        <p:nvSpPr>
          <p:cNvPr id="4" name="title-12">
            <a:extLst xmlns:a="http://schemas.openxmlformats.org/drawingml/2006/main">
              <a:ext uri="{FF2B5EF4-FFF2-40B4-BE49-F238E27FC236}">
                <a16:creationId xmlns:a16="http://schemas.microsoft.com/office/drawing/2014/main" id="{235A6694-7EF1-4B58-AC5D-5A497BCAA341}"/>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官方 benchmark 已跑通，但模型分数仍需如实面对</a:t>
            </a:r>
          </a:p>
        </p:txBody>
      </p:sp>
      <p:sp>
        <p:nvSpPr>
          <p:cNvPr id="5" name="subtitle-12">
            <a:extLst xmlns:a="http://schemas.openxmlformats.org/drawingml/2006/main">
              <a:ext uri="{FF2B5EF4-FFF2-40B4-BE49-F238E27FC236}">
                <a16:creationId xmlns:a16="http://schemas.microsoft.com/office/drawing/2014/main" id="{46028726-E087-4706-8CFC-C6209F0401FB}"/>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本次完成官方 BFCL-V4 multi-turn smoke；PASS 只表示结果与评分 artifact 齐全，不能替代模型质量得分。</a:t>
            </a:r>
          </a:p>
        </p:txBody>
      </p:sp>
      <p:sp>
        <p:nvSpPr>
          <p:cNvPr id="6" name="">
            <a:extLst xmlns:a="http://schemas.openxmlformats.org/drawingml/2006/main">
              <a:ext uri="{FF2B5EF4-FFF2-40B4-BE49-F238E27FC236}">
                <a16:creationId xmlns:a16="http://schemas.microsoft.com/office/drawing/2014/main" id="{AB994FC7-7564-4B0E-8AA8-B1AD8CC04D08}"/>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12">
            <a:extLst xmlns:a="http://schemas.openxmlformats.org/drawingml/2006/main">
              <a:ext uri="{FF2B5EF4-FFF2-40B4-BE49-F238E27FC236}">
                <a16:creationId xmlns:a16="http://schemas.microsoft.com/office/drawing/2014/main" id="{EC28B5B3-50CA-4734-8AD7-7E3353AA5D43}"/>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12</a:t>
            </a:r>
          </a:p>
        </p:txBody>
      </p:sp>
      <p:sp>
        <p:nvSpPr>
          <p:cNvPr id="8" name="benchmark-status">
            <a:extLst xmlns:a="http://schemas.openxmlformats.org/drawingml/2006/main">
              <a:ext uri="{FF2B5EF4-FFF2-40B4-BE49-F238E27FC236}">
                <a16:creationId xmlns:a16="http://schemas.microsoft.com/office/drawing/2014/main" id="{D35BB56E-DDB1-440B-8E6E-CD23935A4D81}"/>
              </a:ext>
            </a:extLst>
          </p:cNvPr>
          <p:cNvSpPr>
            <a:spLocks xmlns:a="http://schemas.openxmlformats.org/drawingml/2006/main" noGrp="1"/>
          </p:cNvSpPr>
          <p:nvPr/>
        </p:nvSpPr>
        <p:spPr>
          <a:xfrm xmlns:a="http://schemas.openxmlformats.org/drawingml/2006/main">
            <a:off x="523875" y="2190750"/>
            <a:ext cx="4857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775" b="1">
                <a:solidFill>
                  <a:srgbClr val="C56D4A"/>
                </a:solidFill>
              </a:defRPr>
            </a:pPr>
            <a:r>
              <a:rPr sz="2775" b="1">
                <a:solidFill>
                  <a:srgbClr val="C56D4A"/>
                </a:solidFill>
              </a:rPr>
              <a:t>官方流水线 PASS · base 0.00% · Stage-2 0.00%</a:t>
            </a:r>
          </a:p>
        </p:txBody>
      </p:sp>
      <p:sp>
        <p:nvSpPr>
          <p:cNvPr id="9" name="benchmark-label">
            <a:extLst xmlns:a="http://schemas.openxmlformats.org/drawingml/2006/main">
              <a:ext uri="{FF2B5EF4-FFF2-40B4-BE49-F238E27FC236}">
                <a16:creationId xmlns:a16="http://schemas.microsoft.com/office/drawing/2014/main" id="{488DBD12-EF22-46EE-9473-0E66558DC275}"/>
              </a:ext>
            </a:extLst>
          </p:cNvPr>
          <p:cNvSpPr>
            <a:spLocks xmlns:a="http://schemas.openxmlformats.org/drawingml/2006/main" noGrp="1"/>
          </p:cNvSpPr>
          <p:nvPr/>
        </p:nvSpPr>
        <p:spPr>
          <a:xfrm xmlns:a="http://schemas.openxmlformats.org/drawingml/2006/main">
            <a:off x="904875" y="37623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071A2B"/>
                </a:solidFill>
              </a:defRPr>
            </a:pPr>
            <a:r>
              <a:rPr sz="1350" b="1">
                <a:solidFill>
                  <a:srgbClr val="071A2B"/>
                </a:solidFill>
              </a:rPr>
              <a:t>BFCL-V4 MULTI-TURN</a:t>
            </a:r>
          </a:p>
        </p:txBody>
      </p:sp>
      <p:sp>
        <p:nvSpPr>
          <p:cNvPr id="10" name="">
            <a:extLst xmlns:a="http://schemas.openxmlformats.org/drawingml/2006/main">
              <a:ext uri="{FF2B5EF4-FFF2-40B4-BE49-F238E27FC236}">
                <a16:creationId xmlns:a16="http://schemas.microsoft.com/office/drawing/2014/main" id="{5485A806-CC9E-4F76-AFDA-D360453B913A}"/>
              </a:ext>
            </a:extLst>
          </p:cNvPr>
          <p:cNvSpPr>
            <a:spLocks xmlns:a="http://schemas.openxmlformats.org/drawingml/2006/main" noGrp="1"/>
          </p:cNvSpPr>
          <p:nvPr/>
        </p:nvSpPr>
        <p:spPr>
          <a:xfrm xmlns:a="http://schemas.openxmlformats.org/drawingml/2006/main">
            <a:off x="6096000" y="2190750"/>
            <a:ext cx="4476750" cy="0"/>
          </a:xfrm>
          <a:prstGeom xmlns:a="http://schemas.openxmlformats.org/drawingml/2006/main" prst="line">
            <a:avLst/>
          </a:prstGeom>
          <a:noFill xmlns:a="http://schemas.openxmlformats.org/drawingml/2006/main"/>
          <a:ln xmlns:a="http://schemas.openxmlformats.org/drawingml/2006/main" w="38100">
            <a:solidFill>
              <a:srgbClr val="18A6A6"/>
            </a:solidFill>
            <a:prstDash val="solid"/>
          </a:ln>
        </p:spPr>
      </p:sp>
      <p:sp>
        <p:nvSpPr>
          <p:cNvPr id="11" name="benchmark-ready">
            <a:extLst xmlns:a="http://schemas.openxmlformats.org/drawingml/2006/main">
              <a:ext uri="{FF2B5EF4-FFF2-40B4-BE49-F238E27FC236}">
                <a16:creationId xmlns:a16="http://schemas.microsoft.com/office/drawing/2014/main" id="{0E4F8E1E-68F1-4C84-8ED7-2281AE95C0BC}"/>
              </a:ext>
            </a:extLst>
          </p:cNvPr>
          <p:cNvSpPr>
            <a:spLocks xmlns:a="http://schemas.openxmlformats.org/drawingml/2006/main" noGrp="1"/>
          </p:cNvSpPr>
          <p:nvPr/>
        </p:nvSpPr>
        <p:spPr>
          <a:xfrm xmlns:a="http://schemas.openxmlformats.org/drawingml/2006/main">
            <a:off x="6096000" y="24574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025" b="1">
                <a:solidFill>
                  <a:srgbClr val="071A2B"/>
                </a:solidFill>
              </a:defRPr>
            </a:pPr>
            <a:r>
              <a:rPr sz="2025" b="1">
                <a:solidFill>
                  <a:srgbClr val="071A2B"/>
                </a:solidFill>
              </a:rPr>
              <a:t>代码已经具备</a:t>
            </a:r>
          </a:p>
        </p:txBody>
      </p:sp>
      <p:sp>
        <p:nvSpPr>
          <p:cNvPr id="12" name="benchmark-list">
            <a:extLst xmlns:a="http://schemas.openxmlformats.org/drawingml/2006/main">
              <a:ext uri="{FF2B5EF4-FFF2-40B4-BE49-F238E27FC236}">
                <a16:creationId xmlns:a16="http://schemas.microsoft.com/office/drawing/2014/main" id="{4F530AD8-E068-4401-AD89-4927670650EF}"/>
              </a:ext>
            </a:extLst>
          </p:cNvPr>
          <p:cNvSpPr>
            <a:spLocks xmlns:a="http://schemas.openxmlformats.org/drawingml/2006/main" noGrp="1"/>
          </p:cNvSpPr>
          <p:nvPr/>
        </p:nvSpPr>
        <p:spPr>
          <a:xfrm xmlns:a="http://schemas.openxmlformats.org/drawingml/2006/main">
            <a:off x="6096000" y="3190875"/>
            <a:ext cx="452437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25000"/>
              </a:lnSpc>
              <a:buNone/>
              <a:defRPr sz="1500">
                <a:solidFill>
                  <a:srgbClr val="64747B"/>
                </a:solidFill>
              </a:defRPr>
            </a:pPr>
            <a:r>
              <a:rPr sz="1500">
                <a:solidFill>
                  <a:srgbClr val="64747B"/>
                </a:solidFill>
              </a:rPr>
              <a:t>• 固定 ID 的 base / adapter 对照</a:t>
            </a:r>
          </a:p>
          <a:p xmlns:a="http://schemas.openxmlformats.org/drawingml/2006/main">
            <a:pPr>
              <a:lnSpc>
                <a:spcPct val="125000"/>
              </a:lnSpc>
              <a:buNone/>
              <a:defRPr sz="1500">
                <a:solidFill>
                  <a:srgbClr val="64747B"/>
                </a:solidFill>
              </a:defRPr>
            </a:pPr>
            <a:r>
              <a:rPr sz="1500">
                <a:solidFill>
                  <a:srgbClr val="64747B"/>
                </a:solidFill>
              </a:rPr>
              <a:t>• 官方 multi-turn 结果与评分目录隔离</a:t>
            </a:r>
          </a:p>
          <a:p xmlns:a="http://schemas.openxmlformats.org/drawingml/2006/main">
            <a:pPr>
              <a:lnSpc>
                <a:spcPct val="125000"/>
              </a:lnSpc>
              <a:buNone/>
              <a:defRPr sz="1500">
                <a:solidFill>
                  <a:srgbClr val="64747B"/>
                </a:solidFill>
              </a:defRPr>
            </a:pPr>
            <a:r>
              <a:rPr sz="1500">
                <a:solidFill>
                  <a:srgbClr val="64747B"/>
                </a:solidFill>
              </a:rPr>
              <a:t>• 4 个类别各 1 题，属于 smoke，不是论文规模</a:t>
            </a:r>
          </a:p>
          <a:p xmlns:a="http://schemas.openxmlformats.org/drawingml/2006/main">
            <a:pPr>
              <a:lnSpc>
                <a:spcPct val="125000"/>
              </a:lnSpc>
              <a:buNone/>
              <a:defRPr sz="1500">
                <a:solidFill>
                  <a:srgbClr val="64747B"/>
                </a:solidFill>
              </a:defRPr>
            </a:pPr>
            <a:r>
              <a:rPr sz="1500">
                <a:solidFill>
                  <a:srgbClr val="64747B"/>
                </a:solidFill>
              </a:rPr>
              <a:t>• 流水线 PASS ≠ 模型得分 PASS（本次得分为 0.00%）</a:t>
            </a:r>
          </a:p>
        </p:txBody>
      </p:sp>
      <p:sp>
        <p:nvSpPr>
          <p:cNvPr id="13" name="benchmark-boundary">
            <a:extLst xmlns:a="http://schemas.openxmlformats.org/drawingml/2006/main">
              <a:ext uri="{FF2B5EF4-FFF2-40B4-BE49-F238E27FC236}">
                <a16:creationId xmlns:a16="http://schemas.microsoft.com/office/drawing/2014/main" id="{DE483CF6-7947-414F-8A8B-3C8033E85DA6}"/>
              </a:ext>
            </a:extLst>
          </p:cNvPr>
          <p:cNvSpPr>
            <a:spLocks xmlns:a="http://schemas.openxmlformats.org/drawingml/2006/main" noGrp="1"/>
          </p:cNvSpPr>
          <p:nvPr/>
        </p:nvSpPr>
        <p:spPr>
          <a:xfrm xmlns:a="http://schemas.openxmlformats.org/drawingml/2006/main">
            <a:off x="1190625" y="5476875"/>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B797B"/>
                </a:solidFill>
              </a:defRPr>
            </a:pPr>
            <a:r>
              <a:rPr sz="1575" b="1">
                <a:solidFill>
                  <a:srgbClr val="0B797B"/>
                </a:solidFill>
              </a:rPr>
              <a:t>能写：官方 smoke 流水线 PASS、模型得分 0.00%    不能写：论文 benchmark 已复现</a:t>
            </a:r>
          </a:p>
        </p:txBody>
      </p:sp>
    </p:spTree>
    <p:extLst>
      <p:ext uri="{BB962C8B-B14F-4D97-AF65-F5344CB8AC3E}">
        <p14:creationId xmlns:p14="http://schemas.microsoft.com/office/powerpoint/2010/main" val="1533858610"/>
      </p:ext>
    </p:extLst>
  </p:cSld>
</p:sld>
</file>

<file path=ppt/slides/slide13.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42" name="rail-13">
            <a:extLst xmlns:a="http://schemas.openxmlformats.org/drawingml/2006/main">
              <a:ext uri="{FF2B5EF4-FFF2-40B4-BE49-F238E27FC236}">
                <a16:creationId xmlns:a16="http://schemas.microsoft.com/office/drawing/2014/main" id="{0FBB1F5C-9C8B-405F-8F0D-76E7EC5829CC}"/>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13">
            <a:extLst xmlns:a="http://schemas.openxmlformats.org/drawingml/2006/main">
              <a:ext uri="{FF2B5EF4-FFF2-40B4-BE49-F238E27FC236}">
                <a16:creationId xmlns:a16="http://schemas.microsoft.com/office/drawing/2014/main" id="{586039B1-182B-4513-B819-254E9168B711}"/>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13">
            <a:extLst xmlns:a="http://schemas.openxmlformats.org/drawingml/2006/main">
              <a:ext uri="{FF2B5EF4-FFF2-40B4-BE49-F238E27FC236}">
                <a16:creationId xmlns:a16="http://schemas.microsoft.com/office/drawing/2014/main" id="{C12F7335-D728-4A1C-85ED-F9CB3ED2C55F}"/>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INTEGRITY AUDIT</a:t>
            </a:r>
          </a:p>
        </p:txBody>
      </p:sp>
      <p:sp>
        <p:nvSpPr>
          <p:cNvPr id="4" name="title-13">
            <a:extLst xmlns:a="http://schemas.openxmlformats.org/drawingml/2006/main">
              <a:ext uri="{FF2B5EF4-FFF2-40B4-BE49-F238E27FC236}">
                <a16:creationId xmlns:a16="http://schemas.microsoft.com/office/drawing/2014/main" id="{CD843C8C-BB08-49F7-92F2-83CC2442A83D}"/>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怎样证明不是“看起来训练了”？</a:t>
            </a:r>
          </a:p>
        </p:txBody>
      </p:sp>
      <p:sp>
        <p:nvSpPr>
          <p:cNvPr id="5" name="subtitle-13">
            <a:extLst xmlns:a="http://schemas.openxmlformats.org/drawingml/2006/main">
              <a:ext uri="{FF2B5EF4-FFF2-40B4-BE49-F238E27FC236}">
                <a16:creationId xmlns:a16="http://schemas.microsoft.com/office/drawing/2014/main" id="{ADFF68FB-40E0-4517-8A85-09B96B993563}"/>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把一次 ML run 拆成可证伪的 gate：任何关键证据缺失，最终报告和 PPT 都拒绝生成。</a:t>
            </a:r>
          </a:p>
        </p:txBody>
      </p:sp>
      <p:sp>
        <p:nvSpPr>
          <p:cNvPr id="6" name="">
            <a:extLst xmlns:a="http://schemas.openxmlformats.org/drawingml/2006/main">
              <a:ext uri="{FF2B5EF4-FFF2-40B4-BE49-F238E27FC236}">
                <a16:creationId xmlns:a16="http://schemas.microsoft.com/office/drawing/2014/main" id="{05E53B85-4BC8-4FD1-8891-8EB7D9CDAD6E}"/>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13">
            <a:extLst xmlns:a="http://schemas.openxmlformats.org/drawingml/2006/main">
              <a:ext uri="{FF2B5EF4-FFF2-40B4-BE49-F238E27FC236}">
                <a16:creationId xmlns:a16="http://schemas.microsoft.com/office/drawing/2014/main" id="{2EE004D4-C4E8-44E0-B801-C275E73CCF25}"/>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13</a:t>
            </a:r>
          </a:p>
        </p:txBody>
      </p:sp>
      <p:sp>
        <p:nvSpPr>
          <p:cNvPr id="8" name="audit-bg-0">
            <a:extLst xmlns:a="http://schemas.openxmlformats.org/drawingml/2006/main">
              <a:ext uri="{FF2B5EF4-FFF2-40B4-BE49-F238E27FC236}">
                <a16:creationId xmlns:a16="http://schemas.microsoft.com/office/drawing/2014/main" id="{450422E3-8049-4423-841F-568B44E19C8A}"/>
              </a:ext>
            </a:extLst>
          </p:cNvPr>
          <p:cNvSpPr>
            <a:spLocks xmlns:a="http://schemas.openxmlformats.org/drawingml/2006/main" noGrp="1"/>
          </p:cNvSpPr>
          <p:nvPr/>
        </p:nvSpPr>
        <p:spPr>
          <a:xfrm xmlns:a="http://schemas.openxmlformats.org/drawingml/2006/main">
            <a:off x="809625" y="21431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9" name="audit-pill-0-bg">
            <a:extLst xmlns:a="http://schemas.openxmlformats.org/drawingml/2006/main">
              <a:ext uri="{FF2B5EF4-FFF2-40B4-BE49-F238E27FC236}">
                <a16:creationId xmlns:a16="http://schemas.microsoft.com/office/drawing/2014/main" id="{744B9330-60DE-4218-B47B-3E02B7307535}"/>
              </a:ext>
            </a:extLst>
          </p:cNvPr>
          <p:cNvSpPr>
            <a:spLocks xmlns:a="http://schemas.openxmlformats.org/drawingml/2006/main" noGrp="1"/>
          </p:cNvSpPr>
          <p:nvPr/>
        </p:nvSpPr>
        <p:spPr>
          <a:xfrm xmlns:a="http://schemas.openxmlformats.org/drawingml/2006/main">
            <a:off x="981075" y="23336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10" name="audit-pill-0-text">
            <a:extLst xmlns:a="http://schemas.openxmlformats.org/drawingml/2006/main">
              <a:ext uri="{FF2B5EF4-FFF2-40B4-BE49-F238E27FC236}">
                <a16:creationId xmlns:a16="http://schemas.microsoft.com/office/drawing/2014/main" id="{86336609-370D-4560-ACC1-30CCA83360FF}"/>
              </a:ext>
            </a:extLst>
          </p:cNvPr>
          <p:cNvSpPr>
            <a:spLocks xmlns:a="http://schemas.openxmlformats.org/drawingml/2006/main" noGrp="1"/>
          </p:cNvSpPr>
          <p:nvPr/>
        </p:nvSpPr>
        <p:spPr>
          <a:xfrm xmlns:a="http://schemas.openxmlformats.org/drawingml/2006/main">
            <a:off x="1076325" y="23812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11" name="audit-name-0">
            <a:extLst xmlns:a="http://schemas.openxmlformats.org/drawingml/2006/main">
              <a:ext uri="{FF2B5EF4-FFF2-40B4-BE49-F238E27FC236}">
                <a16:creationId xmlns:a16="http://schemas.microsoft.com/office/drawing/2014/main" id="{BB81F361-260F-4BF7-9847-CC5D5C297A93}"/>
              </a:ext>
            </a:extLst>
          </p:cNvPr>
          <p:cNvSpPr>
            <a:spLocks xmlns:a="http://schemas.openxmlformats.org/drawingml/2006/main" noGrp="1"/>
          </p:cNvSpPr>
          <p:nvPr/>
        </p:nvSpPr>
        <p:spPr>
          <a:xfrm xmlns:a="http://schemas.openxmlformats.org/drawingml/2006/main">
            <a:off x="1857375" y="23050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stage1 adapter exists</a:t>
            </a:r>
          </a:p>
        </p:txBody>
      </p:sp>
      <p:sp>
        <p:nvSpPr>
          <p:cNvPr id="12" name="audit-bg-1">
            <a:extLst xmlns:a="http://schemas.openxmlformats.org/drawingml/2006/main">
              <a:ext uri="{FF2B5EF4-FFF2-40B4-BE49-F238E27FC236}">
                <a16:creationId xmlns:a16="http://schemas.microsoft.com/office/drawing/2014/main" id="{E7E8A1DA-EC56-4B72-A05C-C013ABC46D70}"/>
              </a:ext>
            </a:extLst>
          </p:cNvPr>
          <p:cNvSpPr>
            <a:spLocks xmlns:a="http://schemas.openxmlformats.org/drawingml/2006/main" noGrp="1"/>
          </p:cNvSpPr>
          <p:nvPr/>
        </p:nvSpPr>
        <p:spPr>
          <a:xfrm xmlns:a="http://schemas.openxmlformats.org/drawingml/2006/main">
            <a:off x="6143625" y="21431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13" name="audit-pill-1-bg">
            <a:extLst xmlns:a="http://schemas.openxmlformats.org/drawingml/2006/main">
              <a:ext uri="{FF2B5EF4-FFF2-40B4-BE49-F238E27FC236}">
                <a16:creationId xmlns:a16="http://schemas.microsoft.com/office/drawing/2014/main" id="{1F8ABD38-2749-4D1E-AFF4-DA9D914893F7}"/>
              </a:ext>
            </a:extLst>
          </p:cNvPr>
          <p:cNvSpPr>
            <a:spLocks xmlns:a="http://schemas.openxmlformats.org/drawingml/2006/main" noGrp="1"/>
          </p:cNvSpPr>
          <p:nvPr/>
        </p:nvSpPr>
        <p:spPr>
          <a:xfrm xmlns:a="http://schemas.openxmlformats.org/drawingml/2006/main">
            <a:off x="6315075" y="23336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14" name="audit-pill-1-text">
            <a:extLst xmlns:a="http://schemas.openxmlformats.org/drawingml/2006/main">
              <a:ext uri="{FF2B5EF4-FFF2-40B4-BE49-F238E27FC236}">
                <a16:creationId xmlns:a16="http://schemas.microsoft.com/office/drawing/2014/main" id="{51CE7948-1FB5-41B8-9E3A-DC97EA4C4B74}"/>
              </a:ext>
            </a:extLst>
          </p:cNvPr>
          <p:cNvSpPr>
            <a:spLocks xmlns:a="http://schemas.openxmlformats.org/drawingml/2006/main" noGrp="1"/>
          </p:cNvSpPr>
          <p:nvPr/>
        </p:nvSpPr>
        <p:spPr>
          <a:xfrm xmlns:a="http://schemas.openxmlformats.org/drawingml/2006/main">
            <a:off x="6410325" y="23812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15" name="audit-name-1">
            <a:extLst xmlns:a="http://schemas.openxmlformats.org/drawingml/2006/main">
              <a:ext uri="{FF2B5EF4-FFF2-40B4-BE49-F238E27FC236}">
                <a16:creationId xmlns:a16="http://schemas.microsoft.com/office/drawing/2014/main" id="{1DF6C1B3-89CB-4045-8F67-B9BFAA934798}"/>
              </a:ext>
            </a:extLst>
          </p:cNvPr>
          <p:cNvSpPr>
            <a:spLocks xmlns:a="http://schemas.openxmlformats.org/drawingml/2006/main" noGrp="1"/>
          </p:cNvSpPr>
          <p:nvPr/>
        </p:nvSpPr>
        <p:spPr>
          <a:xfrm xmlns:a="http://schemas.openxmlformats.org/drawingml/2006/main">
            <a:off x="7191375" y="23050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stage2 adapter exists</a:t>
            </a:r>
          </a:p>
        </p:txBody>
      </p:sp>
      <p:sp>
        <p:nvSpPr>
          <p:cNvPr id="16" name="audit-bg-2">
            <a:extLst xmlns:a="http://schemas.openxmlformats.org/drawingml/2006/main">
              <a:ext uri="{FF2B5EF4-FFF2-40B4-BE49-F238E27FC236}">
                <a16:creationId xmlns:a16="http://schemas.microsoft.com/office/drawing/2014/main" id="{CCFDD183-37F2-4774-8D21-36E97BA5D3A3}"/>
              </a:ext>
            </a:extLst>
          </p:cNvPr>
          <p:cNvSpPr>
            <a:spLocks xmlns:a="http://schemas.openxmlformats.org/drawingml/2006/main" noGrp="1"/>
          </p:cNvSpPr>
          <p:nvPr/>
        </p:nvSpPr>
        <p:spPr>
          <a:xfrm xmlns:a="http://schemas.openxmlformats.org/drawingml/2006/main">
            <a:off x="809625" y="30194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17" name="audit-pill-2-bg">
            <a:extLst xmlns:a="http://schemas.openxmlformats.org/drawingml/2006/main">
              <a:ext uri="{FF2B5EF4-FFF2-40B4-BE49-F238E27FC236}">
                <a16:creationId xmlns:a16="http://schemas.microsoft.com/office/drawing/2014/main" id="{FDFB4156-B9F9-4FCA-A8B3-5DE5DDAF8ACC}"/>
              </a:ext>
            </a:extLst>
          </p:cNvPr>
          <p:cNvSpPr>
            <a:spLocks xmlns:a="http://schemas.openxmlformats.org/drawingml/2006/main" noGrp="1"/>
          </p:cNvSpPr>
          <p:nvPr/>
        </p:nvSpPr>
        <p:spPr>
          <a:xfrm xmlns:a="http://schemas.openxmlformats.org/drawingml/2006/main">
            <a:off x="981075" y="32099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18" name="audit-pill-2-text">
            <a:extLst xmlns:a="http://schemas.openxmlformats.org/drawingml/2006/main">
              <a:ext uri="{FF2B5EF4-FFF2-40B4-BE49-F238E27FC236}">
                <a16:creationId xmlns:a16="http://schemas.microsoft.com/office/drawing/2014/main" id="{ECA28ECB-DF93-42CE-BA9B-421E8EA87470}"/>
              </a:ext>
            </a:extLst>
          </p:cNvPr>
          <p:cNvSpPr>
            <a:spLocks xmlns:a="http://schemas.openxmlformats.org/drawingml/2006/main" noGrp="1"/>
          </p:cNvSpPr>
          <p:nvPr/>
        </p:nvSpPr>
        <p:spPr>
          <a:xfrm xmlns:a="http://schemas.openxmlformats.org/drawingml/2006/main">
            <a:off x="1076325" y="32575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19" name="audit-name-2">
            <a:extLst xmlns:a="http://schemas.openxmlformats.org/drawingml/2006/main">
              <a:ext uri="{FF2B5EF4-FFF2-40B4-BE49-F238E27FC236}">
                <a16:creationId xmlns:a16="http://schemas.microsoft.com/office/drawing/2014/main" id="{F1F70CB4-646A-4FC4-B743-DCA573E2FE9D}"/>
              </a:ext>
            </a:extLst>
          </p:cNvPr>
          <p:cNvSpPr>
            <a:spLocks xmlns:a="http://schemas.openxmlformats.org/drawingml/2006/main" noGrp="1"/>
          </p:cNvSpPr>
          <p:nvPr/>
        </p:nvSpPr>
        <p:spPr>
          <a:xfrm xmlns:a="http://schemas.openxmlformats.org/drawingml/2006/main">
            <a:off x="1857375" y="31813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stage2 adapter differs from stage1</a:t>
            </a:r>
          </a:p>
        </p:txBody>
      </p:sp>
      <p:sp>
        <p:nvSpPr>
          <p:cNvPr id="20" name="audit-bg-3">
            <a:extLst xmlns:a="http://schemas.openxmlformats.org/drawingml/2006/main">
              <a:ext uri="{FF2B5EF4-FFF2-40B4-BE49-F238E27FC236}">
                <a16:creationId xmlns:a16="http://schemas.microsoft.com/office/drawing/2014/main" id="{8D2F535C-33DF-41F8-ADF5-45AA1A44A8B4}"/>
              </a:ext>
            </a:extLst>
          </p:cNvPr>
          <p:cNvSpPr>
            <a:spLocks xmlns:a="http://schemas.openxmlformats.org/drawingml/2006/main" noGrp="1"/>
          </p:cNvSpPr>
          <p:nvPr/>
        </p:nvSpPr>
        <p:spPr>
          <a:xfrm xmlns:a="http://schemas.openxmlformats.org/drawingml/2006/main">
            <a:off x="6143625" y="30194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21" name="audit-pill-3-bg">
            <a:extLst xmlns:a="http://schemas.openxmlformats.org/drawingml/2006/main">
              <a:ext uri="{FF2B5EF4-FFF2-40B4-BE49-F238E27FC236}">
                <a16:creationId xmlns:a16="http://schemas.microsoft.com/office/drawing/2014/main" id="{7EB444F9-C9F0-4FA9-B4F7-CF068F5A02CE}"/>
              </a:ext>
            </a:extLst>
          </p:cNvPr>
          <p:cNvSpPr>
            <a:spLocks xmlns:a="http://schemas.openxmlformats.org/drawingml/2006/main" noGrp="1"/>
          </p:cNvSpPr>
          <p:nvPr/>
        </p:nvSpPr>
        <p:spPr>
          <a:xfrm xmlns:a="http://schemas.openxmlformats.org/drawingml/2006/main">
            <a:off x="6315075" y="32099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22" name="audit-pill-3-text">
            <a:extLst xmlns:a="http://schemas.openxmlformats.org/drawingml/2006/main">
              <a:ext uri="{FF2B5EF4-FFF2-40B4-BE49-F238E27FC236}">
                <a16:creationId xmlns:a16="http://schemas.microsoft.com/office/drawing/2014/main" id="{6DCAAE8D-C13F-4173-BF43-8394BC5EF68B}"/>
              </a:ext>
            </a:extLst>
          </p:cNvPr>
          <p:cNvSpPr>
            <a:spLocks xmlns:a="http://schemas.openxmlformats.org/drawingml/2006/main" noGrp="1"/>
          </p:cNvSpPr>
          <p:nvPr/>
        </p:nvSpPr>
        <p:spPr>
          <a:xfrm xmlns:a="http://schemas.openxmlformats.org/drawingml/2006/main">
            <a:off x="6410325" y="32575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23" name="audit-name-3">
            <a:extLst xmlns:a="http://schemas.openxmlformats.org/drawingml/2006/main">
              <a:ext uri="{FF2B5EF4-FFF2-40B4-BE49-F238E27FC236}">
                <a16:creationId xmlns:a16="http://schemas.microsoft.com/office/drawing/2014/main" id="{8C4AC109-C200-42B1-8560-ED65966F454A}"/>
              </a:ext>
            </a:extLst>
          </p:cNvPr>
          <p:cNvSpPr>
            <a:spLocks xmlns:a="http://schemas.openxmlformats.org/drawingml/2006/main" noGrp="1"/>
          </p:cNvSpPr>
          <p:nvPr/>
        </p:nvSpPr>
        <p:spPr>
          <a:xfrm xmlns:a="http://schemas.openxmlformats.org/drawingml/2006/main">
            <a:off x="7191375" y="31813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both GRPO stages changed trainable parameters</a:t>
            </a:r>
          </a:p>
        </p:txBody>
      </p:sp>
      <p:sp>
        <p:nvSpPr>
          <p:cNvPr id="24" name="audit-bg-4">
            <a:extLst xmlns:a="http://schemas.openxmlformats.org/drawingml/2006/main">
              <a:ext uri="{FF2B5EF4-FFF2-40B4-BE49-F238E27FC236}">
                <a16:creationId xmlns:a16="http://schemas.microsoft.com/office/drawing/2014/main" id="{D5401B5B-224F-42A5-9683-4913EB098B0F}"/>
              </a:ext>
            </a:extLst>
          </p:cNvPr>
          <p:cNvSpPr>
            <a:spLocks xmlns:a="http://schemas.openxmlformats.org/drawingml/2006/main" noGrp="1"/>
          </p:cNvSpPr>
          <p:nvPr/>
        </p:nvSpPr>
        <p:spPr>
          <a:xfrm xmlns:a="http://schemas.openxmlformats.org/drawingml/2006/main">
            <a:off x="809625" y="38957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25" name="audit-pill-4-bg">
            <a:extLst xmlns:a="http://schemas.openxmlformats.org/drawingml/2006/main">
              <a:ext uri="{FF2B5EF4-FFF2-40B4-BE49-F238E27FC236}">
                <a16:creationId xmlns:a16="http://schemas.microsoft.com/office/drawing/2014/main" id="{12B93ED4-DD0F-4620-9398-E05AC02750AE}"/>
              </a:ext>
            </a:extLst>
          </p:cNvPr>
          <p:cNvSpPr>
            <a:spLocks xmlns:a="http://schemas.openxmlformats.org/drawingml/2006/main" noGrp="1"/>
          </p:cNvSpPr>
          <p:nvPr/>
        </p:nvSpPr>
        <p:spPr>
          <a:xfrm xmlns:a="http://schemas.openxmlformats.org/drawingml/2006/main">
            <a:off x="981075" y="40862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26" name="audit-pill-4-text">
            <a:extLst xmlns:a="http://schemas.openxmlformats.org/drawingml/2006/main">
              <a:ext uri="{FF2B5EF4-FFF2-40B4-BE49-F238E27FC236}">
                <a16:creationId xmlns:a16="http://schemas.microsoft.com/office/drawing/2014/main" id="{C60CCB61-FE7A-4637-9BB7-B9854909FEF1}"/>
              </a:ext>
            </a:extLst>
          </p:cNvPr>
          <p:cNvSpPr>
            <a:spLocks xmlns:a="http://schemas.openxmlformats.org/drawingml/2006/main" noGrp="1"/>
          </p:cNvSpPr>
          <p:nvPr/>
        </p:nvSpPr>
        <p:spPr>
          <a:xfrm xmlns:a="http://schemas.openxmlformats.org/drawingml/2006/main">
            <a:off x="1076325" y="41338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27" name="audit-name-4">
            <a:extLst xmlns:a="http://schemas.openxmlformats.org/drawingml/2006/main">
              <a:ext uri="{FF2B5EF4-FFF2-40B4-BE49-F238E27FC236}">
                <a16:creationId xmlns:a16="http://schemas.microsoft.com/office/drawing/2014/main" id="{F49068F4-9D75-4F06-A733-F31BD4279D28}"/>
              </a:ext>
            </a:extLst>
          </p:cNvPr>
          <p:cNvSpPr>
            <a:spLocks xmlns:a="http://schemas.openxmlformats.org/drawingml/2006/main" noGrp="1"/>
          </p:cNvSpPr>
          <p:nvPr/>
        </p:nvSpPr>
        <p:spPr>
          <a:xfrm xmlns:a="http://schemas.openxmlformats.org/drawingml/2006/main">
            <a:off x="1857375" y="40576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training reward variance observed</a:t>
            </a:r>
          </a:p>
        </p:txBody>
      </p:sp>
      <p:sp>
        <p:nvSpPr>
          <p:cNvPr id="28" name="audit-bg-5">
            <a:extLst xmlns:a="http://schemas.openxmlformats.org/drawingml/2006/main">
              <a:ext uri="{FF2B5EF4-FFF2-40B4-BE49-F238E27FC236}">
                <a16:creationId xmlns:a16="http://schemas.microsoft.com/office/drawing/2014/main" id="{0171B229-61F4-4A2C-B89A-9DE049592B3A}"/>
              </a:ext>
            </a:extLst>
          </p:cNvPr>
          <p:cNvSpPr>
            <a:spLocks xmlns:a="http://schemas.openxmlformats.org/drawingml/2006/main" noGrp="1"/>
          </p:cNvSpPr>
          <p:nvPr/>
        </p:nvSpPr>
        <p:spPr>
          <a:xfrm xmlns:a="http://schemas.openxmlformats.org/drawingml/2006/main">
            <a:off x="6143625" y="38957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29" name="audit-pill-5-bg">
            <a:extLst xmlns:a="http://schemas.openxmlformats.org/drawingml/2006/main">
              <a:ext uri="{FF2B5EF4-FFF2-40B4-BE49-F238E27FC236}">
                <a16:creationId xmlns:a16="http://schemas.microsoft.com/office/drawing/2014/main" id="{754E400E-A8C2-47E5-B193-4CB30E5AA27D}"/>
              </a:ext>
            </a:extLst>
          </p:cNvPr>
          <p:cNvSpPr>
            <a:spLocks xmlns:a="http://schemas.openxmlformats.org/drawingml/2006/main" noGrp="1"/>
          </p:cNvSpPr>
          <p:nvPr/>
        </p:nvSpPr>
        <p:spPr>
          <a:xfrm xmlns:a="http://schemas.openxmlformats.org/drawingml/2006/main">
            <a:off x="6315075" y="40862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30" name="audit-pill-5-text">
            <a:extLst xmlns:a="http://schemas.openxmlformats.org/drawingml/2006/main">
              <a:ext uri="{FF2B5EF4-FFF2-40B4-BE49-F238E27FC236}">
                <a16:creationId xmlns:a16="http://schemas.microsoft.com/office/drawing/2014/main" id="{B68DF527-A59A-4E4E-814E-9FD9A90BC44F}"/>
              </a:ext>
            </a:extLst>
          </p:cNvPr>
          <p:cNvSpPr>
            <a:spLocks xmlns:a="http://schemas.openxmlformats.org/drawingml/2006/main" noGrp="1"/>
          </p:cNvSpPr>
          <p:nvPr/>
        </p:nvSpPr>
        <p:spPr>
          <a:xfrm xmlns:a="http://schemas.openxmlformats.org/drawingml/2006/main">
            <a:off x="6410325" y="41338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31" name="audit-name-5">
            <a:extLst xmlns:a="http://schemas.openxmlformats.org/drawingml/2006/main">
              <a:ext uri="{FF2B5EF4-FFF2-40B4-BE49-F238E27FC236}">
                <a16:creationId xmlns:a16="http://schemas.microsoft.com/office/drawing/2014/main" id="{E0E372E5-744F-420E-B37C-D70E3BE3F473}"/>
              </a:ext>
            </a:extLst>
          </p:cNvPr>
          <p:cNvSpPr>
            <a:spLocks xmlns:a="http://schemas.openxmlformats.org/drawingml/2006/main" noGrp="1"/>
          </p:cNvSpPr>
          <p:nvPr/>
        </p:nvSpPr>
        <p:spPr>
          <a:xfrm xmlns:a="http://schemas.openxmlformats.org/drawingml/2006/main">
            <a:off x="7191375" y="40576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final holdout isolation</a:t>
            </a:r>
          </a:p>
        </p:txBody>
      </p:sp>
      <p:sp>
        <p:nvSpPr>
          <p:cNvPr id="32" name="audit-bg-6">
            <a:extLst xmlns:a="http://schemas.openxmlformats.org/drawingml/2006/main">
              <a:ext uri="{FF2B5EF4-FFF2-40B4-BE49-F238E27FC236}">
                <a16:creationId xmlns:a16="http://schemas.microsoft.com/office/drawing/2014/main" id="{97E14EBF-C72C-49DA-9CD2-B8925F04C907}"/>
              </a:ext>
            </a:extLst>
          </p:cNvPr>
          <p:cNvSpPr>
            <a:spLocks xmlns:a="http://schemas.openxmlformats.org/drawingml/2006/main" noGrp="1"/>
          </p:cNvSpPr>
          <p:nvPr/>
        </p:nvSpPr>
        <p:spPr>
          <a:xfrm xmlns:a="http://schemas.openxmlformats.org/drawingml/2006/main">
            <a:off x="809625" y="47720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33" name="audit-pill-6-bg">
            <a:extLst xmlns:a="http://schemas.openxmlformats.org/drawingml/2006/main">
              <a:ext uri="{FF2B5EF4-FFF2-40B4-BE49-F238E27FC236}">
                <a16:creationId xmlns:a16="http://schemas.microsoft.com/office/drawing/2014/main" id="{30B4D637-091A-4F56-9023-207DBC36D177}"/>
              </a:ext>
            </a:extLst>
          </p:cNvPr>
          <p:cNvSpPr>
            <a:spLocks xmlns:a="http://schemas.openxmlformats.org/drawingml/2006/main" noGrp="1"/>
          </p:cNvSpPr>
          <p:nvPr/>
        </p:nvSpPr>
        <p:spPr>
          <a:xfrm xmlns:a="http://schemas.openxmlformats.org/drawingml/2006/main">
            <a:off x="981075" y="49625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34" name="audit-pill-6-text">
            <a:extLst xmlns:a="http://schemas.openxmlformats.org/drawingml/2006/main">
              <a:ext uri="{FF2B5EF4-FFF2-40B4-BE49-F238E27FC236}">
                <a16:creationId xmlns:a16="http://schemas.microsoft.com/office/drawing/2014/main" id="{5914E9FA-5ECB-41BF-ABF9-72380D413D6F}"/>
              </a:ext>
            </a:extLst>
          </p:cNvPr>
          <p:cNvSpPr>
            <a:spLocks xmlns:a="http://schemas.openxmlformats.org/drawingml/2006/main" noGrp="1"/>
          </p:cNvSpPr>
          <p:nvPr/>
        </p:nvSpPr>
        <p:spPr>
          <a:xfrm xmlns:a="http://schemas.openxmlformats.org/drawingml/2006/main">
            <a:off x="1076325" y="50101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35" name="audit-name-6">
            <a:extLst xmlns:a="http://schemas.openxmlformats.org/drawingml/2006/main">
              <a:ext uri="{FF2B5EF4-FFF2-40B4-BE49-F238E27FC236}">
                <a16:creationId xmlns:a16="http://schemas.microsoft.com/office/drawing/2014/main" id="{F7471D21-B31E-4BDA-85DF-AD3B60CA02A5}"/>
              </a:ext>
            </a:extLst>
          </p:cNvPr>
          <p:cNvSpPr>
            <a:spLocks xmlns:a="http://schemas.openxmlformats.org/drawingml/2006/main" noGrp="1"/>
          </p:cNvSpPr>
          <p:nvPr/>
        </p:nvSpPr>
        <p:spPr>
          <a:xfrm xmlns:a="http://schemas.openxmlformats.org/drawingml/2006/main">
            <a:off x="1857375" y="49339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failure-driven synthesis has provenance</a:t>
            </a:r>
          </a:p>
        </p:txBody>
      </p:sp>
      <p:sp>
        <p:nvSpPr>
          <p:cNvPr id="36" name="audit-bg-7">
            <a:extLst xmlns:a="http://schemas.openxmlformats.org/drawingml/2006/main">
              <a:ext uri="{FF2B5EF4-FFF2-40B4-BE49-F238E27FC236}">
                <a16:creationId xmlns:a16="http://schemas.microsoft.com/office/drawing/2014/main" id="{70FB99AA-F56A-4F41-8939-89254E069E03}"/>
              </a:ext>
            </a:extLst>
          </p:cNvPr>
          <p:cNvSpPr>
            <a:spLocks xmlns:a="http://schemas.openxmlformats.org/drawingml/2006/main" noGrp="1"/>
          </p:cNvSpPr>
          <p:nvPr/>
        </p:nvSpPr>
        <p:spPr>
          <a:xfrm xmlns:a="http://schemas.openxmlformats.org/drawingml/2006/main">
            <a:off x="6143625" y="4772025"/>
            <a:ext cx="4953000" cy="685800"/>
          </a:xfrm>
          <a:prstGeom xmlns:a="http://schemas.openxmlformats.org/drawingml/2006/main" prst="roundRect">
            <a:avLst>
              <a:gd name="adj" fmla="val 12500"/>
            </a:avLst>
          </a:prstGeom>
          <a:solidFill xmlns:a="http://schemas.openxmlformats.org/drawingml/2006/main">
            <a:srgbClr val="E5F5F3"/>
          </a:solidFill>
          <a:ln xmlns:a="http://schemas.openxmlformats.org/drawingml/2006/main" w="9525">
            <a:solidFill>
              <a:srgbClr val="18A6A6"/>
            </a:solidFill>
            <a:prstDash val="solid"/>
          </a:ln>
        </p:spPr>
      </p:sp>
      <p:sp>
        <p:nvSpPr>
          <p:cNvPr id="37" name="audit-pill-7-bg">
            <a:extLst xmlns:a="http://schemas.openxmlformats.org/drawingml/2006/main">
              <a:ext uri="{FF2B5EF4-FFF2-40B4-BE49-F238E27FC236}">
                <a16:creationId xmlns:a16="http://schemas.microsoft.com/office/drawing/2014/main" id="{6EB6800B-758B-4AC5-AADB-27518BD303F7}"/>
              </a:ext>
            </a:extLst>
          </p:cNvPr>
          <p:cNvSpPr>
            <a:spLocks xmlns:a="http://schemas.openxmlformats.org/drawingml/2006/main" noGrp="1"/>
          </p:cNvSpPr>
          <p:nvPr/>
        </p:nvSpPr>
        <p:spPr>
          <a:xfrm xmlns:a="http://schemas.openxmlformats.org/drawingml/2006/main">
            <a:off x="6315075" y="4962525"/>
            <a:ext cx="714375" cy="285750"/>
          </a:xfrm>
          <a:prstGeom xmlns:a="http://schemas.openxmlformats.org/drawingml/2006/main" prst="roundRect">
            <a:avLst>
              <a:gd name="adj" fmla="val 50000"/>
            </a:avLst>
          </a:prstGeom>
          <a:solidFill xmlns:a="http://schemas.openxmlformats.org/drawingml/2006/main">
            <a:srgbClr val="228B67"/>
          </a:solidFill>
          <a:ln xmlns:a="http://schemas.openxmlformats.org/drawingml/2006/main" w="0">
            <a:solidFill>
              <a:srgbClr val="228B67"/>
            </a:solidFill>
            <a:prstDash val="solid"/>
          </a:ln>
        </p:spPr>
      </p:sp>
      <p:sp>
        <p:nvSpPr>
          <p:cNvPr id="38" name="audit-pill-7-text">
            <a:extLst xmlns:a="http://schemas.openxmlformats.org/drawingml/2006/main">
              <a:ext uri="{FF2B5EF4-FFF2-40B4-BE49-F238E27FC236}">
                <a16:creationId xmlns:a16="http://schemas.microsoft.com/office/drawing/2014/main" id="{4FFAB466-E297-450B-8CE4-FBAC1A689044}"/>
              </a:ext>
            </a:extLst>
          </p:cNvPr>
          <p:cNvSpPr>
            <a:spLocks xmlns:a="http://schemas.openxmlformats.org/drawingml/2006/main" noGrp="1"/>
          </p:cNvSpPr>
          <p:nvPr/>
        </p:nvSpPr>
        <p:spPr>
          <a:xfrm xmlns:a="http://schemas.openxmlformats.org/drawingml/2006/main">
            <a:off x="6410325" y="50101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PASS</a:t>
            </a:r>
          </a:p>
        </p:txBody>
      </p:sp>
      <p:sp>
        <p:nvSpPr>
          <p:cNvPr id="39" name="audit-name-7">
            <a:extLst xmlns:a="http://schemas.openxmlformats.org/drawingml/2006/main">
              <a:ext uri="{FF2B5EF4-FFF2-40B4-BE49-F238E27FC236}">
                <a16:creationId xmlns:a16="http://schemas.microsoft.com/office/drawing/2014/main" id="{6AFE48F3-1987-4A8E-8346-709F55F0AD4F}"/>
              </a:ext>
            </a:extLst>
          </p:cNvPr>
          <p:cNvSpPr>
            <a:spLocks xmlns:a="http://schemas.openxmlformats.org/drawingml/2006/main" noGrp="1"/>
          </p:cNvSpPr>
          <p:nvPr/>
        </p:nvSpPr>
        <p:spPr>
          <a:xfrm xmlns:a="http://schemas.openxmlformats.org/drawingml/2006/main">
            <a:off x="7191375" y="493395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071A2B"/>
                </a:solidFill>
              </a:defRPr>
            </a:pPr>
            <a:r>
              <a:rPr sz="1200" b="1">
                <a:solidFill>
                  <a:srgbClr val="071A2B"/>
                </a:solidFill>
              </a:rPr>
              <a:t>stage2 consumed stage1 adapter</a:t>
            </a:r>
          </a:p>
        </p:txBody>
      </p:sp>
      <p:sp>
        <p:nvSpPr>
          <p:cNvPr id="40" name="audit-hash">
            <a:extLst xmlns:a="http://schemas.openxmlformats.org/drawingml/2006/main">
              <a:ext uri="{FF2B5EF4-FFF2-40B4-BE49-F238E27FC236}">
                <a16:creationId xmlns:a16="http://schemas.microsoft.com/office/drawing/2014/main" id="{FC73BBEB-674D-471A-9574-52106463720A}"/>
              </a:ext>
            </a:extLst>
          </p:cNvPr>
          <p:cNvSpPr>
            <a:spLocks xmlns:a="http://schemas.openxmlformats.org/drawingml/2006/main" noGrp="1"/>
          </p:cNvSpPr>
          <p:nvPr/>
        </p:nvSpPr>
        <p:spPr>
          <a:xfrm xmlns:a="http://schemas.openxmlformats.org/drawingml/2006/main">
            <a:off x="952500" y="5762625"/>
            <a:ext cx="10096500" cy="476250"/>
          </a:xfrm>
          <a:prstGeom xmlns:a="http://schemas.openxmlformats.org/drawingml/2006/main" prst="roundRect">
            <a:avLst>
              <a:gd name="adj" fmla="val 16000"/>
            </a:avLst>
          </a:prstGeom>
          <a:solidFill xmlns:a="http://schemas.openxmlformats.org/drawingml/2006/main">
            <a:srgbClr val="071A2B"/>
          </a:solidFill>
          <a:ln xmlns:a="http://schemas.openxmlformats.org/drawingml/2006/main" w="0">
            <a:solidFill>
              <a:srgbClr val="071A2B"/>
            </a:solidFill>
            <a:prstDash val="solid"/>
          </a:ln>
        </p:spPr>
      </p:sp>
      <p:sp>
        <p:nvSpPr>
          <p:cNvPr id="41" name="audit-hash-text">
            <a:extLst xmlns:a="http://schemas.openxmlformats.org/drawingml/2006/main">
              <a:ext uri="{FF2B5EF4-FFF2-40B4-BE49-F238E27FC236}">
                <a16:creationId xmlns:a16="http://schemas.microsoft.com/office/drawing/2014/main" id="{EC5A7AD3-5BBF-457A-BC8D-EC15B22300D0}"/>
              </a:ext>
            </a:extLst>
          </p:cNvPr>
          <p:cNvSpPr>
            <a:spLocks xmlns:a="http://schemas.openxmlformats.org/drawingml/2006/main" noGrp="1"/>
          </p:cNvSpPr>
          <p:nvPr/>
        </p:nvSpPr>
        <p:spPr>
          <a:xfrm xmlns:a="http://schemas.openxmlformats.org/drawingml/2006/main">
            <a:off x="1285875" y="5895975"/>
            <a:ext cx="942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7F1E8"/>
                </a:solidFill>
              </a:defRPr>
            </a:pPr>
            <a:r>
              <a:rPr sz="1050" b="1">
                <a:solidFill>
                  <a:srgbClr val="F7F1E8"/>
                </a:solidFill>
              </a:rPr>
              <a:t>S1 f0fad889000fb…   →   S2 ea699445f74d8…   ·   child PID 72418</a:t>
            </a:r>
          </a:p>
        </p:txBody>
      </p:sp>
    </p:spTree>
    <p:extLst>
      <p:ext uri="{BB962C8B-B14F-4D97-AF65-F5344CB8AC3E}">
        <p14:creationId xmlns:p14="http://schemas.microsoft.com/office/powerpoint/2010/main" val="411111673"/>
      </p:ext>
    </p:extLst>
  </p:cSld>
</p:sld>
</file>

<file path=ppt/slides/slide14.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6" name="rail-14">
            <a:extLst xmlns:a="http://schemas.openxmlformats.org/drawingml/2006/main">
              <a:ext uri="{FF2B5EF4-FFF2-40B4-BE49-F238E27FC236}">
                <a16:creationId xmlns:a16="http://schemas.microsoft.com/office/drawing/2014/main" id="{0F7BB806-C3DB-4889-81A3-0429FAAFBC49}"/>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flourish-14">
            <a:extLst xmlns:a="http://schemas.openxmlformats.org/drawingml/2006/main">
              <a:ext uri="{FF2B5EF4-FFF2-40B4-BE49-F238E27FC236}">
                <a16:creationId xmlns:a16="http://schemas.microsoft.com/office/drawing/2014/main" id="{76EF35BF-17C1-4A97-BA94-44C5AE5E7E7E}"/>
              </a:ext>
            </a:extLst>
          </p:cNvPr>
          <p:cNvSpPr>
            <a:spLocks xmlns:a="http://schemas.openxmlformats.org/drawingml/2006/main" noGrp="1"/>
          </p:cNvSpPr>
          <p:nvPr/>
        </p:nvSpPr>
        <p:spPr>
          <a:xfrm xmlns:a="http://schemas.openxmlformats.org/drawingml/2006/main">
            <a:off x="666750" y="27622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C56D4A"/>
                </a:solidFill>
              </a:defRPr>
            </a:pPr>
            <a:r>
              <a:rPr sz="1500" b="1">
                <a:solidFill>
                  <a:srgbClr val="C56D4A"/>
                </a:solidFill>
              </a:rPr>
              <a:t>长程多轮智能体强化学习</a:t>
            </a:r>
          </a:p>
        </p:txBody>
      </p:sp>
      <p:sp>
        <p:nvSpPr>
          <p:cNvPr id="3" name="chapter-14">
            <a:extLst xmlns:a="http://schemas.openxmlformats.org/drawingml/2006/main">
              <a:ext uri="{FF2B5EF4-FFF2-40B4-BE49-F238E27FC236}">
                <a16:creationId xmlns:a16="http://schemas.microsoft.com/office/drawing/2014/main" id="{605154D0-8D91-4D1C-BEF7-C364F6FF865A}"/>
              </a:ext>
            </a:extLst>
          </p:cNvPr>
          <p:cNvSpPr>
            <a:spLocks xmlns:a="http://schemas.openxmlformats.org/drawingml/2006/main" noGrp="1"/>
          </p:cNvSpPr>
          <p:nvPr/>
        </p:nvSpPr>
        <p:spPr>
          <a:xfrm xmlns:a="http://schemas.openxmlformats.org/drawingml/2006/main">
            <a:off x="7239000" y="31432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B797B"/>
                </a:solidFill>
              </a:defRPr>
            </a:pPr>
            <a:r>
              <a:rPr sz="975" b="1">
                <a:solidFill>
                  <a:srgbClr val="0B797B"/>
                </a:solidFill>
              </a:rPr>
              <a:t>HONEST SELF-CHECK</a:t>
            </a:r>
          </a:p>
        </p:txBody>
      </p:sp>
      <p:sp>
        <p:nvSpPr>
          <p:cNvPr id="4" name="title-14">
            <a:extLst xmlns:a="http://schemas.openxmlformats.org/drawingml/2006/main">
              <a:ext uri="{FF2B5EF4-FFF2-40B4-BE49-F238E27FC236}">
                <a16:creationId xmlns:a16="http://schemas.microsoft.com/office/drawing/2014/main" id="{B7FDEF5D-CCCF-408B-A05A-C400EDD7C87E}"/>
              </a:ext>
            </a:extLst>
          </p:cNvPr>
          <p:cNvSpPr>
            <a:spLocks xmlns:a="http://schemas.openxmlformats.org/drawingml/2006/main" noGrp="1"/>
          </p:cNvSpPr>
          <p:nvPr/>
        </p:nvSpPr>
        <p:spPr>
          <a:xfrm xmlns:a="http://schemas.openxmlformats.org/drawingml/2006/main">
            <a:off x="666750" y="742950"/>
            <a:ext cx="10429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625" b="1">
                <a:solidFill>
                  <a:srgbClr val="071A2B"/>
                </a:solidFill>
              </a:defRPr>
            </a:pPr>
            <a:r>
              <a:rPr sz="2625" b="1">
                <a:solidFill>
                  <a:srgbClr val="071A2B"/>
                </a:solidFill>
              </a:rPr>
              <a:t>项目已经完整到哪里，哪些仍然不能写？</a:t>
            </a:r>
          </a:p>
        </p:txBody>
      </p:sp>
      <p:sp>
        <p:nvSpPr>
          <p:cNvPr id="5" name="subtitle-14">
            <a:extLst xmlns:a="http://schemas.openxmlformats.org/drawingml/2006/main">
              <a:ext uri="{FF2B5EF4-FFF2-40B4-BE49-F238E27FC236}">
                <a16:creationId xmlns:a16="http://schemas.microsoft.com/office/drawing/2014/main" id="{598C323A-F38A-4731-8484-4E93EEE21272}"/>
              </a:ext>
            </a:extLst>
          </p:cNvPr>
          <p:cNvSpPr>
            <a:spLocks xmlns:a="http://schemas.openxmlformats.org/drawingml/2006/main" noGrp="1"/>
          </p:cNvSpPr>
          <p:nvPr/>
        </p:nvSpPr>
        <p:spPr>
          <a:xfrm xmlns:a="http://schemas.openxmlformats.org/drawingml/2006/main">
            <a:off x="685800" y="13049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64747B"/>
                </a:solidFill>
              </a:defRPr>
            </a:pPr>
            <a:r>
              <a:rPr sz="1200">
                <a:solidFill>
                  <a:srgbClr val="64747B"/>
                </a:solidFill>
              </a:rPr>
              <a:t>把 COMPLETE、CODE_READY 与 BLOCKED_RESOURCE 分开，是这份复现最重要的研究纪律。</a:t>
            </a:r>
          </a:p>
        </p:txBody>
      </p:sp>
      <p:sp>
        <p:nvSpPr>
          <p:cNvPr id="6" name="">
            <a:extLst xmlns:a="http://schemas.openxmlformats.org/drawingml/2006/main">
              <a:ext uri="{FF2B5EF4-FFF2-40B4-BE49-F238E27FC236}">
                <a16:creationId xmlns:a16="http://schemas.microsoft.com/office/drawing/2014/main" id="{14F622D4-1E4E-48C7-89DB-760E36B6B873}"/>
              </a:ext>
            </a:extLst>
          </p:cNvPr>
          <p:cNvSpPr>
            <a:spLocks xmlns:a="http://schemas.openxmlformats.org/drawingml/2006/main" noGrp="1"/>
          </p:cNvSpPr>
          <p:nvPr/>
        </p:nvSpPr>
        <p:spPr>
          <a:xfrm xmlns:a="http://schemas.openxmlformats.org/drawingml/2006/main">
            <a:off x="666750" y="1752600"/>
            <a:ext cx="1057275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sp>
        <p:nvSpPr>
          <p:cNvPr id="7" name="page-14">
            <a:extLst xmlns:a="http://schemas.openxmlformats.org/drawingml/2006/main">
              <a:ext uri="{FF2B5EF4-FFF2-40B4-BE49-F238E27FC236}">
                <a16:creationId xmlns:a16="http://schemas.microsoft.com/office/drawing/2014/main" id="{C6A209A1-1C85-48D6-A94D-1EA7B64040D9}"/>
              </a:ext>
            </a:extLst>
          </p:cNvPr>
          <p:cNvSpPr>
            <a:spLocks xmlns:a="http://schemas.openxmlformats.org/drawingml/2006/main" noGrp="1"/>
          </p:cNvSpPr>
          <p:nvPr/>
        </p:nvSpPr>
        <p:spPr>
          <a:xfrm xmlns:a="http://schemas.openxmlformats.org/drawingml/2006/main">
            <a:off x="10715625" y="63817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14</a:t>
            </a:r>
          </a:p>
        </p:txBody>
      </p:sp>
      <p:sp>
        <p:nvSpPr>
          <p:cNvPr id="8" name="limit-0">
            <a:extLst xmlns:a="http://schemas.openxmlformats.org/drawingml/2006/main">
              <a:ext uri="{FF2B5EF4-FFF2-40B4-BE49-F238E27FC236}">
                <a16:creationId xmlns:a16="http://schemas.microsoft.com/office/drawing/2014/main" id="{93380E2B-3920-4DE1-9168-B9EBA9D9225C}"/>
              </a:ext>
            </a:extLst>
          </p:cNvPr>
          <p:cNvSpPr>
            <a:spLocks xmlns:a="http://schemas.openxmlformats.org/drawingml/2006/main" noGrp="1"/>
          </p:cNvSpPr>
          <p:nvPr/>
        </p:nvSpPr>
        <p:spPr>
          <a:xfrm xmlns:a="http://schemas.openxmlformats.org/drawingml/2006/main">
            <a:off x="714375" y="2143125"/>
            <a:ext cx="3286125" cy="3286125"/>
          </a:xfrm>
          <a:prstGeom xmlns:a="http://schemas.openxmlformats.org/drawingml/2006/main" prst="roundRect">
            <a:avLst>
              <a:gd name="adj" fmla="val 3478"/>
            </a:avLst>
          </a:prstGeom>
          <a:solidFill xmlns:a="http://schemas.openxmlformats.org/drawingml/2006/main">
            <a:srgbClr val="E5F5F3"/>
          </a:solidFill>
          <a:ln xmlns:a="http://schemas.openxmlformats.org/drawingml/2006/main" w="9525">
            <a:solidFill>
              <a:srgbClr val="228B67"/>
            </a:solidFill>
            <a:prstDash val="solid"/>
          </a:ln>
        </p:spPr>
      </p:sp>
      <p:sp>
        <p:nvSpPr>
          <p:cNvPr id="9" name="limit-k-0">
            <a:extLst xmlns:a="http://schemas.openxmlformats.org/drawingml/2006/main">
              <a:ext uri="{FF2B5EF4-FFF2-40B4-BE49-F238E27FC236}">
                <a16:creationId xmlns:a16="http://schemas.microsoft.com/office/drawing/2014/main" id="{51DB1D3A-00F9-4787-9605-F5E607856603}"/>
              </a:ext>
            </a:extLst>
          </p:cNvPr>
          <p:cNvSpPr>
            <a:spLocks xmlns:a="http://schemas.openxmlformats.org/drawingml/2006/main" noGrp="1"/>
          </p:cNvSpPr>
          <p:nvPr/>
        </p:nvSpPr>
        <p:spPr>
          <a:xfrm xmlns:a="http://schemas.openxmlformats.org/drawingml/2006/main">
            <a:off x="942975" y="2381250"/>
            <a:ext cx="28289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28B67"/>
                </a:solidFill>
              </a:defRPr>
            </a:pPr>
            <a:r>
              <a:rPr sz="1275" b="1">
                <a:solidFill>
                  <a:srgbClr val="228B67"/>
                </a:solidFill>
              </a:rPr>
              <a:t>COMPLETE</a:t>
            </a:r>
          </a:p>
        </p:txBody>
      </p:sp>
      <p:sp>
        <p:nvSpPr>
          <p:cNvPr id="10" name="limit-v-0-0">
            <a:extLst xmlns:a="http://schemas.openxmlformats.org/drawingml/2006/main">
              <a:ext uri="{FF2B5EF4-FFF2-40B4-BE49-F238E27FC236}">
                <a16:creationId xmlns:a16="http://schemas.microsoft.com/office/drawing/2014/main" id="{293A51D6-CD41-4D6D-944E-9AF81DF08642}"/>
              </a:ext>
            </a:extLst>
          </p:cNvPr>
          <p:cNvSpPr>
            <a:spLocks xmlns:a="http://schemas.openxmlformats.org/drawingml/2006/main" noGrp="1"/>
          </p:cNvSpPr>
          <p:nvPr/>
        </p:nvSpPr>
        <p:spPr>
          <a:xfrm xmlns:a="http://schemas.openxmlformats.org/drawingml/2006/main">
            <a:off x="981075" y="30480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两阶段 response-token GRPO</a:t>
            </a:r>
          </a:p>
        </p:txBody>
      </p:sp>
      <p:sp>
        <p:nvSpPr>
          <p:cNvPr id="11" name="limit-v-0-1">
            <a:extLst xmlns:a="http://schemas.openxmlformats.org/drawingml/2006/main">
              <a:ext uri="{FF2B5EF4-FFF2-40B4-BE49-F238E27FC236}">
                <a16:creationId xmlns:a16="http://schemas.microsoft.com/office/drawing/2014/main" id="{E6112189-78CB-4BAF-9D32-91A8520CE7FC}"/>
              </a:ext>
            </a:extLst>
          </p:cNvPr>
          <p:cNvSpPr>
            <a:spLocks xmlns:a="http://schemas.openxmlformats.org/drawingml/2006/main" noGrp="1"/>
          </p:cNvSpPr>
          <p:nvPr/>
        </p:nvSpPr>
        <p:spPr>
          <a:xfrm xmlns:a="http://schemas.openxmlformats.org/drawingml/2006/main">
            <a:off x="981075" y="35814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frontier hard-task curriculum</a:t>
            </a:r>
          </a:p>
        </p:txBody>
      </p:sp>
      <p:sp>
        <p:nvSpPr>
          <p:cNvPr id="12" name="limit-v-0-2">
            <a:extLst xmlns:a="http://schemas.openxmlformats.org/drawingml/2006/main">
              <a:ext uri="{FF2B5EF4-FFF2-40B4-BE49-F238E27FC236}">
                <a16:creationId xmlns:a16="http://schemas.microsoft.com/office/drawing/2014/main" id="{F402F10F-3810-4B82-8E30-CD1985FF1178}"/>
              </a:ext>
            </a:extLst>
          </p:cNvPr>
          <p:cNvSpPr>
            <a:spLocks xmlns:a="http://schemas.openxmlformats.org/drawingml/2006/main" noGrp="1"/>
          </p:cNvSpPr>
          <p:nvPr/>
        </p:nvSpPr>
        <p:spPr>
          <a:xfrm xmlns:a="http://schemas.openxmlformats.org/drawingml/2006/main">
            <a:off x="981075" y="41148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fresh-process adapter replay</a:t>
            </a:r>
          </a:p>
        </p:txBody>
      </p:sp>
      <p:sp>
        <p:nvSpPr>
          <p:cNvPr id="13" name="limit-v-0-3">
            <a:extLst xmlns:a="http://schemas.openxmlformats.org/drawingml/2006/main">
              <a:ext uri="{FF2B5EF4-FFF2-40B4-BE49-F238E27FC236}">
                <a16:creationId xmlns:a16="http://schemas.microsoft.com/office/drawing/2014/main" id="{924DE668-897C-4F9F-8143-765243BDCA56}"/>
              </a:ext>
            </a:extLst>
          </p:cNvPr>
          <p:cNvSpPr>
            <a:spLocks xmlns:a="http://schemas.openxmlformats.org/drawingml/2006/main" noGrp="1"/>
          </p:cNvSpPr>
          <p:nvPr/>
        </p:nvSpPr>
        <p:spPr>
          <a:xfrm xmlns:a="http://schemas.openxmlformats.org/drawingml/2006/main">
            <a:off x="981075" y="46482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V1 失败 → V2 修复审计</a:t>
            </a:r>
          </a:p>
        </p:txBody>
      </p:sp>
      <p:sp>
        <p:nvSpPr>
          <p:cNvPr id="14" name="limit-1">
            <a:extLst xmlns:a="http://schemas.openxmlformats.org/drawingml/2006/main">
              <a:ext uri="{FF2B5EF4-FFF2-40B4-BE49-F238E27FC236}">
                <a16:creationId xmlns:a16="http://schemas.microsoft.com/office/drawing/2014/main" id="{690F267C-EDC4-43A8-A898-893675450C25}"/>
              </a:ext>
            </a:extLst>
          </p:cNvPr>
          <p:cNvSpPr>
            <a:spLocks xmlns:a="http://schemas.openxmlformats.org/drawingml/2006/main" noGrp="1"/>
          </p:cNvSpPr>
          <p:nvPr/>
        </p:nvSpPr>
        <p:spPr>
          <a:xfrm xmlns:a="http://schemas.openxmlformats.org/drawingml/2006/main">
            <a:off x="4381500" y="2143125"/>
            <a:ext cx="3286125" cy="3286125"/>
          </a:xfrm>
          <a:prstGeom xmlns:a="http://schemas.openxmlformats.org/drawingml/2006/main" prst="roundRect">
            <a:avLst>
              <a:gd name="adj" fmla="val 3478"/>
            </a:avLst>
          </a:prstGeom>
          <a:solidFill xmlns:a="http://schemas.openxmlformats.org/drawingml/2006/main">
            <a:srgbClr val="FAF2DE"/>
          </a:solidFill>
          <a:ln xmlns:a="http://schemas.openxmlformats.org/drawingml/2006/main" w="9525">
            <a:solidFill>
              <a:srgbClr val="C56D4A"/>
            </a:solidFill>
            <a:prstDash val="solid"/>
          </a:ln>
        </p:spPr>
      </p:sp>
      <p:sp>
        <p:nvSpPr>
          <p:cNvPr id="15" name="limit-k-1">
            <a:extLst xmlns:a="http://schemas.openxmlformats.org/drawingml/2006/main">
              <a:ext uri="{FF2B5EF4-FFF2-40B4-BE49-F238E27FC236}">
                <a16:creationId xmlns:a16="http://schemas.microsoft.com/office/drawing/2014/main" id="{E5937F55-E731-4560-AF98-4F6EE23D1FF8}"/>
              </a:ext>
            </a:extLst>
          </p:cNvPr>
          <p:cNvSpPr>
            <a:spLocks xmlns:a="http://schemas.openxmlformats.org/drawingml/2006/main" noGrp="1"/>
          </p:cNvSpPr>
          <p:nvPr/>
        </p:nvSpPr>
        <p:spPr>
          <a:xfrm xmlns:a="http://schemas.openxmlformats.org/drawingml/2006/main">
            <a:off x="4610100" y="2381250"/>
            <a:ext cx="28289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C56D4A"/>
                </a:solidFill>
              </a:defRPr>
            </a:pPr>
            <a:r>
              <a:rPr sz="1275" b="1">
                <a:solidFill>
                  <a:srgbClr val="C56D4A"/>
                </a:solidFill>
              </a:rPr>
              <a:t>BFCL SMOKE PASS · PAPER NOT RUN</a:t>
            </a:r>
          </a:p>
        </p:txBody>
      </p:sp>
      <p:sp>
        <p:nvSpPr>
          <p:cNvPr id="16" name="limit-v-1-0">
            <a:extLst xmlns:a="http://schemas.openxmlformats.org/drawingml/2006/main">
              <a:ext uri="{FF2B5EF4-FFF2-40B4-BE49-F238E27FC236}">
                <a16:creationId xmlns:a16="http://schemas.microsoft.com/office/drawing/2014/main" id="{9BAB8907-25CA-49FC-A88E-C28F199BC539}"/>
              </a:ext>
            </a:extLst>
          </p:cNvPr>
          <p:cNvSpPr>
            <a:spLocks xmlns:a="http://schemas.openxmlformats.org/drawingml/2006/main" noGrp="1"/>
          </p:cNvSpPr>
          <p:nvPr/>
        </p:nvSpPr>
        <p:spPr>
          <a:xfrm xmlns:a="http://schemas.openxmlformats.org/drawingml/2006/main">
            <a:off x="4648200" y="30480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BFCL-V4 smoke：流水线 PASS，得分 0.00%</a:t>
            </a:r>
          </a:p>
        </p:txBody>
      </p:sp>
      <p:sp>
        <p:nvSpPr>
          <p:cNvPr id="17" name="limit-v-1-1">
            <a:extLst xmlns:a="http://schemas.openxmlformats.org/drawingml/2006/main">
              <a:ext uri="{FF2B5EF4-FFF2-40B4-BE49-F238E27FC236}">
                <a16:creationId xmlns:a16="http://schemas.microsoft.com/office/drawing/2014/main" id="{BE9C5151-6EDC-46C2-A8F8-BD9C2C44BA99}"/>
              </a:ext>
            </a:extLst>
          </p:cNvPr>
          <p:cNvSpPr>
            <a:spLocks xmlns:a="http://schemas.openxmlformats.org/drawingml/2006/main" noGrp="1"/>
          </p:cNvSpPr>
          <p:nvPr/>
        </p:nvSpPr>
        <p:spPr>
          <a:xfrm xmlns:a="http://schemas.openxmlformats.org/drawingml/2006/main">
            <a:off x="4648200" y="35814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BFCL paper profile：4 类 × 200 未运行</a:t>
            </a:r>
          </a:p>
        </p:txBody>
      </p:sp>
      <p:sp>
        <p:nvSpPr>
          <p:cNvPr id="18" name="limit-v-1-2">
            <a:extLst xmlns:a="http://schemas.openxmlformats.org/drawingml/2006/main">
              <a:ext uri="{FF2B5EF4-FFF2-40B4-BE49-F238E27FC236}">
                <a16:creationId xmlns:a16="http://schemas.microsoft.com/office/drawing/2014/main" id="{4ACE0DD7-2AB8-4A0F-829F-F0E49530FF2B}"/>
              </a:ext>
            </a:extLst>
          </p:cNvPr>
          <p:cNvSpPr>
            <a:spLocks xmlns:a="http://schemas.openxmlformats.org/drawingml/2006/main" noGrp="1"/>
          </p:cNvSpPr>
          <p:nvPr/>
        </p:nvSpPr>
        <p:spPr>
          <a:xfrm xmlns:a="http://schemas.openxmlformats.org/drawingml/2006/main">
            <a:off x="4648200" y="41148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TAU-2 Avg@4：未运行</a:t>
            </a:r>
          </a:p>
        </p:txBody>
      </p:sp>
      <p:sp>
        <p:nvSpPr>
          <p:cNvPr id="19" name="limit-v-1-3">
            <a:extLst xmlns:a="http://schemas.openxmlformats.org/drawingml/2006/main">
              <a:ext uri="{FF2B5EF4-FFF2-40B4-BE49-F238E27FC236}">
                <a16:creationId xmlns:a16="http://schemas.microsoft.com/office/drawing/2014/main" id="{9D2B0C0B-7C35-458F-B74F-A2E10C674C71}"/>
              </a:ext>
            </a:extLst>
          </p:cNvPr>
          <p:cNvSpPr>
            <a:spLocks xmlns:a="http://schemas.openxmlformats.org/drawingml/2006/main" noGrp="1"/>
          </p:cNvSpPr>
          <p:nvPr/>
        </p:nvSpPr>
        <p:spPr>
          <a:xfrm xmlns:a="http://schemas.openxmlformats.org/drawingml/2006/main">
            <a:off x="4648200" y="46482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3 seeds × ablation / 更长训练未运行</a:t>
            </a:r>
          </a:p>
        </p:txBody>
      </p:sp>
      <p:sp>
        <p:nvSpPr>
          <p:cNvPr id="20" name="limit-2">
            <a:extLst xmlns:a="http://schemas.openxmlformats.org/drawingml/2006/main">
              <a:ext uri="{FF2B5EF4-FFF2-40B4-BE49-F238E27FC236}">
                <a16:creationId xmlns:a16="http://schemas.microsoft.com/office/drawing/2014/main" id="{63C20E22-714B-4DC6-91A9-E12DEAF5021F}"/>
              </a:ext>
            </a:extLst>
          </p:cNvPr>
          <p:cNvSpPr>
            <a:spLocks xmlns:a="http://schemas.openxmlformats.org/drawingml/2006/main" noGrp="1"/>
          </p:cNvSpPr>
          <p:nvPr/>
        </p:nvSpPr>
        <p:spPr>
          <a:xfrm xmlns:a="http://schemas.openxmlformats.org/drawingml/2006/main">
            <a:off x="8048625" y="2143125"/>
            <a:ext cx="3286125" cy="3286125"/>
          </a:xfrm>
          <a:prstGeom xmlns:a="http://schemas.openxmlformats.org/drawingml/2006/main" prst="roundRect">
            <a:avLst>
              <a:gd name="adj" fmla="val 3478"/>
            </a:avLst>
          </a:prstGeom>
          <a:solidFill xmlns:a="http://schemas.openxmlformats.org/drawingml/2006/main">
            <a:srgbClr val="F9E9E6"/>
          </a:solidFill>
          <a:ln xmlns:a="http://schemas.openxmlformats.org/drawingml/2006/main" w="9525">
            <a:solidFill>
              <a:srgbClr val="B44C4C"/>
            </a:solidFill>
            <a:prstDash val="solid"/>
          </a:ln>
        </p:spPr>
      </p:sp>
      <p:sp>
        <p:nvSpPr>
          <p:cNvPr id="21" name="limit-k-2">
            <a:extLst xmlns:a="http://schemas.openxmlformats.org/drawingml/2006/main">
              <a:ext uri="{FF2B5EF4-FFF2-40B4-BE49-F238E27FC236}">
                <a16:creationId xmlns:a16="http://schemas.microsoft.com/office/drawing/2014/main" id="{10585864-4ABF-46F0-8CB6-024636BB7D60}"/>
              </a:ext>
            </a:extLst>
          </p:cNvPr>
          <p:cNvSpPr>
            <a:spLocks xmlns:a="http://schemas.openxmlformats.org/drawingml/2006/main" noGrp="1"/>
          </p:cNvSpPr>
          <p:nvPr/>
        </p:nvSpPr>
        <p:spPr>
          <a:xfrm xmlns:a="http://schemas.openxmlformats.org/drawingml/2006/main">
            <a:off x="8277225" y="2381250"/>
            <a:ext cx="28289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B44C4C"/>
                </a:solidFill>
              </a:defRPr>
            </a:pPr>
            <a:r>
              <a:rPr sz="1275" b="1">
                <a:solidFill>
                  <a:srgbClr val="B44C4C"/>
                </a:solidFill>
              </a:rPr>
              <a:t>BLOCKED RESOURCE</a:t>
            </a:r>
          </a:p>
        </p:txBody>
      </p:sp>
      <p:sp>
        <p:nvSpPr>
          <p:cNvPr id="22" name="limit-v-2-0">
            <a:extLst xmlns:a="http://schemas.openxmlformats.org/drawingml/2006/main">
              <a:ext uri="{FF2B5EF4-FFF2-40B4-BE49-F238E27FC236}">
                <a16:creationId xmlns:a16="http://schemas.microsoft.com/office/drawing/2014/main" id="{611DA583-32CA-4AFA-9AD6-3C45123542D3}"/>
              </a:ext>
            </a:extLst>
          </p:cNvPr>
          <p:cNvSpPr>
            <a:spLocks xmlns:a="http://schemas.openxmlformats.org/drawingml/2006/main" noGrp="1"/>
          </p:cNvSpPr>
          <p:nvPr/>
        </p:nvSpPr>
        <p:spPr>
          <a:xfrm xmlns:a="http://schemas.openxmlformats.org/drawingml/2006/main">
            <a:off x="8315325" y="30480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论文约 100K 数据飞轮</a:t>
            </a:r>
          </a:p>
        </p:txBody>
      </p:sp>
      <p:sp>
        <p:nvSpPr>
          <p:cNvPr id="23" name="limit-v-2-1">
            <a:extLst xmlns:a="http://schemas.openxmlformats.org/drawingml/2006/main">
              <a:ext uri="{FF2B5EF4-FFF2-40B4-BE49-F238E27FC236}">
                <a16:creationId xmlns:a16="http://schemas.microsoft.com/office/drawing/2014/main" id="{5BDC7AED-A2B2-4B28-BA22-790506CAFC9F}"/>
              </a:ext>
            </a:extLst>
          </p:cNvPr>
          <p:cNvSpPr>
            <a:spLocks xmlns:a="http://schemas.openxmlformats.org/drawingml/2006/main" noGrp="1"/>
          </p:cNvSpPr>
          <p:nvPr/>
        </p:nvSpPr>
        <p:spPr>
          <a:xfrm xmlns:a="http://schemas.openxmlformats.org/drawingml/2006/main">
            <a:off x="8315325" y="35814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Qwen3-235B simulator/judge</a:t>
            </a:r>
          </a:p>
        </p:txBody>
      </p:sp>
      <p:sp>
        <p:nvSpPr>
          <p:cNvPr id="24" name="limit-v-2-2">
            <a:extLst xmlns:a="http://schemas.openxmlformats.org/drawingml/2006/main">
              <a:ext uri="{FF2B5EF4-FFF2-40B4-BE49-F238E27FC236}">
                <a16:creationId xmlns:a16="http://schemas.microsoft.com/office/drawing/2014/main" id="{39BD4D5C-6ED0-4FE4-AFC6-40BA96A15278}"/>
              </a:ext>
            </a:extLst>
          </p:cNvPr>
          <p:cNvSpPr>
            <a:spLocks xmlns:a="http://schemas.openxmlformats.org/drawingml/2006/main" noGrp="1"/>
          </p:cNvSpPr>
          <p:nvPr/>
        </p:nvSpPr>
        <p:spPr>
          <a:xfrm xmlns:a="http://schemas.openxmlformats.org/drawingml/2006/main">
            <a:off x="8315325" y="41148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8×H100 原配方</a:t>
            </a:r>
          </a:p>
        </p:txBody>
      </p:sp>
      <p:sp>
        <p:nvSpPr>
          <p:cNvPr id="25" name="limit-v-2-3">
            <a:extLst xmlns:a="http://schemas.openxmlformats.org/drawingml/2006/main">
              <a:ext uri="{FF2B5EF4-FFF2-40B4-BE49-F238E27FC236}">
                <a16:creationId xmlns:a16="http://schemas.microsoft.com/office/drawing/2014/main" id="{A3C7E3B0-DEE5-434B-BF86-F2EE855FF313}"/>
              </a:ext>
            </a:extLst>
          </p:cNvPr>
          <p:cNvSpPr>
            <a:spLocks xmlns:a="http://schemas.openxmlformats.org/drawingml/2006/main" noGrp="1"/>
          </p:cNvSpPr>
          <p:nvPr/>
        </p:nvSpPr>
        <p:spPr>
          <a:xfrm xmlns:a="http://schemas.openxmlformats.org/drawingml/2006/main">
            <a:off x="8315325" y="46482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102330"/>
                </a:solidFill>
              </a:defRPr>
            </a:pPr>
            <a:r>
              <a:rPr sz="1200" b="1">
                <a:solidFill>
                  <a:srgbClr val="102330"/>
                </a:solidFill>
              </a:rPr>
              <a:t>×  论文 47.4 benchmark claim</a:t>
            </a:r>
          </a:p>
        </p:txBody>
      </p:sp>
    </p:spTree>
    <p:extLst>
      <p:ext uri="{BB962C8B-B14F-4D97-AF65-F5344CB8AC3E}">
        <p14:creationId xmlns:p14="http://schemas.microsoft.com/office/powerpoint/2010/main" val="117898889"/>
      </p:ext>
    </p:extLst>
  </p:cSld>
</p:sld>
</file>

<file path=ppt/slides/slide15.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7" name="mechanism-rail">
            <a:extLst xmlns:a="http://schemas.openxmlformats.org/drawingml/2006/main">
              <a:ext uri="{FF2B5EF4-FFF2-40B4-BE49-F238E27FC236}">
                <a16:creationId xmlns:a16="http://schemas.microsoft.com/office/drawing/2014/main" id="{9FCFDFFE-72C8-461A-80BC-CCA9C5C478B5}"/>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71A2B"/>
          </a:solidFill>
          <a:ln xmlns:a="http://schemas.openxmlformats.org/drawingml/2006/main" w="0">
            <a:solidFill>
              <a:srgbClr val="071A2B"/>
            </a:solidFill>
            <a:prstDash val="solid"/>
          </a:ln>
        </p:spPr>
      </p:sp>
      <p:sp>
        <p:nvSpPr>
          <p:cNvPr id="2" name="mechanism-title">
            <a:extLst xmlns:a="http://schemas.openxmlformats.org/drawingml/2006/main">
              <a:ext uri="{FF2B5EF4-FFF2-40B4-BE49-F238E27FC236}">
                <a16:creationId xmlns:a16="http://schemas.microsoft.com/office/drawing/2014/main" id="{3ADE5CEB-CA9F-4D60-881E-A2D52B95AD94}"/>
              </a:ext>
            </a:extLst>
          </p:cNvPr>
          <p:cNvSpPr>
            <a:spLocks xmlns:a="http://schemas.openxmlformats.org/drawingml/2006/main" noGrp="1"/>
          </p:cNvSpPr>
          <p:nvPr/>
        </p:nvSpPr>
        <p:spPr>
          <a:xfrm xmlns:a="http://schemas.openxmlformats.org/drawingml/2006/main">
            <a:off x="742950" y="228600"/>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400" b="1">
                <a:solidFill>
                  <a:srgbClr val="071A2B"/>
                </a:solidFill>
              </a:defRPr>
            </a:pPr>
            <a:r>
              <a:rPr sz="2400" b="1">
                <a:solidFill>
                  <a:srgbClr val="071A2B"/>
                </a:solidFill>
              </a:rPr>
              <a:t>失败驱动的课程学习闭环</a:t>
            </a:r>
          </a:p>
        </p:txBody>
      </p:sp>
      <p:sp>
        <p:nvSpPr>
          <p:cNvPr id="3" name="mechanism-subtitle">
            <a:extLst xmlns:a="http://schemas.openxmlformats.org/drawingml/2006/main">
              <a:ext uri="{FF2B5EF4-FFF2-40B4-BE49-F238E27FC236}">
                <a16:creationId xmlns:a16="http://schemas.microsoft.com/office/drawing/2014/main" id="{3CFB4A96-3728-4405-BE27-9D52D53A78FF}"/>
              </a:ext>
            </a:extLst>
          </p:cNvPr>
          <p:cNvSpPr>
            <a:spLocks xmlns:a="http://schemas.openxmlformats.org/drawingml/2006/main" noGrp="1"/>
          </p:cNvSpPr>
          <p:nvPr/>
        </p:nvSpPr>
        <p:spPr>
          <a:xfrm xmlns:a="http://schemas.openxmlformats.org/drawingml/2006/main">
            <a:off x="7477125" y="323850"/>
            <a:ext cx="3762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0B797B"/>
                </a:solidFill>
              </a:defRPr>
            </a:pPr>
            <a:r>
              <a:rPr sz="1125" b="1">
                <a:solidFill>
                  <a:srgbClr val="0B797B"/>
                </a:solidFill>
              </a:rPr>
              <a:t>基础工具链 → 轨迹审计 → 定向合成 → 带分支的持续训练</a:t>
            </a:r>
          </a:p>
        </p:txBody>
      </p:sp>
      <p:sp>
        <p:nvSpPr>
          <p:cNvPr id="4" name="">
            <a:extLst xmlns:a="http://schemas.openxmlformats.org/drawingml/2006/main">
              <a:ext uri="{FF2B5EF4-FFF2-40B4-BE49-F238E27FC236}">
                <a16:creationId xmlns:a16="http://schemas.microsoft.com/office/drawing/2014/main" id="{A6FF1DC3-1486-4725-8211-356844AE3EEB}"/>
              </a:ext>
            </a:extLst>
          </p:cNvPr>
          <p:cNvSpPr>
            <a:spLocks xmlns:a="http://schemas.openxmlformats.org/drawingml/2006/main" noGrp="1"/>
          </p:cNvSpPr>
          <p:nvPr/>
        </p:nvSpPr>
        <p:spPr>
          <a:xfrm xmlns:a="http://schemas.openxmlformats.org/drawingml/2006/main">
            <a:off x="723900" y="723900"/>
            <a:ext cx="10515600" cy="0"/>
          </a:xfrm>
          <a:prstGeom xmlns:a="http://schemas.openxmlformats.org/drawingml/2006/main" prst="line">
            <a:avLst/>
          </a:prstGeom>
          <a:noFill xmlns:a="http://schemas.openxmlformats.org/drawingml/2006/main"/>
          <a:ln xmlns:a="http://schemas.openxmlformats.org/drawingml/2006/main" w="9525">
            <a:solidFill>
              <a:srgbClr val="CAD9D8"/>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eab3be56b494a28"/>
          <a:stretch xmlns:a="http://schemas.openxmlformats.org/drawingml/2006/main"/>
        </p:blipFill>
        <p:spPr>
          <a:xfrm xmlns:a="http://schemas.openxmlformats.org/drawingml/2006/main">
            <a:off x="1619250" y="1099989"/>
            <a:ext cx="8953500" cy="5039021"/>
          </a:xfrm>
          <a:prstGeom xmlns:a="http://schemas.openxmlformats.org/drawingml/2006/main" prst="rect">
            <a:avLst/>
          </a:prstGeom>
        </p:spPr>
      </p:pic>
      <p:sp>
        <p:nvSpPr>
          <p:cNvPr id="6" name="mechanism-page">
            <a:extLst xmlns:a="http://schemas.openxmlformats.org/drawingml/2006/main">
              <a:ext uri="{FF2B5EF4-FFF2-40B4-BE49-F238E27FC236}">
                <a16:creationId xmlns:a16="http://schemas.microsoft.com/office/drawing/2014/main" id="{544EEBDF-A244-4648-A586-6FA1E3ADFCA2}"/>
              </a:ext>
            </a:extLst>
          </p:cNvPr>
          <p:cNvSpPr>
            <a:spLocks xmlns:a="http://schemas.openxmlformats.org/drawingml/2006/main" noGrp="1"/>
          </p:cNvSpPr>
          <p:nvPr/>
        </p:nvSpPr>
        <p:spPr>
          <a:xfrm xmlns:a="http://schemas.openxmlformats.org/drawingml/2006/main">
            <a:off x="10715625" y="641985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a:solidFill>
                  <a:srgbClr val="64747B"/>
                </a:solidFill>
              </a:defRPr>
            </a:pPr>
            <a:r>
              <a:rPr sz="900">
                <a:solidFill>
                  <a:srgbClr val="64747B"/>
                </a:solidFill>
              </a:rPr>
              <a:t>15</a:t>
            </a:r>
          </a:p>
        </p:txBody>
      </p:sp>
    </p:spTree>
    <p:extLst>
      <p:ext uri="{BB962C8B-B14F-4D97-AF65-F5344CB8AC3E}">
        <p14:creationId xmlns:p14="http://schemas.microsoft.com/office/powerpoint/2010/main" val="853379674"/>
      </p:ext>
    </p:extLst>
  </p:cSld>
</p:sld>
</file>

<file path=ppt/slides/slide16.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1" name="copper-16">
            <a:extLst xmlns:a="http://schemas.openxmlformats.org/drawingml/2006/main">
              <a:ext uri="{FF2B5EF4-FFF2-40B4-BE49-F238E27FC236}">
                <a16:creationId xmlns:a16="http://schemas.microsoft.com/office/drawing/2014/main" id="{825B7E01-F8BE-40D8-A8DC-E0053C0F9A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56D4A"/>
          </a:solidFill>
          <a:ln xmlns:a="http://schemas.openxmlformats.org/drawingml/2006/main" w="0">
            <a:solidFill>
              <a:srgbClr val="C56D4A"/>
            </a:solidFill>
            <a:prstDash val="solid"/>
          </a:ln>
        </p:spPr>
      </p:sp>
      <p:sp>
        <p:nvSpPr>
          <p:cNvPr id="2" name="chapter-script-16">
            <a:extLst xmlns:a="http://schemas.openxmlformats.org/drawingml/2006/main">
              <a:ext uri="{FF2B5EF4-FFF2-40B4-BE49-F238E27FC236}">
                <a16:creationId xmlns:a16="http://schemas.microsoft.com/office/drawing/2014/main" id="{DC26CBA7-61EE-4B70-9395-327651136118}"/>
              </a:ext>
            </a:extLst>
          </p:cNvPr>
          <p:cNvSpPr>
            <a:spLocks xmlns:a="http://schemas.openxmlformats.org/drawingml/2006/main" noGrp="1"/>
          </p:cNvSpPr>
          <p:nvPr/>
        </p:nvSpPr>
        <p:spPr>
          <a:xfrm xmlns:a="http://schemas.openxmlformats.org/drawingml/2006/main">
            <a:off x="800100" y="6477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75" b="1">
                <a:solidFill>
                  <a:srgbClr val="D6A84B"/>
                </a:solidFill>
              </a:defRPr>
            </a:pPr>
            <a:r>
              <a:rPr sz="2175" b="1">
                <a:solidFill>
                  <a:srgbClr val="D6A84B"/>
                </a:solidFill>
              </a:rPr>
              <a:t>长程智能体 · 强化学习</a:t>
            </a:r>
          </a:p>
        </p:txBody>
      </p:sp>
      <p:sp>
        <p:nvSpPr>
          <p:cNvPr id="3" name="roman-16">
            <a:extLst xmlns:a="http://schemas.openxmlformats.org/drawingml/2006/main">
              <a:ext uri="{FF2B5EF4-FFF2-40B4-BE49-F238E27FC236}">
                <a16:creationId xmlns:a16="http://schemas.microsoft.com/office/drawing/2014/main" id="{DE5B312E-35BD-4711-8E4B-2FFE049E6C0A}"/>
              </a:ext>
            </a:extLst>
          </p:cNvPr>
          <p:cNvSpPr>
            <a:spLocks xmlns:a="http://schemas.openxmlformats.org/drawingml/2006/main" noGrp="1"/>
          </p:cNvSpPr>
          <p:nvPr/>
        </p:nvSpPr>
        <p:spPr>
          <a:xfrm xmlns:a="http://schemas.openxmlformats.org/drawingml/2006/main">
            <a:off x="8001000" y="323850"/>
            <a:ext cx="3048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450" b="1">
                <a:solidFill>
                  <a:srgbClr val="0E2B3D"/>
                </a:solidFill>
              </a:defRPr>
            </a:pPr>
            <a:r>
              <a:rPr sz="12450" b="1">
                <a:solidFill>
                  <a:srgbClr val="0E2B3D"/>
                </a:solidFill>
              </a:rPr>
              <a:t>✓</a:t>
            </a:r>
          </a:p>
        </p:txBody>
      </p:sp>
      <p:sp>
        <p:nvSpPr>
          <p:cNvPr id="4" name="">
            <a:extLst xmlns:a="http://schemas.openxmlformats.org/drawingml/2006/main">
              <a:ext uri="{FF2B5EF4-FFF2-40B4-BE49-F238E27FC236}">
                <a16:creationId xmlns:a16="http://schemas.microsoft.com/office/drawing/2014/main" id="{7364F5DC-99B1-44FB-B5A9-5116CC061A29}"/>
              </a:ext>
            </a:extLst>
          </p:cNvPr>
          <p:cNvSpPr>
            <a:spLocks xmlns:a="http://schemas.openxmlformats.org/drawingml/2006/main" noGrp="1"/>
          </p:cNvSpPr>
          <p:nvPr/>
        </p:nvSpPr>
        <p:spPr>
          <a:xfrm xmlns:a="http://schemas.openxmlformats.org/drawingml/2006/main">
            <a:off x="819150" y="1628775"/>
            <a:ext cx="1619250" cy="0"/>
          </a:xfrm>
          <a:prstGeom xmlns:a="http://schemas.openxmlformats.org/drawingml/2006/main" prst="line">
            <a:avLst/>
          </a:prstGeom>
          <a:noFill xmlns:a="http://schemas.openxmlformats.org/drawingml/2006/main"/>
          <a:ln xmlns:a="http://schemas.openxmlformats.org/drawingml/2006/main" w="47625">
            <a:solidFill>
              <a:srgbClr val="C56D4A"/>
            </a:solidFill>
            <a:prstDash val="solid"/>
          </a:ln>
        </p:spPr>
      </p:sp>
      <p:sp>
        <p:nvSpPr>
          <p:cNvPr id="5" name="zh-16">
            <a:extLst xmlns:a="http://schemas.openxmlformats.org/drawingml/2006/main">
              <a:ext uri="{FF2B5EF4-FFF2-40B4-BE49-F238E27FC236}">
                <a16:creationId xmlns:a16="http://schemas.microsoft.com/office/drawing/2014/main" id="{E1117231-295A-48EE-B29C-4391C2B313B3}"/>
              </a:ext>
            </a:extLst>
          </p:cNvPr>
          <p:cNvSpPr>
            <a:spLocks xmlns:a="http://schemas.openxmlformats.org/drawingml/2006/main" noGrp="1"/>
          </p:cNvSpPr>
          <p:nvPr/>
        </p:nvSpPr>
        <p:spPr>
          <a:xfrm xmlns:a="http://schemas.openxmlformats.org/drawingml/2006/main">
            <a:off x="781050" y="2038350"/>
            <a:ext cx="7620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275" b="1">
                <a:solidFill>
                  <a:srgbClr val="F7F1E8"/>
                </a:solidFill>
              </a:defRPr>
            </a:pPr>
            <a:r>
              <a:rPr sz="4275" b="1">
                <a:solidFill>
                  <a:srgbClr val="F7F1E8"/>
                </a:solidFill>
              </a:rPr>
              <a:t>从论文到可审计项目</a:t>
            </a:r>
          </a:p>
        </p:txBody>
      </p:sp>
      <p:sp>
        <p:nvSpPr>
          <p:cNvPr id="6" name="en-16">
            <a:extLst xmlns:a="http://schemas.openxmlformats.org/drawingml/2006/main">
              <a:ext uri="{FF2B5EF4-FFF2-40B4-BE49-F238E27FC236}">
                <a16:creationId xmlns:a16="http://schemas.microsoft.com/office/drawing/2014/main" id="{F2D61261-B03F-4FA0-9395-A2E1D754DEB7}"/>
              </a:ext>
            </a:extLst>
          </p:cNvPr>
          <p:cNvSpPr>
            <a:spLocks xmlns:a="http://schemas.openxmlformats.org/drawingml/2006/main" noGrp="1"/>
          </p:cNvSpPr>
          <p:nvPr/>
        </p:nvSpPr>
        <p:spPr>
          <a:xfrm xmlns:a="http://schemas.openxmlformats.org/drawingml/2006/main">
            <a:off x="828675" y="3028950"/>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18A6A6"/>
                </a:solidFill>
              </a:defRPr>
            </a:pPr>
            <a:r>
              <a:rPr sz="1800" b="1">
                <a:solidFill>
                  <a:srgbClr val="18A6A6"/>
                </a:solidFill>
              </a:rPr>
              <a:t>PLAN · EXECUTE · VERIFY · REPORT</a:t>
            </a:r>
          </a:p>
        </p:txBody>
      </p:sp>
      <p:sp>
        <p:nvSpPr>
          <p:cNvPr id="7" name="body-16">
            <a:extLst xmlns:a="http://schemas.openxmlformats.org/drawingml/2006/main">
              <a:ext uri="{FF2B5EF4-FFF2-40B4-BE49-F238E27FC236}">
                <a16:creationId xmlns:a16="http://schemas.microsoft.com/office/drawing/2014/main" id="{ED7F7590-5BC2-47EF-8893-D0D2B58E0F23}"/>
              </a:ext>
            </a:extLst>
          </p:cNvPr>
          <p:cNvSpPr>
            <a:spLocks xmlns:a="http://schemas.openxmlformats.org/drawingml/2006/main" noGrp="1"/>
          </p:cNvSpPr>
          <p:nvPr/>
        </p:nvSpPr>
        <p:spPr>
          <a:xfrm xmlns:a="http://schemas.openxmlformats.org/drawingml/2006/main">
            <a:off x="828675" y="3905250"/>
            <a:ext cx="7905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nSpc>
                <a:spcPct val="118000"/>
              </a:lnSpc>
              <a:buNone/>
              <a:defRPr sz="1575">
                <a:solidFill>
                  <a:srgbClr val="C7D6DC"/>
                </a:solidFill>
              </a:defRPr>
            </a:pPr>
            <a:r>
              <a:rPr sz="1575">
                <a:solidFill>
                  <a:srgbClr val="C7D6DC"/>
                </a:solidFill>
              </a:rPr>
              <a:t>现在可以真实地讲：我实现并运行了一个 Qwen3-8B 长程 Agentic RL curriculum，模型经历了真实多轮工具环境、失败诊断、难例再训练与独立重载。下一步是运行官方 benchmark、扩大数据与 seeds，而不是补一个更漂亮的故事。</a:t>
            </a:r>
          </a:p>
        </p:txBody>
      </p:sp>
      <p:sp>
        <p:nvSpPr>
          <p:cNvPr id="8" name="chapter-pill-16-bg">
            <a:extLst xmlns:a="http://schemas.openxmlformats.org/drawingml/2006/main">
              <a:ext uri="{FF2B5EF4-FFF2-40B4-BE49-F238E27FC236}">
                <a16:creationId xmlns:a16="http://schemas.microsoft.com/office/drawing/2014/main" id="{7E51E6F3-FC24-46ED-BBD0-B050FFF981A5}"/>
              </a:ext>
            </a:extLst>
          </p:cNvPr>
          <p:cNvSpPr>
            <a:spLocks xmlns:a="http://schemas.openxmlformats.org/drawingml/2006/main" noGrp="1"/>
          </p:cNvSpPr>
          <p:nvPr/>
        </p:nvSpPr>
        <p:spPr>
          <a:xfrm xmlns:a="http://schemas.openxmlformats.org/drawingml/2006/main">
            <a:off x="828675" y="5638800"/>
            <a:ext cx="1428750" cy="285750"/>
          </a:xfrm>
          <a:prstGeom xmlns:a="http://schemas.openxmlformats.org/drawingml/2006/main" prst="roundRect">
            <a:avLst>
              <a:gd name="adj" fmla="val 50000"/>
            </a:avLst>
          </a:prstGeom>
          <a:solidFill xmlns:a="http://schemas.openxmlformats.org/drawingml/2006/main">
            <a:srgbClr val="C56D4A"/>
          </a:solidFill>
          <a:ln xmlns:a="http://schemas.openxmlformats.org/drawingml/2006/main" w="0">
            <a:solidFill>
              <a:srgbClr val="C56D4A"/>
            </a:solidFill>
            <a:prstDash val="solid"/>
          </a:ln>
        </p:spPr>
      </p:sp>
      <p:sp>
        <p:nvSpPr>
          <p:cNvPr id="9" name="chapter-pill-16-text">
            <a:extLst xmlns:a="http://schemas.openxmlformats.org/drawingml/2006/main">
              <a:ext uri="{FF2B5EF4-FFF2-40B4-BE49-F238E27FC236}">
                <a16:creationId xmlns:a16="http://schemas.microsoft.com/office/drawing/2014/main" id="{D9FF8126-7057-4213-9010-C0D49FCACC58}"/>
              </a:ext>
            </a:extLst>
          </p:cNvPr>
          <p:cNvSpPr>
            <a:spLocks xmlns:a="http://schemas.openxmlformats.org/drawingml/2006/main" noGrp="1"/>
          </p:cNvSpPr>
          <p:nvPr/>
        </p:nvSpPr>
        <p:spPr>
          <a:xfrm xmlns:a="http://schemas.openxmlformats.org/drawingml/2006/main">
            <a:off x="923925" y="5686425"/>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FFFFF"/>
                </a:solidFill>
              </a:defRPr>
            </a:pPr>
            <a:r>
              <a:rPr sz="900" b="1">
                <a:solidFill>
                  <a:srgbClr val="FFFFFF"/>
                </a:solidFill>
              </a:rPr>
              <a:t>CHAPTER 16</a:t>
            </a:r>
          </a:p>
        </p:txBody>
      </p:sp>
      <p:sp>
        <p:nvSpPr>
          <p:cNvPr id="10" name="close-command">
            <a:extLst xmlns:a="http://schemas.openxmlformats.org/drawingml/2006/main">
              <a:ext uri="{FF2B5EF4-FFF2-40B4-BE49-F238E27FC236}">
                <a16:creationId xmlns:a16="http://schemas.microsoft.com/office/drawing/2014/main" id="{04517DEA-7A83-493C-B95C-1AE815291865}"/>
              </a:ext>
            </a:extLst>
          </p:cNvPr>
          <p:cNvSpPr>
            <a:spLocks xmlns:a="http://schemas.openxmlformats.org/drawingml/2006/main" noGrp="1"/>
          </p:cNvSpPr>
          <p:nvPr/>
        </p:nvSpPr>
        <p:spPr>
          <a:xfrm xmlns:a="http://schemas.openxmlformats.org/drawingml/2006/main">
            <a:off x="819150" y="5095875"/>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a:solidFill>
                  <a:srgbClr val="F7F1E8"/>
                </a:solidFill>
              </a:defRPr>
            </a:pPr>
            <a:r>
              <a:rPr sz="1200" b="1">
                <a:solidFill>
                  <a:srgbClr val="F7F1E8"/>
                </a:solidFill>
              </a:rPr>
              <a:t>./run_curriculum_modal.sh  →  ./finalize_curriculum_report.sh  →  build_curriculum_deck.mjs</a:t>
            </a:r>
          </a:p>
        </p:txBody>
      </p:sp>
    </p:spTree>
    <p:extLst>
      <p:ext uri="{BB962C8B-B14F-4D97-AF65-F5344CB8AC3E}">
        <p14:creationId xmlns:p14="http://schemas.microsoft.com/office/powerpoint/2010/main" val="437487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2026-08-05T07:34:19.3400000Z</dcterms:created>
  <dcterms:modified xsi:type="dcterms:W3CDTF">2026-08-05T07:34:19.3400000Z</dcterms:modified>
</coreProperties>
</file>