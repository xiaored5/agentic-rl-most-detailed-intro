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76d9c89151d4d92" /><Relationship Type="http://schemas.openxmlformats.org/officeDocument/2006/relationships/extended-properties" Target="/docProps/app.xml" Id="Rb273193611294090" /><Relationship Type="http://schemas.openxmlformats.org/officeDocument/2006/relationships/officeDocument" Target="/ppt/presentation.xml" Id="R96cd63e3effa4b41" /></Relationships>
</file>

<file path=ppt/presentation.xml><?xml version="1.0" encoding="utf-8"?>
<p:presentation xmlns:p="http://schemas.openxmlformats.org/presentationml/2006/main">
  <p:sldMasterIdLst>
    <p:sldMasterId xmlns:r="http://schemas.openxmlformats.org/officeDocument/2006/relationships" id="2147483648" r:id="Ra719b380f55b4361"/>
  </p:sldMasterIdLst>
  <p:notesMasterIdLst>
    <p:notesMasterId xmlns:r="http://schemas.openxmlformats.org/officeDocument/2006/relationships" r:id="Ree4a924ef3a3468e"/>
  </p:notesMasterIdLst>
  <p:sldIdLst>
    <p:sldId xmlns:r="http://schemas.openxmlformats.org/officeDocument/2006/relationships" id="256" r:id="R4917e464529d4db1"/>
    <p:sldId xmlns:r="http://schemas.openxmlformats.org/officeDocument/2006/relationships" id="257" r:id="R86473819c6054252"/>
    <p:sldId xmlns:r="http://schemas.openxmlformats.org/officeDocument/2006/relationships" id="258" r:id="R83204962f6774ff0"/>
    <p:sldId xmlns:r="http://schemas.openxmlformats.org/officeDocument/2006/relationships" id="259" r:id="R0b4e6b08ca00417e"/>
    <p:sldId xmlns:r="http://schemas.openxmlformats.org/officeDocument/2006/relationships" id="260" r:id="R4cc6aa1b2cd14ced"/>
    <p:sldId xmlns:r="http://schemas.openxmlformats.org/officeDocument/2006/relationships" id="261" r:id="Rd68cf32722424323"/>
    <p:sldId xmlns:r="http://schemas.openxmlformats.org/officeDocument/2006/relationships" id="262" r:id="Rb05f5de24a014b7c"/>
    <p:sldId xmlns:r="http://schemas.openxmlformats.org/officeDocument/2006/relationships" id="263" r:id="Rfb63ae7d86954df4"/>
    <p:sldId xmlns:r="http://schemas.openxmlformats.org/officeDocument/2006/relationships" id="264" r:id="Rc6f8e9f6d6094098"/>
    <p:sldId xmlns:r="http://schemas.openxmlformats.org/officeDocument/2006/relationships" id="265" r:id="Ra3c5bca19346440b"/>
    <p:sldId xmlns:r="http://schemas.openxmlformats.org/officeDocument/2006/relationships" id="266" r:id="Ra55b4d2bfc044e82"/>
    <p:sldId xmlns:r="http://schemas.openxmlformats.org/officeDocument/2006/relationships" id="267" r:id="R4834883ee617498c"/>
    <p:sldId xmlns:r="http://schemas.openxmlformats.org/officeDocument/2006/relationships" id="268" r:id="R533bbe65ae574072"/>
    <p:sldId xmlns:r="http://schemas.openxmlformats.org/officeDocument/2006/relationships" id="269" r:id="R666fcc2a72a2482f"/>
    <p:sldId xmlns:r="http://schemas.openxmlformats.org/officeDocument/2006/relationships" id="270" r:id="R66f9074648ce45ee"/>
    <p:sldId xmlns:r="http://schemas.openxmlformats.org/officeDocument/2006/relationships" id="271" r:id="R855a6d7538a34b5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c7961e858994b40" /><Relationship Type="http://schemas.openxmlformats.org/officeDocument/2006/relationships/slideMaster" Target="/ppt/slideMasters/slideMaster1.xml" Id="Ra719b380f55b4361" /><Relationship Type="http://schemas.openxmlformats.org/officeDocument/2006/relationships/notesMaster" Target="/ppt/notesMasters/notesMaster1.xml" Id="Ree4a924ef3a3468e" /><Relationship Type="http://schemas.openxmlformats.org/officeDocument/2006/relationships/presProps" Target="/ppt/presProps.xml" Id="R30087ee59c744a11" /><Relationship Type="http://schemas.openxmlformats.org/officeDocument/2006/relationships/tableStyles" Target="/ppt/tableStyles.xml" Id="R36e5e0d1e9814134" /><Relationship Type="http://schemas.openxmlformats.org/officeDocument/2006/relationships/slide" Target="/ppt/slides/slide1.xml" Id="R4917e464529d4db1" /><Relationship Type="http://schemas.openxmlformats.org/officeDocument/2006/relationships/slide" Target="/ppt/slides/slide2.xml" Id="R86473819c6054252" /><Relationship Type="http://schemas.openxmlformats.org/officeDocument/2006/relationships/slide" Target="/ppt/slides/slide3.xml" Id="R83204962f6774ff0" /><Relationship Type="http://schemas.openxmlformats.org/officeDocument/2006/relationships/slide" Target="/ppt/slides/slide4.xml" Id="R0b4e6b08ca00417e" /><Relationship Type="http://schemas.openxmlformats.org/officeDocument/2006/relationships/slide" Target="/ppt/slides/slide5.xml" Id="R4cc6aa1b2cd14ced" /><Relationship Type="http://schemas.openxmlformats.org/officeDocument/2006/relationships/slide" Target="/ppt/slides/slide6.xml" Id="Rd68cf32722424323" /><Relationship Type="http://schemas.openxmlformats.org/officeDocument/2006/relationships/slide" Target="/ppt/slides/slide7.xml" Id="Rb05f5de24a014b7c" /><Relationship Type="http://schemas.openxmlformats.org/officeDocument/2006/relationships/slide" Target="/ppt/slides/slide8.xml" Id="Rfb63ae7d86954df4" /><Relationship Type="http://schemas.openxmlformats.org/officeDocument/2006/relationships/slide" Target="/ppt/slides/slide9.xml" Id="Rc6f8e9f6d6094098" /><Relationship Type="http://schemas.openxmlformats.org/officeDocument/2006/relationships/slide" Target="/ppt/slides/slide10.xml" Id="Ra3c5bca19346440b" /><Relationship Type="http://schemas.openxmlformats.org/officeDocument/2006/relationships/slide" Target="/ppt/slides/slide11.xml" Id="Ra55b4d2bfc044e82" /><Relationship Type="http://schemas.openxmlformats.org/officeDocument/2006/relationships/slide" Target="/ppt/slides/slide12.xml" Id="R4834883ee617498c" /><Relationship Type="http://schemas.openxmlformats.org/officeDocument/2006/relationships/slide" Target="/ppt/slides/slide13.xml" Id="R533bbe65ae574072" /><Relationship Type="http://schemas.openxmlformats.org/officeDocument/2006/relationships/slide" Target="/ppt/slides/slide14.xml" Id="R666fcc2a72a2482f" /><Relationship Type="http://schemas.openxmlformats.org/officeDocument/2006/relationships/slide" Target="/ppt/slides/slide15.xml" Id="R66f9074648ce45ee" /><Relationship Type="http://schemas.openxmlformats.org/officeDocument/2006/relationships/slide" Target="/ppt/slides/slide16.xml" Id="R855a6d7538a34b5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c4333989b894b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31b75b9f3649df" /><Relationship Type="http://schemas.openxmlformats.org/officeDocument/2006/relationships/notesMaster" Target="/ppt/notesMasters/notesMaster1.xml" Id="R79ebe3fd2be84fe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9ffbc39e03948f6" /><Relationship Type="http://schemas.openxmlformats.org/officeDocument/2006/relationships/notesMaster" Target="/ppt/notesMasters/notesMaster1.xml" Id="R81a0aea459914c8c"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193d00d1294057" /><Relationship Type="http://schemas.openxmlformats.org/officeDocument/2006/relationships/notesMaster" Target="/ppt/notesMasters/notesMaster1.xml" Id="R9f740e54112c4f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aaf3efb15d4467d" /><Relationship Type="http://schemas.openxmlformats.org/officeDocument/2006/relationships/notesMaster" Target="/ppt/notesMasters/notesMaster1.xml" Id="R5323ada71bea4e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694cb9e2704ee4" /><Relationship Type="http://schemas.openxmlformats.org/officeDocument/2006/relationships/notesMaster" Target="/ppt/notesMasters/notesMaster1.xml" Id="Re65fdd1b00e14d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0a75ee7c0324737" /><Relationship Type="http://schemas.openxmlformats.org/officeDocument/2006/relationships/notesMaster" Target="/ppt/notesMasters/notesMaster1.xml" Id="R398d5ad57f1a42d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59b57cfa2c34628" /><Relationship Type="http://schemas.openxmlformats.org/officeDocument/2006/relationships/notesMaster" Target="/ppt/notesMasters/notesMaster1.xml" Id="R2b1dcaaae53941dd" /></Relationships>
</file>

<file path=ppt/notesSlides/_rels/notesSlide8.xml.rels>&#65279;<?xml version="1.0" encoding="utf-8"?><Relationships xmlns="http://schemas.openxmlformats.org/package/2006/relationships"><Relationship Type="http://schemas.openxmlformats.org/officeDocument/2006/relationships/slide" Target="/ppt/slides/slide8.xml" Id="Recba1c39cdc54e44" /><Relationship Type="http://schemas.openxmlformats.org/officeDocument/2006/relationships/notesMaster" Target="/ppt/notesMasters/notesMaster1.xml" Id="Rab3a0646b99f470c"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d35673950948a4" /><Relationship Type="http://schemas.openxmlformats.org/officeDocument/2006/relationships/notesMaster" Target="/ppt/notesMasters/notesMaster1.xml" Id="Rfd8bc512770142b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9d059eeb9a8408b" /><Relationship Type="http://schemas.openxmlformats.org/officeDocument/2006/relationships/notesMaster" Target="/ppt/notesMasters/notesMaster1.xml" Id="R5a1864fc17cd473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da9f4e9c70844bb" /><Relationship Type="http://schemas.openxmlformats.org/officeDocument/2006/relationships/notesMaster" Target="/ppt/notesMasters/notesMaster1.xml" Id="R4faf140a48594a6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8ac13895afe4917" /><Relationship Type="http://schemas.openxmlformats.org/officeDocument/2006/relationships/notesMaster" Target="/ppt/notesMasters/notesMaster1.xml" Id="Rd692934fe1d3464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902398ff9704324" /><Relationship Type="http://schemas.openxmlformats.org/officeDocument/2006/relationships/notesMaster" Target="/ppt/notesMasters/notesMaster1.xml" Id="Ra873bda7595f4b5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62efd3667034c1a" /><Relationship Type="http://schemas.openxmlformats.org/officeDocument/2006/relationships/notesMaster" Target="/ppt/notesMasters/notesMaster1.xml" Id="Rb3c2ac74faec43d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2ebcb3ae6764da8" /><Relationship Type="http://schemas.openxmlformats.org/officeDocument/2006/relationships/notesMaster" Target="/ppt/notesMasters/notesMaster1.xml" Id="R6ee9dc56920e429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7fd9924a9044eeb" /><Relationship Type="http://schemas.openxmlformats.org/officeDocument/2006/relationships/notesMaster" Target="/ppt/notesMasters/notesMaster1.xml" Id="Re38b8753a2564d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开场先讲清证据边界：这是一次真实小规模云端训练闭环，不是论文八卡/100K 数据指标复刻。</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/Users/hongbo/Documents/Codex/2026-08-02/https-yyhdbl-github-io/outputs/agenticqwen-reproduction/artifacts/cloud_runs/qwen3-8b-qlora-20260804-v2/evidence/run_summary.json</a:t>
            </a:r>
          </a:p>
          <a:p xmlns:a="http://schemas.openxmlformats.org/drawingml/2006/main">
            <a:r>
              <a:t>- /Users/hongbo/Documents/Codex/2026-08-02/https-yyhdbl-github-io/outputs/agenticqwen-reproduction/artifacts/cloud_runs/qwen3-8b-qlora-20260804-v2/evidence/verification.json</a:t>
            </a:r>
          </a:p>
          <a:p xmlns:a="http://schemas.openxmlformats.org/drawingml/2006/main">
            <a:r>
              <a:t>- https://arxiv.org/abs/2604.21590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这是给入门同学的总地图。后面的每一页都落到这四层中的一个证据问题。</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/Users/hongbo/Documents/Codex/2026-08-02/https-yyhdbl-github-io/outputs/agenticqwen-reproduction/docs/curriculum_protocol.md</a:t>
            </a:r>
          </a:p>
          <a:p xmlns:a="http://schemas.openxmlformats.org/drawingml/2006/main">
            <a:r>
              <a:t>- /Users/hongbo/Documents/Codex/2026-08-02/https-yyhdbl-github-io/outputs/agenticqwen-reproduction/artifacts/cloud_runs/qwen3-8b-qlora-20260804-v2/evidence/resolved_config.json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先比较论文与本项目尺度，避免把工程闭环 PASS 误解成论文分数复现。</a:t>
            </a:r>
          </a:p>
          <a:p xmlns:a="http://schemas.openxmlformats.org/drawingml/2006/main">
            <a:r>
              <a:t/>
            </a:r>
          </a:p>
          <a:p xmlns:a="http://schemas.openxmlformats.org/drawingml/2006/main">
            <a:r>
              <a:t>[Sources]</a:t>
            </a:r>
          </a:p>
          <a:p xmlns:a="http://schemas.openxmlformats.org/drawingml/2006/main">
            <a:r>
              <a:t>- https://arxiv.org/abs/2604.21590</a:t>
            </a:r>
          </a:p>
          <a:p xmlns:a="http://schemas.openxmlformats.org/drawingml/2006/main">
            <a:r>
              <a:t>- /Users/hongbo/Documents/Codex/2026-08-02/https-yyhdbl-github-io/outputs/agenticqwen-reproduction/artifacts/cloud_runs/qwen3-8b-qlora-20260804-v2/evidence/resolved_config.json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强调模型只生成动作，环境负责执行，reward 从最终状态读取。</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/Users/hongbo/Documents/Codex/2026-08-02/https-yyhdbl-github-io/outputs/agenticqwen-reproduction/src/agentic_repro/curriculum_env.py</a:t>
            </a:r>
          </a:p>
          <a:p xmlns:a="http://schemas.openxmlformats.org/drawingml/2006/main">
            <a:r>
              <a:t>- /Users/hongbo/Documents/Codex/2026-08-02/https-yyhdbl-github-io/outputs/agenticqwen-reproduction/src/agentic_repro/curriculum_train.py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这页适合面试时讲 environment design：不可逆动作由代码硬门控制，模型无法通过语言绕过。</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/Users/hongbo/Documents/Codex/2026-08-02/https-yyhdbl-github-io/outputs/agenticqwen-reproduction/src/agentic_repro/curriculum_env.py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response-token 是本次相对早期单 token demo 的关键升级：整个 assistant completion 参与策略优化。</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/Users/hongbo/Documents/Codex/2026-08-02/https-yyhdbl-github-io/outputs/agenticqwen-reproduction/artifacts/cloud_runs/qwen3-8b-qlora-20260804-v2/evidence/resolved_config.json</a:t>
            </a:r>
          </a:p>
          <a:p xmlns:a="http://schemas.openxmlformats.org/drawingml/2006/main">
            <a:r>
              <a:t>- https://huggingface.co/docs/trl/en/grpo_trainer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第二章切入用户最关心的 curriculum：训练—失败—合成更难数据—再训练。</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/Users/hongbo/Documents/Codex/2026-08-02/https-yyhdbl-github-io/outputs/agenticqwen-reproduction/artifacts/cloud_runs/qwen3-8b-qlora-20260804-v2/evidence/stage2/synthesis_manifest.json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 1 后在冻结 probe 上生成轨迹并分类 terminal state；该 trace 的 hash 是合成输入证据。</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/Users/hongbo/Documents/Codex/2026-08-02/https-yyhdbl-github-io/outputs/agenticqwen-reproduction/artifacts/cloud_runs/qwen3-8b-qlora-20260804-v2/evidence/stage1/summary.json</a:t>
            </a:r>
          </a:p>
          <a:p xmlns:a="http://schemas.openxmlformats.org/drawingml/2006/main">
            <a:r>
              <a:t>- /Users/hongbo/Documents/Codex/2026-08-02/https-yyhdbl-github-io/outputs/agenticqwen-reproduction/artifacts/cloud_runs/qwen3-8b-qlora-20260804-v2/evidence/stage1/eval_probe_traces.jsonl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此页是 curriculum 的核心：failure category 到 task perturbation 的确定性映射，并保留 trace/data hash。</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/Users/hongbo/Documents/Codex/2026-08-02/https-yyhdbl-github-io/outputs/agenticqwen-reproduction/artifacts/cloud_runs/qwen3-8b-qlora-20260804-v2/evidence/stage2/synthesis_manifest.json</a:t>
            </a:r>
          </a:p>
          <a:p xmlns:a="http://schemas.openxmlformats.org/drawingml/2006/main">
            <a:r>
              <a:t>- /Users/hongbo/Documents/Codex/2026-08-02/https-yyhdbl-github-io/outputs/agenticqwen-reproduction/artifacts/cloud_runs/qwen3-8b-qlora-20260804-v2/evidence/tasks/stage2_hard.jsonl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结果页必须如实展示正负 delta；不要用完整性 PASS 替代性能提升。</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/Users/hongbo/Documents/Codex/2026-08-02/https-yyhdbl-github-io/outputs/agenticqwen-reproduction/artifacts/cloud_runs/qwen3-8b-qlora-20260804-v2/evidence/stage2/summary.json</a:t>
            </a:r>
          </a:p>
          <a:p xmlns:a="http://schemas.openxmlformats.org/drawingml/2006/main">
            <a:r>
              <a:t>- /Users/hongbo/Documents/Codex/2026-08-02/https-yyhdbl-github-io/outputs/agenticqwen-reproduction/artifacts/cloud_runs/qwen3-8b-qlora-20260804-v2/evidence/fresh_replay/summary.json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轨迹页用 environment event ledger，而不是模型自述，证明每次读写、observation 和最终状态。</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/Users/hongbo/Documents/Codex/2026-08-02/https-yyhdbl-github-io/outputs/agenticqwen-reproduction/artifacts/cloud_runs/qwen3-8b-qlora-20260804-v2/evidence/stage2/eval_final_traces.jsonl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这页主动声明 BFCL 未运行；代码就绪不等于实验完成。</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/Users/hongbo/Documents/Codex/2026-08-02/https-yyhdbl-github-io/outputs/agenticqwen-reproduction/docs/benchmark_protocol.md</a:t>
            </a:r>
          </a:p>
          <a:p xmlns:a="http://schemas.openxmlformats.org/drawingml/2006/main">
            <a:r>
              <a:t>- https://github.com/ShishirPatil/gorilla/tree/main/berkeley-function-call-leaderboard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审计门覆盖 adapter、权重变化、Stage-2 继承、数据隔离、轨迹、计划步数和真正的子进程重载。</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/Users/hongbo/Documents/Codex/2026-08-02/https-yyhdbl-github-io/outputs/agenticqwen-reproduction/artifacts/cloud_runs/qwen3-8b-qlora-20260804-v2/evidence/verification.json</a:t>
            </a:r>
          </a:p>
          <a:p xmlns:a="http://schemas.openxmlformats.org/drawingml/2006/main">
            <a:r>
              <a:t>- /Users/hongbo/Documents/Codex/2026-08-02/https-yyhdbl-github-io/outputs/agenticqwen-reproduction/artifacts/cloud_runs/qwen3-8b-qlora-20260804-v2/evidence/stage1/summary.json</a:t>
            </a:r>
          </a:p>
          <a:p xmlns:a="http://schemas.openxmlformats.org/drawingml/2006/main">
            <a:r>
              <a:t>- /Users/hongbo/Documents/Codex/2026-08-02/https-yyhdbl-github-io/outputs/agenticqwen-reproduction/artifacts/cloud_runs/qwen3-8b-qlora-20260804-v2/evidence/stage2/summary.json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面试时最可信的讲法：先讲闭环与证据，再主动说 paper-scale 没做，最后给出扩展实验。</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/Users/hongbo/Documents/Codex/2026-08-02/https-yyhdbl-github-io/outputs/agenticqwen-reproduction/artifacts/cloud_runs/qwen3-8b-qlora-20260804-v2/evidence/run_summary.json</a:t>
            </a:r>
          </a:p>
          <a:p xmlns:a="http://schemas.openxmlformats.org/drawingml/2006/main">
            <a:r>
              <a:t>- /Users/hongbo/Documents/Codex/2026-08-02/https-yyhdbl-github-io/outputs/agenticqwen-reproduction/README.md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这张机制图解释为什么第二阶段数据不是随机扩充：失败路径被反译成新的环境状态、用户指令、智能体约束与分支工作流。</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/Users/hongbo/Documents/Codex/2026-08-02/https-yyhdbl-github-io/outputs/agenticqwen-reproduction/agenticqwen_report/images/figure4_curriculum_stage_flow.png</a:t>
            </a:r>
          </a:p>
          <a:p xmlns:a="http://schemas.openxmlformats.org/drawingml/2006/main">
            <a:r>
              <a:t>- /Users/hongbo/Documents/Codex/2026-08-02/https-yyhdbl-github-io/outputs/agenticqwen-reproduction/artifacts/cloud_runs/qwen3-8b-qlora-20260804-v2/evidence/stage2/synthesis_manifest.json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结尾把项目浓缩成一句可用于简历和面试、但不越过证据边界的话。</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/Users/hongbo/Documents/Codex/2026-08-02/https-yyhdbl-github-io/outputs/agenticqwen-reproduction/artifacts/cloud_runs/qwen3-8b-qlora-20260804-v2/evidence/verification.json</a:t>
            </a:r>
          </a:p>
          <a:p xmlns:a="http://schemas.openxmlformats.org/drawingml/2006/main">
            <a:r>
              <a:t>- /Users/hongbo/Documents/Codex/2026-08-02/https-yyhdbl-github-io/outputs/agenticqwen-reproduction/docs/benchmark_protocol.md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33ba1d059e84ed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49be95d0b84bb7" /><Relationship Type="http://schemas.openxmlformats.org/officeDocument/2006/relationships/slideLayout" Target="/ppt/slideLayouts/slideLayout1.xml" Id="R5604e068f0af4db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04e068f0af4d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2c145aa6d724249" /><Relationship Type="http://schemas.openxmlformats.org/officeDocument/2006/relationships/notesSlide" Target="/ppt/notesSlides/notesSlide1.xml" Id="R7a01c0c73fef41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bfbb47143a4f4e" /><Relationship Type="http://schemas.openxmlformats.org/officeDocument/2006/relationships/notesSlide" Target="/ppt/notesSlides/notesSlide2.xml" Id="R480c3bcae8244f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88d956de2949a6" /><Relationship Type="http://schemas.openxmlformats.org/officeDocument/2006/relationships/image" Target="/ppt/media/image.png" Id="R1386b6d36b3142a5" /><Relationship Type="http://schemas.openxmlformats.org/officeDocument/2006/relationships/notesSlide" Target="/ppt/notesSlides/notesSlide3.xml" Id="Rb0090b4f64aa4c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01a197039e84d94" /><Relationship Type="http://schemas.openxmlformats.org/officeDocument/2006/relationships/notesSlide" Target="/ppt/notesSlides/notesSlide4.xml" Id="R0c3d8e16b15b4f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0d3e4c766594ed8" /><Relationship Type="http://schemas.openxmlformats.org/officeDocument/2006/relationships/notesSlide" Target="/ppt/notesSlides/notesSlide5.xml" Id="R0bb3de6682f941f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b03f17363d8499e" /><Relationship Type="http://schemas.openxmlformats.org/officeDocument/2006/relationships/notesSlide" Target="/ppt/notesSlides/notesSlide6.xml" Id="Raf8d86de65dc46b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e32e9e537734e67" /><Relationship Type="http://schemas.openxmlformats.org/officeDocument/2006/relationships/notesSlide" Target="/ppt/notesSlides/notesSlide7.xml" Id="Reab8546f6dcf408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f393292ee01408c" /><Relationship Type="http://schemas.openxmlformats.org/officeDocument/2006/relationships/notesSlide" Target="/ppt/notesSlides/notesSlide8.xml" Id="Rc4510dd07438441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cd57febabeb4d8d" /><Relationship Type="http://schemas.openxmlformats.org/officeDocument/2006/relationships/notesSlide" Target="/ppt/notesSlides/notesSlide9.xml" Id="R099a453279544be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b9332687f4943bf" /><Relationship Type="http://schemas.openxmlformats.org/officeDocument/2006/relationships/notesSlide" Target="/ppt/notesSlides/notesSlide10.xml" Id="Rbe4130a854fd4af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1dd63bf1f654f39" /><Relationship Type="http://schemas.openxmlformats.org/officeDocument/2006/relationships/notesSlide" Target="/ppt/notesSlides/notesSlide11.xml" Id="Rbbd4dc83b55c49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02e3369d3794ab7" /><Relationship Type="http://schemas.openxmlformats.org/officeDocument/2006/relationships/notesSlide" Target="/ppt/notesSlides/notesSlide12.xml" Id="R8948187da7f243d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70b1ba5f36f4a3d" /><Relationship Type="http://schemas.openxmlformats.org/officeDocument/2006/relationships/notesSlide" Target="/ppt/notesSlides/notesSlide13.xml" Id="R8ddb905bee504d3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6df5061fb94485e" /><Relationship Type="http://schemas.openxmlformats.org/officeDocument/2006/relationships/notesSlide" Target="/ppt/notesSlides/notesSlide14.xml" Id="R63b78be48091483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44a96f221c642f0" /><Relationship Type="http://schemas.openxmlformats.org/officeDocument/2006/relationships/image" Target="/ppt/media/image2.png" Id="R2d89d394b910480e" /><Relationship Type="http://schemas.openxmlformats.org/officeDocument/2006/relationships/notesSlide" Target="/ppt/notesSlides/notesSlide15.xml" Id="R7d4ac735f395482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2737263a62d4c60" /><Relationship Type="http://schemas.openxmlformats.org/officeDocument/2006/relationships/notesSlide" Target="/ppt/notesSlides/notesSlide16.xml" Id="Rd278a5fe05c34012" /></Relationships>
</file>

<file path=ppt/slides/slide1.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4" name="cover-copper">
            <a:extLst xmlns:a="http://schemas.openxmlformats.org/drawingml/2006/main">
              <a:ext uri="{FF2B5EF4-FFF2-40B4-BE49-F238E27FC236}">
                <a16:creationId xmlns:a16="http://schemas.microsoft.com/office/drawing/2014/main" id="{A3AAFC37-45FB-42D7-A21D-DFDCA3074656}"/>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C56D4A"/>
          </a:solidFill>
          <a:ln xmlns:a="http://schemas.openxmlformats.org/drawingml/2006/main" w="0">
            <a:solidFill>
              <a:srgbClr val="C56D4A"/>
            </a:solidFill>
            <a:prstDash val="solid"/>
          </a:ln>
        </p:spPr>
      </p:sp>
      <p:sp>
        <p:nvSpPr>
          <p:cNvPr id="2" name="cover-teal">
            <a:extLst xmlns:a="http://schemas.openxmlformats.org/drawingml/2006/main">
              <a:ext uri="{FF2B5EF4-FFF2-40B4-BE49-F238E27FC236}">
                <a16:creationId xmlns:a16="http://schemas.microsoft.com/office/drawing/2014/main" id="{9C5D5A58-4674-4A65-BD92-DB11D0946991}"/>
              </a:ext>
            </a:extLst>
          </p:cNvPr>
          <p:cNvSpPr>
            <a:spLocks xmlns:a="http://schemas.openxmlformats.org/drawingml/2006/main" noGrp="1"/>
          </p:cNvSpPr>
          <p:nvPr/>
        </p:nvSpPr>
        <p:spPr>
          <a:xfrm xmlns:a="http://schemas.openxmlformats.org/drawingml/2006/main">
            <a:off x="9620250" y="0"/>
            <a:ext cx="2571750" cy="6858000"/>
          </a:xfrm>
          <a:prstGeom xmlns:a="http://schemas.openxmlformats.org/drawingml/2006/main" prst="rect">
            <a:avLst/>
          </a:prstGeom>
          <a:solidFill xmlns:a="http://schemas.openxmlformats.org/drawingml/2006/main">
            <a:srgbClr val="0E2B3D"/>
          </a:solidFill>
          <a:ln xmlns:a="http://schemas.openxmlformats.org/drawingml/2006/main" w="0">
            <a:solidFill>
              <a:srgbClr val="0E2B3D"/>
            </a:solidFill>
            <a:prstDash val="solid"/>
          </a:ln>
        </p:spPr>
      </p:sp>
      <p:sp>
        <p:nvSpPr>
          <p:cNvPr id="3" name="cover-flourish">
            <a:extLst xmlns:a="http://schemas.openxmlformats.org/drawingml/2006/main">
              <a:ext uri="{FF2B5EF4-FFF2-40B4-BE49-F238E27FC236}">
                <a16:creationId xmlns:a16="http://schemas.microsoft.com/office/drawing/2014/main" id="{7B2D43DE-40DE-4B07-A594-C572A12CD766}"/>
              </a:ext>
            </a:extLst>
          </p:cNvPr>
          <p:cNvSpPr>
            <a:spLocks xmlns:a="http://schemas.openxmlformats.org/drawingml/2006/main" noGrp="1"/>
          </p:cNvSpPr>
          <p:nvPr/>
        </p:nvSpPr>
        <p:spPr>
          <a:xfrm xmlns:a="http://schemas.openxmlformats.org/drawingml/2006/main">
            <a:off x="800100" y="590550"/>
            <a:ext cx="619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325" b="1">
                <a:solidFill>
                  <a:srgbClr val="D6A84B"/>
                </a:solidFill>
              </a:defRPr>
            </a:pPr>
            <a:r>
              <a:rPr sz="2325" b="1">
                <a:solidFill>
                  <a:srgbClr val="D6A84B"/>
                </a:solidFill>
              </a:rPr>
              <a:t>长程多轮智能体强化学习</a:t>
            </a:r>
          </a:p>
        </p:txBody>
      </p:sp>
      <p:sp>
        <p:nvSpPr>
          <p:cNvPr id="4" name="">
            <a:extLst xmlns:a="http://schemas.openxmlformats.org/drawingml/2006/main">
              <a:ext uri="{FF2B5EF4-FFF2-40B4-BE49-F238E27FC236}">
                <a16:creationId xmlns:a16="http://schemas.microsoft.com/office/drawing/2014/main" id="{9687052F-7E46-4C5B-A43D-7BACFC0DDB8F}"/>
              </a:ext>
            </a:extLst>
          </p:cNvPr>
          <p:cNvSpPr>
            <a:spLocks xmlns:a="http://schemas.openxmlformats.org/drawingml/2006/main" noGrp="1"/>
          </p:cNvSpPr>
          <p:nvPr/>
        </p:nvSpPr>
        <p:spPr>
          <a:xfrm xmlns:a="http://schemas.openxmlformats.org/drawingml/2006/main">
            <a:off x="819150" y="1466850"/>
            <a:ext cx="1762125"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5" name="cover-title">
            <a:extLst xmlns:a="http://schemas.openxmlformats.org/drawingml/2006/main">
              <a:ext uri="{FF2B5EF4-FFF2-40B4-BE49-F238E27FC236}">
                <a16:creationId xmlns:a16="http://schemas.microsoft.com/office/drawing/2014/main" id="{3F640336-60F9-4C90-A213-A52464F6D1CF}"/>
              </a:ext>
            </a:extLst>
          </p:cNvPr>
          <p:cNvSpPr>
            <a:spLocks xmlns:a="http://schemas.openxmlformats.org/drawingml/2006/main" noGrp="1"/>
          </p:cNvSpPr>
          <p:nvPr/>
        </p:nvSpPr>
        <p:spPr>
          <a:xfrm xmlns:a="http://schemas.openxmlformats.org/drawingml/2006/main">
            <a:off x="762000" y="1857375"/>
            <a:ext cx="7620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92000"/>
              </a:lnSpc>
              <a:buNone/>
              <a:defRPr sz="5250" b="1">
                <a:solidFill>
                  <a:srgbClr val="F7F1E8"/>
                </a:solidFill>
              </a:defRPr>
            </a:pPr>
            <a:r>
              <a:rPr sz="5250" b="1">
                <a:solidFill>
                  <a:srgbClr val="F7F1E8"/>
                </a:solidFill>
              </a:rPr>
              <a:t>AgenticQwen</a:t>
            </a:r>
          </a:p>
          <a:p xmlns:a="http://schemas.openxmlformats.org/drawingml/2006/main">
            <a:pPr>
              <a:lnSpc>
                <a:spcPct val="92000"/>
              </a:lnSpc>
              <a:buNone/>
              <a:defRPr sz="5250" b="1">
                <a:solidFill>
                  <a:srgbClr val="F7F1E8"/>
                </a:solidFill>
              </a:defRPr>
            </a:pPr>
            <a:r>
              <a:rPr sz="5250" b="1">
                <a:solidFill>
                  <a:srgbClr val="F7F1E8"/>
                </a:solidFill>
              </a:rPr>
              <a:t>Curriculum Lab</a:t>
            </a:r>
          </a:p>
        </p:txBody>
      </p:sp>
      <p:sp>
        <p:nvSpPr>
          <p:cNvPr id="6" name="cover-sub">
            <a:extLst xmlns:a="http://schemas.openxmlformats.org/drawingml/2006/main">
              <a:ext uri="{FF2B5EF4-FFF2-40B4-BE49-F238E27FC236}">
                <a16:creationId xmlns:a16="http://schemas.microsoft.com/office/drawing/2014/main" id="{C187B2FB-2F8D-45A4-9601-5FEF00B07C58}"/>
              </a:ext>
            </a:extLst>
          </p:cNvPr>
          <p:cNvSpPr>
            <a:spLocks xmlns:a="http://schemas.openxmlformats.org/drawingml/2006/main" noGrp="1"/>
          </p:cNvSpPr>
          <p:nvPr/>
        </p:nvSpPr>
        <p:spPr>
          <a:xfrm xmlns:a="http://schemas.openxmlformats.org/drawingml/2006/main">
            <a:off x="819150" y="3733800"/>
            <a:ext cx="752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025" b="1">
                <a:solidFill>
                  <a:srgbClr val="FFFFFF"/>
                </a:solidFill>
              </a:defRPr>
            </a:pPr>
            <a:r>
              <a:rPr sz="2025" b="1">
                <a:solidFill>
                  <a:srgbClr val="FFFFFF"/>
                </a:solidFill>
              </a:rPr>
              <a:t>训练 → 失败诊断 → 困难数据合成 → 再训练</a:t>
            </a:r>
          </a:p>
        </p:txBody>
      </p:sp>
      <p:sp>
        <p:nvSpPr>
          <p:cNvPr id="7" name="cover-meta">
            <a:extLst xmlns:a="http://schemas.openxmlformats.org/drawingml/2006/main">
              <a:ext uri="{FF2B5EF4-FFF2-40B4-BE49-F238E27FC236}">
                <a16:creationId xmlns:a16="http://schemas.microsoft.com/office/drawing/2014/main" id="{7F504254-A10E-4002-9718-8945F0F2208D}"/>
              </a:ext>
            </a:extLst>
          </p:cNvPr>
          <p:cNvSpPr>
            <a:spLocks xmlns:a="http://schemas.openxmlformats.org/drawingml/2006/main" noGrp="1"/>
          </p:cNvSpPr>
          <p:nvPr/>
        </p:nvSpPr>
        <p:spPr>
          <a:xfrm xmlns:a="http://schemas.openxmlformats.org/drawingml/2006/main">
            <a:off x="838200" y="4533900"/>
            <a:ext cx="7524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ADC3CC"/>
                </a:solidFill>
              </a:defRPr>
            </a:pPr>
            <a:r>
              <a:rPr sz="1200">
                <a:solidFill>
                  <a:srgbClr val="ADC3CC"/>
                </a:solidFill>
              </a:rPr>
              <a:t>Qwen3-8B · response-token QLoRA-GRPO · NVIDIA RTX PRO 6000 Blackwell Server Edition</a:t>
            </a:r>
          </a:p>
          <a:p xmlns:a="http://schemas.openxmlformats.org/drawingml/2006/main">
            <a:pPr>
              <a:defRPr sz="1200">
                <a:solidFill>
                  <a:srgbClr val="ADC3CC"/>
                </a:solidFill>
              </a:defRPr>
            </a:pPr>
            <a:r>
              <a:rPr sz="1200">
                <a:solidFill>
                  <a:srgbClr val="ADC3CC"/>
                </a:solidFill>
              </a:rPr>
              <a:t>/root/autodl-tmp/runs/agenticqwen-qwen3-8b-qlora-v2/qwen3-8b-qlora-20260804-v2</a:t>
            </a:r>
          </a:p>
        </p:txBody>
      </p:sp>
      <p:sp>
        <p:nvSpPr>
          <p:cNvPr id="8" name="cover-02">
            <a:extLst xmlns:a="http://schemas.openxmlformats.org/drawingml/2006/main">
              <a:ext uri="{FF2B5EF4-FFF2-40B4-BE49-F238E27FC236}">
                <a16:creationId xmlns:a16="http://schemas.microsoft.com/office/drawing/2014/main" id="{EC9ABD35-5C30-4288-8D71-A9F3BB7D63A3}"/>
              </a:ext>
            </a:extLst>
          </p:cNvPr>
          <p:cNvSpPr>
            <a:spLocks xmlns:a="http://schemas.openxmlformats.org/drawingml/2006/main" noGrp="1"/>
          </p:cNvSpPr>
          <p:nvPr/>
        </p:nvSpPr>
        <p:spPr>
          <a:xfrm xmlns:a="http://schemas.openxmlformats.org/drawingml/2006/main">
            <a:off x="9906000" y="857250"/>
            <a:ext cx="1619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0" b="1">
                <a:solidFill>
                  <a:srgbClr val="18A6A6"/>
                </a:solidFill>
              </a:defRPr>
            </a:pPr>
            <a:r>
              <a:rPr sz="9000" b="1">
                <a:solidFill>
                  <a:srgbClr val="18A6A6"/>
                </a:solidFill>
              </a:rPr>
              <a:t>02</a:t>
            </a:r>
          </a:p>
        </p:txBody>
      </p:sp>
      <p:sp>
        <p:nvSpPr>
          <p:cNvPr id="9" name="cover-side">
            <a:extLst xmlns:a="http://schemas.openxmlformats.org/drawingml/2006/main">
              <a:ext uri="{FF2B5EF4-FFF2-40B4-BE49-F238E27FC236}">
                <a16:creationId xmlns:a16="http://schemas.microsoft.com/office/drawing/2014/main" id="{C7C54416-277F-492E-9399-632047F383A5}"/>
              </a:ext>
            </a:extLst>
          </p:cNvPr>
          <p:cNvSpPr>
            <a:spLocks xmlns:a="http://schemas.openxmlformats.org/drawingml/2006/main" noGrp="1"/>
          </p:cNvSpPr>
          <p:nvPr/>
        </p:nvSpPr>
        <p:spPr>
          <a:xfrm xmlns:a="http://schemas.openxmlformats.org/drawingml/2006/main">
            <a:off x="9810750" y="3143250"/>
            <a:ext cx="185737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25000"/>
              </a:lnSpc>
              <a:buNone/>
              <a:defRPr sz="1500" b="1">
                <a:solidFill>
                  <a:srgbClr val="F7F1E8"/>
                </a:solidFill>
              </a:defRPr>
            </a:pPr>
            <a:r>
              <a:rPr sz="1500" b="1">
                <a:solidFill>
                  <a:srgbClr val="F7F1E8"/>
                </a:solidFill>
              </a:rPr>
              <a:t>REAL RUN</a:t>
            </a:r>
          </a:p>
          <a:p xmlns:a="http://schemas.openxmlformats.org/drawingml/2006/main">
            <a:pPr algn="ctr">
              <a:lnSpc>
                <a:spcPct val="125000"/>
              </a:lnSpc>
              <a:buNone/>
              <a:defRPr sz="1500" b="1">
                <a:solidFill>
                  <a:srgbClr val="F7F1E8"/>
                </a:solidFill>
              </a:defRPr>
            </a:pPr>
            <a:r>
              <a:rPr sz="1500" b="1">
                <a:solidFill>
                  <a:srgbClr val="F7F1E8"/>
                </a:solidFill>
              </a:rPr>
              <a:t>FAILURE LOOP</a:t>
            </a:r>
          </a:p>
          <a:p xmlns:a="http://schemas.openxmlformats.org/drawingml/2006/main">
            <a:pPr algn="ctr">
              <a:lnSpc>
                <a:spcPct val="125000"/>
              </a:lnSpc>
              <a:buNone/>
              <a:defRPr sz="1500" b="1">
                <a:solidFill>
                  <a:srgbClr val="F7F1E8"/>
                </a:solidFill>
              </a:defRPr>
            </a:pPr>
            <a:r>
              <a:rPr sz="1500" b="1">
                <a:solidFill>
                  <a:srgbClr val="F7F1E8"/>
                </a:solidFill>
              </a:rPr>
              <a:t>AUDITED</a:t>
            </a:r>
          </a:p>
        </p:txBody>
      </p:sp>
      <p:sp>
        <p:nvSpPr>
          <p:cNvPr id="10" name="cover-pass-bg">
            <a:extLst xmlns:a="http://schemas.openxmlformats.org/drawingml/2006/main">
              <a:ext uri="{FF2B5EF4-FFF2-40B4-BE49-F238E27FC236}">
                <a16:creationId xmlns:a16="http://schemas.microsoft.com/office/drawing/2014/main" id="{143A654D-107C-416C-AE04-8AB492D07692}"/>
              </a:ext>
            </a:extLst>
          </p:cNvPr>
          <p:cNvSpPr>
            <a:spLocks xmlns:a="http://schemas.openxmlformats.org/drawingml/2006/main" noGrp="1"/>
          </p:cNvSpPr>
          <p:nvPr/>
        </p:nvSpPr>
        <p:spPr>
          <a:xfrm xmlns:a="http://schemas.openxmlformats.org/drawingml/2006/main">
            <a:off x="819150" y="5772150"/>
            <a:ext cx="1809750"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1" name="cover-pass-text">
            <a:extLst xmlns:a="http://schemas.openxmlformats.org/drawingml/2006/main">
              <a:ext uri="{FF2B5EF4-FFF2-40B4-BE49-F238E27FC236}">
                <a16:creationId xmlns:a16="http://schemas.microsoft.com/office/drawing/2014/main" id="{48177318-7308-406B-B50C-8BD614795F38}"/>
              </a:ext>
            </a:extLst>
          </p:cNvPr>
          <p:cNvSpPr>
            <a:spLocks xmlns:a="http://schemas.openxmlformats.org/drawingml/2006/main" noGrp="1"/>
          </p:cNvSpPr>
          <p:nvPr/>
        </p:nvSpPr>
        <p:spPr>
          <a:xfrm xmlns:a="http://schemas.openxmlformats.org/drawingml/2006/main">
            <a:off x="914400" y="5819775"/>
            <a:ext cx="161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CURRICULUM PASS</a:t>
            </a:r>
          </a:p>
        </p:txBody>
      </p:sp>
      <p:sp>
        <p:nvSpPr>
          <p:cNvPr id="12" name="cover-bfcl-bg">
            <a:extLst xmlns:a="http://schemas.openxmlformats.org/drawingml/2006/main">
              <a:ext uri="{FF2B5EF4-FFF2-40B4-BE49-F238E27FC236}">
                <a16:creationId xmlns:a16="http://schemas.microsoft.com/office/drawing/2014/main" id="{D1493735-888F-4EE1-9F77-560C0DBB505B}"/>
              </a:ext>
            </a:extLst>
          </p:cNvPr>
          <p:cNvSpPr>
            <a:spLocks xmlns:a="http://schemas.openxmlformats.org/drawingml/2006/main" noGrp="1"/>
          </p:cNvSpPr>
          <p:nvPr/>
        </p:nvSpPr>
        <p:spPr>
          <a:xfrm xmlns:a="http://schemas.openxmlformats.org/drawingml/2006/main">
            <a:off x="2800350" y="5772150"/>
            <a:ext cx="1809750" cy="2857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13" name="cover-bfcl-text">
            <a:extLst xmlns:a="http://schemas.openxmlformats.org/drawingml/2006/main">
              <a:ext uri="{FF2B5EF4-FFF2-40B4-BE49-F238E27FC236}">
                <a16:creationId xmlns:a16="http://schemas.microsoft.com/office/drawing/2014/main" id="{EA027DC0-4FB8-4A71-9CA2-53B7D24FE843}"/>
              </a:ext>
            </a:extLst>
          </p:cNvPr>
          <p:cNvSpPr>
            <a:spLocks xmlns:a="http://schemas.openxmlformats.org/drawingml/2006/main" noGrp="1"/>
          </p:cNvSpPr>
          <p:nvPr/>
        </p:nvSpPr>
        <p:spPr>
          <a:xfrm xmlns:a="http://schemas.openxmlformats.org/drawingml/2006/main">
            <a:off x="2895600" y="5819775"/>
            <a:ext cx="161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BFCL NOT RUN</a:t>
            </a:r>
          </a:p>
        </p:txBody>
      </p:sp>
    </p:spTree>
    <p:extLst>
      <p:ext uri="{BB962C8B-B14F-4D97-AF65-F5344CB8AC3E}">
        <p14:creationId xmlns:p14="http://schemas.microsoft.com/office/powerpoint/2010/main" val="2000420436"/>
      </p:ext>
    </p:extLst>
  </p:cSld>
</p:sld>
</file>

<file path=ppt/slides/slide2.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5" name="rail-2">
            <a:extLst xmlns:a="http://schemas.openxmlformats.org/drawingml/2006/main">
              <a:ext uri="{FF2B5EF4-FFF2-40B4-BE49-F238E27FC236}">
                <a16:creationId xmlns:a16="http://schemas.microsoft.com/office/drawing/2014/main" id="{FB3045A7-9F89-44AB-ACA5-235AA9735881}"/>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2">
            <a:extLst xmlns:a="http://schemas.openxmlformats.org/drawingml/2006/main">
              <a:ext uri="{FF2B5EF4-FFF2-40B4-BE49-F238E27FC236}">
                <a16:creationId xmlns:a16="http://schemas.microsoft.com/office/drawing/2014/main" id="{2D49E8B1-2B71-4D15-8EB5-D5DB47CCAE50}"/>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2">
            <a:extLst xmlns:a="http://schemas.openxmlformats.org/drawingml/2006/main">
              <a:ext uri="{FF2B5EF4-FFF2-40B4-BE49-F238E27FC236}">
                <a16:creationId xmlns:a16="http://schemas.microsoft.com/office/drawing/2014/main" id="{4EF1AD9C-301C-4EB8-B21F-F3D65AD90FDC}"/>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PROJECT MAP</a:t>
            </a:r>
          </a:p>
        </p:txBody>
      </p:sp>
      <p:sp>
        <p:nvSpPr>
          <p:cNvPr id="4" name="title-2">
            <a:extLst xmlns:a="http://schemas.openxmlformats.org/drawingml/2006/main">
              <a:ext uri="{FF2B5EF4-FFF2-40B4-BE49-F238E27FC236}">
                <a16:creationId xmlns:a16="http://schemas.microsoft.com/office/drawing/2014/main" id="{001C9E60-C946-4B5D-A47B-5B60DEB2A889}"/>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拿到这个项目，你应该先建立四层心智模型</a:t>
            </a:r>
          </a:p>
        </p:txBody>
      </p:sp>
      <p:sp>
        <p:nvSpPr>
          <p:cNvPr id="5" name="subtitle-2">
            <a:extLst xmlns:a="http://schemas.openxmlformats.org/drawingml/2006/main">
              <a:ext uri="{FF2B5EF4-FFF2-40B4-BE49-F238E27FC236}">
                <a16:creationId xmlns:a16="http://schemas.microsoft.com/office/drawing/2014/main" id="{354CE198-CB8D-4827-A2C4-34B7B5FED27B}"/>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Agentic RL 不是“模型会调工具”这一件事，而是 policy、environment、reward、curriculum 的闭环。</a:t>
            </a:r>
          </a:p>
        </p:txBody>
      </p:sp>
      <p:sp>
        <p:nvSpPr>
          <p:cNvPr id="6" name="">
            <a:extLst xmlns:a="http://schemas.openxmlformats.org/drawingml/2006/main">
              <a:ext uri="{FF2B5EF4-FFF2-40B4-BE49-F238E27FC236}">
                <a16:creationId xmlns:a16="http://schemas.microsoft.com/office/drawing/2014/main" id="{9330C672-FEBF-449C-B65E-0364982E02F1}"/>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2">
            <a:extLst xmlns:a="http://schemas.openxmlformats.org/drawingml/2006/main">
              <a:ext uri="{FF2B5EF4-FFF2-40B4-BE49-F238E27FC236}">
                <a16:creationId xmlns:a16="http://schemas.microsoft.com/office/drawing/2014/main" id="{F2CBA293-D4A8-40A9-93A7-F2040252D18C}"/>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02</a:t>
            </a:r>
          </a:p>
        </p:txBody>
      </p:sp>
      <p:sp>
        <p:nvSpPr>
          <p:cNvPr id="8" name="map-0">
            <a:extLst xmlns:a="http://schemas.openxmlformats.org/drawingml/2006/main">
              <a:ext uri="{FF2B5EF4-FFF2-40B4-BE49-F238E27FC236}">
                <a16:creationId xmlns:a16="http://schemas.microsoft.com/office/drawing/2014/main" id="{B3076578-15F6-485D-9F4D-17A7CCDB07CD}"/>
              </a:ext>
            </a:extLst>
          </p:cNvPr>
          <p:cNvSpPr>
            <a:spLocks xmlns:a="http://schemas.openxmlformats.org/drawingml/2006/main" noGrp="1"/>
          </p:cNvSpPr>
          <p:nvPr/>
        </p:nvSpPr>
        <p:spPr>
          <a:xfrm xmlns:a="http://schemas.openxmlformats.org/drawingml/2006/main">
            <a:off x="685800" y="2266950"/>
            <a:ext cx="2324100" cy="2781300"/>
          </a:xfrm>
          <a:prstGeom xmlns:a="http://schemas.openxmlformats.org/drawingml/2006/main" prst="roundRect">
            <a:avLst>
              <a:gd name="adj" fmla="val 4098"/>
            </a:avLst>
          </a:prstGeom>
          <a:solidFill xmlns:a="http://schemas.openxmlformats.org/drawingml/2006/main">
            <a:srgbClr val="FFFDFC"/>
          </a:solidFill>
          <a:ln xmlns:a="http://schemas.openxmlformats.org/drawingml/2006/main" w="9525">
            <a:solidFill>
              <a:srgbClr val="18A6A6"/>
            </a:solidFill>
            <a:prstDash val="solid"/>
          </a:ln>
        </p:spPr>
      </p:sp>
      <p:sp>
        <p:nvSpPr>
          <p:cNvPr id="9" name="map-num-0">
            <a:extLst xmlns:a="http://schemas.openxmlformats.org/drawingml/2006/main">
              <a:ext uri="{FF2B5EF4-FFF2-40B4-BE49-F238E27FC236}">
                <a16:creationId xmlns:a16="http://schemas.microsoft.com/office/drawing/2014/main" id="{B41B83D5-09BC-40FB-8390-3C57D06E1F7B}"/>
              </a:ext>
            </a:extLst>
          </p:cNvPr>
          <p:cNvSpPr>
            <a:spLocks xmlns:a="http://schemas.openxmlformats.org/drawingml/2006/main" noGrp="1"/>
          </p:cNvSpPr>
          <p:nvPr/>
        </p:nvSpPr>
        <p:spPr>
          <a:xfrm xmlns:a="http://schemas.openxmlformats.org/drawingml/2006/main">
            <a:off x="87630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18A6A6"/>
                </a:solidFill>
              </a:defRPr>
            </a:pPr>
            <a:r>
              <a:rPr sz="1875" b="1">
                <a:solidFill>
                  <a:srgbClr val="18A6A6"/>
                </a:solidFill>
              </a:rPr>
              <a:t>01</a:t>
            </a:r>
          </a:p>
        </p:txBody>
      </p:sp>
      <p:sp>
        <p:nvSpPr>
          <p:cNvPr id="10" name="map-name-0">
            <a:extLst xmlns:a="http://schemas.openxmlformats.org/drawingml/2006/main">
              <a:ext uri="{FF2B5EF4-FFF2-40B4-BE49-F238E27FC236}">
                <a16:creationId xmlns:a16="http://schemas.microsoft.com/office/drawing/2014/main" id="{A5D19396-80FD-4F41-9B7C-329D867A4F40}"/>
              </a:ext>
            </a:extLst>
          </p:cNvPr>
          <p:cNvSpPr>
            <a:spLocks xmlns:a="http://schemas.openxmlformats.org/drawingml/2006/main" noGrp="1"/>
          </p:cNvSpPr>
          <p:nvPr/>
        </p:nvSpPr>
        <p:spPr>
          <a:xfrm xmlns:a="http://schemas.openxmlformats.org/drawingml/2006/main">
            <a:off x="87630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POLICY</a:t>
            </a:r>
          </a:p>
        </p:txBody>
      </p:sp>
      <p:sp>
        <p:nvSpPr>
          <p:cNvPr id="11" name="map-body-0">
            <a:extLst xmlns:a="http://schemas.openxmlformats.org/drawingml/2006/main">
              <a:ext uri="{FF2B5EF4-FFF2-40B4-BE49-F238E27FC236}">
                <a16:creationId xmlns:a16="http://schemas.microsoft.com/office/drawing/2014/main" id="{5AD31A33-0222-4272-B9C3-E6ED04AEE2AC}"/>
              </a:ext>
            </a:extLst>
          </p:cNvPr>
          <p:cNvSpPr>
            <a:spLocks xmlns:a="http://schemas.openxmlformats.org/drawingml/2006/main" noGrp="1"/>
          </p:cNvSpPr>
          <p:nvPr/>
        </p:nvSpPr>
        <p:spPr>
          <a:xfrm xmlns:a="http://schemas.openxmlformats.org/drawingml/2006/main">
            <a:off x="87630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Qwen3-8B 生成完整 assistant response 与工具调用</a:t>
            </a:r>
          </a:p>
        </p:txBody>
      </p:sp>
      <p:sp>
        <p:nvSpPr>
          <p:cNvPr id="12" name="map-1">
            <a:extLst xmlns:a="http://schemas.openxmlformats.org/drawingml/2006/main">
              <a:ext uri="{FF2B5EF4-FFF2-40B4-BE49-F238E27FC236}">
                <a16:creationId xmlns:a16="http://schemas.microsoft.com/office/drawing/2014/main" id="{2F90A48D-A4C9-4AFE-BF55-E426F8A612AC}"/>
              </a:ext>
            </a:extLst>
          </p:cNvPr>
          <p:cNvSpPr>
            <a:spLocks xmlns:a="http://schemas.openxmlformats.org/drawingml/2006/main" noGrp="1"/>
          </p:cNvSpPr>
          <p:nvPr/>
        </p:nvSpPr>
        <p:spPr>
          <a:xfrm xmlns:a="http://schemas.openxmlformats.org/drawingml/2006/main">
            <a:off x="3371850" y="2266950"/>
            <a:ext cx="2324100" cy="2781300"/>
          </a:xfrm>
          <a:prstGeom xmlns:a="http://schemas.openxmlformats.org/drawingml/2006/main" prst="roundRect">
            <a:avLst>
              <a:gd name="adj" fmla="val 4098"/>
            </a:avLst>
          </a:prstGeom>
          <a:solidFill xmlns:a="http://schemas.openxmlformats.org/drawingml/2006/main">
            <a:srgbClr val="F7F1E8"/>
          </a:solidFill>
          <a:ln xmlns:a="http://schemas.openxmlformats.org/drawingml/2006/main" w="9525">
            <a:solidFill>
              <a:srgbClr val="C56D4A"/>
            </a:solidFill>
            <a:prstDash val="solid"/>
          </a:ln>
        </p:spPr>
      </p:sp>
      <p:sp>
        <p:nvSpPr>
          <p:cNvPr id="13" name="map-num-1">
            <a:extLst xmlns:a="http://schemas.openxmlformats.org/drawingml/2006/main">
              <a:ext uri="{FF2B5EF4-FFF2-40B4-BE49-F238E27FC236}">
                <a16:creationId xmlns:a16="http://schemas.microsoft.com/office/drawing/2014/main" id="{58D90723-67D1-4025-AA42-97E5418B19E9}"/>
              </a:ext>
            </a:extLst>
          </p:cNvPr>
          <p:cNvSpPr>
            <a:spLocks xmlns:a="http://schemas.openxmlformats.org/drawingml/2006/main" noGrp="1"/>
          </p:cNvSpPr>
          <p:nvPr/>
        </p:nvSpPr>
        <p:spPr>
          <a:xfrm xmlns:a="http://schemas.openxmlformats.org/drawingml/2006/main">
            <a:off x="356235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C56D4A"/>
                </a:solidFill>
              </a:defRPr>
            </a:pPr>
            <a:r>
              <a:rPr sz="1875" b="1">
                <a:solidFill>
                  <a:srgbClr val="C56D4A"/>
                </a:solidFill>
              </a:rPr>
              <a:t>02</a:t>
            </a:r>
          </a:p>
        </p:txBody>
      </p:sp>
      <p:sp>
        <p:nvSpPr>
          <p:cNvPr id="14" name="map-name-1">
            <a:extLst xmlns:a="http://schemas.openxmlformats.org/drawingml/2006/main">
              <a:ext uri="{FF2B5EF4-FFF2-40B4-BE49-F238E27FC236}">
                <a16:creationId xmlns:a16="http://schemas.microsoft.com/office/drawing/2014/main" id="{BFC846E9-5506-4FD6-8DAC-C9002471FB38}"/>
              </a:ext>
            </a:extLst>
          </p:cNvPr>
          <p:cNvSpPr>
            <a:spLocks xmlns:a="http://schemas.openxmlformats.org/drawingml/2006/main" noGrp="1"/>
          </p:cNvSpPr>
          <p:nvPr/>
        </p:nvSpPr>
        <p:spPr>
          <a:xfrm xmlns:a="http://schemas.openxmlformats.org/drawingml/2006/main">
            <a:off x="356235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ENVIRONMENT</a:t>
            </a:r>
          </a:p>
        </p:txBody>
      </p:sp>
      <p:sp>
        <p:nvSpPr>
          <p:cNvPr id="15" name="map-body-1">
            <a:extLst xmlns:a="http://schemas.openxmlformats.org/drawingml/2006/main">
              <a:ext uri="{FF2B5EF4-FFF2-40B4-BE49-F238E27FC236}">
                <a16:creationId xmlns:a16="http://schemas.microsoft.com/office/drawing/2014/main" id="{A3D6B6EE-00BA-4B63-AB1D-E859C22D9F4C}"/>
              </a:ext>
            </a:extLst>
          </p:cNvPr>
          <p:cNvSpPr>
            <a:spLocks xmlns:a="http://schemas.openxmlformats.org/drawingml/2006/main" noGrp="1"/>
          </p:cNvSpPr>
          <p:nvPr/>
        </p:nvSpPr>
        <p:spPr>
          <a:xfrm xmlns:a="http://schemas.openxmlformats.org/drawingml/2006/main">
            <a:off x="356235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七个 stateful tools 执行读写与真实状态转移</a:t>
            </a:r>
          </a:p>
        </p:txBody>
      </p:sp>
      <p:sp>
        <p:nvSpPr>
          <p:cNvPr id="16" name="map-2">
            <a:extLst xmlns:a="http://schemas.openxmlformats.org/drawingml/2006/main">
              <a:ext uri="{FF2B5EF4-FFF2-40B4-BE49-F238E27FC236}">
                <a16:creationId xmlns:a16="http://schemas.microsoft.com/office/drawing/2014/main" id="{8A30C880-45E1-4609-9EDA-0D159663646F}"/>
              </a:ext>
            </a:extLst>
          </p:cNvPr>
          <p:cNvSpPr>
            <a:spLocks xmlns:a="http://schemas.openxmlformats.org/drawingml/2006/main" noGrp="1"/>
          </p:cNvSpPr>
          <p:nvPr/>
        </p:nvSpPr>
        <p:spPr>
          <a:xfrm xmlns:a="http://schemas.openxmlformats.org/drawingml/2006/main">
            <a:off x="6057900" y="2266950"/>
            <a:ext cx="2324100" cy="2781300"/>
          </a:xfrm>
          <a:prstGeom xmlns:a="http://schemas.openxmlformats.org/drawingml/2006/main" prst="roundRect">
            <a:avLst>
              <a:gd name="adj" fmla="val 4098"/>
            </a:avLst>
          </a:prstGeom>
          <a:solidFill xmlns:a="http://schemas.openxmlformats.org/drawingml/2006/main">
            <a:srgbClr val="FFFDFC"/>
          </a:solidFill>
          <a:ln xmlns:a="http://schemas.openxmlformats.org/drawingml/2006/main" w="9525">
            <a:solidFill>
              <a:srgbClr val="D6A84B"/>
            </a:solidFill>
            <a:prstDash val="solid"/>
          </a:ln>
        </p:spPr>
      </p:sp>
      <p:sp>
        <p:nvSpPr>
          <p:cNvPr id="17" name="map-num-2">
            <a:extLst xmlns:a="http://schemas.openxmlformats.org/drawingml/2006/main">
              <a:ext uri="{FF2B5EF4-FFF2-40B4-BE49-F238E27FC236}">
                <a16:creationId xmlns:a16="http://schemas.microsoft.com/office/drawing/2014/main" id="{06DA1D34-88C3-4CDF-A43E-F7DC4B504961}"/>
              </a:ext>
            </a:extLst>
          </p:cNvPr>
          <p:cNvSpPr>
            <a:spLocks xmlns:a="http://schemas.openxmlformats.org/drawingml/2006/main" noGrp="1"/>
          </p:cNvSpPr>
          <p:nvPr/>
        </p:nvSpPr>
        <p:spPr>
          <a:xfrm xmlns:a="http://schemas.openxmlformats.org/drawingml/2006/main">
            <a:off x="624840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D6A84B"/>
                </a:solidFill>
              </a:defRPr>
            </a:pPr>
            <a:r>
              <a:rPr sz="1875" b="1">
                <a:solidFill>
                  <a:srgbClr val="D6A84B"/>
                </a:solidFill>
              </a:rPr>
              <a:t>03</a:t>
            </a:r>
          </a:p>
        </p:txBody>
      </p:sp>
      <p:sp>
        <p:nvSpPr>
          <p:cNvPr id="18" name="map-name-2">
            <a:extLst xmlns:a="http://schemas.openxmlformats.org/drawingml/2006/main">
              <a:ext uri="{FF2B5EF4-FFF2-40B4-BE49-F238E27FC236}">
                <a16:creationId xmlns:a16="http://schemas.microsoft.com/office/drawing/2014/main" id="{94D8AED2-4157-4C19-AA0B-4CC23F81DF24}"/>
              </a:ext>
            </a:extLst>
          </p:cNvPr>
          <p:cNvSpPr>
            <a:spLocks xmlns:a="http://schemas.openxmlformats.org/drawingml/2006/main" noGrp="1"/>
          </p:cNvSpPr>
          <p:nvPr/>
        </p:nvSpPr>
        <p:spPr>
          <a:xfrm xmlns:a="http://schemas.openxmlformats.org/drawingml/2006/main">
            <a:off x="624840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REWARD</a:t>
            </a:r>
          </a:p>
        </p:txBody>
      </p:sp>
      <p:sp>
        <p:nvSpPr>
          <p:cNvPr id="19" name="map-body-2">
            <a:extLst xmlns:a="http://schemas.openxmlformats.org/drawingml/2006/main">
              <a:ext uri="{FF2B5EF4-FFF2-40B4-BE49-F238E27FC236}">
                <a16:creationId xmlns:a16="http://schemas.microsoft.com/office/drawing/2014/main" id="{41A46D2A-48C0-420A-8A94-3E872E5F71C7}"/>
              </a:ext>
            </a:extLst>
          </p:cNvPr>
          <p:cNvSpPr>
            <a:spLocks xmlns:a="http://schemas.openxmlformats.org/drawingml/2006/main" noGrp="1"/>
          </p:cNvSpPr>
          <p:nvPr/>
        </p:nvSpPr>
        <p:spPr>
          <a:xfrm xmlns:a="http://schemas.openxmlformats.org/drawingml/2006/main">
            <a:off x="624840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exact outcome + process shaping，按 group 求相对优势</a:t>
            </a:r>
          </a:p>
        </p:txBody>
      </p:sp>
      <p:sp>
        <p:nvSpPr>
          <p:cNvPr id="20" name="map-3">
            <a:extLst xmlns:a="http://schemas.openxmlformats.org/drawingml/2006/main">
              <a:ext uri="{FF2B5EF4-FFF2-40B4-BE49-F238E27FC236}">
                <a16:creationId xmlns:a16="http://schemas.microsoft.com/office/drawing/2014/main" id="{4C259CF4-D2E1-4D11-80F2-D7386ACFBE0F}"/>
              </a:ext>
            </a:extLst>
          </p:cNvPr>
          <p:cNvSpPr>
            <a:spLocks xmlns:a="http://schemas.openxmlformats.org/drawingml/2006/main" noGrp="1"/>
          </p:cNvSpPr>
          <p:nvPr/>
        </p:nvSpPr>
        <p:spPr>
          <a:xfrm xmlns:a="http://schemas.openxmlformats.org/drawingml/2006/main">
            <a:off x="8743950" y="2266950"/>
            <a:ext cx="2324100" cy="2781300"/>
          </a:xfrm>
          <a:prstGeom xmlns:a="http://schemas.openxmlformats.org/drawingml/2006/main" prst="roundRect">
            <a:avLst>
              <a:gd name="adj" fmla="val 4098"/>
            </a:avLst>
          </a:prstGeom>
          <a:solidFill xmlns:a="http://schemas.openxmlformats.org/drawingml/2006/main">
            <a:srgbClr val="F7F1E8"/>
          </a:solidFill>
          <a:ln xmlns:a="http://schemas.openxmlformats.org/drawingml/2006/main" w="9525">
            <a:solidFill>
              <a:srgbClr val="228B67"/>
            </a:solidFill>
            <a:prstDash val="solid"/>
          </a:ln>
        </p:spPr>
      </p:sp>
      <p:sp>
        <p:nvSpPr>
          <p:cNvPr id="21" name="map-num-3">
            <a:extLst xmlns:a="http://schemas.openxmlformats.org/drawingml/2006/main">
              <a:ext uri="{FF2B5EF4-FFF2-40B4-BE49-F238E27FC236}">
                <a16:creationId xmlns:a16="http://schemas.microsoft.com/office/drawing/2014/main" id="{1FF5E1D0-157E-4DAD-B517-9FD895398011}"/>
              </a:ext>
            </a:extLst>
          </p:cNvPr>
          <p:cNvSpPr>
            <a:spLocks xmlns:a="http://schemas.openxmlformats.org/drawingml/2006/main" noGrp="1"/>
          </p:cNvSpPr>
          <p:nvPr/>
        </p:nvSpPr>
        <p:spPr>
          <a:xfrm xmlns:a="http://schemas.openxmlformats.org/drawingml/2006/main">
            <a:off x="893445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228B67"/>
                </a:solidFill>
              </a:defRPr>
            </a:pPr>
            <a:r>
              <a:rPr sz="1875" b="1">
                <a:solidFill>
                  <a:srgbClr val="228B67"/>
                </a:solidFill>
              </a:rPr>
              <a:t>04</a:t>
            </a:r>
          </a:p>
        </p:txBody>
      </p:sp>
      <p:sp>
        <p:nvSpPr>
          <p:cNvPr id="22" name="map-name-3">
            <a:extLst xmlns:a="http://schemas.openxmlformats.org/drawingml/2006/main">
              <a:ext uri="{FF2B5EF4-FFF2-40B4-BE49-F238E27FC236}">
                <a16:creationId xmlns:a16="http://schemas.microsoft.com/office/drawing/2014/main" id="{3E245304-9DFE-4520-BE9F-A722AC71FCB3}"/>
              </a:ext>
            </a:extLst>
          </p:cNvPr>
          <p:cNvSpPr>
            <a:spLocks xmlns:a="http://schemas.openxmlformats.org/drawingml/2006/main" noGrp="1"/>
          </p:cNvSpPr>
          <p:nvPr/>
        </p:nvSpPr>
        <p:spPr>
          <a:xfrm xmlns:a="http://schemas.openxmlformats.org/drawingml/2006/main">
            <a:off x="893445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CURRICULUM</a:t>
            </a:r>
          </a:p>
        </p:txBody>
      </p:sp>
      <p:sp>
        <p:nvSpPr>
          <p:cNvPr id="23" name="map-body-3">
            <a:extLst xmlns:a="http://schemas.openxmlformats.org/drawingml/2006/main">
              <a:ext uri="{FF2B5EF4-FFF2-40B4-BE49-F238E27FC236}">
                <a16:creationId xmlns:a16="http://schemas.microsoft.com/office/drawing/2014/main" id="{0C5C0F28-C0D6-4033-967E-10CB238AD08F}"/>
              </a:ext>
            </a:extLst>
          </p:cNvPr>
          <p:cNvSpPr>
            <a:spLocks xmlns:a="http://schemas.openxmlformats.org/drawingml/2006/main" noGrp="1"/>
          </p:cNvSpPr>
          <p:nvPr/>
        </p:nvSpPr>
        <p:spPr>
          <a:xfrm xmlns:a="http://schemas.openxmlformats.org/drawingml/2006/main">
            <a:off x="893445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从真实失败类型制造 decoy、timeout 与 replay</a:t>
            </a:r>
          </a:p>
        </p:txBody>
      </p:sp>
      <p:sp>
        <p:nvSpPr>
          <p:cNvPr id="24" name="map-foot">
            <a:extLst xmlns:a="http://schemas.openxmlformats.org/drawingml/2006/main">
              <a:ext uri="{FF2B5EF4-FFF2-40B4-BE49-F238E27FC236}">
                <a16:creationId xmlns:a16="http://schemas.microsoft.com/office/drawing/2014/main" id="{91BF29D2-E03D-4834-9693-80745AE002D0}"/>
              </a:ext>
            </a:extLst>
          </p:cNvPr>
          <p:cNvSpPr>
            <a:spLocks xmlns:a="http://schemas.openxmlformats.org/drawingml/2006/main" noGrp="1"/>
          </p:cNvSpPr>
          <p:nvPr/>
        </p:nvSpPr>
        <p:spPr>
          <a:xfrm xmlns:a="http://schemas.openxmlformats.org/drawingml/2006/main">
            <a:off x="1143000" y="5562600"/>
            <a:ext cx="962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B797B"/>
                </a:solidFill>
              </a:defRPr>
            </a:pPr>
            <a:r>
              <a:rPr sz="1350" b="1">
                <a:solidFill>
                  <a:srgbClr val="0B797B"/>
                </a:solidFill>
              </a:rPr>
              <a:t>训练完整性的证据链：trajectory → reward → optimizer step → adapter hash → fresh-process replay</a:t>
            </a:r>
          </a:p>
        </p:txBody>
      </p:sp>
    </p:spTree>
    <p:extLst>
      <p:ext uri="{BB962C8B-B14F-4D97-AF65-F5344CB8AC3E}">
        <p14:creationId xmlns:p14="http://schemas.microsoft.com/office/powerpoint/2010/main" val="767403440"/>
      </p:ext>
    </p:extLst>
  </p:cSld>
</p:sld>
</file>

<file path=ppt/slides/slide3.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1" name="rail-3">
            <a:extLst xmlns:a="http://schemas.openxmlformats.org/drawingml/2006/main">
              <a:ext uri="{FF2B5EF4-FFF2-40B4-BE49-F238E27FC236}">
                <a16:creationId xmlns:a16="http://schemas.microsoft.com/office/drawing/2014/main" id="{C448909E-28A0-414C-8694-FEE172ECCCCA}"/>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3">
            <a:extLst xmlns:a="http://schemas.openxmlformats.org/drawingml/2006/main">
              <a:ext uri="{FF2B5EF4-FFF2-40B4-BE49-F238E27FC236}">
                <a16:creationId xmlns:a16="http://schemas.microsoft.com/office/drawing/2014/main" id="{DCCC71E3-39ED-45DB-9CE4-0A8545BF57A1}"/>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3">
            <a:extLst xmlns:a="http://schemas.openxmlformats.org/drawingml/2006/main">
              <a:ext uri="{FF2B5EF4-FFF2-40B4-BE49-F238E27FC236}">
                <a16:creationId xmlns:a16="http://schemas.microsoft.com/office/drawing/2014/main" id="{21E25124-6AC6-47F4-B99C-7FC91AC4A30A}"/>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PAPER → PROJECT</a:t>
            </a:r>
          </a:p>
        </p:txBody>
      </p:sp>
      <p:sp>
        <p:nvSpPr>
          <p:cNvPr id="4" name="title-3">
            <a:extLst xmlns:a="http://schemas.openxmlformats.org/drawingml/2006/main">
              <a:ext uri="{FF2B5EF4-FFF2-40B4-BE49-F238E27FC236}">
                <a16:creationId xmlns:a16="http://schemas.microsoft.com/office/drawing/2014/main" id="{D097B408-F2E6-46D8-85EB-1E08757EAA32}"/>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论文方法如何被拆成一条可执行的工程链路</a:t>
            </a:r>
          </a:p>
        </p:txBody>
      </p:sp>
      <p:sp>
        <p:nvSpPr>
          <p:cNvPr id="5" name="subtitle-3">
            <a:extLst xmlns:a="http://schemas.openxmlformats.org/drawingml/2006/main">
              <a:ext uri="{FF2B5EF4-FFF2-40B4-BE49-F238E27FC236}">
                <a16:creationId xmlns:a16="http://schemas.microsoft.com/office/drawing/2014/main" id="{58EAAD43-3D76-4FE5-A637-660949BA6C82}"/>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保留双飞轮的因果结构，缩小模型、数据和 benchmark 规模，并明确不支持的 claim。</a:t>
            </a:r>
          </a:p>
        </p:txBody>
      </p:sp>
      <p:sp>
        <p:nvSpPr>
          <p:cNvPr id="6" name="">
            <a:extLst xmlns:a="http://schemas.openxmlformats.org/drawingml/2006/main">
              <a:ext uri="{FF2B5EF4-FFF2-40B4-BE49-F238E27FC236}">
                <a16:creationId xmlns:a16="http://schemas.microsoft.com/office/drawing/2014/main" id="{3772449D-32AA-47B7-B9D0-775341E7FBF3}"/>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3">
            <a:extLst xmlns:a="http://schemas.openxmlformats.org/drawingml/2006/main">
              <a:ext uri="{FF2B5EF4-FFF2-40B4-BE49-F238E27FC236}">
                <a16:creationId xmlns:a16="http://schemas.microsoft.com/office/drawing/2014/main" id="{A13779EB-600C-4D15-B9B7-7FAAC968605D}"/>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03</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1386b6d36b3142a5"/>
          <a:stretch xmlns:a="http://schemas.openxmlformats.org/drawingml/2006/main"/>
        </p:blipFill>
        <p:spPr>
          <a:xfrm xmlns:a="http://schemas.openxmlformats.org/drawingml/2006/main">
            <a:off x="666750" y="2117031"/>
            <a:ext cx="5429250" cy="3081137"/>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1BA1D3D-2E4B-4649-B036-99C776B916F9}"/>
              </a:ext>
            </a:extLst>
          </p:cNvPr>
          <p:cNvSpPr>
            <a:spLocks xmlns:a="http://schemas.openxmlformats.org/drawingml/2006/main" noGrp="1"/>
          </p:cNvSpPr>
          <p:nvPr/>
        </p:nvSpPr>
        <p:spPr>
          <a:xfrm xmlns:a="http://schemas.openxmlformats.org/drawingml/2006/main">
            <a:off x="6667500" y="2209800"/>
            <a:ext cx="342900"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10" name="paper-k-0">
            <a:extLst xmlns:a="http://schemas.openxmlformats.org/drawingml/2006/main">
              <a:ext uri="{FF2B5EF4-FFF2-40B4-BE49-F238E27FC236}">
                <a16:creationId xmlns:a16="http://schemas.microsoft.com/office/drawing/2014/main" id="{61B6BDF8-BC3A-4BF8-89E2-9405A57CE6E0}"/>
              </a:ext>
            </a:extLst>
          </p:cNvPr>
          <p:cNvSpPr>
            <a:spLocks xmlns:a="http://schemas.openxmlformats.org/drawingml/2006/main" noGrp="1"/>
          </p:cNvSpPr>
          <p:nvPr/>
        </p:nvSpPr>
        <p:spPr>
          <a:xfrm xmlns:a="http://schemas.openxmlformats.org/drawingml/2006/main">
            <a:off x="7219950" y="20955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论文</a:t>
            </a:r>
          </a:p>
        </p:txBody>
      </p:sp>
      <p:sp>
        <p:nvSpPr>
          <p:cNvPr id="11" name="paper-v-0">
            <a:extLst xmlns:a="http://schemas.openxmlformats.org/drawingml/2006/main">
              <a:ext uri="{FF2B5EF4-FFF2-40B4-BE49-F238E27FC236}">
                <a16:creationId xmlns:a16="http://schemas.microsoft.com/office/drawing/2014/main" id="{1DBC807D-0031-479E-BA24-DD96FC4532BC}"/>
              </a:ext>
            </a:extLst>
          </p:cNvPr>
          <p:cNvSpPr>
            <a:spLocks xmlns:a="http://schemas.openxmlformats.org/drawingml/2006/main" noGrp="1"/>
          </p:cNvSpPr>
          <p:nvPr/>
        </p:nvSpPr>
        <p:spPr>
          <a:xfrm xmlns:a="http://schemas.openxmlformats.org/drawingml/2006/main">
            <a:off x="7219950" y="242887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≈100K 数据 · 235B simulator/judge · 8×H100</a:t>
            </a:r>
          </a:p>
        </p:txBody>
      </p:sp>
      <p:sp>
        <p:nvSpPr>
          <p:cNvPr id="12" name="">
            <a:extLst xmlns:a="http://schemas.openxmlformats.org/drawingml/2006/main">
              <a:ext uri="{FF2B5EF4-FFF2-40B4-BE49-F238E27FC236}">
                <a16:creationId xmlns:a16="http://schemas.microsoft.com/office/drawing/2014/main" id="{D3E3C497-6685-419A-BD8B-D013D5083E3F}"/>
              </a:ext>
            </a:extLst>
          </p:cNvPr>
          <p:cNvSpPr>
            <a:spLocks xmlns:a="http://schemas.openxmlformats.org/drawingml/2006/main" noGrp="1"/>
          </p:cNvSpPr>
          <p:nvPr/>
        </p:nvSpPr>
        <p:spPr>
          <a:xfrm xmlns:a="http://schemas.openxmlformats.org/drawingml/2006/main">
            <a:off x="6667500" y="3105150"/>
            <a:ext cx="342900" cy="0"/>
          </a:xfrm>
          <a:prstGeom xmlns:a="http://schemas.openxmlformats.org/drawingml/2006/main" prst="line">
            <a:avLst/>
          </a:prstGeom>
          <a:noFill xmlns:a="http://schemas.openxmlformats.org/drawingml/2006/main"/>
          <a:ln xmlns:a="http://schemas.openxmlformats.org/drawingml/2006/main" w="47625">
            <a:solidFill>
              <a:srgbClr val="18A6A6"/>
            </a:solidFill>
            <a:prstDash val="solid"/>
          </a:ln>
        </p:spPr>
      </p:sp>
      <p:sp>
        <p:nvSpPr>
          <p:cNvPr id="13" name="paper-k-1">
            <a:extLst xmlns:a="http://schemas.openxmlformats.org/drawingml/2006/main">
              <a:ext uri="{FF2B5EF4-FFF2-40B4-BE49-F238E27FC236}">
                <a16:creationId xmlns:a16="http://schemas.microsoft.com/office/drawing/2014/main" id="{ABE7734A-0590-4C50-A826-5B46543B2E51}"/>
              </a:ext>
            </a:extLst>
          </p:cNvPr>
          <p:cNvSpPr>
            <a:spLocks xmlns:a="http://schemas.openxmlformats.org/drawingml/2006/main" noGrp="1"/>
          </p:cNvSpPr>
          <p:nvPr/>
        </p:nvSpPr>
        <p:spPr>
          <a:xfrm xmlns:a="http://schemas.openxmlformats.org/drawingml/2006/main">
            <a:off x="7219950" y="29908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18A6A6"/>
                </a:solidFill>
              </a:defRPr>
            </a:pPr>
            <a:r>
              <a:rPr sz="1500" b="1">
                <a:solidFill>
                  <a:srgbClr val="18A6A6"/>
                </a:solidFill>
              </a:rPr>
              <a:t>本次</a:t>
            </a:r>
          </a:p>
        </p:txBody>
      </p:sp>
      <p:sp>
        <p:nvSpPr>
          <p:cNvPr id="14" name="paper-v-1">
            <a:extLst xmlns:a="http://schemas.openxmlformats.org/drawingml/2006/main">
              <a:ext uri="{FF2B5EF4-FFF2-40B4-BE49-F238E27FC236}">
                <a16:creationId xmlns:a16="http://schemas.microsoft.com/office/drawing/2014/main" id="{C7344D9A-1BD7-4918-87CA-A9A81FFF960C}"/>
              </a:ext>
            </a:extLst>
          </p:cNvPr>
          <p:cNvSpPr>
            <a:spLocks xmlns:a="http://schemas.openxmlformats.org/drawingml/2006/main" noGrp="1"/>
          </p:cNvSpPr>
          <p:nvPr/>
        </p:nvSpPr>
        <p:spPr>
          <a:xfrm xmlns:a="http://schemas.openxmlformats.org/drawingml/2006/main">
            <a:off x="7219950" y="332422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8+12 训练任务 · 24 optimizer steps · 1×NVIDIA RTX PRO 6000 Blackwell Server Edition</a:t>
            </a:r>
          </a:p>
        </p:txBody>
      </p:sp>
      <p:sp>
        <p:nvSpPr>
          <p:cNvPr id="15" name="">
            <a:extLst xmlns:a="http://schemas.openxmlformats.org/drawingml/2006/main">
              <a:ext uri="{FF2B5EF4-FFF2-40B4-BE49-F238E27FC236}">
                <a16:creationId xmlns:a16="http://schemas.microsoft.com/office/drawing/2014/main" id="{6A949409-DCBB-4153-95B7-0F70397B1C5E}"/>
              </a:ext>
            </a:extLst>
          </p:cNvPr>
          <p:cNvSpPr>
            <a:spLocks xmlns:a="http://schemas.openxmlformats.org/drawingml/2006/main" noGrp="1"/>
          </p:cNvSpPr>
          <p:nvPr/>
        </p:nvSpPr>
        <p:spPr>
          <a:xfrm xmlns:a="http://schemas.openxmlformats.org/drawingml/2006/main">
            <a:off x="6667500" y="4000500"/>
            <a:ext cx="342900" cy="0"/>
          </a:xfrm>
          <a:prstGeom xmlns:a="http://schemas.openxmlformats.org/drawingml/2006/main" prst="line">
            <a:avLst/>
          </a:prstGeom>
          <a:noFill xmlns:a="http://schemas.openxmlformats.org/drawingml/2006/main"/>
          <a:ln xmlns:a="http://schemas.openxmlformats.org/drawingml/2006/main" w="47625">
            <a:solidFill>
              <a:srgbClr val="228B67"/>
            </a:solidFill>
            <a:prstDash val="solid"/>
          </a:ln>
        </p:spPr>
      </p:sp>
      <p:sp>
        <p:nvSpPr>
          <p:cNvPr id="16" name="paper-k-2">
            <a:extLst xmlns:a="http://schemas.openxmlformats.org/drawingml/2006/main">
              <a:ext uri="{FF2B5EF4-FFF2-40B4-BE49-F238E27FC236}">
                <a16:creationId xmlns:a16="http://schemas.microsoft.com/office/drawing/2014/main" id="{F50E3CF7-9814-48D5-9A03-F4389A7D57DD}"/>
              </a:ext>
            </a:extLst>
          </p:cNvPr>
          <p:cNvSpPr>
            <a:spLocks xmlns:a="http://schemas.openxmlformats.org/drawingml/2006/main" noGrp="1"/>
          </p:cNvSpPr>
          <p:nvPr/>
        </p:nvSpPr>
        <p:spPr>
          <a:xfrm xmlns:a="http://schemas.openxmlformats.org/drawingml/2006/main">
            <a:off x="7219950" y="38862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228B67"/>
                </a:solidFill>
              </a:defRPr>
            </a:pPr>
            <a:r>
              <a:rPr sz="1500" b="1">
                <a:solidFill>
                  <a:srgbClr val="228B67"/>
                </a:solidFill>
              </a:rPr>
              <a:t>保留</a:t>
            </a:r>
          </a:p>
        </p:txBody>
      </p:sp>
      <p:sp>
        <p:nvSpPr>
          <p:cNvPr id="17" name="paper-v-2">
            <a:extLst xmlns:a="http://schemas.openxmlformats.org/drawingml/2006/main">
              <a:ext uri="{FF2B5EF4-FFF2-40B4-BE49-F238E27FC236}">
                <a16:creationId xmlns:a16="http://schemas.microsoft.com/office/drawing/2014/main" id="{190A7723-DFBB-4753-9FE9-1E162698CE7A}"/>
              </a:ext>
            </a:extLst>
          </p:cNvPr>
          <p:cNvSpPr>
            <a:spLocks xmlns:a="http://schemas.openxmlformats.org/drawingml/2006/main" noGrp="1"/>
          </p:cNvSpPr>
          <p:nvPr/>
        </p:nvSpPr>
        <p:spPr>
          <a:xfrm xmlns:a="http://schemas.openxmlformats.org/drawingml/2006/main">
            <a:off x="7219950" y="421957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多轮 response token · stateful tools · GRPO · failure loop</a:t>
            </a:r>
          </a:p>
        </p:txBody>
      </p:sp>
      <p:sp>
        <p:nvSpPr>
          <p:cNvPr id="18" name="">
            <a:extLst xmlns:a="http://schemas.openxmlformats.org/drawingml/2006/main">
              <a:ext uri="{FF2B5EF4-FFF2-40B4-BE49-F238E27FC236}">
                <a16:creationId xmlns:a16="http://schemas.microsoft.com/office/drawing/2014/main" id="{B1225BEF-6AC0-4589-8A08-5761BE4C2F87}"/>
              </a:ext>
            </a:extLst>
          </p:cNvPr>
          <p:cNvSpPr>
            <a:spLocks xmlns:a="http://schemas.openxmlformats.org/drawingml/2006/main" noGrp="1"/>
          </p:cNvSpPr>
          <p:nvPr/>
        </p:nvSpPr>
        <p:spPr>
          <a:xfrm xmlns:a="http://schemas.openxmlformats.org/drawingml/2006/main">
            <a:off x="6667500" y="4895850"/>
            <a:ext cx="342900" cy="0"/>
          </a:xfrm>
          <a:prstGeom xmlns:a="http://schemas.openxmlformats.org/drawingml/2006/main" prst="line">
            <a:avLst/>
          </a:prstGeom>
          <a:noFill xmlns:a="http://schemas.openxmlformats.org/drawingml/2006/main"/>
          <a:ln xmlns:a="http://schemas.openxmlformats.org/drawingml/2006/main" w="47625">
            <a:solidFill>
              <a:srgbClr val="B44C4C"/>
            </a:solidFill>
            <a:prstDash val="solid"/>
          </a:ln>
        </p:spPr>
      </p:sp>
      <p:sp>
        <p:nvSpPr>
          <p:cNvPr id="19" name="paper-k-3">
            <a:extLst xmlns:a="http://schemas.openxmlformats.org/drawingml/2006/main">
              <a:ext uri="{FF2B5EF4-FFF2-40B4-BE49-F238E27FC236}">
                <a16:creationId xmlns:a16="http://schemas.microsoft.com/office/drawing/2014/main" id="{E4AA910C-1384-4344-96A1-04ADFB40836C}"/>
              </a:ext>
            </a:extLst>
          </p:cNvPr>
          <p:cNvSpPr>
            <a:spLocks xmlns:a="http://schemas.openxmlformats.org/drawingml/2006/main" noGrp="1"/>
          </p:cNvSpPr>
          <p:nvPr/>
        </p:nvSpPr>
        <p:spPr>
          <a:xfrm xmlns:a="http://schemas.openxmlformats.org/drawingml/2006/main">
            <a:off x="7219950" y="4781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B44C4C"/>
                </a:solidFill>
              </a:defRPr>
            </a:pPr>
            <a:r>
              <a:rPr sz="1500" b="1">
                <a:solidFill>
                  <a:srgbClr val="B44C4C"/>
                </a:solidFill>
              </a:rPr>
              <a:t>不声称</a:t>
            </a:r>
          </a:p>
        </p:txBody>
      </p:sp>
      <p:sp>
        <p:nvSpPr>
          <p:cNvPr id="20" name="paper-v-3">
            <a:extLst xmlns:a="http://schemas.openxmlformats.org/drawingml/2006/main">
              <a:ext uri="{FF2B5EF4-FFF2-40B4-BE49-F238E27FC236}">
                <a16:creationId xmlns:a16="http://schemas.microsoft.com/office/drawing/2014/main" id="{D8264B1B-4B80-41CF-9E5F-972CED1FDF46}"/>
              </a:ext>
            </a:extLst>
          </p:cNvPr>
          <p:cNvSpPr>
            <a:spLocks xmlns:a="http://schemas.openxmlformats.org/drawingml/2006/main" noGrp="1"/>
          </p:cNvSpPr>
          <p:nvPr/>
        </p:nvSpPr>
        <p:spPr>
          <a:xfrm xmlns:a="http://schemas.openxmlformats.org/drawingml/2006/main">
            <a:off x="7219950" y="511492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论文 47.4 平均分 · 全量 TAU-2/BFCL · 统计显著性</a:t>
            </a:r>
          </a:p>
        </p:txBody>
      </p:sp>
    </p:spTree>
    <p:extLst>
      <p:ext uri="{BB962C8B-B14F-4D97-AF65-F5344CB8AC3E}">
        <p14:creationId xmlns:p14="http://schemas.microsoft.com/office/powerpoint/2010/main" val="1165520447"/>
      </p:ext>
    </p:extLst>
  </p:cSld>
</p:sld>
</file>

<file path=ppt/slides/slide4.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40" name="rail-4">
            <a:extLst xmlns:a="http://schemas.openxmlformats.org/drawingml/2006/main">
              <a:ext uri="{FF2B5EF4-FFF2-40B4-BE49-F238E27FC236}">
                <a16:creationId xmlns:a16="http://schemas.microsoft.com/office/drawing/2014/main" id="{FAB719B0-85F2-4363-8124-EF4D433F5CAC}"/>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4">
            <a:extLst xmlns:a="http://schemas.openxmlformats.org/drawingml/2006/main">
              <a:ext uri="{FF2B5EF4-FFF2-40B4-BE49-F238E27FC236}">
                <a16:creationId xmlns:a16="http://schemas.microsoft.com/office/drawing/2014/main" id="{60463ABC-548E-4F09-9B89-8F51FCD3DD89}"/>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4">
            <a:extLst xmlns:a="http://schemas.openxmlformats.org/drawingml/2006/main">
              <a:ext uri="{FF2B5EF4-FFF2-40B4-BE49-F238E27FC236}">
                <a16:creationId xmlns:a16="http://schemas.microsoft.com/office/drawing/2014/main" id="{0B7E107C-D828-4592-91F1-B5A10D0E3764}"/>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SYSTEM ARCHITECTURE</a:t>
            </a:r>
          </a:p>
        </p:txBody>
      </p:sp>
      <p:sp>
        <p:nvSpPr>
          <p:cNvPr id="4" name="title-4">
            <a:extLst xmlns:a="http://schemas.openxmlformats.org/drawingml/2006/main">
              <a:ext uri="{FF2B5EF4-FFF2-40B4-BE49-F238E27FC236}">
                <a16:creationId xmlns:a16="http://schemas.microsoft.com/office/drawing/2014/main" id="{07B1BC35-DB75-4FCA-B2A1-23F2D81C393E}"/>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一次 rollout 究竟发生了什么？</a:t>
            </a:r>
          </a:p>
        </p:txBody>
      </p:sp>
      <p:sp>
        <p:nvSpPr>
          <p:cNvPr id="5" name="subtitle-4">
            <a:extLst xmlns:a="http://schemas.openxmlformats.org/drawingml/2006/main">
              <a:ext uri="{FF2B5EF4-FFF2-40B4-BE49-F238E27FC236}">
                <a16:creationId xmlns:a16="http://schemas.microsoft.com/office/drawing/2014/main" id="{AA639F36-EC26-45CA-815E-05D7CF18FBD8}"/>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模型不能直接改业务状态；所有 side effect 都经过工具、先决条件和 verifier。</a:t>
            </a:r>
          </a:p>
        </p:txBody>
      </p:sp>
      <p:sp>
        <p:nvSpPr>
          <p:cNvPr id="6" name="">
            <a:extLst xmlns:a="http://schemas.openxmlformats.org/drawingml/2006/main">
              <a:ext uri="{FF2B5EF4-FFF2-40B4-BE49-F238E27FC236}">
                <a16:creationId xmlns:a16="http://schemas.microsoft.com/office/drawing/2014/main" id="{A0BBA86D-C373-47A7-A3C3-AC07D7DAA3E4}"/>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4">
            <a:extLst xmlns:a="http://schemas.openxmlformats.org/drawingml/2006/main">
              <a:ext uri="{FF2B5EF4-FFF2-40B4-BE49-F238E27FC236}">
                <a16:creationId xmlns:a16="http://schemas.microsoft.com/office/drawing/2014/main" id="{3402E95D-BA0D-4C28-A277-E1AB804B5C7E}"/>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04</a:t>
            </a:r>
          </a:p>
        </p:txBody>
      </p:sp>
      <p:sp>
        <p:nvSpPr>
          <p:cNvPr id="8" name="">
            <a:extLst xmlns:a="http://schemas.openxmlformats.org/drawingml/2006/main">
              <a:ext uri="{FF2B5EF4-FFF2-40B4-BE49-F238E27FC236}">
                <a16:creationId xmlns:a16="http://schemas.microsoft.com/office/drawing/2014/main" id="{E6895FA1-FD8F-4ABF-9951-E030CF0B1809}"/>
              </a:ext>
            </a:extLst>
          </p:cNvPr>
          <p:cNvSpPr>
            <a:spLocks xmlns:a="http://schemas.openxmlformats.org/drawingml/2006/main" noGrp="1"/>
          </p:cNvSpPr>
          <p:nvPr/>
        </p:nvSpPr>
        <p:spPr>
          <a:xfrm xmlns:a="http://schemas.openxmlformats.org/drawingml/2006/main">
            <a:off x="2381250" y="3438525"/>
            <a:ext cx="51435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9" name="">
            <a:extLst xmlns:a="http://schemas.openxmlformats.org/drawingml/2006/main">
              <a:ext uri="{FF2B5EF4-FFF2-40B4-BE49-F238E27FC236}">
                <a16:creationId xmlns:a16="http://schemas.microsoft.com/office/drawing/2014/main" id="{89937483-2027-4B14-B0F1-FD893443E731}"/>
              </a:ext>
            </a:extLst>
          </p:cNvPr>
          <p:cNvSpPr>
            <a:spLocks xmlns:a="http://schemas.openxmlformats.org/drawingml/2006/main" noGrp="1"/>
          </p:cNvSpPr>
          <p:nvPr/>
        </p:nvSpPr>
        <p:spPr>
          <a:xfrm xmlns:a="http://schemas.openxmlformats.org/drawingml/2006/main">
            <a:off x="4533900" y="3438525"/>
            <a:ext cx="68580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10" name="">
            <a:extLst xmlns:a="http://schemas.openxmlformats.org/drawingml/2006/main">
              <a:ext uri="{FF2B5EF4-FFF2-40B4-BE49-F238E27FC236}">
                <a16:creationId xmlns:a16="http://schemas.microsoft.com/office/drawing/2014/main" id="{0C03178C-BFBF-432D-9B3B-43F352AFF7BD}"/>
              </a:ext>
            </a:extLst>
          </p:cNvPr>
          <p:cNvSpPr>
            <a:spLocks xmlns:a="http://schemas.openxmlformats.org/drawingml/2006/main" noGrp="1"/>
          </p:cNvSpPr>
          <p:nvPr/>
        </p:nvSpPr>
        <p:spPr>
          <a:xfrm xmlns:a="http://schemas.openxmlformats.org/drawingml/2006/main">
            <a:off x="6858000" y="3438525"/>
            <a:ext cx="68580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11" name="">
            <a:extLst xmlns:a="http://schemas.openxmlformats.org/drawingml/2006/main">
              <a:ext uri="{FF2B5EF4-FFF2-40B4-BE49-F238E27FC236}">
                <a16:creationId xmlns:a16="http://schemas.microsoft.com/office/drawing/2014/main" id="{90BC699F-0C80-4F25-AB5D-DC69D0806636}"/>
              </a:ext>
            </a:extLst>
          </p:cNvPr>
          <p:cNvSpPr>
            <a:spLocks xmlns:a="http://schemas.openxmlformats.org/drawingml/2006/main" noGrp="1"/>
          </p:cNvSpPr>
          <p:nvPr/>
        </p:nvSpPr>
        <p:spPr>
          <a:xfrm xmlns:a="http://schemas.openxmlformats.org/drawingml/2006/main">
            <a:off x="9182100" y="3438525"/>
            <a:ext cx="68580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12" name="arch-0">
            <a:extLst xmlns:a="http://schemas.openxmlformats.org/drawingml/2006/main">
              <a:ext uri="{FF2B5EF4-FFF2-40B4-BE49-F238E27FC236}">
                <a16:creationId xmlns:a16="http://schemas.microsoft.com/office/drawing/2014/main" id="{D3CA13E0-9865-4AEC-A9E8-DD744A27702F}"/>
              </a:ext>
            </a:extLst>
          </p:cNvPr>
          <p:cNvSpPr>
            <a:spLocks xmlns:a="http://schemas.openxmlformats.org/drawingml/2006/main" noGrp="1"/>
          </p:cNvSpPr>
          <p:nvPr/>
        </p:nvSpPr>
        <p:spPr>
          <a:xfrm xmlns:a="http://schemas.openxmlformats.org/drawingml/2006/main">
            <a:off x="742950" y="2714625"/>
            <a:ext cx="1638300" cy="1447800"/>
          </a:xfrm>
          <a:prstGeom xmlns:a="http://schemas.openxmlformats.org/drawingml/2006/main" prst="roundRect">
            <a:avLst>
              <a:gd name="adj" fmla="val 7895"/>
            </a:avLst>
          </a:prstGeom>
          <a:solidFill xmlns:a="http://schemas.openxmlformats.org/drawingml/2006/main">
            <a:srgbClr val="F7F1E8"/>
          </a:solidFill>
          <a:ln xmlns:a="http://schemas.openxmlformats.org/drawingml/2006/main" w="9525">
            <a:solidFill>
              <a:srgbClr val="CAD9D8"/>
            </a:solidFill>
            <a:prstDash val="solid"/>
          </a:ln>
        </p:spPr>
      </p:sp>
      <p:sp>
        <p:nvSpPr>
          <p:cNvPr id="13" name="arch-k-0">
            <a:extLst xmlns:a="http://schemas.openxmlformats.org/drawingml/2006/main">
              <a:ext uri="{FF2B5EF4-FFF2-40B4-BE49-F238E27FC236}">
                <a16:creationId xmlns:a16="http://schemas.microsoft.com/office/drawing/2014/main" id="{3FCFB56F-EA43-452D-87F7-631C47F784C6}"/>
              </a:ext>
            </a:extLst>
          </p:cNvPr>
          <p:cNvSpPr>
            <a:spLocks xmlns:a="http://schemas.openxmlformats.org/drawingml/2006/main" noGrp="1"/>
          </p:cNvSpPr>
          <p:nvPr/>
        </p:nvSpPr>
        <p:spPr>
          <a:xfrm xmlns:a="http://schemas.openxmlformats.org/drawingml/2006/main">
            <a:off x="88582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PROMPT</a:t>
            </a:r>
          </a:p>
        </p:txBody>
      </p:sp>
      <p:sp>
        <p:nvSpPr>
          <p:cNvPr id="14" name="arch-v-0">
            <a:extLst xmlns:a="http://schemas.openxmlformats.org/drawingml/2006/main">
              <a:ext uri="{FF2B5EF4-FFF2-40B4-BE49-F238E27FC236}">
                <a16:creationId xmlns:a16="http://schemas.microsoft.com/office/drawing/2014/main" id="{BBB7A0D7-58A8-490B-9CC1-23F6D5CB246F}"/>
              </a:ext>
            </a:extLst>
          </p:cNvPr>
          <p:cNvSpPr>
            <a:spLocks xmlns:a="http://schemas.openxmlformats.org/drawingml/2006/main" noGrp="1"/>
          </p:cNvSpPr>
          <p:nvPr/>
        </p:nvSpPr>
        <p:spPr>
          <a:xfrm xmlns:a="http://schemas.openxmlformats.org/drawingml/2006/main">
            <a:off x="88582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模糊退款诉求</a:t>
            </a:r>
          </a:p>
        </p:txBody>
      </p:sp>
      <p:sp>
        <p:nvSpPr>
          <p:cNvPr id="15" name="arch-1">
            <a:extLst xmlns:a="http://schemas.openxmlformats.org/drawingml/2006/main">
              <a:ext uri="{FF2B5EF4-FFF2-40B4-BE49-F238E27FC236}">
                <a16:creationId xmlns:a16="http://schemas.microsoft.com/office/drawing/2014/main" id="{FAD12B50-2D09-4C7C-A6CB-5BF72E3F6222}"/>
              </a:ext>
            </a:extLst>
          </p:cNvPr>
          <p:cNvSpPr>
            <a:spLocks xmlns:a="http://schemas.openxmlformats.org/drawingml/2006/main" noGrp="1"/>
          </p:cNvSpPr>
          <p:nvPr/>
        </p:nvSpPr>
        <p:spPr>
          <a:xfrm xmlns:a="http://schemas.openxmlformats.org/drawingml/2006/main">
            <a:off x="2895600" y="2714625"/>
            <a:ext cx="1638300" cy="1447800"/>
          </a:xfrm>
          <a:prstGeom xmlns:a="http://schemas.openxmlformats.org/drawingml/2006/main" prst="roundRect">
            <a:avLst>
              <a:gd name="adj" fmla="val 7895"/>
            </a:avLst>
          </a:prstGeom>
          <a:solidFill xmlns:a="http://schemas.openxmlformats.org/drawingml/2006/main">
            <a:srgbClr val="E5F5F3"/>
          </a:solidFill>
          <a:ln xmlns:a="http://schemas.openxmlformats.org/drawingml/2006/main" w="9525">
            <a:solidFill>
              <a:srgbClr val="CAD9D8"/>
            </a:solidFill>
            <a:prstDash val="solid"/>
          </a:ln>
        </p:spPr>
      </p:sp>
      <p:sp>
        <p:nvSpPr>
          <p:cNvPr id="16" name="arch-k-1">
            <a:extLst xmlns:a="http://schemas.openxmlformats.org/drawingml/2006/main">
              <a:ext uri="{FF2B5EF4-FFF2-40B4-BE49-F238E27FC236}">
                <a16:creationId xmlns:a16="http://schemas.microsoft.com/office/drawing/2014/main" id="{9132A5E1-BB5A-4F9A-AB0B-6C33D4793F32}"/>
              </a:ext>
            </a:extLst>
          </p:cNvPr>
          <p:cNvSpPr>
            <a:spLocks xmlns:a="http://schemas.openxmlformats.org/drawingml/2006/main" noGrp="1"/>
          </p:cNvSpPr>
          <p:nvPr/>
        </p:nvSpPr>
        <p:spPr>
          <a:xfrm xmlns:a="http://schemas.openxmlformats.org/drawingml/2006/main">
            <a:off x="30384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POLICY</a:t>
            </a:r>
          </a:p>
        </p:txBody>
      </p:sp>
      <p:sp>
        <p:nvSpPr>
          <p:cNvPr id="17" name="arch-v-1">
            <a:extLst xmlns:a="http://schemas.openxmlformats.org/drawingml/2006/main">
              <a:ext uri="{FF2B5EF4-FFF2-40B4-BE49-F238E27FC236}">
                <a16:creationId xmlns:a16="http://schemas.microsoft.com/office/drawing/2014/main" id="{59626A19-12F3-4B9F-929D-603C5DE48CC5}"/>
              </a:ext>
            </a:extLst>
          </p:cNvPr>
          <p:cNvSpPr>
            <a:spLocks xmlns:a="http://schemas.openxmlformats.org/drawingml/2006/main" noGrp="1"/>
          </p:cNvSpPr>
          <p:nvPr/>
        </p:nvSpPr>
        <p:spPr>
          <a:xfrm xmlns:a="http://schemas.openxmlformats.org/drawingml/2006/main">
            <a:off x="30384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Qwen3-8B</a:t>
            </a:r>
          </a:p>
          <a:p xmlns:a="http://schemas.openxmlformats.org/drawingml/2006/main">
            <a:pPr algn="ctr">
              <a:defRPr sz="1350" b="1">
                <a:solidFill>
                  <a:srgbClr val="071A2B"/>
                </a:solidFill>
              </a:defRPr>
            </a:pPr>
            <a:r>
              <a:rPr sz="1350" b="1">
                <a:solidFill>
                  <a:srgbClr val="071A2B"/>
                </a:solidFill>
              </a:rPr>
              <a:t>response tokens</a:t>
            </a:r>
          </a:p>
        </p:txBody>
      </p:sp>
      <p:sp>
        <p:nvSpPr>
          <p:cNvPr id="18" name="arch-2">
            <a:extLst xmlns:a="http://schemas.openxmlformats.org/drawingml/2006/main">
              <a:ext uri="{FF2B5EF4-FFF2-40B4-BE49-F238E27FC236}">
                <a16:creationId xmlns:a16="http://schemas.microsoft.com/office/drawing/2014/main" id="{8624BF6A-0E77-4806-AF44-61C3366C4A26}"/>
              </a:ext>
            </a:extLst>
          </p:cNvPr>
          <p:cNvSpPr>
            <a:spLocks xmlns:a="http://schemas.openxmlformats.org/drawingml/2006/main" noGrp="1"/>
          </p:cNvSpPr>
          <p:nvPr/>
        </p:nvSpPr>
        <p:spPr>
          <a:xfrm xmlns:a="http://schemas.openxmlformats.org/drawingml/2006/main">
            <a:off x="5219700" y="2714625"/>
            <a:ext cx="1638300" cy="1447800"/>
          </a:xfrm>
          <a:prstGeom xmlns:a="http://schemas.openxmlformats.org/drawingml/2006/main" prst="roundRect">
            <a:avLst>
              <a:gd name="adj" fmla="val 7895"/>
            </a:avLst>
          </a:prstGeom>
          <a:solidFill xmlns:a="http://schemas.openxmlformats.org/drawingml/2006/main">
            <a:srgbClr val="FAF2DE"/>
          </a:solidFill>
          <a:ln xmlns:a="http://schemas.openxmlformats.org/drawingml/2006/main" w="9525">
            <a:solidFill>
              <a:srgbClr val="CAD9D8"/>
            </a:solidFill>
            <a:prstDash val="solid"/>
          </a:ln>
        </p:spPr>
      </p:sp>
      <p:sp>
        <p:nvSpPr>
          <p:cNvPr id="19" name="arch-k-2">
            <a:extLst xmlns:a="http://schemas.openxmlformats.org/drawingml/2006/main">
              <a:ext uri="{FF2B5EF4-FFF2-40B4-BE49-F238E27FC236}">
                <a16:creationId xmlns:a16="http://schemas.microsoft.com/office/drawing/2014/main" id="{785D45FB-1638-471F-B0CC-8394C2B7802B}"/>
              </a:ext>
            </a:extLst>
          </p:cNvPr>
          <p:cNvSpPr>
            <a:spLocks xmlns:a="http://schemas.openxmlformats.org/drawingml/2006/main" noGrp="1"/>
          </p:cNvSpPr>
          <p:nvPr/>
        </p:nvSpPr>
        <p:spPr>
          <a:xfrm xmlns:a="http://schemas.openxmlformats.org/drawingml/2006/main">
            <a:off x="53625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TOOLS</a:t>
            </a:r>
          </a:p>
        </p:txBody>
      </p:sp>
      <p:sp>
        <p:nvSpPr>
          <p:cNvPr id="20" name="arch-v-2">
            <a:extLst xmlns:a="http://schemas.openxmlformats.org/drawingml/2006/main">
              <a:ext uri="{FF2B5EF4-FFF2-40B4-BE49-F238E27FC236}">
                <a16:creationId xmlns:a16="http://schemas.microsoft.com/office/drawing/2014/main" id="{C474FD7E-CC52-4D0E-BEC8-C5FCB1BD03BB}"/>
              </a:ext>
            </a:extLst>
          </p:cNvPr>
          <p:cNvSpPr>
            <a:spLocks xmlns:a="http://schemas.openxmlformats.org/drawingml/2006/main" noGrp="1"/>
          </p:cNvSpPr>
          <p:nvPr/>
        </p:nvSpPr>
        <p:spPr>
          <a:xfrm xmlns:a="http://schemas.openxmlformats.org/drawingml/2006/main">
            <a:off x="53625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7 个工具</a:t>
            </a:r>
          </a:p>
          <a:p xmlns:a="http://schemas.openxmlformats.org/drawingml/2006/main">
            <a:pPr algn="ctr">
              <a:defRPr sz="1350" b="1">
                <a:solidFill>
                  <a:srgbClr val="071A2B"/>
                </a:solidFill>
              </a:defRPr>
            </a:pPr>
            <a:r>
              <a:rPr sz="1350" b="1">
                <a:solidFill>
                  <a:srgbClr val="071A2B"/>
                </a:solidFill>
              </a:rPr>
              <a:t>observation</a:t>
            </a:r>
          </a:p>
        </p:txBody>
      </p:sp>
      <p:sp>
        <p:nvSpPr>
          <p:cNvPr id="21" name="arch-3">
            <a:extLst xmlns:a="http://schemas.openxmlformats.org/drawingml/2006/main">
              <a:ext uri="{FF2B5EF4-FFF2-40B4-BE49-F238E27FC236}">
                <a16:creationId xmlns:a16="http://schemas.microsoft.com/office/drawing/2014/main" id="{517E08CB-9B91-4A77-B7DE-F01566E7B80A}"/>
              </a:ext>
            </a:extLst>
          </p:cNvPr>
          <p:cNvSpPr>
            <a:spLocks xmlns:a="http://schemas.openxmlformats.org/drawingml/2006/main" noGrp="1"/>
          </p:cNvSpPr>
          <p:nvPr/>
        </p:nvSpPr>
        <p:spPr>
          <a:xfrm xmlns:a="http://schemas.openxmlformats.org/drawingml/2006/main">
            <a:off x="7543800" y="2714625"/>
            <a:ext cx="1638300" cy="1447800"/>
          </a:xfrm>
          <a:prstGeom xmlns:a="http://schemas.openxmlformats.org/drawingml/2006/main" prst="roundRect">
            <a:avLst>
              <a:gd name="adj" fmla="val 7895"/>
            </a:avLst>
          </a:prstGeom>
          <a:solidFill xmlns:a="http://schemas.openxmlformats.org/drawingml/2006/main">
            <a:srgbClr val="E5F5F3"/>
          </a:solidFill>
          <a:ln xmlns:a="http://schemas.openxmlformats.org/drawingml/2006/main" w="9525">
            <a:solidFill>
              <a:srgbClr val="CAD9D8"/>
            </a:solidFill>
            <a:prstDash val="solid"/>
          </a:ln>
        </p:spPr>
      </p:sp>
      <p:sp>
        <p:nvSpPr>
          <p:cNvPr id="22" name="arch-k-3">
            <a:extLst xmlns:a="http://schemas.openxmlformats.org/drawingml/2006/main">
              <a:ext uri="{FF2B5EF4-FFF2-40B4-BE49-F238E27FC236}">
                <a16:creationId xmlns:a16="http://schemas.microsoft.com/office/drawing/2014/main" id="{2E9252F8-AAD8-4349-BD10-E80BE82A287B}"/>
              </a:ext>
            </a:extLst>
          </p:cNvPr>
          <p:cNvSpPr>
            <a:spLocks xmlns:a="http://schemas.openxmlformats.org/drawingml/2006/main" noGrp="1"/>
          </p:cNvSpPr>
          <p:nvPr/>
        </p:nvSpPr>
        <p:spPr>
          <a:xfrm xmlns:a="http://schemas.openxmlformats.org/drawingml/2006/main">
            <a:off x="76866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STATE</a:t>
            </a:r>
          </a:p>
        </p:txBody>
      </p:sp>
      <p:sp>
        <p:nvSpPr>
          <p:cNvPr id="23" name="arch-v-3">
            <a:extLst xmlns:a="http://schemas.openxmlformats.org/drawingml/2006/main">
              <a:ext uri="{FF2B5EF4-FFF2-40B4-BE49-F238E27FC236}">
                <a16:creationId xmlns:a16="http://schemas.microsoft.com/office/drawing/2014/main" id="{16230A77-0D4C-4CE0-A8EC-73E25E6245E0}"/>
              </a:ext>
            </a:extLst>
          </p:cNvPr>
          <p:cNvSpPr>
            <a:spLocks xmlns:a="http://schemas.openxmlformats.org/drawingml/2006/main" noGrp="1"/>
          </p:cNvSpPr>
          <p:nvPr/>
        </p:nvSpPr>
        <p:spPr>
          <a:xfrm xmlns:a="http://schemas.openxmlformats.org/drawingml/2006/main">
            <a:off x="76866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身份/订单/支付</a:t>
            </a:r>
          </a:p>
          <a:p xmlns:a="http://schemas.openxmlformats.org/drawingml/2006/main">
            <a:pPr algn="ctr">
              <a:defRPr sz="1350" b="1">
                <a:solidFill>
                  <a:srgbClr val="071A2B"/>
                </a:solidFill>
              </a:defRPr>
            </a:pPr>
            <a:r>
              <a:rPr sz="1350" b="1">
                <a:solidFill>
                  <a:srgbClr val="071A2B"/>
                </a:solidFill>
              </a:rPr>
              <a:t>确认/退款</a:t>
            </a:r>
          </a:p>
        </p:txBody>
      </p:sp>
      <p:sp>
        <p:nvSpPr>
          <p:cNvPr id="24" name="arch-4">
            <a:extLst xmlns:a="http://schemas.openxmlformats.org/drawingml/2006/main">
              <a:ext uri="{FF2B5EF4-FFF2-40B4-BE49-F238E27FC236}">
                <a16:creationId xmlns:a16="http://schemas.microsoft.com/office/drawing/2014/main" id="{9AC39F44-B52E-44CD-A554-3398CE8F6F2B}"/>
              </a:ext>
            </a:extLst>
          </p:cNvPr>
          <p:cNvSpPr>
            <a:spLocks xmlns:a="http://schemas.openxmlformats.org/drawingml/2006/main" noGrp="1"/>
          </p:cNvSpPr>
          <p:nvPr/>
        </p:nvSpPr>
        <p:spPr>
          <a:xfrm xmlns:a="http://schemas.openxmlformats.org/drawingml/2006/main">
            <a:off x="9867900" y="2714625"/>
            <a:ext cx="1638300" cy="1447800"/>
          </a:xfrm>
          <a:prstGeom xmlns:a="http://schemas.openxmlformats.org/drawingml/2006/main" prst="roundRect">
            <a:avLst>
              <a:gd name="adj" fmla="val 7895"/>
            </a:avLst>
          </a:prstGeom>
          <a:solidFill xmlns:a="http://schemas.openxmlformats.org/drawingml/2006/main">
            <a:srgbClr val="F9E9E6"/>
          </a:solidFill>
          <a:ln xmlns:a="http://schemas.openxmlformats.org/drawingml/2006/main" w="9525">
            <a:solidFill>
              <a:srgbClr val="C56D4A"/>
            </a:solidFill>
            <a:prstDash val="solid"/>
          </a:ln>
        </p:spPr>
      </p:sp>
      <p:sp>
        <p:nvSpPr>
          <p:cNvPr id="25" name="arch-k-4">
            <a:extLst xmlns:a="http://schemas.openxmlformats.org/drawingml/2006/main">
              <a:ext uri="{FF2B5EF4-FFF2-40B4-BE49-F238E27FC236}">
                <a16:creationId xmlns:a16="http://schemas.microsoft.com/office/drawing/2014/main" id="{576E9E7D-927A-4669-A74D-6C5DF765AF84}"/>
              </a:ext>
            </a:extLst>
          </p:cNvPr>
          <p:cNvSpPr>
            <a:spLocks xmlns:a="http://schemas.openxmlformats.org/drawingml/2006/main" noGrp="1"/>
          </p:cNvSpPr>
          <p:nvPr/>
        </p:nvSpPr>
        <p:spPr>
          <a:xfrm xmlns:a="http://schemas.openxmlformats.org/drawingml/2006/main">
            <a:off x="100107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C56D4A"/>
                </a:solidFill>
              </a:defRPr>
            </a:pPr>
            <a:r>
              <a:rPr sz="1050" b="1">
                <a:solidFill>
                  <a:srgbClr val="C56D4A"/>
                </a:solidFill>
              </a:rPr>
              <a:t>REWARD</a:t>
            </a:r>
          </a:p>
        </p:txBody>
      </p:sp>
      <p:sp>
        <p:nvSpPr>
          <p:cNvPr id="26" name="arch-v-4">
            <a:extLst xmlns:a="http://schemas.openxmlformats.org/drawingml/2006/main">
              <a:ext uri="{FF2B5EF4-FFF2-40B4-BE49-F238E27FC236}">
                <a16:creationId xmlns:a16="http://schemas.microsoft.com/office/drawing/2014/main" id="{3C8944B6-4514-497B-A64A-52B1B10AA9F5}"/>
              </a:ext>
            </a:extLst>
          </p:cNvPr>
          <p:cNvSpPr>
            <a:spLocks xmlns:a="http://schemas.openxmlformats.org/drawingml/2006/main" noGrp="1"/>
          </p:cNvSpPr>
          <p:nvPr/>
        </p:nvSpPr>
        <p:spPr>
          <a:xfrm xmlns:a="http://schemas.openxmlformats.org/drawingml/2006/main">
            <a:off x="100107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outcome +</a:t>
            </a:r>
          </a:p>
          <a:p xmlns:a="http://schemas.openxmlformats.org/drawingml/2006/main">
            <a:pPr algn="ctr">
              <a:defRPr sz="1350" b="1">
                <a:solidFill>
                  <a:srgbClr val="071A2B"/>
                </a:solidFill>
              </a:defRPr>
            </a:pPr>
            <a:r>
              <a:rPr sz="1350" b="1">
                <a:solidFill>
                  <a:srgbClr val="071A2B"/>
                </a:solidFill>
              </a:rPr>
              <a:t>0.30 process</a:t>
            </a:r>
          </a:p>
        </p:txBody>
      </p:sp>
      <p:sp>
        <p:nvSpPr>
          <p:cNvPr id="27" name="arch-loop">
            <a:extLst xmlns:a="http://schemas.openxmlformats.org/drawingml/2006/main">
              <a:ext uri="{FF2B5EF4-FFF2-40B4-BE49-F238E27FC236}">
                <a16:creationId xmlns:a16="http://schemas.microsoft.com/office/drawing/2014/main" id="{FB9F1A31-55D0-4BC3-9295-81B3FD23A254}"/>
              </a:ext>
            </a:extLst>
          </p:cNvPr>
          <p:cNvSpPr>
            <a:spLocks xmlns:a="http://schemas.openxmlformats.org/drawingml/2006/main" noGrp="1"/>
          </p:cNvSpPr>
          <p:nvPr/>
        </p:nvSpPr>
        <p:spPr>
          <a:xfrm xmlns:a="http://schemas.openxmlformats.org/drawingml/2006/main">
            <a:off x="2952750" y="476250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C56D4A"/>
                </a:solidFill>
              </a:defRPr>
            </a:pPr>
            <a:r>
              <a:rPr sz="1500" b="1">
                <a:solidFill>
                  <a:srgbClr val="C56D4A"/>
                </a:solidFill>
              </a:rPr>
              <a:t>↺ tool observation 回到同一对话，直到完成或 10 次上限</a:t>
            </a:r>
          </a:p>
        </p:txBody>
      </p:sp>
      <p:sp>
        <p:nvSpPr>
          <p:cNvPr id="28" name="">
            <a:extLst xmlns:a="http://schemas.openxmlformats.org/drawingml/2006/main">
              <a:ext uri="{FF2B5EF4-FFF2-40B4-BE49-F238E27FC236}">
                <a16:creationId xmlns:a16="http://schemas.microsoft.com/office/drawing/2014/main" id="{301F6B2D-F5D4-43B7-8681-463C4874B519}"/>
              </a:ext>
            </a:extLst>
          </p:cNvPr>
          <p:cNvSpPr>
            <a:spLocks xmlns:a="http://schemas.openxmlformats.org/drawingml/2006/main" noGrp="1"/>
          </p:cNvSpPr>
          <p:nvPr/>
        </p:nvSpPr>
        <p:spPr>
          <a:xfrm xmlns:a="http://schemas.openxmlformats.org/drawingml/2006/main">
            <a:off x="1619250" y="5429250"/>
            <a:ext cx="20002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29" name="arch-tools-value">
            <a:extLst xmlns:a="http://schemas.openxmlformats.org/drawingml/2006/main">
              <a:ext uri="{FF2B5EF4-FFF2-40B4-BE49-F238E27FC236}">
                <a16:creationId xmlns:a16="http://schemas.microsoft.com/office/drawing/2014/main" id="{152113FD-B70B-4EE6-8895-77F9336D895B}"/>
              </a:ext>
            </a:extLst>
          </p:cNvPr>
          <p:cNvSpPr>
            <a:spLocks xmlns:a="http://schemas.openxmlformats.org/drawingml/2006/main" noGrp="1"/>
          </p:cNvSpPr>
          <p:nvPr/>
        </p:nvSpPr>
        <p:spPr>
          <a:xfrm xmlns:a="http://schemas.openxmlformats.org/drawingml/2006/main">
            <a:off x="1619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7</a:t>
            </a:r>
          </a:p>
        </p:txBody>
      </p:sp>
      <p:sp>
        <p:nvSpPr>
          <p:cNvPr id="30" name="arch-tools-label">
            <a:extLst xmlns:a="http://schemas.openxmlformats.org/drawingml/2006/main">
              <a:ext uri="{FF2B5EF4-FFF2-40B4-BE49-F238E27FC236}">
                <a16:creationId xmlns:a16="http://schemas.microsoft.com/office/drawing/2014/main" id="{16117018-2EF4-49BC-8688-D53D0A28E536}"/>
              </a:ext>
            </a:extLst>
          </p:cNvPr>
          <p:cNvSpPr>
            <a:spLocks xmlns:a="http://schemas.openxmlformats.org/drawingml/2006/main" noGrp="1"/>
          </p:cNvSpPr>
          <p:nvPr/>
        </p:nvSpPr>
        <p:spPr>
          <a:xfrm xmlns:a="http://schemas.openxmlformats.org/drawingml/2006/main">
            <a:off x="1619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typed tools</a:t>
            </a:r>
          </a:p>
        </p:txBody>
      </p:sp>
      <p:sp>
        <p:nvSpPr>
          <p:cNvPr id="31" name="">
            <a:extLst xmlns:a="http://schemas.openxmlformats.org/drawingml/2006/main">
              <a:ext uri="{FF2B5EF4-FFF2-40B4-BE49-F238E27FC236}">
                <a16:creationId xmlns:a16="http://schemas.microsoft.com/office/drawing/2014/main" id="{25C91793-514F-405C-BF99-5A4C5F64E83F}"/>
              </a:ext>
            </a:extLst>
          </p:cNvPr>
          <p:cNvSpPr>
            <a:spLocks xmlns:a="http://schemas.openxmlformats.org/drawingml/2006/main" noGrp="1"/>
          </p:cNvSpPr>
          <p:nvPr/>
        </p:nvSpPr>
        <p:spPr>
          <a:xfrm xmlns:a="http://schemas.openxmlformats.org/drawingml/2006/main">
            <a:off x="4286250" y="5429250"/>
            <a:ext cx="2000250" cy="0"/>
          </a:xfrm>
          <a:prstGeom xmlns:a="http://schemas.openxmlformats.org/drawingml/2006/main" prst="line">
            <a:avLst/>
          </a:prstGeom>
          <a:noFill xmlns:a="http://schemas.openxmlformats.org/drawingml/2006/main"/>
          <a:ln xmlns:a="http://schemas.openxmlformats.org/drawingml/2006/main" w="38100">
            <a:solidFill>
              <a:srgbClr val="C56D4A"/>
            </a:solidFill>
            <a:prstDash val="solid"/>
          </a:ln>
        </p:spPr>
      </p:sp>
      <p:sp>
        <p:nvSpPr>
          <p:cNvPr id="32" name="arch-group-value">
            <a:extLst xmlns:a="http://schemas.openxmlformats.org/drawingml/2006/main">
              <a:ext uri="{FF2B5EF4-FFF2-40B4-BE49-F238E27FC236}">
                <a16:creationId xmlns:a16="http://schemas.microsoft.com/office/drawing/2014/main" id="{B3FAD89E-BDDA-4BF7-9BB9-26861AA0DC10}"/>
              </a:ext>
            </a:extLst>
          </p:cNvPr>
          <p:cNvSpPr>
            <a:spLocks xmlns:a="http://schemas.openxmlformats.org/drawingml/2006/main" noGrp="1"/>
          </p:cNvSpPr>
          <p:nvPr/>
        </p:nvSpPr>
        <p:spPr>
          <a:xfrm xmlns:a="http://schemas.openxmlformats.org/drawingml/2006/main">
            <a:off x="4286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4</a:t>
            </a:r>
          </a:p>
        </p:txBody>
      </p:sp>
      <p:sp>
        <p:nvSpPr>
          <p:cNvPr id="33" name="arch-group-label">
            <a:extLst xmlns:a="http://schemas.openxmlformats.org/drawingml/2006/main">
              <a:ext uri="{FF2B5EF4-FFF2-40B4-BE49-F238E27FC236}">
                <a16:creationId xmlns:a16="http://schemas.microsoft.com/office/drawing/2014/main" id="{518AB7B6-A619-4926-B9F7-1D34B12AB560}"/>
              </a:ext>
            </a:extLst>
          </p:cNvPr>
          <p:cNvSpPr>
            <a:spLocks xmlns:a="http://schemas.openxmlformats.org/drawingml/2006/main" noGrp="1"/>
          </p:cNvSpPr>
          <p:nvPr/>
        </p:nvSpPr>
        <p:spPr>
          <a:xfrm xmlns:a="http://schemas.openxmlformats.org/drawingml/2006/main">
            <a:off x="4286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rollouts / group</a:t>
            </a:r>
          </a:p>
        </p:txBody>
      </p:sp>
      <p:sp>
        <p:nvSpPr>
          <p:cNvPr id="34" name="">
            <a:extLst xmlns:a="http://schemas.openxmlformats.org/drawingml/2006/main">
              <a:ext uri="{FF2B5EF4-FFF2-40B4-BE49-F238E27FC236}">
                <a16:creationId xmlns:a16="http://schemas.microsoft.com/office/drawing/2014/main" id="{A2473A35-E148-4D3A-83FD-5D1BA9031450}"/>
              </a:ext>
            </a:extLst>
          </p:cNvPr>
          <p:cNvSpPr>
            <a:spLocks xmlns:a="http://schemas.openxmlformats.org/drawingml/2006/main" noGrp="1"/>
          </p:cNvSpPr>
          <p:nvPr/>
        </p:nvSpPr>
        <p:spPr>
          <a:xfrm xmlns:a="http://schemas.openxmlformats.org/drawingml/2006/main">
            <a:off x="6953250" y="5429250"/>
            <a:ext cx="2000250" cy="0"/>
          </a:xfrm>
          <a:prstGeom xmlns:a="http://schemas.openxmlformats.org/drawingml/2006/main" prst="line">
            <a:avLst/>
          </a:prstGeom>
          <a:noFill xmlns:a="http://schemas.openxmlformats.org/drawingml/2006/main"/>
          <a:ln xmlns:a="http://schemas.openxmlformats.org/drawingml/2006/main" w="38100">
            <a:solidFill>
              <a:srgbClr val="D6A84B"/>
            </a:solidFill>
            <a:prstDash val="solid"/>
          </a:ln>
        </p:spPr>
      </p:sp>
      <p:sp>
        <p:nvSpPr>
          <p:cNvPr id="35" name="arch-max-value">
            <a:extLst xmlns:a="http://schemas.openxmlformats.org/drawingml/2006/main">
              <a:ext uri="{FF2B5EF4-FFF2-40B4-BE49-F238E27FC236}">
                <a16:creationId xmlns:a16="http://schemas.microsoft.com/office/drawing/2014/main" id="{B81FD465-2588-468D-860B-E6232836F653}"/>
              </a:ext>
            </a:extLst>
          </p:cNvPr>
          <p:cNvSpPr>
            <a:spLocks xmlns:a="http://schemas.openxmlformats.org/drawingml/2006/main" noGrp="1"/>
          </p:cNvSpPr>
          <p:nvPr/>
        </p:nvSpPr>
        <p:spPr>
          <a:xfrm xmlns:a="http://schemas.openxmlformats.org/drawingml/2006/main">
            <a:off x="6953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10</a:t>
            </a:r>
          </a:p>
        </p:txBody>
      </p:sp>
      <p:sp>
        <p:nvSpPr>
          <p:cNvPr id="36" name="arch-max-label">
            <a:extLst xmlns:a="http://schemas.openxmlformats.org/drawingml/2006/main">
              <a:ext uri="{FF2B5EF4-FFF2-40B4-BE49-F238E27FC236}">
                <a16:creationId xmlns:a16="http://schemas.microsoft.com/office/drawing/2014/main" id="{D6365DC1-2AC2-4647-8154-E32235075A18}"/>
              </a:ext>
            </a:extLst>
          </p:cNvPr>
          <p:cNvSpPr>
            <a:spLocks xmlns:a="http://schemas.openxmlformats.org/drawingml/2006/main" noGrp="1"/>
          </p:cNvSpPr>
          <p:nvPr/>
        </p:nvSpPr>
        <p:spPr>
          <a:xfrm xmlns:a="http://schemas.openxmlformats.org/drawingml/2006/main">
            <a:off x="6953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max tool turns</a:t>
            </a:r>
          </a:p>
        </p:txBody>
      </p:sp>
      <p:sp>
        <p:nvSpPr>
          <p:cNvPr id="37" name="">
            <a:extLst xmlns:a="http://schemas.openxmlformats.org/drawingml/2006/main">
              <a:ext uri="{FF2B5EF4-FFF2-40B4-BE49-F238E27FC236}">
                <a16:creationId xmlns:a16="http://schemas.microsoft.com/office/drawing/2014/main" id="{CBD4A62C-9A56-4049-ACCD-5CCF63B39A6C}"/>
              </a:ext>
            </a:extLst>
          </p:cNvPr>
          <p:cNvSpPr>
            <a:spLocks xmlns:a="http://schemas.openxmlformats.org/drawingml/2006/main" noGrp="1"/>
          </p:cNvSpPr>
          <p:nvPr/>
        </p:nvSpPr>
        <p:spPr>
          <a:xfrm xmlns:a="http://schemas.openxmlformats.org/drawingml/2006/main">
            <a:off x="9620250" y="5429250"/>
            <a:ext cx="2000250" cy="0"/>
          </a:xfrm>
          <a:prstGeom xmlns:a="http://schemas.openxmlformats.org/drawingml/2006/main" prst="line">
            <a:avLst/>
          </a:prstGeom>
          <a:noFill xmlns:a="http://schemas.openxmlformats.org/drawingml/2006/main"/>
          <a:ln xmlns:a="http://schemas.openxmlformats.org/drawingml/2006/main" w="38100">
            <a:solidFill>
              <a:srgbClr val="228B67"/>
            </a:solidFill>
            <a:prstDash val="solid"/>
          </a:ln>
        </p:spPr>
      </p:sp>
      <p:sp>
        <p:nvSpPr>
          <p:cNvPr id="38" name="arch-token-value">
            <a:extLst xmlns:a="http://schemas.openxmlformats.org/drawingml/2006/main">
              <a:ext uri="{FF2B5EF4-FFF2-40B4-BE49-F238E27FC236}">
                <a16:creationId xmlns:a16="http://schemas.microsoft.com/office/drawing/2014/main" id="{4F969F96-6DA3-4E18-B6B2-50D0B6B54B15}"/>
              </a:ext>
            </a:extLst>
          </p:cNvPr>
          <p:cNvSpPr>
            <a:spLocks xmlns:a="http://schemas.openxmlformats.org/drawingml/2006/main" noGrp="1"/>
          </p:cNvSpPr>
          <p:nvPr/>
        </p:nvSpPr>
        <p:spPr>
          <a:xfrm xmlns:a="http://schemas.openxmlformats.org/drawingml/2006/main">
            <a:off x="9620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1,400</a:t>
            </a:r>
          </a:p>
        </p:txBody>
      </p:sp>
      <p:sp>
        <p:nvSpPr>
          <p:cNvPr id="39" name="arch-token-label">
            <a:extLst xmlns:a="http://schemas.openxmlformats.org/drawingml/2006/main">
              <a:ext uri="{FF2B5EF4-FFF2-40B4-BE49-F238E27FC236}">
                <a16:creationId xmlns:a16="http://schemas.microsoft.com/office/drawing/2014/main" id="{6FFE486E-FAEB-400D-B1ED-C55CA4688AB4}"/>
              </a:ext>
            </a:extLst>
          </p:cNvPr>
          <p:cNvSpPr>
            <a:spLocks xmlns:a="http://schemas.openxmlformats.org/drawingml/2006/main" noGrp="1"/>
          </p:cNvSpPr>
          <p:nvPr/>
        </p:nvSpPr>
        <p:spPr>
          <a:xfrm xmlns:a="http://schemas.openxmlformats.org/drawingml/2006/main">
            <a:off x="9620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max completion tokens</a:t>
            </a:r>
          </a:p>
        </p:txBody>
      </p:sp>
    </p:spTree>
    <p:extLst>
      <p:ext uri="{BB962C8B-B14F-4D97-AF65-F5344CB8AC3E}">
        <p14:creationId xmlns:p14="http://schemas.microsoft.com/office/powerpoint/2010/main" val="1010553513"/>
      </p:ext>
    </p:extLst>
  </p:cSld>
</p:sld>
</file>

<file path=ppt/slides/slide5.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37" name="rail-5">
            <a:extLst xmlns:a="http://schemas.openxmlformats.org/drawingml/2006/main">
              <a:ext uri="{FF2B5EF4-FFF2-40B4-BE49-F238E27FC236}">
                <a16:creationId xmlns:a16="http://schemas.microsoft.com/office/drawing/2014/main" id="{2094FDDC-AAA4-47E5-AA9C-B0ECD0CAEC4C}"/>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5">
            <a:extLst xmlns:a="http://schemas.openxmlformats.org/drawingml/2006/main">
              <a:ext uri="{FF2B5EF4-FFF2-40B4-BE49-F238E27FC236}">
                <a16:creationId xmlns:a16="http://schemas.microsoft.com/office/drawing/2014/main" id="{92B4759B-5F80-4968-8CCA-1B755213B8B5}"/>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5">
            <a:extLst xmlns:a="http://schemas.openxmlformats.org/drawingml/2006/main">
              <a:ext uri="{FF2B5EF4-FFF2-40B4-BE49-F238E27FC236}">
                <a16:creationId xmlns:a16="http://schemas.microsoft.com/office/drawing/2014/main" id="{EEF9D07C-491E-4BF3-B606-C03B887DAE73}"/>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STATE MACHINE</a:t>
            </a:r>
          </a:p>
        </p:txBody>
      </p:sp>
      <p:sp>
        <p:nvSpPr>
          <p:cNvPr id="4" name="title-5">
            <a:extLst xmlns:a="http://schemas.openxmlformats.org/drawingml/2006/main">
              <a:ext uri="{FF2B5EF4-FFF2-40B4-BE49-F238E27FC236}">
                <a16:creationId xmlns:a16="http://schemas.microsoft.com/office/drawing/2014/main" id="{6318FABC-6A1C-4344-8B37-212409B23FBC}"/>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退款不是一句话：它是一条受约束的状态机</a:t>
            </a:r>
          </a:p>
        </p:txBody>
      </p:sp>
      <p:sp>
        <p:nvSpPr>
          <p:cNvPr id="5" name="subtitle-5">
            <a:extLst xmlns:a="http://schemas.openxmlformats.org/drawingml/2006/main">
              <a:ext uri="{FF2B5EF4-FFF2-40B4-BE49-F238E27FC236}">
                <a16:creationId xmlns:a16="http://schemas.microsoft.com/office/drawing/2014/main" id="{8BF47AD2-4F5F-4543-9929-0B5420F087E8}"/>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训练目标既包含任务成功，也包含 read-before-write、精确确认和错误恢复。</a:t>
            </a:r>
          </a:p>
        </p:txBody>
      </p:sp>
      <p:sp>
        <p:nvSpPr>
          <p:cNvPr id="6" name="">
            <a:extLst xmlns:a="http://schemas.openxmlformats.org/drawingml/2006/main">
              <a:ext uri="{FF2B5EF4-FFF2-40B4-BE49-F238E27FC236}">
                <a16:creationId xmlns:a16="http://schemas.microsoft.com/office/drawing/2014/main" id="{1DE34055-5F6E-4C1B-8761-D72185A4B7A5}"/>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5">
            <a:extLst xmlns:a="http://schemas.openxmlformats.org/drawingml/2006/main">
              <a:ext uri="{FF2B5EF4-FFF2-40B4-BE49-F238E27FC236}">
                <a16:creationId xmlns:a16="http://schemas.microsoft.com/office/drawing/2014/main" id="{BEE0012E-30D1-4B0D-9EE4-88A618889E24}"/>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05</a:t>
            </a:r>
          </a:p>
        </p:txBody>
      </p:sp>
      <p:sp>
        <p:nvSpPr>
          <p:cNvPr id="8" name="">
            <a:extLst xmlns:a="http://schemas.openxmlformats.org/drawingml/2006/main">
              <a:ext uri="{FF2B5EF4-FFF2-40B4-BE49-F238E27FC236}">
                <a16:creationId xmlns:a16="http://schemas.microsoft.com/office/drawing/2014/main" id="{CD114763-4CDA-452F-9DD6-95F53A4C442D}"/>
              </a:ext>
            </a:extLst>
          </p:cNvPr>
          <p:cNvSpPr>
            <a:spLocks xmlns:a="http://schemas.openxmlformats.org/drawingml/2006/main" noGrp="1"/>
          </p:cNvSpPr>
          <p:nvPr/>
        </p:nvSpPr>
        <p:spPr>
          <a:xfrm xmlns:a="http://schemas.openxmlformats.org/drawingml/2006/main">
            <a:off x="129540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9" name="">
            <a:extLst xmlns:a="http://schemas.openxmlformats.org/drawingml/2006/main">
              <a:ext uri="{FF2B5EF4-FFF2-40B4-BE49-F238E27FC236}">
                <a16:creationId xmlns:a16="http://schemas.microsoft.com/office/drawing/2014/main" id="{D7F7B5F8-3741-4DDB-B979-E8812A5FFD67}"/>
              </a:ext>
            </a:extLst>
          </p:cNvPr>
          <p:cNvSpPr>
            <a:spLocks xmlns:a="http://schemas.openxmlformats.org/drawingml/2006/main" noGrp="1"/>
          </p:cNvSpPr>
          <p:nvPr/>
        </p:nvSpPr>
        <p:spPr>
          <a:xfrm xmlns:a="http://schemas.openxmlformats.org/drawingml/2006/main">
            <a:off x="280035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0" name="">
            <a:extLst xmlns:a="http://schemas.openxmlformats.org/drawingml/2006/main">
              <a:ext uri="{FF2B5EF4-FFF2-40B4-BE49-F238E27FC236}">
                <a16:creationId xmlns:a16="http://schemas.microsoft.com/office/drawing/2014/main" id="{4AD6FA10-DD06-4836-A947-62D8DC6B53AB}"/>
              </a:ext>
            </a:extLst>
          </p:cNvPr>
          <p:cNvSpPr>
            <a:spLocks xmlns:a="http://schemas.openxmlformats.org/drawingml/2006/main" noGrp="1"/>
          </p:cNvSpPr>
          <p:nvPr/>
        </p:nvSpPr>
        <p:spPr>
          <a:xfrm xmlns:a="http://schemas.openxmlformats.org/drawingml/2006/main">
            <a:off x="430530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1" name="">
            <a:extLst xmlns:a="http://schemas.openxmlformats.org/drawingml/2006/main">
              <a:ext uri="{FF2B5EF4-FFF2-40B4-BE49-F238E27FC236}">
                <a16:creationId xmlns:a16="http://schemas.microsoft.com/office/drawing/2014/main" id="{75283312-8757-46F4-BA77-243C6DC482B7}"/>
              </a:ext>
            </a:extLst>
          </p:cNvPr>
          <p:cNvSpPr>
            <a:spLocks xmlns:a="http://schemas.openxmlformats.org/drawingml/2006/main" noGrp="1"/>
          </p:cNvSpPr>
          <p:nvPr/>
        </p:nvSpPr>
        <p:spPr>
          <a:xfrm xmlns:a="http://schemas.openxmlformats.org/drawingml/2006/main">
            <a:off x="581025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2" name="">
            <a:extLst xmlns:a="http://schemas.openxmlformats.org/drawingml/2006/main">
              <a:ext uri="{FF2B5EF4-FFF2-40B4-BE49-F238E27FC236}">
                <a16:creationId xmlns:a16="http://schemas.microsoft.com/office/drawing/2014/main" id="{1FFE53E2-D4C5-4633-A716-24021DFCEF21}"/>
              </a:ext>
            </a:extLst>
          </p:cNvPr>
          <p:cNvSpPr>
            <a:spLocks xmlns:a="http://schemas.openxmlformats.org/drawingml/2006/main" noGrp="1"/>
          </p:cNvSpPr>
          <p:nvPr/>
        </p:nvSpPr>
        <p:spPr>
          <a:xfrm xmlns:a="http://schemas.openxmlformats.org/drawingml/2006/main">
            <a:off x="7315200" y="3133725"/>
            <a:ext cx="952500" cy="0"/>
          </a:xfrm>
          <a:prstGeom xmlns:a="http://schemas.openxmlformats.org/drawingml/2006/main" prst="line">
            <a:avLst/>
          </a:prstGeom>
          <a:noFill xmlns:a="http://schemas.openxmlformats.org/drawingml/2006/main"/>
          <a:ln xmlns:a="http://schemas.openxmlformats.org/drawingml/2006/main" w="28575">
            <a:solidFill>
              <a:srgbClr val="C56D4A"/>
            </a:solidFill>
            <a:prstDash val="solid"/>
          </a:ln>
        </p:spPr>
      </p:sp>
      <p:sp>
        <p:nvSpPr>
          <p:cNvPr id="13" name="">
            <a:extLst xmlns:a="http://schemas.openxmlformats.org/drawingml/2006/main">
              <a:ext uri="{FF2B5EF4-FFF2-40B4-BE49-F238E27FC236}">
                <a16:creationId xmlns:a16="http://schemas.microsoft.com/office/drawing/2014/main" id="{02DB93A0-A673-4E0F-A7BC-045D27C30511}"/>
              </a:ext>
            </a:extLst>
          </p:cNvPr>
          <p:cNvSpPr>
            <a:spLocks xmlns:a="http://schemas.openxmlformats.org/drawingml/2006/main" noGrp="1"/>
          </p:cNvSpPr>
          <p:nvPr/>
        </p:nvSpPr>
        <p:spPr>
          <a:xfrm xmlns:a="http://schemas.openxmlformats.org/drawingml/2006/main">
            <a:off x="8820150" y="3133725"/>
            <a:ext cx="952500" cy="0"/>
          </a:xfrm>
          <a:prstGeom xmlns:a="http://schemas.openxmlformats.org/drawingml/2006/main" prst="line">
            <a:avLst/>
          </a:prstGeom>
          <a:noFill xmlns:a="http://schemas.openxmlformats.org/drawingml/2006/main"/>
          <a:ln xmlns:a="http://schemas.openxmlformats.org/drawingml/2006/main" w="28575">
            <a:solidFill>
              <a:srgbClr val="C56D4A"/>
            </a:solidFill>
            <a:prstDash val="solid"/>
          </a:ln>
        </p:spPr>
      </p:sp>
      <p:sp>
        <p:nvSpPr>
          <p:cNvPr id="14" name="state-dot-0">
            <a:extLst xmlns:a="http://schemas.openxmlformats.org/drawingml/2006/main">
              <a:ext uri="{FF2B5EF4-FFF2-40B4-BE49-F238E27FC236}">
                <a16:creationId xmlns:a16="http://schemas.microsoft.com/office/drawing/2014/main" id="{63FC8175-AC6E-477F-8202-088632D60EDA}"/>
              </a:ext>
            </a:extLst>
          </p:cNvPr>
          <p:cNvSpPr>
            <a:spLocks xmlns:a="http://schemas.openxmlformats.org/drawingml/2006/main" noGrp="1"/>
          </p:cNvSpPr>
          <p:nvPr/>
        </p:nvSpPr>
        <p:spPr>
          <a:xfrm xmlns:a="http://schemas.openxmlformats.org/drawingml/2006/main">
            <a:off x="74295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15" name="state-n-0">
            <a:extLst xmlns:a="http://schemas.openxmlformats.org/drawingml/2006/main">
              <a:ext uri="{FF2B5EF4-FFF2-40B4-BE49-F238E27FC236}">
                <a16:creationId xmlns:a16="http://schemas.microsoft.com/office/drawing/2014/main" id="{4803034F-FB45-4B2C-9BAB-6435ECC583A3}"/>
              </a:ext>
            </a:extLst>
          </p:cNvPr>
          <p:cNvSpPr>
            <a:spLocks xmlns:a="http://schemas.openxmlformats.org/drawingml/2006/main" noGrp="1"/>
          </p:cNvSpPr>
          <p:nvPr/>
        </p:nvSpPr>
        <p:spPr>
          <a:xfrm xmlns:a="http://schemas.openxmlformats.org/drawingml/2006/main">
            <a:off x="7429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1</a:t>
            </a:r>
          </a:p>
        </p:txBody>
      </p:sp>
      <p:sp>
        <p:nvSpPr>
          <p:cNvPr id="16" name="state-label-0">
            <a:extLst xmlns:a="http://schemas.openxmlformats.org/drawingml/2006/main">
              <a:ext uri="{FF2B5EF4-FFF2-40B4-BE49-F238E27FC236}">
                <a16:creationId xmlns:a16="http://schemas.microsoft.com/office/drawing/2014/main" id="{3E606BDC-D9A4-47A8-823D-E4D3F5CEDF67}"/>
              </a:ext>
            </a:extLst>
          </p:cNvPr>
          <p:cNvSpPr>
            <a:spLocks xmlns:a="http://schemas.openxmlformats.org/drawingml/2006/main" noGrp="1"/>
          </p:cNvSpPr>
          <p:nvPr/>
        </p:nvSpPr>
        <p:spPr>
          <a:xfrm xmlns:a="http://schemas.openxmlformats.org/drawingml/2006/main">
            <a:off x="4953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索取身份</a:t>
            </a:r>
          </a:p>
        </p:txBody>
      </p:sp>
      <p:sp>
        <p:nvSpPr>
          <p:cNvPr id="17" name="state-dot-1">
            <a:extLst xmlns:a="http://schemas.openxmlformats.org/drawingml/2006/main">
              <a:ext uri="{FF2B5EF4-FFF2-40B4-BE49-F238E27FC236}">
                <a16:creationId xmlns:a16="http://schemas.microsoft.com/office/drawing/2014/main" id="{65E02B2A-0990-4240-8DFB-AB0A5E663671}"/>
              </a:ext>
            </a:extLst>
          </p:cNvPr>
          <p:cNvSpPr>
            <a:spLocks xmlns:a="http://schemas.openxmlformats.org/drawingml/2006/main" noGrp="1"/>
          </p:cNvSpPr>
          <p:nvPr/>
        </p:nvSpPr>
        <p:spPr>
          <a:xfrm xmlns:a="http://schemas.openxmlformats.org/drawingml/2006/main">
            <a:off x="224790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18" name="state-n-1">
            <a:extLst xmlns:a="http://schemas.openxmlformats.org/drawingml/2006/main">
              <a:ext uri="{FF2B5EF4-FFF2-40B4-BE49-F238E27FC236}">
                <a16:creationId xmlns:a16="http://schemas.microsoft.com/office/drawing/2014/main" id="{01E9B9D5-D340-43C3-BC2A-DC1159189C2B}"/>
              </a:ext>
            </a:extLst>
          </p:cNvPr>
          <p:cNvSpPr>
            <a:spLocks xmlns:a="http://schemas.openxmlformats.org/drawingml/2006/main" noGrp="1"/>
          </p:cNvSpPr>
          <p:nvPr/>
        </p:nvSpPr>
        <p:spPr>
          <a:xfrm xmlns:a="http://schemas.openxmlformats.org/drawingml/2006/main">
            <a:off x="224790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2</a:t>
            </a:r>
          </a:p>
        </p:txBody>
      </p:sp>
      <p:sp>
        <p:nvSpPr>
          <p:cNvPr id="19" name="state-label-1">
            <a:extLst xmlns:a="http://schemas.openxmlformats.org/drawingml/2006/main">
              <a:ext uri="{FF2B5EF4-FFF2-40B4-BE49-F238E27FC236}">
                <a16:creationId xmlns:a16="http://schemas.microsoft.com/office/drawing/2014/main" id="{4D1DC6F7-F8D4-476F-80FC-D4484394E193}"/>
              </a:ext>
            </a:extLst>
          </p:cNvPr>
          <p:cNvSpPr>
            <a:spLocks xmlns:a="http://schemas.openxmlformats.org/drawingml/2006/main" noGrp="1"/>
          </p:cNvSpPr>
          <p:nvPr/>
        </p:nvSpPr>
        <p:spPr>
          <a:xfrm xmlns:a="http://schemas.openxmlformats.org/drawingml/2006/main">
            <a:off x="200025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验证客户</a:t>
            </a:r>
          </a:p>
        </p:txBody>
      </p:sp>
      <p:sp>
        <p:nvSpPr>
          <p:cNvPr id="20" name="state-dot-2">
            <a:extLst xmlns:a="http://schemas.openxmlformats.org/drawingml/2006/main">
              <a:ext uri="{FF2B5EF4-FFF2-40B4-BE49-F238E27FC236}">
                <a16:creationId xmlns:a16="http://schemas.microsoft.com/office/drawing/2014/main" id="{49C319CF-CB45-46B2-8E1A-407901661917}"/>
              </a:ext>
            </a:extLst>
          </p:cNvPr>
          <p:cNvSpPr>
            <a:spLocks xmlns:a="http://schemas.openxmlformats.org/drawingml/2006/main" noGrp="1"/>
          </p:cNvSpPr>
          <p:nvPr/>
        </p:nvSpPr>
        <p:spPr>
          <a:xfrm xmlns:a="http://schemas.openxmlformats.org/drawingml/2006/main">
            <a:off x="375285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21" name="state-n-2">
            <a:extLst xmlns:a="http://schemas.openxmlformats.org/drawingml/2006/main">
              <a:ext uri="{FF2B5EF4-FFF2-40B4-BE49-F238E27FC236}">
                <a16:creationId xmlns:a16="http://schemas.microsoft.com/office/drawing/2014/main" id="{CB40BA31-4081-4E3C-A939-31C3F84A9ABD}"/>
              </a:ext>
            </a:extLst>
          </p:cNvPr>
          <p:cNvSpPr>
            <a:spLocks xmlns:a="http://schemas.openxmlformats.org/drawingml/2006/main" noGrp="1"/>
          </p:cNvSpPr>
          <p:nvPr/>
        </p:nvSpPr>
        <p:spPr>
          <a:xfrm xmlns:a="http://schemas.openxmlformats.org/drawingml/2006/main">
            <a:off x="37528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3</a:t>
            </a:r>
          </a:p>
        </p:txBody>
      </p:sp>
      <p:sp>
        <p:nvSpPr>
          <p:cNvPr id="22" name="state-label-2">
            <a:extLst xmlns:a="http://schemas.openxmlformats.org/drawingml/2006/main">
              <a:ext uri="{FF2B5EF4-FFF2-40B4-BE49-F238E27FC236}">
                <a16:creationId xmlns:a16="http://schemas.microsoft.com/office/drawing/2014/main" id="{EBFD0874-7CAC-4D93-BBD8-7685CDA3D84A}"/>
              </a:ext>
            </a:extLst>
          </p:cNvPr>
          <p:cNvSpPr>
            <a:spLocks xmlns:a="http://schemas.openxmlformats.org/drawingml/2006/main" noGrp="1"/>
          </p:cNvSpPr>
          <p:nvPr/>
        </p:nvSpPr>
        <p:spPr>
          <a:xfrm xmlns:a="http://schemas.openxmlformats.org/drawingml/2006/main">
            <a:off x="35052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读取订单</a:t>
            </a:r>
          </a:p>
        </p:txBody>
      </p:sp>
      <p:sp>
        <p:nvSpPr>
          <p:cNvPr id="23" name="state-dot-3">
            <a:extLst xmlns:a="http://schemas.openxmlformats.org/drawingml/2006/main">
              <a:ext uri="{FF2B5EF4-FFF2-40B4-BE49-F238E27FC236}">
                <a16:creationId xmlns:a16="http://schemas.microsoft.com/office/drawing/2014/main" id="{902258E9-08A3-42ED-AA98-DEB8445D7E4C}"/>
              </a:ext>
            </a:extLst>
          </p:cNvPr>
          <p:cNvSpPr>
            <a:spLocks xmlns:a="http://schemas.openxmlformats.org/drawingml/2006/main" noGrp="1"/>
          </p:cNvSpPr>
          <p:nvPr/>
        </p:nvSpPr>
        <p:spPr>
          <a:xfrm xmlns:a="http://schemas.openxmlformats.org/drawingml/2006/main">
            <a:off x="525780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24" name="state-n-3">
            <a:extLst xmlns:a="http://schemas.openxmlformats.org/drawingml/2006/main">
              <a:ext uri="{FF2B5EF4-FFF2-40B4-BE49-F238E27FC236}">
                <a16:creationId xmlns:a16="http://schemas.microsoft.com/office/drawing/2014/main" id="{C5048FC5-93F9-4F24-B1BF-20E2E23FA753}"/>
              </a:ext>
            </a:extLst>
          </p:cNvPr>
          <p:cNvSpPr>
            <a:spLocks xmlns:a="http://schemas.openxmlformats.org/drawingml/2006/main" noGrp="1"/>
          </p:cNvSpPr>
          <p:nvPr/>
        </p:nvSpPr>
        <p:spPr>
          <a:xfrm xmlns:a="http://schemas.openxmlformats.org/drawingml/2006/main">
            <a:off x="525780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4</a:t>
            </a:r>
          </a:p>
        </p:txBody>
      </p:sp>
      <p:sp>
        <p:nvSpPr>
          <p:cNvPr id="25" name="state-label-3">
            <a:extLst xmlns:a="http://schemas.openxmlformats.org/drawingml/2006/main">
              <a:ext uri="{FF2B5EF4-FFF2-40B4-BE49-F238E27FC236}">
                <a16:creationId xmlns:a16="http://schemas.microsoft.com/office/drawing/2014/main" id="{725195B2-EE46-4753-B1B5-AAAD69DF6273}"/>
              </a:ext>
            </a:extLst>
          </p:cNvPr>
          <p:cNvSpPr>
            <a:spLocks xmlns:a="http://schemas.openxmlformats.org/drawingml/2006/main" noGrp="1"/>
          </p:cNvSpPr>
          <p:nvPr/>
        </p:nvSpPr>
        <p:spPr>
          <a:xfrm xmlns:a="http://schemas.openxmlformats.org/drawingml/2006/main">
            <a:off x="501015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检查支付</a:t>
            </a:r>
          </a:p>
        </p:txBody>
      </p:sp>
      <p:sp>
        <p:nvSpPr>
          <p:cNvPr id="26" name="state-dot-4">
            <a:extLst xmlns:a="http://schemas.openxmlformats.org/drawingml/2006/main">
              <a:ext uri="{FF2B5EF4-FFF2-40B4-BE49-F238E27FC236}">
                <a16:creationId xmlns:a16="http://schemas.microsoft.com/office/drawing/2014/main" id="{D277972F-F15F-4CE6-9C79-EC24766612DD}"/>
              </a:ext>
            </a:extLst>
          </p:cNvPr>
          <p:cNvSpPr>
            <a:spLocks xmlns:a="http://schemas.openxmlformats.org/drawingml/2006/main" noGrp="1"/>
          </p:cNvSpPr>
          <p:nvPr/>
        </p:nvSpPr>
        <p:spPr>
          <a:xfrm xmlns:a="http://schemas.openxmlformats.org/drawingml/2006/main">
            <a:off x="676275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27" name="state-n-4">
            <a:extLst xmlns:a="http://schemas.openxmlformats.org/drawingml/2006/main">
              <a:ext uri="{FF2B5EF4-FFF2-40B4-BE49-F238E27FC236}">
                <a16:creationId xmlns:a16="http://schemas.microsoft.com/office/drawing/2014/main" id="{AD7CAD2B-D6F7-4667-B082-60E72EF63C4C}"/>
              </a:ext>
            </a:extLst>
          </p:cNvPr>
          <p:cNvSpPr>
            <a:spLocks xmlns:a="http://schemas.openxmlformats.org/drawingml/2006/main" noGrp="1"/>
          </p:cNvSpPr>
          <p:nvPr/>
        </p:nvSpPr>
        <p:spPr>
          <a:xfrm xmlns:a="http://schemas.openxmlformats.org/drawingml/2006/main">
            <a:off x="67627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5</a:t>
            </a:r>
          </a:p>
        </p:txBody>
      </p:sp>
      <p:sp>
        <p:nvSpPr>
          <p:cNvPr id="28" name="state-label-4">
            <a:extLst xmlns:a="http://schemas.openxmlformats.org/drawingml/2006/main">
              <a:ext uri="{FF2B5EF4-FFF2-40B4-BE49-F238E27FC236}">
                <a16:creationId xmlns:a16="http://schemas.microsoft.com/office/drawing/2014/main" id="{8FF3D2A7-8503-4E36-88CC-B99C9A87F3B4}"/>
              </a:ext>
            </a:extLst>
          </p:cNvPr>
          <p:cNvSpPr>
            <a:spLocks xmlns:a="http://schemas.openxmlformats.org/drawingml/2006/main" noGrp="1"/>
          </p:cNvSpPr>
          <p:nvPr/>
        </p:nvSpPr>
        <p:spPr>
          <a:xfrm xmlns:a="http://schemas.openxmlformats.org/drawingml/2006/main">
            <a:off x="65151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读取政策</a:t>
            </a:r>
          </a:p>
        </p:txBody>
      </p:sp>
      <p:sp>
        <p:nvSpPr>
          <p:cNvPr id="29" name="state-dot-5">
            <a:extLst xmlns:a="http://schemas.openxmlformats.org/drawingml/2006/main">
              <a:ext uri="{FF2B5EF4-FFF2-40B4-BE49-F238E27FC236}">
                <a16:creationId xmlns:a16="http://schemas.microsoft.com/office/drawing/2014/main" id="{3683D5CF-8C69-4ABB-9435-C87CA6B0546B}"/>
              </a:ext>
            </a:extLst>
          </p:cNvPr>
          <p:cNvSpPr>
            <a:spLocks xmlns:a="http://schemas.openxmlformats.org/drawingml/2006/main" noGrp="1"/>
          </p:cNvSpPr>
          <p:nvPr/>
        </p:nvSpPr>
        <p:spPr>
          <a:xfrm xmlns:a="http://schemas.openxmlformats.org/drawingml/2006/main">
            <a:off x="826770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30" name="state-n-5">
            <a:extLst xmlns:a="http://schemas.openxmlformats.org/drawingml/2006/main">
              <a:ext uri="{FF2B5EF4-FFF2-40B4-BE49-F238E27FC236}">
                <a16:creationId xmlns:a16="http://schemas.microsoft.com/office/drawing/2014/main" id="{4F7D6F6D-0472-455D-B1DB-0A234EAB9045}"/>
              </a:ext>
            </a:extLst>
          </p:cNvPr>
          <p:cNvSpPr>
            <a:spLocks xmlns:a="http://schemas.openxmlformats.org/drawingml/2006/main" noGrp="1"/>
          </p:cNvSpPr>
          <p:nvPr/>
        </p:nvSpPr>
        <p:spPr>
          <a:xfrm xmlns:a="http://schemas.openxmlformats.org/drawingml/2006/main">
            <a:off x="826770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6</a:t>
            </a:r>
          </a:p>
        </p:txBody>
      </p:sp>
      <p:sp>
        <p:nvSpPr>
          <p:cNvPr id="31" name="state-label-5">
            <a:extLst xmlns:a="http://schemas.openxmlformats.org/drawingml/2006/main">
              <a:ext uri="{FF2B5EF4-FFF2-40B4-BE49-F238E27FC236}">
                <a16:creationId xmlns:a16="http://schemas.microsoft.com/office/drawing/2014/main" id="{7C1E89E9-A1B1-41C5-88D0-EFB0385D905C}"/>
              </a:ext>
            </a:extLst>
          </p:cNvPr>
          <p:cNvSpPr>
            <a:spLocks xmlns:a="http://schemas.openxmlformats.org/drawingml/2006/main" noGrp="1"/>
          </p:cNvSpPr>
          <p:nvPr/>
        </p:nvSpPr>
        <p:spPr>
          <a:xfrm xmlns:a="http://schemas.openxmlformats.org/drawingml/2006/main">
            <a:off x="802005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精确确认</a:t>
            </a:r>
          </a:p>
        </p:txBody>
      </p:sp>
      <p:sp>
        <p:nvSpPr>
          <p:cNvPr id="32" name="state-dot-6">
            <a:extLst xmlns:a="http://schemas.openxmlformats.org/drawingml/2006/main">
              <a:ext uri="{FF2B5EF4-FFF2-40B4-BE49-F238E27FC236}">
                <a16:creationId xmlns:a16="http://schemas.microsoft.com/office/drawing/2014/main" id="{DB41665F-CA63-4CBB-BE66-EE84DE46FC97}"/>
              </a:ext>
            </a:extLst>
          </p:cNvPr>
          <p:cNvSpPr>
            <a:spLocks xmlns:a="http://schemas.openxmlformats.org/drawingml/2006/main" noGrp="1"/>
          </p:cNvSpPr>
          <p:nvPr/>
        </p:nvSpPr>
        <p:spPr>
          <a:xfrm xmlns:a="http://schemas.openxmlformats.org/drawingml/2006/main">
            <a:off x="9772650" y="2857500"/>
            <a:ext cx="552450" cy="5524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3" name="state-n-6">
            <a:extLst xmlns:a="http://schemas.openxmlformats.org/drawingml/2006/main">
              <a:ext uri="{FF2B5EF4-FFF2-40B4-BE49-F238E27FC236}">
                <a16:creationId xmlns:a16="http://schemas.microsoft.com/office/drawing/2014/main" id="{A4CBD019-A44E-4471-B0DF-B04ACA0844D3}"/>
              </a:ext>
            </a:extLst>
          </p:cNvPr>
          <p:cNvSpPr>
            <a:spLocks xmlns:a="http://schemas.openxmlformats.org/drawingml/2006/main" noGrp="1"/>
          </p:cNvSpPr>
          <p:nvPr/>
        </p:nvSpPr>
        <p:spPr>
          <a:xfrm xmlns:a="http://schemas.openxmlformats.org/drawingml/2006/main">
            <a:off x="97726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7</a:t>
            </a:r>
          </a:p>
        </p:txBody>
      </p:sp>
      <p:sp>
        <p:nvSpPr>
          <p:cNvPr id="34" name="state-label-6">
            <a:extLst xmlns:a="http://schemas.openxmlformats.org/drawingml/2006/main">
              <a:ext uri="{FF2B5EF4-FFF2-40B4-BE49-F238E27FC236}">
                <a16:creationId xmlns:a16="http://schemas.microsoft.com/office/drawing/2014/main" id="{71F906D2-1859-46F9-A413-1688DE052CD2}"/>
              </a:ext>
            </a:extLst>
          </p:cNvPr>
          <p:cNvSpPr>
            <a:spLocks xmlns:a="http://schemas.openxmlformats.org/drawingml/2006/main" noGrp="1"/>
          </p:cNvSpPr>
          <p:nvPr/>
        </p:nvSpPr>
        <p:spPr>
          <a:xfrm xmlns:a="http://schemas.openxmlformats.org/drawingml/2006/main">
            <a:off x="95250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幂等退款</a:t>
            </a:r>
          </a:p>
        </p:txBody>
      </p:sp>
      <p:sp>
        <p:nvSpPr>
          <p:cNvPr id="35" name="state-guard">
            <a:extLst xmlns:a="http://schemas.openxmlformats.org/drawingml/2006/main">
              <a:ext uri="{FF2B5EF4-FFF2-40B4-BE49-F238E27FC236}">
                <a16:creationId xmlns:a16="http://schemas.microsoft.com/office/drawing/2014/main" id="{501C1B85-A2E2-4724-B4AF-1894AC110F12}"/>
              </a:ext>
            </a:extLst>
          </p:cNvPr>
          <p:cNvSpPr>
            <a:spLocks xmlns:a="http://schemas.openxmlformats.org/drawingml/2006/main" noGrp="1"/>
          </p:cNvSpPr>
          <p:nvPr/>
        </p:nvSpPr>
        <p:spPr>
          <a:xfrm xmlns:a="http://schemas.openxmlformats.org/drawingml/2006/main">
            <a:off x="1238250" y="4762500"/>
            <a:ext cx="9715500" cy="876300"/>
          </a:xfrm>
          <a:prstGeom xmlns:a="http://schemas.openxmlformats.org/drawingml/2006/main" prst="roundRect">
            <a:avLst>
              <a:gd name="adj" fmla="val 10870"/>
            </a:avLst>
          </a:prstGeom>
          <a:solidFill xmlns:a="http://schemas.openxmlformats.org/drawingml/2006/main">
            <a:srgbClr val="071A2B"/>
          </a:solidFill>
          <a:ln xmlns:a="http://schemas.openxmlformats.org/drawingml/2006/main" w="0">
            <a:solidFill>
              <a:srgbClr val="071A2B"/>
            </a:solidFill>
            <a:prstDash val="solid"/>
          </a:ln>
        </p:spPr>
      </p:sp>
      <p:sp>
        <p:nvSpPr>
          <p:cNvPr id="36" name="state-guard-text">
            <a:extLst xmlns:a="http://schemas.openxmlformats.org/drawingml/2006/main">
              <a:ext uri="{FF2B5EF4-FFF2-40B4-BE49-F238E27FC236}">
                <a16:creationId xmlns:a16="http://schemas.microsoft.com/office/drawing/2014/main" id="{0B9D895C-9904-45C3-8902-86A4CB4F2A6A}"/>
              </a:ext>
            </a:extLst>
          </p:cNvPr>
          <p:cNvSpPr>
            <a:spLocks xmlns:a="http://schemas.openxmlformats.org/drawingml/2006/main" noGrp="1"/>
          </p:cNvSpPr>
          <p:nvPr/>
        </p:nvSpPr>
        <p:spPr>
          <a:xfrm xmlns:a="http://schemas.openxmlformats.org/drawingml/2006/main">
            <a:off x="1571625" y="4991100"/>
            <a:ext cx="9048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F7F1E8"/>
                </a:solidFill>
              </a:defRPr>
            </a:pPr>
            <a:r>
              <a:rPr sz="1125" b="1">
                <a:solidFill>
                  <a:srgbClr val="F7F1E8"/>
                </a:solidFill>
              </a:rPr>
              <a:t>WRITE GUARD  ·  verified identity ∧ orders read ∧ payment read ∧ policy read ∧ exact confirmation ∧ duplicate charge ∧ exact amount ∧ idempotency key</a:t>
            </a:r>
          </a:p>
        </p:txBody>
      </p:sp>
    </p:spTree>
    <p:extLst>
      <p:ext uri="{BB962C8B-B14F-4D97-AF65-F5344CB8AC3E}">
        <p14:creationId xmlns:p14="http://schemas.microsoft.com/office/powerpoint/2010/main" val="900252057"/>
      </p:ext>
    </p:extLst>
  </p:cSld>
</p:sld>
</file>

<file path=ppt/slides/slide6.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4" name="rail-6">
            <a:extLst xmlns:a="http://schemas.openxmlformats.org/drawingml/2006/main">
              <a:ext uri="{FF2B5EF4-FFF2-40B4-BE49-F238E27FC236}">
                <a16:creationId xmlns:a16="http://schemas.microsoft.com/office/drawing/2014/main" id="{8E34DFAC-52B8-45F5-BD60-C10D965719A6}"/>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6">
            <a:extLst xmlns:a="http://schemas.openxmlformats.org/drawingml/2006/main">
              <a:ext uri="{FF2B5EF4-FFF2-40B4-BE49-F238E27FC236}">
                <a16:creationId xmlns:a16="http://schemas.microsoft.com/office/drawing/2014/main" id="{3829E511-9B08-495D-B42F-49F0739AC554}"/>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6">
            <a:extLst xmlns:a="http://schemas.openxmlformats.org/drawingml/2006/main">
              <a:ext uri="{FF2B5EF4-FFF2-40B4-BE49-F238E27FC236}">
                <a16:creationId xmlns:a16="http://schemas.microsoft.com/office/drawing/2014/main" id="{B82E452F-82A4-441F-9CCE-6E63E81B6C5E}"/>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OPTIMIZATION</a:t>
            </a:r>
          </a:p>
        </p:txBody>
      </p:sp>
      <p:sp>
        <p:nvSpPr>
          <p:cNvPr id="4" name="title-6">
            <a:extLst xmlns:a="http://schemas.openxmlformats.org/drawingml/2006/main">
              <a:ext uri="{FF2B5EF4-FFF2-40B4-BE49-F238E27FC236}">
                <a16:creationId xmlns:a16="http://schemas.microsoft.com/office/drawing/2014/main" id="{661E7785-7E56-442E-9CC6-1849F6F69662}"/>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为什么用 response-token GRPO，而不是动作分类？</a:t>
            </a:r>
          </a:p>
        </p:txBody>
      </p:sp>
      <p:sp>
        <p:nvSpPr>
          <p:cNvPr id="5" name="subtitle-6">
            <a:extLst xmlns:a="http://schemas.openxmlformats.org/drawingml/2006/main">
              <a:ext uri="{FF2B5EF4-FFF2-40B4-BE49-F238E27FC236}">
                <a16:creationId xmlns:a16="http://schemas.microsoft.com/office/drawing/2014/main" id="{E9DB2D25-A168-455C-97BA-89928E6ADB37}"/>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每个样本是一条完整多轮轨迹；梯度只覆盖 assistant completion token。</a:t>
            </a:r>
          </a:p>
        </p:txBody>
      </p:sp>
      <p:sp>
        <p:nvSpPr>
          <p:cNvPr id="6" name="">
            <a:extLst xmlns:a="http://schemas.openxmlformats.org/drawingml/2006/main">
              <a:ext uri="{FF2B5EF4-FFF2-40B4-BE49-F238E27FC236}">
                <a16:creationId xmlns:a16="http://schemas.microsoft.com/office/drawing/2014/main" id="{5ECA770E-FBCD-44D2-BA49-4B650DDFC46B}"/>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6">
            <a:extLst xmlns:a="http://schemas.openxmlformats.org/drawingml/2006/main">
              <a:ext uri="{FF2B5EF4-FFF2-40B4-BE49-F238E27FC236}">
                <a16:creationId xmlns:a16="http://schemas.microsoft.com/office/drawing/2014/main" id="{9E7CA43B-0BDE-4D97-B822-B551DC2F2881}"/>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06</a:t>
            </a:r>
          </a:p>
        </p:txBody>
      </p:sp>
      <p:sp>
        <p:nvSpPr>
          <p:cNvPr id="8" name="grpo-formula">
            <a:extLst xmlns:a="http://schemas.openxmlformats.org/drawingml/2006/main">
              <a:ext uri="{FF2B5EF4-FFF2-40B4-BE49-F238E27FC236}">
                <a16:creationId xmlns:a16="http://schemas.microsoft.com/office/drawing/2014/main" id="{4A7D5546-650D-4360-BC28-1356AB033739}"/>
              </a:ext>
            </a:extLst>
          </p:cNvPr>
          <p:cNvSpPr>
            <a:spLocks xmlns:a="http://schemas.openxmlformats.org/drawingml/2006/main" noGrp="1"/>
          </p:cNvSpPr>
          <p:nvPr/>
        </p:nvSpPr>
        <p:spPr>
          <a:xfrm xmlns:a="http://schemas.openxmlformats.org/drawingml/2006/main">
            <a:off x="714375" y="2190750"/>
            <a:ext cx="4953000" cy="2857500"/>
          </a:xfrm>
          <a:prstGeom xmlns:a="http://schemas.openxmlformats.org/drawingml/2006/main" prst="roundRect">
            <a:avLst>
              <a:gd name="adj" fmla="val 4000"/>
            </a:avLst>
          </a:prstGeom>
          <a:solidFill xmlns:a="http://schemas.openxmlformats.org/drawingml/2006/main">
            <a:srgbClr val="071A2B"/>
          </a:solidFill>
          <a:ln xmlns:a="http://schemas.openxmlformats.org/drawingml/2006/main" w="0">
            <a:solidFill>
              <a:srgbClr val="071A2B"/>
            </a:solidFill>
            <a:prstDash val="solid"/>
          </a:ln>
        </p:spPr>
      </p:sp>
      <p:sp>
        <p:nvSpPr>
          <p:cNvPr id="9" name="grpo-formula-title">
            <a:extLst xmlns:a="http://schemas.openxmlformats.org/drawingml/2006/main">
              <a:ext uri="{FF2B5EF4-FFF2-40B4-BE49-F238E27FC236}">
                <a16:creationId xmlns:a16="http://schemas.microsoft.com/office/drawing/2014/main" id="{AC913690-5278-4067-8B33-A55B864E5166}"/>
              </a:ext>
            </a:extLst>
          </p:cNvPr>
          <p:cNvSpPr>
            <a:spLocks xmlns:a="http://schemas.openxmlformats.org/drawingml/2006/main" noGrp="1"/>
          </p:cNvSpPr>
          <p:nvPr/>
        </p:nvSpPr>
        <p:spPr>
          <a:xfrm xmlns:a="http://schemas.openxmlformats.org/drawingml/2006/main">
            <a:off x="1047750" y="2476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D6A84B"/>
                </a:solidFill>
              </a:defRPr>
            </a:pPr>
            <a:r>
              <a:rPr sz="1275" b="1">
                <a:solidFill>
                  <a:srgbClr val="D6A84B"/>
                </a:solidFill>
              </a:rPr>
              <a:t>GROUP-RELATIVE ADVANTAGE</a:t>
            </a:r>
          </a:p>
        </p:txBody>
      </p:sp>
      <p:sp>
        <p:nvSpPr>
          <p:cNvPr id="10" name="grpo-formula-main">
            <a:extLst xmlns:a="http://schemas.openxmlformats.org/drawingml/2006/main">
              <a:ext uri="{FF2B5EF4-FFF2-40B4-BE49-F238E27FC236}">
                <a16:creationId xmlns:a16="http://schemas.microsoft.com/office/drawing/2014/main" id="{925CECF0-616E-4497-93E0-F26FC5EFC49E}"/>
              </a:ext>
            </a:extLst>
          </p:cNvPr>
          <p:cNvSpPr>
            <a:spLocks xmlns:a="http://schemas.openxmlformats.org/drawingml/2006/main" noGrp="1"/>
          </p:cNvSpPr>
          <p:nvPr/>
        </p:nvSpPr>
        <p:spPr>
          <a:xfrm xmlns:a="http://schemas.openxmlformats.org/drawingml/2006/main">
            <a:off x="1000125" y="3209925"/>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FFFFFF"/>
                </a:solidFill>
              </a:defRPr>
            </a:pPr>
            <a:r>
              <a:rPr sz="2250" b="1">
                <a:solidFill>
                  <a:srgbClr val="FFFFFF"/>
                </a:solidFill>
              </a:rPr>
              <a:t>Aᵢ = (Rᵢ − μgroup) / (σgroup + ε)</a:t>
            </a:r>
          </a:p>
        </p:txBody>
      </p:sp>
      <p:sp>
        <p:nvSpPr>
          <p:cNvPr id="11" name="grpo-reward">
            <a:extLst xmlns:a="http://schemas.openxmlformats.org/drawingml/2006/main">
              <a:ext uri="{FF2B5EF4-FFF2-40B4-BE49-F238E27FC236}">
                <a16:creationId xmlns:a16="http://schemas.microsoft.com/office/drawing/2014/main" id="{5A067FBC-3D92-4EC1-9D83-B74B085C92E5}"/>
              </a:ext>
            </a:extLst>
          </p:cNvPr>
          <p:cNvSpPr>
            <a:spLocks xmlns:a="http://schemas.openxmlformats.org/drawingml/2006/main" noGrp="1"/>
          </p:cNvSpPr>
          <p:nvPr/>
        </p:nvSpPr>
        <p:spPr>
          <a:xfrm xmlns:a="http://schemas.openxmlformats.org/drawingml/2006/main">
            <a:off x="1047750" y="407670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a:solidFill>
                  <a:srgbClr val="BFD9DD"/>
                </a:solidFill>
              </a:defRPr>
            </a:pPr>
            <a:r>
              <a:rPr sz="1500">
                <a:solidFill>
                  <a:srgbClr val="BFD9DD"/>
                </a:solidFill>
              </a:rPr>
              <a:t>R = 𝟙[exact outcome] + 0.30 × Rprocess</a:t>
            </a:r>
          </a:p>
        </p:txBody>
      </p:sp>
      <p:sp>
        <p:nvSpPr>
          <p:cNvPr id="12" name="grpo-num-0">
            <a:extLst xmlns:a="http://schemas.openxmlformats.org/drawingml/2006/main">
              <a:ext uri="{FF2B5EF4-FFF2-40B4-BE49-F238E27FC236}">
                <a16:creationId xmlns:a16="http://schemas.microsoft.com/office/drawing/2014/main" id="{A1C38DD2-5966-484C-995E-1376656D9A40}"/>
              </a:ext>
            </a:extLst>
          </p:cNvPr>
          <p:cNvSpPr>
            <a:spLocks xmlns:a="http://schemas.openxmlformats.org/drawingml/2006/main" noGrp="1"/>
          </p:cNvSpPr>
          <p:nvPr/>
        </p:nvSpPr>
        <p:spPr>
          <a:xfrm xmlns:a="http://schemas.openxmlformats.org/drawingml/2006/main">
            <a:off x="6429375" y="216217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18A6A6"/>
                </a:solidFill>
              </a:defRPr>
            </a:pPr>
            <a:r>
              <a:rPr sz="1350" b="1">
                <a:solidFill>
                  <a:srgbClr val="18A6A6"/>
                </a:solidFill>
              </a:rPr>
              <a:t>01</a:t>
            </a:r>
          </a:p>
        </p:txBody>
      </p:sp>
      <p:sp>
        <p:nvSpPr>
          <p:cNvPr id="13" name="grpo-head-0">
            <a:extLst xmlns:a="http://schemas.openxmlformats.org/drawingml/2006/main">
              <a:ext uri="{FF2B5EF4-FFF2-40B4-BE49-F238E27FC236}">
                <a16:creationId xmlns:a16="http://schemas.microsoft.com/office/drawing/2014/main" id="{140FA9B8-4A05-42EB-ADC4-A9F7CE19F001}"/>
              </a:ext>
            </a:extLst>
          </p:cNvPr>
          <p:cNvSpPr>
            <a:spLocks xmlns:a="http://schemas.openxmlformats.org/drawingml/2006/main" noGrp="1"/>
          </p:cNvSpPr>
          <p:nvPr/>
        </p:nvSpPr>
        <p:spPr>
          <a:xfrm xmlns:a="http://schemas.openxmlformats.org/drawingml/2006/main">
            <a:off x="7067550" y="21336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同 prompt 采样 4 条 trajectory</a:t>
            </a:r>
          </a:p>
        </p:txBody>
      </p:sp>
      <p:sp>
        <p:nvSpPr>
          <p:cNvPr id="14" name="grpo-sub-0">
            <a:extLst xmlns:a="http://schemas.openxmlformats.org/drawingml/2006/main">
              <a:ext uri="{FF2B5EF4-FFF2-40B4-BE49-F238E27FC236}">
                <a16:creationId xmlns:a16="http://schemas.microsoft.com/office/drawing/2014/main" id="{DF7F0D4F-17A5-44ED-B240-2247F92FAB05}"/>
              </a:ext>
            </a:extLst>
          </p:cNvPr>
          <p:cNvSpPr>
            <a:spLocks xmlns:a="http://schemas.openxmlformats.org/drawingml/2006/main" noGrp="1"/>
          </p:cNvSpPr>
          <p:nvPr/>
        </p:nvSpPr>
        <p:spPr>
          <a:xfrm xmlns:a="http://schemas.openxmlformats.org/drawingml/2006/main">
            <a:off x="7067550" y="248602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不依赖单独 value model</a:t>
            </a:r>
          </a:p>
        </p:txBody>
      </p:sp>
      <p:sp>
        <p:nvSpPr>
          <p:cNvPr id="15" name="grpo-num-1">
            <a:extLst xmlns:a="http://schemas.openxmlformats.org/drawingml/2006/main">
              <a:ext uri="{FF2B5EF4-FFF2-40B4-BE49-F238E27FC236}">
                <a16:creationId xmlns:a16="http://schemas.microsoft.com/office/drawing/2014/main" id="{DAA633D4-1A46-42C3-93F2-FCE1BCACA9FE}"/>
              </a:ext>
            </a:extLst>
          </p:cNvPr>
          <p:cNvSpPr>
            <a:spLocks xmlns:a="http://schemas.openxmlformats.org/drawingml/2006/main" noGrp="1"/>
          </p:cNvSpPr>
          <p:nvPr/>
        </p:nvSpPr>
        <p:spPr>
          <a:xfrm xmlns:a="http://schemas.openxmlformats.org/drawingml/2006/main">
            <a:off x="6429375" y="301942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C56D4A"/>
                </a:solidFill>
              </a:defRPr>
            </a:pPr>
            <a:r>
              <a:rPr sz="1350" b="1">
                <a:solidFill>
                  <a:srgbClr val="C56D4A"/>
                </a:solidFill>
              </a:rPr>
              <a:t>02</a:t>
            </a:r>
          </a:p>
        </p:txBody>
      </p:sp>
      <p:sp>
        <p:nvSpPr>
          <p:cNvPr id="16" name="grpo-head-1">
            <a:extLst xmlns:a="http://schemas.openxmlformats.org/drawingml/2006/main">
              <a:ext uri="{FF2B5EF4-FFF2-40B4-BE49-F238E27FC236}">
                <a16:creationId xmlns:a16="http://schemas.microsoft.com/office/drawing/2014/main" id="{ADB907FA-F719-4F1F-98FF-6BCDC664192C}"/>
              </a:ext>
            </a:extLst>
          </p:cNvPr>
          <p:cNvSpPr>
            <a:spLocks xmlns:a="http://schemas.openxmlformats.org/drawingml/2006/main" noGrp="1"/>
          </p:cNvSpPr>
          <p:nvPr/>
        </p:nvSpPr>
        <p:spPr>
          <a:xfrm xmlns:a="http://schemas.openxmlformats.org/drawingml/2006/main">
            <a:off x="7067550" y="29908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DAPO-style clipped objective</a:t>
            </a:r>
          </a:p>
        </p:txBody>
      </p:sp>
      <p:sp>
        <p:nvSpPr>
          <p:cNvPr id="17" name="grpo-sub-1">
            <a:extLst xmlns:a="http://schemas.openxmlformats.org/drawingml/2006/main">
              <a:ext uri="{FF2B5EF4-FFF2-40B4-BE49-F238E27FC236}">
                <a16:creationId xmlns:a16="http://schemas.microsoft.com/office/drawing/2014/main" id="{03E9C828-2A75-44D0-B22B-4B8EBE019DD2}"/>
              </a:ext>
            </a:extLst>
          </p:cNvPr>
          <p:cNvSpPr>
            <a:spLocks xmlns:a="http://schemas.openxmlformats.org/drawingml/2006/main" noGrp="1"/>
          </p:cNvSpPr>
          <p:nvPr/>
        </p:nvSpPr>
        <p:spPr>
          <a:xfrm xmlns:a="http://schemas.openxmlformats.org/drawingml/2006/main">
            <a:off x="7067550" y="3343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LoRA 更新 Q/K/V/O + MLP</a:t>
            </a:r>
          </a:p>
        </p:txBody>
      </p:sp>
      <p:sp>
        <p:nvSpPr>
          <p:cNvPr id="18" name="grpo-num-2">
            <a:extLst xmlns:a="http://schemas.openxmlformats.org/drawingml/2006/main">
              <a:ext uri="{FF2B5EF4-FFF2-40B4-BE49-F238E27FC236}">
                <a16:creationId xmlns:a16="http://schemas.microsoft.com/office/drawing/2014/main" id="{F7A78C62-6202-4F29-BE13-C896E101656D}"/>
              </a:ext>
            </a:extLst>
          </p:cNvPr>
          <p:cNvSpPr>
            <a:spLocks xmlns:a="http://schemas.openxmlformats.org/drawingml/2006/main" noGrp="1"/>
          </p:cNvSpPr>
          <p:nvPr/>
        </p:nvSpPr>
        <p:spPr>
          <a:xfrm xmlns:a="http://schemas.openxmlformats.org/drawingml/2006/main">
            <a:off x="6429375" y="387667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18A6A6"/>
                </a:solidFill>
              </a:defRPr>
            </a:pPr>
            <a:r>
              <a:rPr sz="1350" b="1">
                <a:solidFill>
                  <a:srgbClr val="18A6A6"/>
                </a:solidFill>
              </a:rPr>
              <a:t>03</a:t>
            </a:r>
          </a:p>
        </p:txBody>
      </p:sp>
      <p:sp>
        <p:nvSpPr>
          <p:cNvPr id="19" name="grpo-head-2">
            <a:extLst xmlns:a="http://schemas.openxmlformats.org/drawingml/2006/main">
              <a:ext uri="{FF2B5EF4-FFF2-40B4-BE49-F238E27FC236}">
                <a16:creationId xmlns:a16="http://schemas.microsoft.com/office/drawing/2014/main" id="{6C864AB7-4ACB-4689-9451-E6504833BAAD}"/>
              </a:ext>
            </a:extLst>
          </p:cNvPr>
          <p:cNvSpPr>
            <a:spLocks xmlns:a="http://schemas.openxmlformats.org/drawingml/2006/main" noGrp="1"/>
          </p:cNvSpPr>
          <p:nvPr/>
        </p:nvSpPr>
        <p:spPr>
          <a:xfrm xmlns:a="http://schemas.openxmlformats.org/drawingml/2006/main">
            <a:off x="7067550" y="38481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NF4 base + BF16 compute</a:t>
            </a:r>
          </a:p>
        </p:txBody>
      </p:sp>
      <p:sp>
        <p:nvSpPr>
          <p:cNvPr id="20" name="grpo-sub-2">
            <a:extLst xmlns:a="http://schemas.openxmlformats.org/drawingml/2006/main">
              <a:ext uri="{FF2B5EF4-FFF2-40B4-BE49-F238E27FC236}">
                <a16:creationId xmlns:a16="http://schemas.microsoft.com/office/drawing/2014/main" id="{2B090EC3-D255-44FD-A8DB-E9F2548C331E}"/>
              </a:ext>
            </a:extLst>
          </p:cNvPr>
          <p:cNvSpPr>
            <a:spLocks xmlns:a="http://schemas.openxmlformats.org/drawingml/2006/main" noGrp="1"/>
          </p:cNvSpPr>
          <p:nvPr/>
        </p:nvSpPr>
        <p:spPr>
          <a:xfrm xmlns:a="http://schemas.openxmlformats.org/drawingml/2006/main">
            <a:off x="7067550" y="420052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在单张 NVIDIA RTX PRO 6000 Blackwell Server Edition 上完成</a:t>
            </a:r>
          </a:p>
        </p:txBody>
      </p:sp>
      <p:sp>
        <p:nvSpPr>
          <p:cNvPr id="21" name="grpo-num-3">
            <a:extLst xmlns:a="http://schemas.openxmlformats.org/drawingml/2006/main">
              <a:ext uri="{FF2B5EF4-FFF2-40B4-BE49-F238E27FC236}">
                <a16:creationId xmlns:a16="http://schemas.microsoft.com/office/drawing/2014/main" id="{5B729BBC-9488-4CE0-9EFF-EF07DE0C018C}"/>
              </a:ext>
            </a:extLst>
          </p:cNvPr>
          <p:cNvSpPr>
            <a:spLocks xmlns:a="http://schemas.openxmlformats.org/drawingml/2006/main" noGrp="1"/>
          </p:cNvSpPr>
          <p:nvPr/>
        </p:nvSpPr>
        <p:spPr>
          <a:xfrm xmlns:a="http://schemas.openxmlformats.org/drawingml/2006/main">
            <a:off x="6429375" y="473392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C56D4A"/>
                </a:solidFill>
              </a:defRPr>
            </a:pPr>
            <a:r>
              <a:rPr sz="1350" b="1">
                <a:solidFill>
                  <a:srgbClr val="C56D4A"/>
                </a:solidFill>
              </a:rPr>
              <a:t>04</a:t>
            </a:r>
          </a:p>
        </p:txBody>
      </p:sp>
      <p:sp>
        <p:nvSpPr>
          <p:cNvPr id="22" name="grpo-head-3">
            <a:extLst xmlns:a="http://schemas.openxmlformats.org/drawingml/2006/main">
              <a:ext uri="{FF2B5EF4-FFF2-40B4-BE49-F238E27FC236}">
                <a16:creationId xmlns:a16="http://schemas.microsoft.com/office/drawing/2014/main" id="{68FAA930-D6CA-4953-8187-8598C8C36DBA}"/>
              </a:ext>
            </a:extLst>
          </p:cNvPr>
          <p:cNvSpPr>
            <a:spLocks xmlns:a="http://schemas.openxmlformats.org/drawingml/2006/main" noGrp="1"/>
          </p:cNvSpPr>
          <p:nvPr/>
        </p:nvSpPr>
        <p:spPr>
          <a:xfrm xmlns:a="http://schemas.openxmlformats.org/drawingml/2006/main">
            <a:off x="7067550" y="47053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过程分只打破失败平局</a:t>
            </a:r>
          </a:p>
        </p:txBody>
      </p:sp>
      <p:sp>
        <p:nvSpPr>
          <p:cNvPr id="23" name="grpo-sub-3">
            <a:extLst xmlns:a="http://schemas.openxmlformats.org/drawingml/2006/main">
              <a:ext uri="{FF2B5EF4-FFF2-40B4-BE49-F238E27FC236}">
                <a16:creationId xmlns:a16="http://schemas.microsoft.com/office/drawing/2014/main" id="{4F303807-DA32-42A9-BB87-E8232A82B15D}"/>
              </a:ext>
            </a:extLst>
          </p:cNvPr>
          <p:cNvSpPr>
            <a:spLocks xmlns:a="http://schemas.openxmlformats.org/drawingml/2006/main" noGrp="1"/>
          </p:cNvSpPr>
          <p:nvPr/>
        </p:nvSpPr>
        <p:spPr>
          <a:xfrm xmlns:a="http://schemas.openxmlformats.org/drawingml/2006/main">
            <a:off x="7067550" y="50577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exact outcome 仍是主目标</a:t>
            </a:r>
          </a:p>
        </p:txBody>
      </p:sp>
    </p:spTree>
    <p:extLst>
      <p:ext uri="{BB962C8B-B14F-4D97-AF65-F5344CB8AC3E}">
        <p14:creationId xmlns:p14="http://schemas.microsoft.com/office/powerpoint/2010/main" val="154623489"/>
      </p:ext>
    </p:extLst>
  </p:cSld>
</p:sld>
</file>

<file path=ppt/slides/slide7.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0" name="copper-7">
            <a:extLst xmlns:a="http://schemas.openxmlformats.org/drawingml/2006/main">
              <a:ext uri="{FF2B5EF4-FFF2-40B4-BE49-F238E27FC236}">
                <a16:creationId xmlns:a16="http://schemas.microsoft.com/office/drawing/2014/main" id="{2D0D3A88-30E8-46C6-A740-94CD1277C8D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56D4A"/>
          </a:solidFill>
          <a:ln xmlns:a="http://schemas.openxmlformats.org/drawingml/2006/main" w="0">
            <a:solidFill>
              <a:srgbClr val="C56D4A"/>
            </a:solidFill>
            <a:prstDash val="solid"/>
          </a:ln>
        </p:spPr>
      </p:sp>
      <p:sp>
        <p:nvSpPr>
          <p:cNvPr id="2" name="chapter-script-7">
            <a:extLst xmlns:a="http://schemas.openxmlformats.org/drawingml/2006/main">
              <a:ext uri="{FF2B5EF4-FFF2-40B4-BE49-F238E27FC236}">
                <a16:creationId xmlns:a16="http://schemas.microsoft.com/office/drawing/2014/main" id="{103E7A67-6F90-4501-89D7-BCF937B17722}"/>
              </a:ext>
            </a:extLst>
          </p:cNvPr>
          <p:cNvSpPr>
            <a:spLocks xmlns:a="http://schemas.openxmlformats.org/drawingml/2006/main" noGrp="1"/>
          </p:cNvSpPr>
          <p:nvPr/>
        </p:nvSpPr>
        <p:spPr>
          <a:xfrm xmlns:a="http://schemas.openxmlformats.org/drawingml/2006/main">
            <a:off x="800100" y="647700"/>
            <a:ext cx="4762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75" b="1">
                <a:solidFill>
                  <a:srgbClr val="D6A84B"/>
                </a:solidFill>
              </a:defRPr>
            </a:pPr>
            <a:r>
              <a:rPr sz="2175" b="1">
                <a:solidFill>
                  <a:srgbClr val="D6A84B"/>
                </a:solidFill>
              </a:rPr>
              <a:t>长程智能体 · 强化学习</a:t>
            </a:r>
          </a:p>
        </p:txBody>
      </p:sp>
      <p:sp>
        <p:nvSpPr>
          <p:cNvPr id="3" name="roman-7">
            <a:extLst xmlns:a="http://schemas.openxmlformats.org/drawingml/2006/main">
              <a:ext uri="{FF2B5EF4-FFF2-40B4-BE49-F238E27FC236}">
                <a16:creationId xmlns:a16="http://schemas.microsoft.com/office/drawing/2014/main" id="{64908B81-6EE9-43FD-9D0C-355E6C4D6128}"/>
              </a:ext>
            </a:extLst>
          </p:cNvPr>
          <p:cNvSpPr>
            <a:spLocks xmlns:a="http://schemas.openxmlformats.org/drawingml/2006/main" noGrp="1"/>
          </p:cNvSpPr>
          <p:nvPr/>
        </p:nvSpPr>
        <p:spPr>
          <a:xfrm xmlns:a="http://schemas.openxmlformats.org/drawingml/2006/main">
            <a:off x="8001000" y="323850"/>
            <a:ext cx="30480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2450" b="1">
                <a:solidFill>
                  <a:srgbClr val="0E2B3D"/>
                </a:solidFill>
              </a:defRPr>
            </a:pPr>
            <a:r>
              <a:rPr sz="12450" b="1">
                <a:solidFill>
                  <a:srgbClr val="0E2B3D"/>
                </a:solidFill>
              </a:rPr>
              <a:t>II</a:t>
            </a:r>
          </a:p>
        </p:txBody>
      </p:sp>
      <p:sp>
        <p:nvSpPr>
          <p:cNvPr id="4" name="">
            <a:extLst xmlns:a="http://schemas.openxmlformats.org/drawingml/2006/main">
              <a:ext uri="{FF2B5EF4-FFF2-40B4-BE49-F238E27FC236}">
                <a16:creationId xmlns:a16="http://schemas.microsoft.com/office/drawing/2014/main" id="{2C122DDE-6D14-49AA-A229-EB7CC06456BA}"/>
              </a:ext>
            </a:extLst>
          </p:cNvPr>
          <p:cNvSpPr>
            <a:spLocks xmlns:a="http://schemas.openxmlformats.org/drawingml/2006/main" noGrp="1"/>
          </p:cNvSpPr>
          <p:nvPr/>
        </p:nvSpPr>
        <p:spPr>
          <a:xfrm xmlns:a="http://schemas.openxmlformats.org/drawingml/2006/main">
            <a:off x="819150" y="1628775"/>
            <a:ext cx="1619250"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5" name="zh-7">
            <a:extLst xmlns:a="http://schemas.openxmlformats.org/drawingml/2006/main">
              <a:ext uri="{FF2B5EF4-FFF2-40B4-BE49-F238E27FC236}">
                <a16:creationId xmlns:a16="http://schemas.microsoft.com/office/drawing/2014/main" id="{84F2515F-9A05-4FC2-801E-5EDB9C0E1B07}"/>
              </a:ext>
            </a:extLst>
          </p:cNvPr>
          <p:cNvSpPr>
            <a:spLocks xmlns:a="http://schemas.openxmlformats.org/drawingml/2006/main" noGrp="1"/>
          </p:cNvSpPr>
          <p:nvPr/>
        </p:nvSpPr>
        <p:spPr>
          <a:xfrm xmlns:a="http://schemas.openxmlformats.org/drawingml/2006/main">
            <a:off x="781050" y="2038350"/>
            <a:ext cx="7620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275" b="1">
                <a:solidFill>
                  <a:srgbClr val="F7F1E8"/>
                </a:solidFill>
              </a:defRPr>
            </a:pPr>
            <a:r>
              <a:rPr sz="4275" b="1">
                <a:solidFill>
                  <a:srgbClr val="F7F1E8"/>
                </a:solidFill>
              </a:rPr>
              <a:t>课程学习闭环</a:t>
            </a:r>
          </a:p>
        </p:txBody>
      </p:sp>
      <p:sp>
        <p:nvSpPr>
          <p:cNvPr id="6" name="en-7">
            <a:extLst xmlns:a="http://schemas.openxmlformats.org/drawingml/2006/main">
              <a:ext uri="{FF2B5EF4-FFF2-40B4-BE49-F238E27FC236}">
                <a16:creationId xmlns:a16="http://schemas.microsoft.com/office/drawing/2014/main" id="{C1B5A502-2DF0-41AD-9CAD-D47A88FF9CF7}"/>
              </a:ext>
            </a:extLst>
          </p:cNvPr>
          <p:cNvSpPr>
            <a:spLocks xmlns:a="http://schemas.openxmlformats.org/drawingml/2006/main" noGrp="1"/>
          </p:cNvSpPr>
          <p:nvPr/>
        </p:nvSpPr>
        <p:spPr>
          <a:xfrm xmlns:a="http://schemas.openxmlformats.org/drawingml/2006/main">
            <a:off x="828675" y="3028950"/>
            <a:ext cx="857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b="1">
                <a:solidFill>
                  <a:srgbClr val="18A6A6"/>
                </a:solidFill>
              </a:defRPr>
            </a:pPr>
            <a:r>
              <a:rPr sz="1800" b="1">
                <a:solidFill>
                  <a:srgbClr val="18A6A6"/>
                </a:solidFill>
              </a:rPr>
              <a:t>DIAGNOSE → SYNTHESIZE → RETRAIN</a:t>
            </a:r>
          </a:p>
        </p:txBody>
      </p:sp>
      <p:sp>
        <p:nvSpPr>
          <p:cNvPr id="7" name="body-7">
            <a:extLst xmlns:a="http://schemas.openxmlformats.org/drawingml/2006/main">
              <a:ext uri="{FF2B5EF4-FFF2-40B4-BE49-F238E27FC236}">
                <a16:creationId xmlns:a16="http://schemas.microsoft.com/office/drawing/2014/main" id="{71DE6C71-CD8A-4E8C-9C09-FEF4D67C8247}"/>
              </a:ext>
            </a:extLst>
          </p:cNvPr>
          <p:cNvSpPr>
            <a:spLocks xmlns:a="http://schemas.openxmlformats.org/drawingml/2006/main" noGrp="1"/>
          </p:cNvSpPr>
          <p:nvPr/>
        </p:nvSpPr>
        <p:spPr>
          <a:xfrm xmlns:a="http://schemas.openxmlformats.org/drawingml/2006/main">
            <a:off x="828675" y="3905250"/>
            <a:ext cx="7905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18000"/>
              </a:lnSpc>
              <a:buNone/>
              <a:defRPr sz="1575">
                <a:solidFill>
                  <a:srgbClr val="C7D6DC"/>
                </a:solidFill>
              </a:defRPr>
            </a:pPr>
            <a:r>
              <a:rPr sz="1575">
                <a:solidFill>
                  <a:srgbClr val="C7D6DC"/>
                </a:solidFill>
              </a:rPr>
              <a:t>真正有价值的不是“又训了一遍”，而是把第一次训练后的残余失败或能力边界变成下一轮可验证的数据分布。</a:t>
            </a:r>
          </a:p>
        </p:txBody>
      </p:sp>
      <p:sp>
        <p:nvSpPr>
          <p:cNvPr id="8" name="chapter-pill-7-bg">
            <a:extLst xmlns:a="http://schemas.openxmlformats.org/drawingml/2006/main">
              <a:ext uri="{FF2B5EF4-FFF2-40B4-BE49-F238E27FC236}">
                <a16:creationId xmlns:a16="http://schemas.microsoft.com/office/drawing/2014/main" id="{D1ECF22E-FB49-4AE9-A20A-3749AC0E21B8}"/>
              </a:ext>
            </a:extLst>
          </p:cNvPr>
          <p:cNvSpPr>
            <a:spLocks xmlns:a="http://schemas.openxmlformats.org/drawingml/2006/main" noGrp="1"/>
          </p:cNvSpPr>
          <p:nvPr/>
        </p:nvSpPr>
        <p:spPr>
          <a:xfrm xmlns:a="http://schemas.openxmlformats.org/drawingml/2006/main">
            <a:off x="828675" y="5638800"/>
            <a:ext cx="1428750" cy="2857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9" name="chapter-pill-7-text">
            <a:extLst xmlns:a="http://schemas.openxmlformats.org/drawingml/2006/main">
              <a:ext uri="{FF2B5EF4-FFF2-40B4-BE49-F238E27FC236}">
                <a16:creationId xmlns:a16="http://schemas.microsoft.com/office/drawing/2014/main" id="{EEA15F4D-F92F-4FF6-9D17-E5759244D29B}"/>
              </a:ext>
            </a:extLst>
          </p:cNvPr>
          <p:cNvSpPr>
            <a:spLocks xmlns:a="http://schemas.openxmlformats.org/drawingml/2006/main" noGrp="1"/>
          </p:cNvSpPr>
          <p:nvPr/>
        </p:nvSpPr>
        <p:spPr>
          <a:xfrm xmlns:a="http://schemas.openxmlformats.org/drawingml/2006/main">
            <a:off x="923925" y="5686425"/>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CHAPTER 07</a:t>
            </a:r>
          </a:p>
        </p:txBody>
      </p:sp>
    </p:spTree>
    <p:extLst>
      <p:ext uri="{BB962C8B-B14F-4D97-AF65-F5344CB8AC3E}">
        <p14:creationId xmlns:p14="http://schemas.microsoft.com/office/powerpoint/2010/main" val="1043003140"/>
      </p:ext>
    </p:extLst>
  </p:cSld>
</p:sld>
</file>

<file path=ppt/slides/slide8.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6" name="rail-8">
            <a:extLst xmlns:a="http://schemas.openxmlformats.org/drawingml/2006/main">
              <a:ext uri="{FF2B5EF4-FFF2-40B4-BE49-F238E27FC236}">
                <a16:creationId xmlns:a16="http://schemas.microsoft.com/office/drawing/2014/main" id="{89DC2FAB-96E6-4B6B-A603-34A3892DC0B3}"/>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8">
            <a:extLst xmlns:a="http://schemas.openxmlformats.org/drawingml/2006/main">
              <a:ext uri="{FF2B5EF4-FFF2-40B4-BE49-F238E27FC236}">
                <a16:creationId xmlns:a16="http://schemas.microsoft.com/office/drawing/2014/main" id="{65D7453B-351D-4948-82B8-11D81D9FD921}"/>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8">
            <a:extLst xmlns:a="http://schemas.openxmlformats.org/drawingml/2006/main">
              <a:ext uri="{FF2B5EF4-FFF2-40B4-BE49-F238E27FC236}">
                <a16:creationId xmlns:a16="http://schemas.microsoft.com/office/drawing/2014/main" id="{6855146B-47DF-4E82-8F50-6D21062263AA}"/>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STAGE 1</a:t>
            </a:r>
          </a:p>
        </p:txBody>
      </p:sp>
      <p:sp>
        <p:nvSpPr>
          <p:cNvPr id="4" name="title-8">
            <a:extLst xmlns:a="http://schemas.openxmlformats.org/drawingml/2006/main">
              <a:ext uri="{FF2B5EF4-FFF2-40B4-BE49-F238E27FC236}">
                <a16:creationId xmlns:a16="http://schemas.microsoft.com/office/drawing/2014/main" id="{643EE5EB-0938-49DE-A0EE-EBC158850213}"/>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第一次训练之后，模型在哪里失败？</a:t>
            </a:r>
          </a:p>
        </p:txBody>
      </p:sp>
      <p:sp>
        <p:nvSpPr>
          <p:cNvPr id="5" name="subtitle-8">
            <a:extLst xmlns:a="http://schemas.openxmlformats.org/drawingml/2006/main">
              <a:ext uri="{FF2B5EF4-FFF2-40B4-BE49-F238E27FC236}">
                <a16:creationId xmlns:a16="http://schemas.microsoft.com/office/drawing/2014/main" id="{17491E6E-3108-496F-8008-C7B1553335B8}"/>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报告保留负结果：成功率下降也不会被隐藏，curriculum 依据 failure composition 而不是漂亮样例。</a:t>
            </a:r>
          </a:p>
        </p:txBody>
      </p:sp>
      <p:sp>
        <p:nvSpPr>
          <p:cNvPr id="6" name="">
            <a:extLst xmlns:a="http://schemas.openxmlformats.org/drawingml/2006/main">
              <a:ext uri="{FF2B5EF4-FFF2-40B4-BE49-F238E27FC236}">
                <a16:creationId xmlns:a16="http://schemas.microsoft.com/office/drawing/2014/main" id="{6A94DA86-F268-46AE-A336-70F3E076447B}"/>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8">
            <a:extLst xmlns:a="http://schemas.openxmlformats.org/drawingml/2006/main">
              <a:ext uri="{FF2B5EF4-FFF2-40B4-BE49-F238E27FC236}">
                <a16:creationId xmlns:a16="http://schemas.microsoft.com/office/drawing/2014/main" id="{5E7C2AB9-0E44-4F5A-A784-AE7725C7E1A0}"/>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08</a:t>
            </a:r>
          </a:p>
        </p:txBody>
      </p:sp>
      <p:sp>
        <p:nvSpPr>
          <p:cNvPr id="8" name="">
            <a:extLst xmlns:a="http://schemas.openxmlformats.org/drawingml/2006/main">
              <a:ext uri="{FF2B5EF4-FFF2-40B4-BE49-F238E27FC236}">
                <a16:creationId xmlns:a16="http://schemas.microsoft.com/office/drawing/2014/main" id="{493FAEF5-B6D6-4DD4-805E-F0D5F91E86D1}"/>
              </a:ext>
            </a:extLst>
          </p:cNvPr>
          <p:cNvSpPr>
            <a:spLocks xmlns:a="http://schemas.openxmlformats.org/drawingml/2006/main" noGrp="1"/>
          </p:cNvSpPr>
          <p:nvPr/>
        </p:nvSpPr>
        <p:spPr>
          <a:xfrm xmlns:a="http://schemas.openxmlformats.org/drawingml/2006/main">
            <a:off x="809625" y="2238375"/>
            <a:ext cx="2000250" cy="0"/>
          </a:xfrm>
          <a:prstGeom xmlns:a="http://schemas.openxmlformats.org/drawingml/2006/main" prst="line">
            <a:avLst/>
          </a:prstGeom>
          <a:noFill xmlns:a="http://schemas.openxmlformats.org/drawingml/2006/main"/>
          <a:ln xmlns:a="http://schemas.openxmlformats.org/drawingml/2006/main" w="38100">
            <a:solidFill>
              <a:srgbClr val="64747B"/>
            </a:solidFill>
            <a:prstDash val="solid"/>
          </a:ln>
        </p:spPr>
      </p:sp>
      <p:sp>
        <p:nvSpPr>
          <p:cNvPr id="9" name="s1-before-value">
            <a:extLst xmlns:a="http://schemas.openxmlformats.org/drawingml/2006/main">
              <a:ext uri="{FF2B5EF4-FFF2-40B4-BE49-F238E27FC236}">
                <a16:creationId xmlns:a16="http://schemas.microsoft.com/office/drawing/2014/main" id="{51859399-6D11-4F15-ACE0-AEE2F3788155}"/>
              </a:ext>
            </a:extLst>
          </p:cNvPr>
          <p:cNvSpPr>
            <a:spLocks xmlns:a="http://schemas.openxmlformats.org/drawingml/2006/main" noGrp="1"/>
          </p:cNvSpPr>
          <p:nvPr/>
        </p:nvSpPr>
        <p:spPr>
          <a:xfrm xmlns:a="http://schemas.openxmlformats.org/drawingml/2006/main">
            <a:off x="8096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75.0%</a:t>
            </a:r>
          </a:p>
        </p:txBody>
      </p:sp>
      <p:sp>
        <p:nvSpPr>
          <p:cNvPr id="10" name="s1-before-label">
            <a:extLst xmlns:a="http://schemas.openxmlformats.org/drawingml/2006/main">
              <a:ext uri="{FF2B5EF4-FFF2-40B4-BE49-F238E27FC236}">
                <a16:creationId xmlns:a16="http://schemas.microsoft.com/office/drawing/2014/main" id="{53487718-D3BC-4ACF-A90B-CB33D80E2FD1}"/>
              </a:ext>
            </a:extLst>
          </p:cNvPr>
          <p:cNvSpPr>
            <a:spLocks xmlns:a="http://schemas.openxmlformats.org/drawingml/2006/main" noGrp="1"/>
          </p:cNvSpPr>
          <p:nvPr/>
        </p:nvSpPr>
        <p:spPr>
          <a:xfrm xmlns:a="http://schemas.openxmlformats.org/drawingml/2006/main">
            <a:off x="8096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probe success · before</a:t>
            </a:r>
          </a:p>
        </p:txBody>
      </p:sp>
      <p:sp>
        <p:nvSpPr>
          <p:cNvPr id="11" name="">
            <a:extLst xmlns:a="http://schemas.openxmlformats.org/drawingml/2006/main">
              <a:ext uri="{FF2B5EF4-FFF2-40B4-BE49-F238E27FC236}">
                <a16:creationId xmlns:a16="http://schemas.microsoft.com/office/drawing/2014/main" id="{CDA1F6E8-22FE-44BC-8D82-3F85E770D407}"/>
              </a:ext>
            </a:extLst>
          </p:cNvPr>
          <p:cNvSpPr>
            <a:spLocks xmlns:a="http://schemas.openxmlformats.org/drawingml/2006/main" noGrp="1"/>
          </p:cNvSpPr>
          <p:nvPr/>
        </p:nvSpPr>
        <p:spPr>
          <a:xfrm xmlns:a="http://schemas.openxmlformats.org/drawingml/2006/main">
            <a:off x="3286125" y="2238375"/>
            <a:ext cx="20002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12" name="s1-after-value">
            <a:extLst xmlns:a="http://schemas.openxmlformats.org/drawingml/2006/main">
              <a:ext uri="{FF2B5EF4-FFF2-40B4-BE49-F238E27FC236}">
                <a16:creationId xmlns:a16="http://schemas.microsoft.com/office/drawing/2014/main" id="{A149F6A4-AA79-45ED-9D06-41F032275EDC}"/>
              </a:ext>
            </a:extLst>
          </p:cNvPr>
          <p:cNvSpPr>
            <a:spLocks xmlns:a="http://schemas.openxmlformats.org/drawingml/2006/main" noGrp="1"/>
          </p:cNvSpPr>
          <p:nvPr/>
        </p:nvSpPr>
        <p:spPr>
          <a:xfrm xmlns:a="http://schemas.openxmlformats.org/drawingml/2006/main">
            <a:off x="32861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100.0%</a:t>
            </a:r>
          </a:p>
        </p:txBody>
      </p:sp>
      <p:sp>
        <p:nvSpPr>
          <p:cNvPr id="13" name="s1-after-label">
            <a:extLst xmlns:a="http://schemas.openxmlformats.org/drawingml/2006/main">
              <a:ext uri="{FF2B5EF4-FFF2-40B4-BE49-F238E27FC236}">
                <a16:creationId xmlns:a16="http://schemas.microsoft.com/office/drawing/2014/main" id="{0D9C9845-6E83-4BC7-ABD7-7362D07002F8}"/>
              </a:ext>
            </a:extLst>
          </p:cNvPr>
          <p:cNvSpPr>
            <a:spLocks xmlns:a="http://schemas.openxmlformats.org/drawingml/2006/main" noGrp="1"/>
          </p:cNvSpPr>
          <p:nvPr/>
        </p:nvSpPr>
        <p:spPr>
          <a:xfrm xmlns:a="http://schemas.openxmlformats.org/drawingml/2006/main">
            <a:off x="32861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probe success · after</a:t>
            </a:r>
          </a:p>
        </p:txBody>
      </p:sp>
      <p:sp>
        <p:nvSpPr>
          <p:cNvPr id="14" name="">
            <a:extLst xmlns:a="http://schemas.openxmlformats.org/drawingml/2006/main">
              <a:ext uri="{FF2B5EF4-FFF2-40B4-BE49-F238E27FC236}">
                <a16:creationId xmlns:a16="http://schemas.microsoft.com/office/drawing/2014/main" id="{606550C2-0F89-42EB-853F-08DFDD1B3D63}"/>
              </a:ext>
            </a:extLst>
          </p:cNvPr>
          <p:cNvSpPr>
            <a:spLocks xmlns:a="http://schemas.openxmlformats.org/drawingml/2006/main" noGrp="1"/>
          </p:cNvSpPr>
          <p:nvPr/>
        </p:nvSpPr>
        <p:spPr>
          <a:xfrm xmlns:a="http://schemas.openxmlformats.org/drawingml/2006/main">
            <a:off x="5762625" y="2238375"/>
            <a:ext cx="2000250" cy="0"/>
          </a:xfrm>
          <a:prstGeom xmlns:a="http://schemas.openxmlformats.org/drawingml/2006/main" prst="line">
            <a:avLst/>
          </a:prstGeom>
          <a:noFill xmlns:a="http://schemas.openxmlformats.org/drawingml/2006/main"/>
          <a:ln xmlns:a="http://schemas.openxmlformats.org/drawingml/2006/main" w="38100">
            <a:solidFill>
              <a:srgbClr val="228B67"/>
            </a:solidFill>
            <a:prstDash val="solid"/>
          </a:ln>
        </p:spPr>
      </p:sp>
      <p:sp>
        <p:nvSpPr>
          <p:cNvPr id="15" name="s1-delta-value">
            <a:extLst xmlns:a="http://schemas.openxmlformats.org/drawingml/2006/main">
              <a:ext uri="{FF2B5EF4-FFF2-40B4-BE49-F238E27FC236}">
                <a16:creationId xmlns:a16="http://schemas.microsoft.com/office/drawing/2014/main" id="{1CD30539-465E-47E6-B67D-408E89DFE3D8}"/>
              </a:ext>
            </a:extLst>
          </p:cNvPr>
          <p:cNvSpPr>
            <a:spLocks xmlns:a="http://schemas.openxmlformats.org/drawingml/2006/main" noGrp="1"/>
          </p:cNvSpPr>
          <p:nvPr/>
        </p:nvSpPr>
        <p:spPr>
          <a:xfrm xmlns:a="http://schemas.openxmlformats.org/drawingml/2006/main">
            <a:off x="57626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+25.0 pt</a:t>
            </a:r>
          </a:p>
        </p:txBody>
      </p:sp>
      <p:sp>
        <p:nvSpPr>
          <p:cNvPr id="16" name="s1-delta-label">
            <a:extLst xmlns:a="http://schemas.openxmlformats.org/drawingml/2006/main">
              <a:ext uri="{FF2B5EF4-FFF2-40B4-BE49-F238E27FC236}">
                <a16:creationId xmlns:a16="http://schemas.microsoft.com/office/drawing/2014/main" id="{4EDADD55-DCE9-4A02-85A2-C55740172535}"/>
              </a:ext>
            </a:extLst>
          </p:cNvPr>
          <p:cNvSpPr>
            <a:spLocks xmlns:a="http://schemas.openxmlformats.org/drawingml/2006/main" noGrp="1"/>
          </p:cNvSpPr>
          <p:nvPr/>
        </p:nvSpPr>
        <p:spPr>
          <a:xfrm xmlns:a="http://schemas.openxmlformats.org/drawingml/2006/main">
            <a:off x="57626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success delta</a:t>
            </a:r>
          </a:p>
        </p:txBody>
      </p:sp>
      <p:sp>
        <p:nvSpPr>
          <p:cNvPr id="17" name="">
            <a:extLst xmlns:a="http://schemas.openxmlformats.org/drawingml/2006/main">
              <a:ext uri="{FF2B5EF4-FFF2-40B4-BE49-F238E27FC236}">
                <a16:creationId xmlns:a16="http://schemas.microsoft.com/office/drawing/2014/main" id="{86EE1E75-A946-409D-B07D-BAE18FF1486C}"/>
              </a:ext>
            </a:extLst>
          </p:cNvPr>
          <p:cNvSpPr>
            <a:spLocks xmlns:a="http://schemas.openxmlformats.org/drawingml/2006/main" noGrp="1"/>
          </p:cNvSpPr>
          <p:nvPr/>
        </p:nvSpPr>
        <p:spPr>
          <a:xfrm xmlns:a="http://schemas.openxmlformats.org/drawingml/2006/main">
            <a:off x="8239125" y="2238375"/>
            <a:ext cx="2000250" cy="0"/>
          </a:xfrm>
          <a:prstGeom xmlns:a="http://schemas.openxmlformats.org/drawingml/2006/main" prst="line">
            <a:avLst/>
          </a:prstGeom>
          <a:noFill xmlns:a="http://schemas.openxmlformats.org/drawingml/2006/main"/>
          <a:ln xmlns:a="http://schemas.openxmlformats.org/drawingml/2006/main" w="38100">
            <a:solidFill>
              <a:srgbClr val="C56D4A"/>
            </a:solidFill>
            <a:prstDash val="solid"/>
          </a:ln>
        </p:spPr>
      </p:sp>
      <p:sp>
        <p:nvSpPr>
          <p:cNvPr id="18" name="s1-steps-value">
            <a:extLst xmlns:a="http://schemas.openxmlformats.org/drawingml/2006/main">
              <a:ext uri="{FF2B5EF4-FFF2-40B4-BE49-F238E27FC236}">
                <a16:creationId xmlns:a16="http://schemas.microsoft.com/office/drawing/2014/main" id="{C70631FD-35A3-48A6-8961-EB1ECD55F194}"/>
              </a:ext>
            </a:extLst>
          </p:cNvPr>
          <p:cNvSpPr>
            <a:spLocks xmlns:a="http://schemas.openxmlformats.org/drawingml/2006/main" noGrp="1"/>
          </p:cNvSpPr>
          <p:nvPr/>
        </p:nvSpPr>
        <p:spPr>
          <a:xfrm xmlns:a="http://schemas.openxmlformats.org/drawingml/2006/main">
            <a:off x="82391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12</a:t>
            </a:r>
          </a:p>
        </p:txBody>
      </p:sp>
      <p:sp>
        <p:nvSpPr>
          <p:cNvPr id="19" name="s1-steps-label">
            <a:extLst xmlns:a="http://schemas.openxmlformats.org/drawingml/2006/main">
              <a:ext uri="{FF2B5EF4-FFF2-40B4-BE49-F238E27FC236}">
                <a16:creationId xmlns:a16="http://schemas.microsoft.com/office/drawing/2014/main" id="{30D49BC0-7A95-4371-86BE-1A240146B1BA}"/>
              </a:ext>
            </a:extLst>
          </p:cNvPr>
          <p:cNvSpPr>
            <a:spLocks xmlns:a="http://schemas.openxmlformats.org/drawingml/2006/main" noGrp="1"/>
          </p:cNvSpPr>
          <p:nvPr/>
        </p:nvSpPr>
        <p:spPr>
          <a:xfrm xmlns:a="http://schemas.openxmlformats.org/drawingml/2006/main">
            <a:off x="82391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optimizer steps</a:t>
            </a:r>
          </a:p>
        </p:txBody>
      </p:sp>
      <p:sp>
        <p:nvSpPr>
          <p:cNvPr id="20" name="failure-head">
            <a:extLst xmlns:a="http://schemas.openxmlformats.org/drawingml/2006/main">
              <a:ext uri="{FF2B5EF4-FFF2-40B4-BE49-F238E27FC236}">
                <a16:creationId xmlns:a16="http://schemas.microsoft.com/office/drawing/2014/main" id="{1D8960C3-6D08-45F6-900B-271CA880318F}"/>
              </a:ext>
            </a:extLst>
          </p:cNvPr>
          <p:cNvSpPr>
            <a:spLocks xmlns:a="http://schemas.openxmlformats.org/drawingml/2006/main" noGrp="1"/>
          </p:cNvSpPr>
          <p:nvPr/>
        </p:nvSpPr>
        <p:spPr>
          <a:xfrm xmlns:a="http://schemas.openxmlformats.org/drawingml/2006/main">
            <a:off x="838200" y="39052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b="1">
                <a:solidFill>
                  <a:srgbClr val="C56D4A"/>
                </a:solidFill>
              </a:defRPr>
            </a:pPr>
            <a:r>
              <a:rPr sz="1125" b="1">
                <a:solidFill>
                  <a:srgbClr val="C56D4A"/>
                </a:solidFill>
              </a:rPr>
              <a:t>TERMINAL FAILURE TAXONOMY</a:t>
            </a:r>
          </a:p>
        </p:txBody>
      </p:sp>
      <p:sp>
        <p:nvSpPr>
          <p:cNvPr id="21" name="failure-name-0">
            <a:extLst xmlns:a="http://schemas.openxmlformats.org/drawingml/2006/main">
              <a:ext uri="{FF2B5EF4-FFF2-40B4-BE49-F238E27FC236}">
                <a16:creationId xmlns:a16="http://schemas.microsoft.com/office/drawing/2014/main" id="{ED6730B5-6EB2-4F3A-B40A-5A95D24CE6D6}"/>
              </a:ext>
            </a:extLst>
          </p:cNvPr>
          <p:cNvSpPr>
            <a:spLocks xmlns:a="http://schemas.openxmlformats.org/drawingml/2006/main" noGrp="1"/>
          </p:cNvSpPr>
          <p:nvPr/>
        </p:nvSpPr>
        <p:spPr>
          <a:xfrm xmlns:a="http://schemas.openxmlformats.org/drawingml/2006/main">
            <a:off x="876300" y="4362450"/>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a:solidFill>
                  <a:srgbClr val="102330"/>
                </a:solidFill>
              </a:defRPr>
            </a:pPr>
            <a:r>
              <a:rPr sz="1050">
                <a:solidFill>
                  <a:srgbClr val="102330"/>
                </a:solidFill>
              </a:rPr>
              <a:t>POLICY_NOT_INSPECTED</a:t>
            </a:r>
          </a:p>
        </p:txBody>
      </p:sp>
      <p:sp>
        <p:nvSpPr>
          <p:cNvPr id="22" name="failure-track-0">
            <a:extLst xmlns:a="http://schemas.openxmlformats.org/drawingml/2006/main">
              <a:ext uri="{FF2B5EF4-FFF2-40B4-BE49-F238E27FC236}">
                <a16:creationId xmlns:a16="http://schemas.microsoft.com/office/drawing/2014/main" id="{45B56BD2-1B2A-46C6-82C0-56B9274D8CFF}"/>
              </a:ext>
            </a:extLst>
          </p:cNvPr>
          <p:cNvSpPr>
            <a:spLocks xmlns:a="http://schemas.openxmlformats.org/drawingml/2006/main" noGrp="1"/>
          </p:cNvSpPr>
          <p:nvPr/>
        </p:nvSpPr>
        <p:spPr>
          <a:xfrm xmlns:a="http://schemas.openxmlformats.org/drawingml/2006/main">
            <a:off x="4667250" y="4391025"/>
            <a:ext cx="4762500" cy="1333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23" name="failure-before-0">
            <a:extLst xmlns:a="http://schemas.openxmlformats.org/drawingml/2006/main">
              <a:ext uri="{FF2B5EF4-FFF2-40B4-BE49-F238E27FC236}">
                <a16:creationId xmlns:a16="http://schemas.microsoft.com/office/drawing/2014/main" id="{4944F625-F200-402B-B89D-6B596B6519A8}"/>
              </a:ext>
            </a:extLst>
          </p:cNvPr>
          <p:cNvSpPr>
            <a:spLocks xmlns:a="http://schemas.openxmlformats.org/drawingml/2006/main" noGrp="1"/>
          </p:cNvSpPr>
          <p:nvPr/>
        </p:nvSpPr>
        <p:spPr>
          <a:xfrm xmlns:a="http://schemas.openxmlformats.org/drawingml/2006/main">
            <a:off x="4667250" y="4391025"/>
            <a:ext cx="1666875" cy="133350"/>
          </a:xfrm>
          <a:prstGeom xmlns:a="http://schemas.openxmlformats.org/drawingml/2006/main" prst="roundRect">
            <a:avLst>
              <a:gd name="adj" fmla="val 50000"/>
            </a:avLst>
          </a:prstGeom>
          <a:solidFill xmlns:a="http://schemas.openxmlformats.org/drawingml/2006/main">
            <a:srgbClr val="9AA8AD"/>
          </a:solidFill>
          <a:ln xmlns:a="http://schemas.openxmlformats.org/drawingml/2006/main" w="0">
            <a:solidFill>
              <a:srgbClr val="9AA8AD"/>
            </a:solidFill>
            <a:prstDash val="solid"/>
          </a:ln>
        </p:spPr>
      </p:sp>
      <p:sp>
        <p:nvSpPr>
          <p:cNvPr id="24" name="failure-after-0">
            <a:extLst xmlns:a="http://schemas.openxmlformats.org/drawingml/2006/main">
              <a:ext uri="{FF2B5EF4-FFF2-40B4-BE49-F238E27FC236}">
                <a16:creationId xmlns:a16="http://schemas.microsoft.com/office/drawing/2014/main" id="{950AE88C-2A6F-49E5-8AAA-8F185DA14F67}"/>
              </a:ext>
            </a:extLst>
          </p:cNvPr>
          <p:cNvSpPr>
            <a:spLocks xmlns:a="http://schemas.openxmlformats.org/drawingml/2006/main" noGrp="1"/>
          </p:cNvSpPr>
          <p:nvPr/>
        </p:nvSpPr>
        <p:spPr>
          <a:xfrm xmlns:a="http://schemas.openxmlformats.org/drawingml/2006/main">
            <a:off x="6572250" y="4391025"/>
            <a:ext cx="47625" cy="1333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25" name="failure-count-0">
            <a:extLst xmlns:a="http://schemas.openxmlformats.org/drawingml/2006/main">
              <a:ext uri="{FF2B5EF4-FFF2-40B4-BE49-F238E27FC236}">
                <a16:creationId xmlns:a16="http://schemas.microsoft.com/office/drawing/2014/main" id="{0EE3FED2-3B7F-4615-80E9-C39578EF5BE7}"/>
              </a:ext>
            </a:extLst>
          </p:cNvPr>
          <p:cNvSpPr>
            <a:spLocks xmlns:a="http://schemas.openxmlformats.org/drawingml/2006/main" noGrp="1"/>
          </p:cNvSpPr>
          <p:nvPr/>
        </p:nvSpPr>
        <p:spPr>
          <a:xfrm xmlns:a="http://schemas.openxmlformats.org/drawingml/2006/main">
            <a:off x="9715500" y="434340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1">
                <a:solidFill>
                  <a:srgbClr val="071A2B"/>
                </a:solidFill>
              </a:defRPr>
            </a:pPr>
            <a:r>
              <a:rPr sz="1125" b="1">
                <a:solidFill>
                  <a:srgbClr val="071A2B"/>
                </a:solidFill>
              </a:rPr>
              <a:t>1 → 0</a:t>
            </a:r>
          </a:p>
        </p:txBody>
      </p:sp>
    </p:spTree>
    <p:extLst>
      <p:ext uri="{BB962C8B-B14F-4D97-AF65-F5344CB8AC3E}">
        <p14:creationId xmlns:p14="http://schemas.microsoft.com/office/powerpoint/2010/main" val="960418331"/>
      </p:ext>
    </p:extLst>
  </p:cSld>
</p:sld>
</file>

<file path=ppt/slides/slide9.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0" name="rail-9">
            <a:extLst xmlns:a="http://schemas.openxmlformats.org/drawingml/2006/main">
              <a:ext uri="{FF2B5EF4-FFF2-40B4-BE49-F238E27FC236}">
                <a16:creationId xmlns:a16="http://schemas.microsoft.com/office/drawing/2014/main" id="{FD4A4525-6EE8-4749-BA7F-22D5D0891B88}"/>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9">
            <a:extLst xmlns:a="http://schemas.openxmlformats.org/drawingml/2006/main">
              <a:ext uri="{FF2B5EF4-FFF2-40B4-BE49-F238E27FC236}">
                <a16:creationId xmlns:a16="http://schemas.microsoft.com/office/drawing/2014/main" id="{EF205CBF-DE63-4CBB-93A0-7D211D8DE9EB}"/>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9">
            <a:extLst xmlns:a="http://schemas.openxmlformats.org/drawingml/2006/main">
              <a:ext uri="{FF2B5EF4-FFF2-40B4-BE49-F238E27FC236}">
                <a16:creationId xmlns:a16="http://schemas.microsoft.com/office/drawing/2014/main" id="{EB300018-4D19-4EB3-A7C2-99B0839590AE}"/>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HARD-DATA SYNTHESIS</a:t>
            </a:r>
          </a:p>
        </p:txBody>
      </p:sp>
      <p:sp>
        <p:nvSpPr>
          <p:cNvPr id="4" name="title-9">
            <a:extLst xmlns:a="http://schemas.openxmlformats.org/drawingml/2006/main">
              <a:ext uri="{FF2B5EF4-FFF2-40B4-BE49-F238E27FC236}">
                <a16:creationId xmlns:a16="http://schemas.microsoft.com/office/drawing/2014/main" id="{49C23FFD-5366-411C-BF5E-9D752630B3F7}"/>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残余失败或能力边界，都会进入下一轮数据生成器</a:t>
            </a:r>
          </a:p>
        </p:txBody>
      </p:sp>
      <p:sp>
        <p:nvSpPr>
          <p:cNvPr id="5" name="subtitle-9">
            <a:extLst xmlns:a="http://schemas.openxmlformats.org/drawingml/2006/main">
              <a:ext uri="{FF2B5EF4-FFF2-40B4-BE49-F238E27FC236}">
                <a16:creationId xmlns:a16="http://schemas.microsoft.com/office/drawing/2014/main" id="{37FC97D5-E9B3-4FC8-A4F9-7C679EBAE8DB}"/>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ground truth 由确定性代码生成；模型自然语言永远不充当 charge、amount 或 verifier target。</a:t>
            </a:r>
          </a:p>
        </p:txBody>
      </p:sp>
      <p:sp>
        <p:nvSpPr>
          <p:cNvPr id="6" name="">
            <a:extLst xmlns:a="http://schemas.openxmlformats.org/drawingml/2006/main">
              <a:ext uri="{FF2B5EF4-FFF2-40B4-BE49-F238E27FC236}">
                <a16:creationId xmlns:a16="http://schemas.microsoft.com/office/drawing/2014/main" id="{8A9E8B2D-E9B1-472D-9285-DBF36A5391D4}"/>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9">
            <a:extLst xmlns:a="http://schemas.openxmlformats.org/drawingml/2006/main">
              <a:ext uri="{FF2B5EF4-FFF2-40B4-BE49-F238E27FC236}">
                <a16:creationId xmlns:a16="http://schemas.microsoft.com/office/drawing/2014/main" id="{9785AE88-804F-4407-B97B-D548959BDAB4}"/>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09</a:t>
            </a:r>
          </a:p>
        </p:txBody>
      </p:sp>
      <p:sp>
        <p:nvSpPr>
          <p:cNvPr id="8" name="">
            <a:extLst xmlns:a="http://schemas.openxmlformats.org/drawingml/2006/main">
              <a:ext uri="{FF2B5EF4-FFF2-40B4-BE49-F238E27FC236}">
                <a16:creationId xmlns:a16="http://schemas.microsoft.com/office/drawing/2014/main" id="{3EADFBD1-22FA-48E8-BFE4-A2F7F764F5E5}"/>
              </a:ext>
            </a:extLst>
          </p:cNvPr>
          <p:cNvSpPr>
            <a:spLocks xmlns:a="http://schemas.openxmlformats.org/drawingml/2006/main" noGrp="1"/>
          </p:cNvSpPr>
          <p:nvPr/>
        </p:nvSpPr>
        <p:spPr>
          <a:xfrm xmlns:a="http://schemas.openxmlformats.org/drawingml/2006/main">
            <a:off x="3571875" y="3714750"/>
            <a:ext cx="1095375" cy="0"/>
          </a:xfrm>
          <a:prstGeom xmlns:a="http://schemas.openxmlformats.org/drawingml/2006/main" prst="line">
            <a:avLst/>
          </a:prstGeom>
          <a:noFill xmlns:a="http://schemas.openxmlformats.org/drawingml/2006/main"/>
          <a:ln xmlns:a="http://schemas.openxmlformats.org/drawingml/2006/main" w="28575">
            <a:solidFill>
              <a:srgbClr val="C56D4A"/>
            </a:solidFill>
            <a:prstDash val="solid"/>
          </a:ln>
        </p:spPr>
      </p:sp>
      <p:sp>
        <p:nvSpPr>
          <p:cNvPr id="9" name="">
            <a:extLst xmlns:a="http://schemas.openxmlformats.org/drawingml/2006/main">
              <a:ext uri="{FF2B5EF4-FFF2-40B4-BE49-F238E27FC236}">
                <a16:creationId xmlns:a16="http://schemas.microsoft.com/office/drawing/2014/main" id="{17730680-3BDA-495A-AA37-8D62D0ABC7C8}"/>
              </a:ext>
            </a:extLst>
          </p:cNvPr>
          <p:cNvSpPr>
            <a:spLocks xmlns:a="http://schemas.openxmlformats.org/drawingml/2006/main" noGrp="1"/>
          </p:cNvSpPr>
          <p:nvPr/>
        </p:nvSpPr>
        <p:spPr>
          <a:xfrm xmlns:a="http://schemas.openxmlformats.org/drawingml/2006/main">
            <a:off x="7524750" y="3714750"/>
            <a:ext cx="1095375"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0" name="synth-left">
            <a:extLst xmlns:a="http://schemas.openxmlformats.org/drawingml/2006/main">
              <a:ext uri="{FF2B5EF4-FFF2-40B4-BE49-F238E27FC236}">
                <a16:creationId xmlns:a16="http://schemas.microsoft.com/office/drawing/2014/main" id="{EF9B339A-FA85-4841-BA3D-0D8E836A8131}"/>
              </a:ext>
            </a:extLst>
          </p:cNvPr>
          <p:cNvSpPr>
            <a:spLocks xmlns:a="http://schemas.openxmlformats.org/drawingml/2006/main" noGrp="1"/>
          </p:cNvSpPr>
          <p:nvPr/>
        </p:nvSpPr>
        <p:spPr>
          <a:xfrm xmlns:a="http://schemas.openxmlformats.org/drawingml/2006/main">
            <a:off x="714375" y="2286000"/>
            <a:ext cx="2857500" cy="2857500"/>
          </a:xfrm>
          <a:prstGeom xmlns:a="http://schemas.openxmlformats.org/drawingml/2006/main" prst="roundRect">
            <a:avLst>
              <a:gd name="adj" fmla="val 4000"/>
            </a:avLst>
          </a:prstGeom>
          <a:solidFill xmlns:a="http://schemas.openxmlformats.org/drawingml/2006/main">
            <a:srgbClr val="F9E9E6"/>
          </a:solidFill>
          <a:ln xmlns:a="http://schemas.openxmlformats.org/drawingml/2006/main" w="9525">
            <a:solidFill>
              <a:srgbClr val="C56D4A"/>
            </a:solidFill>
            <a:prstDash val="solid"/>
          </a:ln>
        </p:spPr>
      </p:sp>
      <p:sp>
        <p:nvSpPr>
          <p:cNvPr id="11" name="synth-mid">
            <a:extLst xmlns:a="http://schemas.openxmlformats.org/drawingml/2006/main">
              <a:ext uri="{FF2B5EF4-FFF2-40B4-BE49-F238E27FC236}">
                <a16:creationId xmlns:a16="http://schemas.microsoft.com/office/drawing/2014/main" id="{A252D822-A481-4C5A-94A5-751731E00F5B}"/>
              </a:ext>
            </a:extLst>
          </p:cNvPr>
          <p:cNvSpPr>
            <a:spLocks xmlns:a="http://schemas.openxmlformats.org/drawingml/2006/main" noGrp="1"/>
          </p:cNvSpPr>
          <p:nvPr/>
        </p:nvSpPr>
        <p:spPr>
          <a:xfrm xmlns:a="http://schemas.openxmlformats.org/drawingml/2006/main">
            <a:off x="4667250" y="2286000"/>
            <a:ext cx="2857500" cy="2857500"/>
          </a:xfrm>
          <a:prstGeom xmlns:a="http://schemas.openxmlformats.org/drawingml/2006/main" prst="roundRect">
            <a:avLst>
              <a:gd name="adj" fmla="val 4000"/>
            </a:avLst>
          </a:prstGeom>
          <a:solidFill xmlns:a="http://schemas.openxmlformats.org/drawingml/2006/main">
            <a:srgbClr val="071A2B"/>
          </a:solidFill>
          <a:ln xmlns:a="http://schemas.openxmlformats.org/drawingml/2006/main" w="0">
            <a:solidFill>
              <a:srgbClr val="071A2B"/>
            </a:solidFill>
            <a:prstDash val="solid"/>
          </a:ln>
        </p:spPr>
      </p:sp>
      <p:sp>
        <p:nvSpPr>
          <p:cNvPr id="12" name="synth-right">
            <a:extLst xmlns:a="http://schemas.openxmlformats.org/drawingml/2006/main">
              <a:ext uri="{FF2B5EF4-FFF2-40B4-BE49-F238E27FC236}">
                <a16:creationId xmlns:a16="http://schemas.microsoft.com/office/drawing/2014/main" id="{EB7D6562-61AA-4117-81A7-758DDE975434}"/>
              </a:ext>
            </a:extLst>
          </p:cNvPr>
          <p:cNvSpPr>
            <a:spLocks xmlns:a="http://schemas.openxmlformats.org/drawingml/2006/main" noGrp="1"/>
          </p:cNvSpPr>
          <p:nvPr/>
        </p:nvSpPr>
        <p:spPr>
          <a:xfrm xmlns:a="http://schemas.openxmlformats.org/drawingml/2006/main">
            <a:off x="8620125" y="2286000"/>
            <a:ext cx="2857500" cy="2857500"/>
          </a:xfrm>
          <a:prstGeom xmlns:a="http://schemas.openxmlformats.org/drawingml/2006/main" prst="roundRect">
            <a:avLst>
              <a:gd name="adj" fmla="val 4000"/>
            </a:avLst>
          </a:prstGeom>
          <a:solidFill xmlns:a="http://schemas.openxmlformats.org/drawingml/2006/main">
            <a:srgbClr val="E5F5F3"/>
          </a:solidFill>
          <a:ln xmlns:a="http://schemas.openxmlformats.org/drawingml/2006/main" w="9525">
            <a:solidFill>
              <a:srgbClr val="18A6A6"/>
            </a:solidFill>
            <a:prstDash val="solid"/>
          </a:ln>
        </p:spPr>
      </p:sp>
      <p:sp>
        <p:nvSpPr>
          <p:cNvPr id="13" name="synth-left-k">
            <a:extLst xmlns:a="http://schemas.openxmlformats.org/drawingml/2006/main">
              <a:ext uri="{FF2B5EF4-FFF2-40B4-BE49-F238E27FC236}">
                <a16:creationId xmlns:a16="http://schemas.microsoft.com/office/drawing/2014/main" id="{51D0642A-2601-45B4-BFA8-FAB8A7C6C6FF}"/>
              </a:ext>
            </a:extLst>
          </p:cNvPr>
          <p:cNvSpPr>
            <a:spLocks xmlns:a="http://schemas.openxmlformats.org/drawingml/2006/main" noGrp="1"/>
          </p:cNvSpPr>
          <p:nvPr/>
        </p:nvSpPr>
        <p:spPr>
          <a:xfrm xmlns:a="http://schemas.openxmlformats.org/drawingml/2006/main">
            <a:off x="1000125" y="2571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C56D4A"/>
                </a:solidFill>
              </a:defRPr>
            </a:pPr>
            <a:r>
              <a:rPr sz="1125" b="1">
                <a:solidFill>
                  <a:srgbClr val="C56D4A"/>
                </a:solidFill>
              </a:rPr>
              <a:t>OBSERVED FAILURES</a:t>
            </a:r>
          </a:p>
        </p:txBody>
      </p:sp>
      <p:sp>
        <p:nvSpPr>
          <p:cNvPr id="14" name="synth-left-v">
            <a:extLst xmlns:a="http://schemas.openxmlformats.org/drawingml/2006/main">
              <a:ext uri="{FF2B5EF4-FFF2-40B4-BE49-F238E27FC236}">
                <a16:creationId xmlns:a16="http://schemas.microsoft.com/office/drawing/2014/main" id="{7B549C91-EE17-4390-846C-9584B0B0BAEE}"/>
              </a:ext>
            </a:extLst>
          </p:cNvPr>
          <p:cNvSpPr>
            <a:spLocks xmlns:a="http://schemas.openxmlformats.org/drawingml/2006/main" noGrp="1"/>
          </p:cNvSpPr>
          <p:nvPr/>
        </p:nvSpPr>
        <p:spPr>
          <a:xfrm xmlns:a="http://schemas.openxmlformats.org/drawingml/2006/main">
            <a:off x="1000125" y="31432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a:solidFill>
                  <a:srgbClr val="102330"/>
                </a:solidFill>
              </a:defRPr>
            </a:pPr>
            <a:r>
              <a:rPr sz="1050">
                <a:solidFill>
                  <a:srgbClr val="102330"/>
                </a:solidFill>
              </a:rPr>
              <a:t>no observed failure</a:t>
            </a:r>
          </a:p>
          <a:p xmlns:a="http://schemas.openxmlformats.org/drawingml/2006/main">
            <a:pPr algn="ctr">
              <a:defRPr sz="1050">
                <a:solidFill>
                  <a:srgbClr val="102330"/>
                </a:solidFill>
              </a:defRPr>
            </a:pPr>
            <a:r>
              <a:rPr sz="1050">
                <a:solidFill>
                  <a:srgbClr val="102330"/>
                </a:solidFill>
              </a:rPr>
              <a:t>→ fallback taxonomy</a:t>
            </a:r>
          </a:p>
        </p:txBody>
      </p:sp>
      <p:sp>
        <p:nvSpPr>
          <p:cNvPr id="15" name="synth-mid-k">
            <a:extLst xmlns:a="http://schemas.openxmlformats.org/drawingml/2006/main">
              <a:ext uri="{FF2B5EF4-FFF2-40B4-BE49-F238E27FC236}">
                <a16:creationId xmlns:a16="http://schemas.microsoft.com/office/drawing/2014/main" id="{C16D24B0-A13F-4A6B-BC06-BC6895E55A13}"/>
              </a:ext>
            </a:extLst>
          </p:cNvPr>
          <p:cNvSpPr>
            <a:spLocks xmlns:a="http://schemas.openxmlformats.org/drawingml/2006/main" noGrp="1"/>
          </p:cNvSpPr>
          <p:nvPr/>
        </p:nvSpPr>
        <p:spPr>
          <a:xfrm xmlns:a="http://schemas.openxmlformats.org/drawingml/2006/main">
            <a:off x="5048250" y="2590800"/>
            <a:ext cx="2095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D6A84B"/>
                </a:solidFill>
              </a:defRPr>
            </a:pPr>
            <a:r>
              <a:rPr sz="1200" b="1">
                <a:solidFill>
                  <a:srgbClr val="D6A84B"/>
                </a:solidFill>
              </a:rPr>
              <a:t>DETERMINISTIC</a:t>
            </a:r>
          </a:p>
          <a:p xmlns:a="http://schemas.openxmlformats.org/drawingml/2006/main">
            <a:pPr algn="ctr">
              <a:defRPr sz="1200" b="1">
                <a:solidFill>
                  <a:srgbClr val="D6A84B"/>
                </a:solidFill>
              </a:defRPr>
            </a:pPr>
            <a:r>
              <a:rPr sz="1200" b="1">
                <a:solidFill>
                  <a:srgbClr val="D6A84B"/>
                </a:solidFill>
              </a:rPr>
              <a:t>TRANSFORMS</a:t>
            </a:r>
          </a:p>
        </p:txBody>
      </p:sp>
      <p:sp>
        <p:nvSpPr>
          <p:cNvPr id="16" name="synth-mid-v">
            <a:extLst xmlns:a="http://schemas.openxmlformats.org/drawingml/2006/main">
              <a:ext uri="{FF2B5EF4-FFF2-40B4-BE49-F238E27FC236}">
                <a16:creationId xmlns:a16="http://schemas.microsoft.com/office/drawing/2014/main" id="{7AB9CBB9-D106-4C47-8346-42D9FB374C34}"/>
              </a:ext>
            </a:extLst>
          </p:cNvPr>
          <p:cNvSpPr>
            <a:spLocks xmlns:a="http://schemas.openxmlformats.org/drawingml/2006/main" noGrp="1"/>
          </p:cNvSpPr>
          <p:nvPr/>
        </p:nvSpPr>
        <p:spPr>
          <a:xfrm xmlns:a="http://schemas.openxmlformats.org/drawingml/2006/main">
            <a:off x="5095875" y="3429000"/>
            <a:ext cx="2000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20000"/>
              </a:lnSpc>
              <a:buNone/>
              <a:defRPr sz="1350" b="1">
                <a:solidFill>
                  <a:srgbClr val="FFFFFF"/>
                </a:solidFill>
              </a:defRPr>
            </a:pPr>
            <a:r>
              <a:rPr sz="1350" b="1">
                <a:solidFill>
                  <a:srgbClr val="FFFFFF"/>
                </a:solidFill>
              </a:rPr>
              <a:t>+ decoy orders</a:t>
            </a:r>
          </a:p>
          <a:p xmlns:a="http://schemas.openxmlformats.org/drawingml/2006/main">
            <a:pPr algn="ctr">
              <a:lnSpc>
                <a:spcPct val="120000"/>
              </a:lnSpc>
              <a:buNone/>
              <a:defRPr sz="1350" b="1">
                <a:solidFill>
                  <a:srgbClr val="FFFFFF"/>
                </a:solidFill>
              </a:defRPr>
            </a:pPr>
            <a:r>
              <a:rPr sz="1350" b="1">
                <a:solidFill>
                  <a:srgbClr val="FFFFFF"/>
                </a:solidFill>
              </a:rPr>
              <a:t>+ transient timeout</a:t>
            </a:r>
          </a:p>
          <a:p xmlns:a="http://schemas.openxmlformats.org/drawingml/2006/main">
            <a:pPr algn="ctr">
              <a:lnSpc>
                <a:spcPct val="120000"/>
              </a:lnSpc>
              <a:buNone/>
              <a:defRPr sz="1350" b="1">
                <a:solidFill>
                  <a:srgbClr val="FFFFFF"/>
                </a:solidFill>
              </a:defRPr>
            </a:pPr>
            <a:r>
              <a:rPr sz="1350" b="1">
                <a:solidFill>
                  <a:srgbClr val="FFFFFF"/>
                </a:solidFill>
              </a:rPr>
              <a:t>+ exact confirmation</a:t>
            </a:r>
          </a:p>
          <a:p xmlns:a="http://schemas.openxmlformats.org/drawingml/2006/main">
            <a:pPr algn="ctr">
              <a:lnSpc>
                <a:spcPct val="120000"/>
              </a:lnSpc>
              <a:buNone/>
              <a:defRPr sz="1350" b="1">
                <a:solidFill>
                  <a:srgbClr val="FFFFFF"/>
                </a:solidFill>
              </a:defRPr>
            </a:pPr>
            <a:r>
              <a:rPr sz="1350" b="1">
                <a:solidFill>
                  <a:srgbClr val="FFFFFF"/>
                </a:solidFill>
              </a:rPr>
              <a:t>+ old-task replay</a:t>
            </a:r>
          </a:p>
        </p:txBody>
      </p:sp>
      <p:sp>
        <p:nvSpPr>
          <p:cNvPr id="17" name="synth-right-k">
            <a:extLst xmlns:a="http://schemas.openxmlformats.org/drawingml/2006/main">
              <a:ext uri="{FF2B5EF4-FFF2-40B4-BE49-F238E27FC236}">
                <a16:creationId xmlns:a16="http://schemas.microsoft.com/office/drawing/2014/main" id="{08CBE57A-1537-4F84-A4F5-36023C5963FA}"/>
              </a:ext>
            </a:extLst>
          </p:cNvPr>
          <p:cNvSpPr>
            <a:spLocks xmlns:a="http://schemas.openxmlformats.org/drawingml/2006/main" noGrp="1"/>
          </p:cNvSpPr>
          <p:nvPr/>
        </p:nvSpPr>
        <p:spPr>
          <a:xfrm xmlns:a="http://schemas.openxmlformats.org/drawingml/2006/main">
            <a:off x="8953500" y="2571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0B797B"/>
                </a:solidFill>
              </a:defRPr>
            </a:pPr>
            <a:r>
              <a:rPr sz="1125" b="1">
                <a:solidFill>
                  <a:srgbClr val="0B797B"/>
                </a:solidFill>
              </a:rPr>
              <a:t>STAGE-2 MIX</a:t>
            </a:r>
          </a:p>
        </p:txBody>
      </p:sp>
      <p:sp>
        <p:nvSpPr>
          <p:cNvPr id="18" name="synth-right-v">
            <a:extLst xmlns:a="http://schemas.openxmlformats.org/drawingml/2006/main">
              <a:ext uri="{FF2B5EF4-FFF2-40B4-BE49-F238E27FC236}">
                <a16:creationId xmlns:a16="http://schemas.microsoft.com/office/drawing/2014/main" id="{F40F0917-7CB4-4D39-94B3-327537BAACF2}"/>
              </a:ext>
            </a:extLst>
          </p:cNvPr>
          <p:cNvSpPr>
            <a:spLocks xmlns:a="http://schemas.openxmlformats.org/drawingml/2006/main" noGrp="1"/>
          </p:cNvSpPr>
          <p:nvPr/>
        </p:nvSpPr>
        <p:spPr>
          <a:xfrm xmlns:a="http://schemas.openxmlformats.org/drawingml/2006/main">
            <a:off x="9001125" y="3314700"/>
            <a:ext cx="2095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025" b="1">
                <a:solidFill>
                  <a:srgbClr val="071A2B"/>
                </a:solidFill>
              </a:defRPr>
            </a:pPr>
            <a:r>
              <a:rPr sz="2025" b="1">
                <a:solidFill>
                  <a:srgbClr val="071A2B"/>
                </a:solidFill>
              </a:rPr>
              <a:t>8 hard tasks</a:t>
            </a:r>
          </a:p>
          <a:p xmlns:a="http://schemas.openxmlformats.org/drawingml/2006/main">
            <a:pPr algn="ctr">
              <a:defRPr sz="2025" b="1">
                <a:solidFill>
                  <a:srgbClr val="071A2B"/>
                </a:solidFill>
              </a:defRPr>
            </a:pPr>
            <a:r>
              <a:rPr sz="2025" b="1">
                <a:solidFill>
                  <a:srgbClr val="071A2B"/>
                </a:solidFill>
              </a:rPr>
              <a:t>+</a:t>
            </a:r>
          </a:p>
          <a:p xmlns:a="http://schemas.openxmlformats.org/drawingml/2006/main">
            <a:pPr algn="ctr">
              <a:defRPr sz="2025" b="1">
                <a:solidFill>
                  <a:srgbClr val="071A2B"/>
                </a:solidFill>
              </a:defRPr>
            </a:pPr>
            <a:r>
              <a:rPr sz="2025" b="1">
                <a:solidFill>
                  <a:srgbClr val="071A2B"/>
                </a:solidFill>
              </a:rPr>
              <a:t>4 replay tasks</a:t>
            </a:r>
          </a:p>
        </p:txBody>
      </p:sp>
      <p:sp>
        <p:nvSpPr>
          <p:cNvPr id="19" name="synth-hash">
            <a:extLst xmlns:a="http://schemas.openxmlformats.org/drawingml/2006/main">
              <a:ext uri="{FF2B5EF4-FFF2-40B4-BE49-F238E27FC236}">
                <a16:creationId xmlns:a16="http://schemas.microsoft.com/office/drawing/2014/main" id="{FBE6BD74-65FA-4192-B6DB-7D7E6F1441C0}"/>
              </a:ext>
            </a:extLst>
          </p:cNvPr>
          <p:cNvSpPr>
            <a:spLocks xmlns:a="http://schemas.openxmlformats.org/drawingml/2006/main" noGrp="1"/>
          </p:cNvSpPr>
          <p:nvPr/>
        </p:nvSpPr>
        <p:spPr>
          <a:xfrm xmlns:a="http://schemas.openxmlformats.org/drawingml/2006/main">
            <a:off x="1762125" y="5619750"/>
            <a:ext cx="866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64747B"/>
                </a:solidFill>
              </a:defRPr>
            </a:pPr>
            <a:r>
              <a:rPr sz="1050" b="1">
                <a:solidFill>
                  <a:srgbClr val="64747B"/>
                </a:solidFill>
              </a:rPr>
              <a:t>source trace  ca0d54b78a400…    stage2 data  5790304c792b7…</a:t>
            </a:r>
          </a:p>
        </p:txBody>
      </p:sp>
    </p:spTree>
    <p:extLst>
      <p:ext uri="{BB962C8B-B14F-4D97-AF65-F5344CB8AC3E}">
        <p14:creationId xmlns:p14="http://schemas.microsoft.com/office/powerpoint/2010/main" val="1658170826"/>
      </p:ext>
    </p:extLst>
  </p:cSld>
</p:sld>
</file>

<file path=ppt/slides/slide10.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32" name="rail-10">
            <a:extLst xmlns:a="http://schemas.openxmlformats.org/drawingml/2006/main">
              <a:ext uri="{FF2B5EF4-FFF2-40B4-BE49-F238E27FC236}">
                <a16:creationId xmlns:a16="http://schemas.microsoft.com/office/drawing/2014/main" id="{1B0C0F30-B05F-42A5-9FBF-D402549EC3B1}"/>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0">
            <a:extLst xmlns:a="http://schemas.openxmlformats.org/drawingml/2006/main">
              <a:ext uri="{FF2B5EF4-FFF2-40B4-BE49-F238E27FC236}">
                <a16:creationId xmlns:a16="http://schemas.microsoft.com/office/drawing/2014/main" id="{803EAF10-B44D-459B-8271-7C7EF44AC11D}"/>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0">
            <a:extLst xmlns:a="http://schemas.openxmlformats.org/drawingml/2006/main">
              <a:ext uri="{FF2B5EF4-FFF2-40B4-BE49-F238E27FC236}">
                <a16:creationId xmlns:a16="http://schemas.microsoft.com/office/drawing/2014/main" id="{C6DED371-E487-40C1-AB71-E758E28042EC}"/>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STAGE 2</a:t>
            </a:r>
          </a:p>
        </p:txBody>
      </p:sp>
      <p:sp>
        <p:nvSpPr>
          <p:cNvPr id="4" name="title-10">
            <a:extLst xmlns:a="http://schemas.openxmlformats.org/drawingml/2006/main">
              <a:ext uri="{FF2B5EF4-FFF2-40B4-BE49-F238E27FC236}">
                <a16:creationId xmlns:a16="http://schemas.microsoft.com/office/drawing/2014/main" id="{5508BE95-FECA-48F8-A55F-AC92C9133A7A}"/>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从 Stage-1 adapter 继续训练，效果是否真的改变？</a:t>
            </a:r>
          </a:p>
        </p:txBody>
      </p:sp>
      <p:sp>
        <p:nvSpPr>
          <p:cNvPr id="5" name="subtitle-10">
            <a:extLst xmlns:a="http://schemas.openxmlformats.org/drawingml/2006/main">
              <a:ext uri="{FF2B5EF4-FFF2-40B4-BE49-F238E27FC236}">
                <a16:creationId xmlns:a16="http://schemas.microsoft.com/office/drawing/2014/main" id="{86D0FA3E-8752-43EA-9089-664621A30911}"/>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算法效果和工程完整性分开判断：即使指标不升，只要审计通过，它仍是一个真实负结果。</a:t>
            </a:r>
          </a:p>
        </p:txBody>
      </p:sp>
      <p:sp>
        <p:nvSpPr>
          <p:cNvPr id="6" name="">
            <a:extLst xmlns:a="http://schemas.openxmlformats.org/drawingml/2006/main">
              <a:ext uri="{FF2B5EF4-FFF2-40B4-BE49-F238E27FC236}">
                <a16:creationId xmlns:a16="http://schemas.microsoft.com/office/drawing/2014/main" id="{8E144FF5-EC4F-469A-A1F8-B59A74832220}"/>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0">
            <a:extLst xmlns:a="http://schemas.openxmlformats.org/drawingml/2006/main">
              <a:ext uri="{FF2B5EF4-FFF2-40B4-BE49-F238E27FC236}">
                <a16:creationId xmlns:a16="http://schemas.microsoft.com/office/drawing/2014/main" id="{07CFF9FD-6A49-4835-9CB6-2768F48F8123}"/>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10</a:t>
            </a:r>
          </a:p>
        </p:txBody>
      </p:sp>
      <p:sp>
        <p:nvSpPr>
          <p:cNvPr id="8" name="s2-label-0">
            <a:extLst xmlns:a="http://schemas.openxmlformats.org/drawingml/2006/main">
              <a:ext uri="{FF2B5EF4-FFF2-40B4-BE49-F238E27FC236}">
                <a16:creationId xmlns:a16="http://schemas.microsoft.com/office/drawing/2014/main" id="{F71E654E-BB4F-4613-9CA7-4737629E7F20}"/>
              </a:ext>
            </a:extLst>
          </p:cNvPr>
          <p:cNvSpPr>
            <a:spLocks xmlns:a="http://schemas.openxmlformats.org/drawingml/2006/main" noGrp="1"/>
          </p:cNvSpPr>
          <p:nvPr/>
        </p:nvSpPr>
        <p:spPr>
          <a:xfrm xmlns:a="http://schemas.openxmlformats.org/drawingml/2006/main">
            <a:off x="857250" y="244792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71A2B"/>
                </a:solidFill>
              </a:defRPr>
            </a:pPr>
            <a:r>
              <a:rPr sz="1500" b="1">
                <a:solidFill>
                  <a:srgbClr val="071A2B"/>
                </a:solidFill>
              </a:rPr>
              <a:t>Final holdout success</a:t>
            </a:r>
          </a:p>
        </p:txBody>
      </p:sp>
      <p:sp>
        <p:nvSpPr>
          <p:cNvPr id="9" name="s2-track-a-0">
            <a:extLst xmlns:a="http://schemas.openxmlformats.org/drawingml/2006/main">
              <a:ext uri="{FF2B5EF4-FFF2-40B4-BE49-F238E27FC236}">
                <a16:creationId xmlns:a16="http://schemas.microsoft.com/office/drawing/2014/main" id="{5D82D279-ECD4-449A-8161-7A42FDE41C19}"/>
              </a:ext>
            </a:extLst>
          </p:cNvPr>
          <p:cNvSpPr>
            <a:spLocks xmlns:a="http://schemas.openxmlformats.org/drawingml/2006/main" noGrp="1"/>
          </p:cNvSpPr>
          <p:nvPr/>
        </p:nvSpPr>
        <p:spPr>
          <a:xfrm xmlns:a="http://schemas.openxmlformats.org/drawingml/2006/main">
            <a:off x="3905250" y="252412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0" name="s2-a-0">
            <a:extLst xmlns:a="http://schemas.openxmlformats.org/drawingml/2006/main">
              <a:ext uri="{FF2B5EF4-FFF2-40B4-BE49-F238E27FC236}">
                <a16:creationId xmlns:a16="http://schemas.microsoft.com/office/drawing/2014/main" id="{0FC142B1-E9BC-44E9-B081-A588CD712335}"/>
              </a:ext>
            </a:extLst>
          </p:cNvPr>
          <p:cNvSpPr>
            <a:spLocks xmlns:a="http://schemas.openxmlformats.org/drawingml/2006/main" noGrp="1"/>
          </p:cNvSpPr>
          <p:nvPr/>
        </p:nvSpPr>
        <p:spPr>
          <a:xfrm xmlns:a="http://schemas.openxmlformats.org/drawingml/2006/main">
            <a:off x="3905250" y="2524125"/>
            <a:ext cx="3619500" cy="209550"/>
          </a:xfrm>
          <a:prstGeom xmlns:a="http://schemas.openxmlformats.org/drawingml/2006/main" prst="roundRect">
            <a:avLst>
              <a:gd name="adj" fmla="val 50000"/>
            </a:avLst>
          </a:prstGeom>
          <a:solidFill xmlns:a="http://schemas.openxmlformats.org/drawingml/2006/main">
            <a:srgbClr val="9AA8AD"/>
          </a:solidFill>
          <a:ln xmlns:a="http://schemas.openxmlformats.org/drawingml/2006/main" w="0">
            <a:solidFill>
              <a:srgbClr val="9AA8AD"/>
            </a:solidFill>
            <a:prstDash val="solid"/>
          </a:ln>
        </p:spPr>
      </p:sp>
      <p:sp>
        <p:nvSpPr>
          <p:cNvPr id="11" name="s2-track-b-0">
            <a:extLst xmlns:a="http://schemas.openxmlformats.org/drawingml/2006/main">
              <a:ext uri="{FF2B5EF4-FFF2-40B4-BE49-F238E27FC236}">
                <a16:creationId xmlns:a16="http://schemas.microsoft.com/office/drawing/2014/main" id="{FF665D72-AA16-4797-B241-ACC0172D0627}"/>
              </a:ext>
            </a:extLst>
          </p:cNvPr>
          <p:cNvSpPr>
            <a:spLocks xmlns:a="http://schemas.openxmlformats.org/drawingml/2006/main" noGrp="1"/>
          </p:cNvSpPr>
          <p:nvPr/>
        </p:nvSpPr>
        <p:spPr>
          <a:xfrm xmlns:a="http://schemas.openxmlformats.org/drawingml/2006/main">
            <a:off x="3905250" y="298132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2" name="s2-b-0">
            <a:extLst xmlns:a="http://schemas.openxmlformats.org/drawingml/2006/main">
              <a:ext uri="{FF2B5EF4-FFF2-40B4-BE49-F238E27FC236}">
                <a16:creationId xmlns:a16="http://schemas.microsoft.com/office/drawing/2014/main" id="{9937E3BF-0ACE-436B-AC54-1EDE0F86C8F0}"/>
              </a:ext>
            </a:extLst>
          </p:cNvPr>
          <p:cNvSpPr>
            <a:spLocks xmlns:a="http://schemas.openxmlformats.org/drawingml/2006/main" noGrp="1"/>
          </p:cNvSpPr>
          <p:nvPr/>
        </p:nvSpPr>
        <p:spPr>
          <a:xfrm xmlns:a="http://schemas.openxmlformats.org/drawingml/2006/main">
            <a:off x="3905250" y="2981325"/>
            <a:ext cx="5429250" cy="20955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3" name="s2-value-0">
            <a:extLst xmlns:a="http://schemas.openxmlformats.org/drawingml/2006/main">
              <a:ext uri="{FF2B5EF4-FFF2-40B4-BE49-F238E27FC236}">
                <a16:creationId xmlns:a16="http://schemas.microsoft.com/office/drawing/2014/main" id="{DF9757F1-1773-43C3-A155-BDBDF6A5CE58}"/>
              </a:ext>
            </a:extLst>
          </p:cNvPr>
          <p:cNvSpPr>
            <a:spLocks xmlns:a="http://schemas.openxmlformats.org/drawingml/2006/main" noGrp="1"/>
          </p:cNvSpPr>
          <p:nvPr/>
        </p:nvSpPr>
        <p:spPr>
          <a:xfrm xmlns:a="http://schemas.openxmlformats.org/drawingml/2006/main">
            <a:off x="9525000" y="2676525"/>
            <a:ext cx="152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500" b="1">
                <a:solidFill>
                  <a:srgbClr val="228B67"/>
                </a:solidFill>
              </a:defRPr>
            </a:pPr>
            <a:r>
              <a:rPr sz="1500" b="1">
                <a:solidFill>
                  <a:srgbClr val="228B67"/>
                </a:solidFill>
              </a:rPr>
              <a:t>66.7%  →  100.0%</a:t>
            </a:r>
          </a:p>
        </p:txBody>
      </p:sp>
      <p:sp>
        <p:nvSpPr>
          <p:cNvPr id="14" name="s2-label-1">
            <a:extLst xmlns:a="http://schemas.openxmlformats.org/drawingml/2006/main">
              <a:ext uri="{FF2B5EF4-FFF2-40B4-BE49-F238E27FC236}">
                <a16:creationId xmlns:a16="http://schemas.microsoft.com/office/drawing/2014/main" id="{626455D0-9689-415A-AB77-1802B32900E7}"/>
              </a:ext>
            </a:extLst>
          </p:cNvPr>
          <p:cNvSpPr>
            <a:spLocks xmlns:a="http://schemas.openxmlformats.org/drawingml/2006/main" noGrp="1"/>
          </p:cNvSpPr>
          <p:nvPr/>
        </p:nvSpPr>
        <p:spPr>
          <a:xfrm xmlns:a="http://schemas.openxmlformats.org/drawingml/2006/main">
            <a:off x="857250" y="387667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71A2B"/>
                </a:solidFill>
              </a:defRPr>
            </a:pPr>
            <a:r>
              <a:rPr sz="1500" b="1">
                <a:solidFill>
                  <a:srgbClr val="071A2B"/>
                </a:solidFill>
              </a:rPr>
              <a:t>Mean combined reward</a:t>
            </a:r>
          </a:p>
        </p:txBody>
      </p:sp>
      <p:sp>
        <p:nvSpPr>
          <p:cNvPr id="15" name="s2-track-a-1">
            <a:extLst xmlns:a="http://schemas.openxmlformats.org/drawingml/2006/main">
              <a:ext uri="{FF2B5EF4-FFF2-40B4-BE49-F238E27FC236}">
                <a16:creationId xmlns:a16="http://schemas.microsoft.com/office/drawing/2014/main" id="{7C4AC0B3-D96A-43AB-A0F0-949C753FB734}"/>
              </a:ext>
            </a:extLst>
          </p:cNvPr>
          <p:cNvSpPr>
            <a:spLocks xmlns:a="http://schemas.openxmlformats.org/drawingml/2006/main" noGrp="1"/>
          </p:cNvSpPr>
          <p:nvPr/>
        </p:nvSpPr>
        <p:spPr>
          <a:xfrm xmlns:a="http://schemas.openxmlformats.org/drawingml/2006/main">
            <a:off x="3905250" y="395287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6" name="s2-a-1">
            <a:extLst xmlns:a="http://schemas.openxmlformats.org/drawingml/2006/main">
              <a:ext uri="{FF2B5EF4-FFF2-40B4-BE49-F238E27FC236}">
                <a16:creationId xmlns:a16="http://schemas.microsoft.com/office/drawing/2014/main" id="{61A274E0-0F6E-445F-AE80-8220D832E30E}"/>
              </a:ext>
            </a:extLst>
          </p:cNvPr>
          <p:cNvSpPr>
            <a:spLocks xmlns:a="http://schemas.openxmlformats.org/drawingml/2006/main" noGrp="1"/>
          </p:cNvSpPr>
          <p:nvPr/>
        </p:nvSpPr>
        <p:spPr>
          <a:xfrm xmlns:a="http://schemas.openxmlformats.org/drawingml/2006/main">
            <a:off x="3905250" y="3952875"/>
            <a:ext cx="3498131" cy="209550"/>
          </a:xfrm>
          <a:prstGeom xmlns:a="http://schemas.openxmlformats.org/drawingml/2006/main" prst="roundRect">
            <a:avLst>
              <a:gd name="adj" fmla="val 50000"/>
            </a:avLst>
          </a:prstGeom>
          <a:solidFill xmlns:a="http://schemas.openxmlformats.org/drawingml/2006/main">
            <a:srgbClr val="9AA8AD"/>
          </a:solidFill>
          <a:ln xmlns:a="http://schemas.openxmlformats.org/drawingml/2006/main" w="0">
            <a:solidFill>
              <a:srgbClr val="9AA8AD"/>
            </a:solidFill>
            <a:prstDash val="solid"/>
          </a:ln>
        </p:spPr>
      </p:sp>
      <p:sp>
        <p:nvSpPr>
          <p:cNvPr id="17" name="s2-track-b-1">
            <a:extLst xmlns:a="http://schemas.openxmlformats.org/drawingml/2006/main">
              <a:ext uri="{FF2B5EF4-FFF2-40B4-BE49-F238E27FC236}">
                <a16:creationId xmlns:a16="http://schemas.microsoft.com/office/drawing/2014/main" id="{1799C0C8-F217-46F2-A58E-24B89581C4BB}"/>
              </a:ext>
            </a:extLst>
          </p:cNvPr>
          <p:cNvSpPr>
            <a:spLocks xmlns:a="http://schemas.openxmlformats.org/drawingml/2006/main" noGrp="1"/>
          </p:cNvSpPr>
          <p:nvPr/>
        </p:nvSpPr>
        <p:spPr>
          <a:xfrm xmlns:a="http://schemas.openxmlformats.org/drawingml/2006/main">
            <a:off x="3905250" y="441007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8" name="s2-b-1">
            <a:extLst xmlns:a="http://schemas.openxmlformats.org/drawingml/2006/main">
              <a:ext uri="{FF2B5EF4-FFF2-40B4-BE49-F238E27FC236}">
                <a16:creationId xmlns:a16="http://schemas.microsoft.com/office/drawing/2014/main" id="{B5D985BC-ACD2-4432-BDAF-B219E3CC49B8}"/>
              </a:ext>
            </a:extLst>
          </p:cNvPr>
          <p:cNvSpPr>
            <a:spLocks xmlns:a="http://schemas.openxmlformats.org/drawingml/2006/main" noGrp="1"/>
          </p:cNvSpPr>
          <p:nvPr/>
        </p:nvSpPr>
        <p:spPr>
          <a:xfrm xmlns:a="http://schemas.openxmlformats.org/drawingml/2006/main">
            <a:off x="3905250" y="4410075"/>
            <a:ext cx="5222315" cy="2095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19" name="s2-value-1">
            <a:extLst xmlns:a="http://schemas.openxmlformats.org/drawingml/2006/main">
              <a:ext uri="{FF2B5EF4-FFF2-40B4-BE49-F238E27FC236}">
                <a16:creationId xmlns:a16="http://schemas.microsoft.com/office/drawing/2014/main" id="{1DC48206-A967-4360-9C76-82C234D4057E}"/>
              </a:ext>
            </a:extLst>
          </p:cNvPr>
          <p:cNvSpPr>
            <a:spLocks xmlns:a="http://schemas.openxmlformats.org/drawingml/2006/main" noGrp="1"/>
          </p:cNvSpPr>
          <p:nvPr/>
        </p:nvSpPr>
        <p:spPr>
          <a:xfrm xmlns:a="http://schemas.openxmlformats.org/drawingml/2006/main">
            <a:off x="9525000" y="4105275"/>
            <a:ext cx="152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500" b="1">
                <a:solidFill>
                  <a:srgbClr val="228B67"/>
                </a:solidFill>
              </a:defRPr>
            </a:pPr>
            <a:r>
              <a:rPr sz="1500" b="1">
                <a:solidFill>
                  <a:srgbClr val="228B67"/>
                </a:solidFill>
              </a:rPr>
              <a:t>0.838  →  1.250</a:t>
            </a:r>
          </a:p>
        </p:txBody>
      </p:sp>
      <p:sp>
        <p:nvSpPr>
          <p:cNvPr id="20" name="">
            <a:extLst xmlns:a="http://schemas.openxmlformats.org/drawingml/2006/main">
              <a:ext uri="{FF2B5EF4-FFF2-40B4-BE49-F238E27FC236}">
                <a16:creationId xmlns:a16="http://schemas.microsoft.com/office/drawing/2014/main" id="{F931E67B-7A24-4271-B237-E7F2FB0BED9F}"/>
              </a:ext>
            </a:extLst>
          </p:cNvPr>
          <p:cNvSpPr>
            <a:spLocks xmlns:a="http://schemas.openxmlformats.org/drawingml/2006/main" noGrp="1"/>
          </p:cNvSpPr>
          <p:nvPr/>
        </p:nvSpPr>
        <p:spPr>
          <a:xfrm xmlns:a="http://schemas.openxmlformats.org/drawingml/2006/main">
            <a:off x="1143000" y="5429250"/>
            <a:ext cx="20002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21" name="s2-step-value">
            <a:extLst xmlns:a="http://schemas.openxmlformats.org/drawingml/2006/main">
              <a:ext uri="{FF2B5EF4-FFF2-40B4-BE49-F238E27FC236}">
                <a16:creationId xmlns:a16="http://schemas.microsoft.com/office/drawing/2014/main" id="{5473DF4D-80E8-4BA9-B57A-FAC31474233A}"/>
              </a:ext>
            </a:extLst>
          </p:cNvPr>
          <p:cNvSpPr>
            <a:spLocks xmlns:a="http://schemas.openxmlformats.org/drawingml/2006/main" noGrp="1"/>
          </p:cNvSpPr>
          <p:nvPr/>
        </p:nvSpPr>
        <p:spPr>
          <a:xfrm xmlns:a="http://schemas.openxmlformats.org/drawingml/2006/main">
            <a:off x="11430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12</a:t>
            </a:r>
          </a:p>
        </p:txBody>
      </p:sp>
      <p:sp>
        <p:nvSpPr>
          <p:cNvPr id="22" name="s2-step-label">
            <a:extLst xmlns:a="http://schemas.openxmlformats.org/drawingml/2006/main">
              <a:ext uri="{FF2B5EF4-FFF2-40B4-BE49-F238E27FC236}">
                <a16:creationId xmlns:a16="http://schemas.microsoft.com/office/drawing/2014/main" id="{5DFF219E-EA5D-4572-BC9F-4F1C443A3353}"/>
              </a:ext>
            </a:extLst>
          </p:cNvPr>
          <p:cNvSpPr>
            <a:spLocks xmlns:a="http://schemas.openxmlformats.org/drawingml/2006/main" noGrp="1"/>
          </p:cNvSpPr>
          <p:nvPr/>
        </p:nvSpPr>
        <p:spPr>
          <a:xfrm xmlns:a="http://schemas.openxmlformats.org/drawingml/2006/main">
            <a:off x="11430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Stage-2 optimizer steps</a:t>
            </a:r>
          </a:p>
        </p:txBody>
      </p:sp>
      <p:sp>
        <p:nvSpPr>
          <p:cNvPr id="23" name="">
            <a:extLst xmlns:a="http://schemas.openxmlformats.org/drawingml/2006/main">
              <a:ext uri="{FF2B5EF4-FFF2-40B4-BE49-F238E27FC236}">
                <a16:creationId xmlns:a16="http://schemas.microsoft.com/office/drawing/2014/main" id="{AE2C46FB-CFF2-40E9-A76C-BD2A009BB815}"/>
              </a:ext>
            </a:extLst>
          </p:cNvPr>
          <p:cNvSpPr>
            <a:spLocks xmlns:a="http://schemas.openxmlformats.org/drawingml/2006/main" noGrp="1"/>
          </p:cNvSpPr>
          <p:nvPr/>
        </p:nvSpPr>
        <p:spPr>
          <a:xfrm xmlns:a="http://schemas.openxmlformats.org/drawingml/2006/main">
            <a:off x="4000500" y="5429250"/>
            <a:ext cx="2000250" cy="0"/>
          </a:xfrm>
          <a:prstGeom xmlns:a="http://schemas.openxmlformats.org/drawingml/2006/main" prst="line">
            <a:avLst/>
          </a:prstGeom>
          <a:noFill xmlns:a="http://schemas.openxmlformats.org/drawingml/2006/main"/>
          <a:ln xmlns:a="http://schemas.openxmlformats.org/drawingml/2006/main" w="38100">
            <a:solidFill>
              <a:srgbClr val="C56D4A"/>
            </a:solidFill>
            <a:prstDash val="solid"/>
          </a:ln>
        </p:spPr>
      </p:sp>
      <p:sp>
        <p:nvSpPr>
          <p:cNvPr id="24" name="s2-time-value">
            <a:extLst xmlns:a="http://schemas.openxmlformats.org/drawingml/2006/main">
              <a:ext uri="{FF2B5EF4-FFF2-40B4-BE49-F238E27FC236}">
                <a16:creationId xmlns:a16="http://schemas.microsoft.com/office/drawing/2014/main" id="{0DD66ADE-DD21-44FF-803B-8A1530D3B216}"/>
              </a:ext>
            </a:extLst>
          </p:cNvPr>
          <p:cNvSpPr>
            <a:spLocks xmlns:a="http://schemas.openxmlformats.org/drawingml/2006/main" noGrp="1"/>
          </p:cNvSpPr>
          <p:nvPr/>
        </p:nvSpPr>
        <p:spPr>
          <a:xfrm xmlns:a="http://schemas.openxmlformats.org/drawingml/2006/main">
            <a:off x="40005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7m</a:t>
            </a:r>
          </a:p>
        </p:txBody>
      </p:sp>
      <p:sp>
        <p:nvSpPr>
          <p:cNvPr id="25" name="s2-time-label">
            <a:extLst xmlns:a="http://schemas.openxmlformats.org/drawingml/2006/main">
              <a:ext uri="{FF2B5EF4-FFF2-40B4-BE49-F238E27FC236}">
                <a16:creationId xmlns:a16="http://schemas.microsoft.com/office/drawing/2014/main" id="{76D1BA7F-7AC9-428D-8618-E1EF525FAAF1}"/>
              </a:ext>
            </a:extLst>
          </p:cNvPr>
          <p:cNvSpPr>
            <a:spLocks xmlns:a="http://schemas.openxmlformats.org/drawingml/2006/main" noGrp="1"/>
          </p:cNvSpPr>
          <p:nvPr/>
        </p:nvSpPr>
        <p:spPr>
          <a:xfrm xmlns:a="http://schemas.openxmlformats.org/drawingml/2006/main">
            <a:off x="40005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training wall time</a:t>
            </a:r>
          </a:p>
        </p:txBody>
      </p:sp>
      <p:sp>
        <p:nvSpPr>
          <p:cNvPr id="26" name="">
            <a:extLst xmlns:a="http://schemas.openxmlformats.org/drawingml/2006/main">
              <a:ext uri="{FF2B5EF4-FFF2-40B4-BE49-F238E27FC236}">
                <a16:creationId xmlns:a16="http://schemas.microsoft.com/office/drawing/2014/main" id="{BA10364E-EAC0-4967-AD92-B0BEDAF0D8F5}"/>
              </a:ext>
            </a:extLst>
          </p:cNvPr>
          <p:cNvSpPr>
            <a:spLocks xmlns:a="http://schemas.openxmlformats.org/drawingml/2006/main" noGrp="1"/>
          </p:cNvSpPr>
          <p:nvPr/>
        </p:nvSpPr>
        <p:spPr>
          <a:xfrm xmlns:a="http://schemas.openxmlformats.org/drawingml/2006/main">
            <a:off x="6858000" y="5429250"/>
            <a:ext cx="2000250" cy="0"/>
          </a:xfrm>
          <a:prstGeom xmlns:a="http://schemas.openxmlformats.org/drawingml/2006/main" prst="line">
            <a:avLst/>
          </a:prstGeom>
          <a:noFill xmlns:a="http://schemas.openxmlformats.org/drawingml/2006/main"/>
          <a:ln xmlns:a="http://schemas.openxmlformats.org/drawingml/2006/main" w="38100">
            <a:solidFill>
              <a:srgbClr val="228B67"/>
            </a:solidFill>
            <a:prstDash val="solid"/>
          </a:ln>
        </p:spPr>
      </p:sp>
      <p:sp>
        <p:nvSpPr>
          <p:cNvPr id="27" name="s2-replay-value">
            <a:extLst xmlns:a="http://schemas.openxmlformats.org/drawingml/2006/main">
              <a:ext uri="{FF2B5EF4-FFF2-40B4-BE49-F238E27FC236}">
                <a16:creationId xmlns:a16="http://schemas.microsoft.com/office/drawing/2014/main" id="{6652B8A5-A8D7-4B94-8A0C-662C965ABF10}"/>
              </a:ext>
            </a:extLst>
          </p:cNvPr>
          <p:cNvSpPr>
            <a:spLocks xmlns:a="http://schemas.openxmlformats.org/drawingml/2006/main" noGrp="1"/>
          </p:cNvSpPr>
          <p:nvPr/>
        </p:nvSpPr>
        <p:spPr>
          <a:xfrm xmlns:a="http://schemas.openxmlformats.org/drawingml/2006/main">
            <a:off x="68580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6</a:t>
            </a:r>
          </a:p>
        </p:txBody>
      </p:sp>
      <p:sp>
        <p:nvSpPr>
          <p:cNvPr id="28" name="s2-replay-label">
            <a:extLst xmlns:a="http://schemas.openxmlformats.org/drawingml/2006/main">
              <a:ext uri="{FF2B5EF4-FFF2-40B4-BE49-F238E27FC236}">
                <a16:creationId xmlns:a16="http://schemas.microsoft.com/office/drawing/2014/main" id="{73990377-94F7-4E20-8B49-D6FF62FC74F4}"/>
              </a:ext>
            </a:extLst>
          </p:cNvPr>
          <p:cNvSpPr>
            <a:spLocks xmlns:a="http://schemas.openxmlformats.org/drawingml/2006/main" noGrp="1"/>
          </p:cNvSpPr>
          <p:nvPr/>
        </p:nvSpPr>
        <p:spPr>
          <a:xfrm xmlns:a="http://schemas.openxmlformats.org/drawingml/2006/main">
            <a:off x="68580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fresh-process episodes</a:t>
            </a:r>
          </a:p>
        </p:txBody>
      </p:sp>
      <p:sp>
        <p:nvSpPr>
          <p:cNvPr id="29" name="">
            <a:extLst xmlns:a="http://schemas.openxmlformats.org/drawingml/2006/main">
              <a:ext uri="{FF2B5EF4-FFF2-40B4-BE49-F238E27FC236}">
                <a16:creationId xmlns:a16="http://schemas.microsoft.com/office/drawing/2014/main" id="{29EBBD58-D4E7-40A5-8793-B199054532A2}"/>
              </a:ext>
            </a:extLst>
          </p:cNvPr>
          <p:cNvSpPr>
            <a:spLocks xmlns:a="http://schemas.openxmlformats.org/drawingml/2006/main" noGrp="1"/>
          </p:cNvSpPr>
          <p:nvPr/>
        </p:nvSpPr>
        <p:spPr>
          <a:xfrm xmlns:a="http://schemas.openxmlformats.org/drawingml/2006/main">
            <a:off x="9715500" y="5429250"/>
            <a:ext cx="2000250" cy="0"/>
          </a:xfrm>
          <a:prstGeom xmlns:a="http://schemas.openxmlformats.org/drawingml/2006/main" prst="line">
            <a:avLst/>
          </a:prstGeom>
          <a:noFill xmlns:a="http://schemas.openxmlformats.org/drawingml/2006/main"/>
          <a:ln xmlns:a="http://schemas.openxmlformats.org/drawingml/2006/main" w="38100">
            <a:solidFill>
              <a:srgbClr val="D6A84B"/>
            </a:solidFill>
            <a:prstDash val="solid"/>
          </a:ln>
        </p:spPr>
      </p:sp>
      <p:sp>
        <p:nvSpPr>
          <p:cNvPr id="30" name="s2-gpu-value">
            <a:extLst xmlns:a="http://schemas.openxmlformats.org/drawingml/2006/main">
              <a:ext uri="{FF2B5EF4-FFF2-40B4-BE49-F238E27FC236}">
                <a16:creationId xmlns:a16="http://schemas.microsoft.com/office/drawing/2014/main" id="{F16D3C83-5F09-4525-8336-696522C8EB26}"/>
              </a:ext>
            </a:extLst>
          </p:cNvPr>
          <p:cNvSpPr>
            <a:spLocks xmlns:a="http://schemas.openxmlformats.org/drawingml/2006/main" noGrp="1"/>
          </p:cNvSpPr>
          <p:nvPr/>
        </p:nvSpPr>
        <p:spPr>
          <a:xfrm xmlns:a="http://schemas.openxmlformats.org/drawingml/2006/main">
            <a:off x="97155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a:t>
            </a:r>
          </a:p>
        </p:txBody>
      </p:sp>
      <p:sp>
        <p:nvSpPr>
          <p:cNvPr id="31" name="s2-gpu-label">
            <a:extLst xmlns:a="http://schemas.openxmlformats.org/drawingml/2006/main">
              <a:ext uri="{FF2B5EF4-FFF2-40B4-BE49-F238E27FC236}">
                <a16:creationId xmlns:a16="http://schemas.microsoft.com/office/drawing/2014/main" id="{42161E20-FBAA-4347-8457-EDA93E632BE7}"/>
              </a:ext>
            </a:extLst>
          </p:cNvPr>
          <p:cNvSpPr>
            <a:spLocks xmlns:a="http://schemas.openxmlformats.org/drawingml/2006/main" noGrp="1"/>
          </p:cNvSpPr>
          <p:nvPr/>
        </p:nvSpPr>
        <p:spPr>
          <a:xfrm xmlns:a="http://schemas.openxmlformats.org/drawingml/2006/main">
            <a:off x="97155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RTX PRO 6000 · 96GB</a:t>
            </a:r>
          </a:p>
        </p:txBody>
      </p:sp>
    </p:spTree>
    <p:extLst>
      <p:ext uri="{BB962C8B-B14F-4D97-AF65-F5344CB8AC3E}">
        <p14:creationId xmlns:p14="http://schemas.microsoft.com/office/powerpoint/2010/main" val="652854009"/>
      </p:ext>
    </p:extLst>
  </p:cSld>
</p:sld>
</file>

<file path=ppt/slides/slide11.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39" name="rail-11">
            <a:extLst xmlns:a="http://schemas.openxmlformats.org/drawingml/2006/main">
              <a:ext uri="{FF2B5EF4-FFF2-40B4-BE49-F238E27FC236}">
                <a16:creationId xmlns:a16="http://schemas.microsoft.com/office/drawing/2014/main" id="{4C4492C2-975B-4E8F-963A-428399FB667C}"/>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1">
            <a:extLst xmlns:a="http://schemas.openxmlformats.org/drawingml/2006/main">
              <a:ext uri="{FF2B5EF4-FFF2-40B4-BE49-F238E27FC236}">
                <a16:creationId xmlns:a16="http://schemas.microsoft.com/office/drawing/2014/main" id="{2F38F26A-1A14-40C5-B30B-B7F0EEE54688}"/>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1">
            <a:extLst xmlns:a="http://schemas.openxmlformats.org/drawingml/2006/main">
              <a:ext uri="{FF2B5EF4-FFF2-40B4-BE49-F238E27FC236}">
                <a16:creationId xmlns:a16="http://schemas.microsoft.com/office/drawing/2014/main" id="{FCA9D017-56A0-4F04-9231-F8FFC3084AAA}"/>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TRAJECTORY EVIDENCE</a:t>
            </a:r>
          </a:p>
        </p:txBody>
      </p:sp>
      <p:sp>
        <p:nvSpPr>
          <p:cNvPr id="4" name="title-11">
            <a:extLst xmlns:a="http://schemas.openxmlformats.org/drawingml/2006/main">
              <a:ext uri="{FF2B5EF4-FFF2-40B4-BE49-F238E27FC236}">
                <a16:creationId xmlns:a16="http://schemas.microsoft.com/office/drawing/2014/main" id="{566D63B9-AC1D-4880-A6EC-BBDF3F388BD8}"/>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一条完整轨迹：从模糊诉求到安全 side effect</a:t>
            </a:r>
          </a:p>
        </p:txBody>
      </p:sp>
      <p:sp>
        <p:nvSpPr>
          <p:cNvPr id="5" name="subtitle-11">
            <a:extLst xmlns:a="http://schemas.openxmlformats.org/drawingml/2006/main">
              <a:ext uri="{FF2B5EF4-FFF2-40B4-BE49-F238E27FC236}">
                <a16:creationId xmlns:a16="http://schemas.microsoft.com/office/drawing/2014/main" id="{3D5B72F6-BAD9-4020-B86A-B94234ABFD8C}"/>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task=refund-final_holdout-0204 · reward=1.248 · SUCCESS</a:t>
            </a:r>
          </a:p>
        </p:txBody>
      </p:sp>
      <p:sp>
        <p:nvSpPr>
          <p:cNvPr id="6" name="">
            <a:extLst xmlns:a="http://schemas.openxmlformats.org/drawingml/2006/main">
              <a:ext uri="{FF2B5EF4-FFF2-40B4-BE49-F238E27FC236}">
                <a16:creationId xmlns:a16="http://schemas.microsoft.com/office/drawing/2014/main" id="{F2E4D061-1B5C-4778-A50A-6E53723F20E2}"/>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1">
            <a:extLst xmlns:a="http://schemas.openxmlformats.org/drawingml/2006/main">
              <a:ext uri="{FF2B5EF4-FFF2-40B4-BE49-F238E27FC236}">
                <a16:creationId xmlns:a16="http://schemas.microsoft.com/office/drawing/2014/main" id="{21B5A8F7-7118-4DF9-95E6-66E250C01D58}"/>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11</a:t>
            </a:r>
          </a:p>
        </p:txBody>
      </p:sp>
      <p:sp>
        <p:nvSpPr>
          <p:cNvPr id="8" name="traj-spine">
            <a:extLst xmlns:a="http://schemas.openxmlformats.org/drawingml/2006/main">
              <a:ext uri="{FF2B5EF4-FFF2-40B4-BE49-F238E27FC236}">
                <a16:creationId xmlns:a16="http://schemas.microsoft.com/office/drawing/2014/main" id="{2370BF78-D8E4-4199-BF82-727D5CDF2675}"/>
              </a:ext>
            </a:extLst>
          </p:cNvPr>
          <p:cNvSpPr>
            <a:spLocks xmlns:a="http://schemas.openxmlformats.org/drawingml/2006/main" noGrp="1"/>
          </p:cNvSpPr>
          <p:nvPr/>
        </p:nvSpPr>
        <p:spPr>
          <a:xfrm xmlns:a="http://schemas.openxmlformats.org/drawingml/2006/main">
            <a:off x="1162050" y="2324100"/>
            <a:ext cx="28575" cy="3200400"/>
          </a:xfrm>
          <a:prstGeom xmlns:a="http://schemas.openxmlformats.org/drawingml/2006/main" prst="rect">
            <a:avLst/>
          </a:prstGeom>
          <a:solidFill xmlns:a="http://schemas.openxmlformats.org/drawingml/2006/main">
            <a:srgbClr val="CAD9D8"/>
          </a:solidFill>
          <a:ln xmlns:a="http://schemas.openxmlformats.org/drawingml/2006/main" w="0">
            <a:solidFill>
              <a:srgbClr val="CAD9D8"/>
            </a:solidFill>
            <a:prstDash val="solid"/>
          </a:ln>
        </p:spPr>
      </p:sp>
      <p:sp>
        <p:nvSpPr>
          <p:cNvPr id="9" name="traj-dot-0">
            <a:extLst xmlns:a="http://schemas.openxmlformats.org/drawingml/2006/main">
              <a:ext uri="{FF2B5EF4-FFF2-40B4-BE49-F238E27FC236}">
                <a16:creationId xmlns:a16="http://schemas.microsoft.com/office/drawing/2014/main" id="{CA88B178-F169-470B-AB1B-44460B6721A7}"/>
              </a:ext>
            </a:extLst>
          </p:cNvPr>
          <p:cNvSpPr>
            <a:spLocks xmlns:a="http://schemas.openxmlformats.org/drawingml/2006/main" noGrp="1"/>
          </p:cNvSpPr>
          <p:nvPr/>
        </p:nvSpPr>
        <p:spPr>
          <a:xfrm xmlns:a="http://schemas.openxmlformats.org/drawingml/2006/main">
            <a:off x="1000125" y="21431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0" name="traj-num-0">
            <a:extLst xmlns:a="http://schemas.openxmlformats.org/drawingml/2006/main">
              <a:ext uri="{FF2B5EF4-FFF2-40B4-BE49-F238E27FC236}">
                <a16:creationId xmlns:a16="http://schemas.microsoft.com/office/drawing/2014/main" id="{62A863E7-CCD5-4A87-9E15-30F1877C3D6B}"/>
              </a:ext>
            </a:extLst>
          </p:cNvPr>
          <p:cNvSpPr>
            <a:spLocks xmlns:a="http://schemas.openxmlformats.org/drawingml/2006/main" noGrp="1"/>
          </p:cNvSpPr>
          <p:nvPr/>
        </p:nvSpPr>
        <p:spPr>
          <a:xfrm xmlns:a="http://schemas.openxmlformats.org/drawingml/2006/main">
            <a:off x="1000125" y="22098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1</a:t>
            </a:r>
          </a:p>
        </p:txBody>
      </p:sp>
      <p:sp>
        <p:nvSpPr>
          <p:cNvPr id="11" name="traj-tool-0">
            <a:extLst xmlns:a="http://schemas.openxmlformats.org/drawingml/2006/main">
              <a:ext uri="{FF2B5EF4-FFF2-40B4-BE49-F238E27FC236}">
                <a16:creationId xmlns:a16="http://schemas.microsoft.com/office/drawing/2014/main" id="{46B6F65F-E16F-4249-A73E-150689D18F19}"/>
              </a:ext>
            </a:extLst>
          </p:cNvPr>
          <p:cNvSpPr>
            <a:spLocks xmlns:a="http://schemas.openxmlformats.org/drawingml/2006/main" noGrp="1"/>
          </p:cNvSpPr>
          <p:nvPr/>
        </p:nvSpPr>
        <p:spPr>
          <a:xfrm xmlns:a="http://schemas.openxmlformats.org/drawingml/2006/main">
            <a:off x="1666875" y="2133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request_identity</a:t>
            </a:r>
          </a:p>
        </p:txBody>
      </p:sp>
      <p:sp>
        <p:nvSpPr>
          <p:cNvPr id="12" name="traj-obs-0">
            <a:extLst xmlns:a="http://schemas.openxmlformats.org/drawingml/2006/main">
              <a:ext uri="{FF2B5EF4-FFF2-40B4-BE49-F238E27FC236}">
                <a16:creationId xmlns:a16="http://schemas.microsoft.com/office/drawing/2014/main" id="{B3662C79-C11C-4BEB-967B-69D12D14EC9D}"/>
              </a:ext>
            </a:extLst>
          </p:cNvPr>
          <p:cNvSpPr>
            <a:spLocks xmlns:a="http://schemas.openxmlformats.org/drawingml/2006/main" noGrp="1"/>
          </p:cNvSpPr>
          <p:nvPr/>
        </p:nvSpPr>
        <p:spPr>
          <a:xfrm xmlns:a="http://schemas.openxmlformats.org/drawingml/2006/main">
            <a:off x="4333875" y="21336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{"email":"customer0204@example.com","phone_last4":"2369"}</a:t>
            </a:r>
          </a:p>
        </p:txBody>
      </p:sp>
      <p:sp>
        <p:nvSpPr>
          <p:cNvPr id="13" name="traj-dot-1">
            <a:extLst xmlns:a="http://schemas.openxmlformats.org/drawingml/2006/main">
              <a:ext uri="{FF2B5EF4-FFF2-40B4-BE49-F238E27FC236}">
                <a16:creationId xmlns:a16="http://schemas.microsoft.com/office/drawing/2014/main" id="{ED50F07C-72D0-47FA-B503-D1928266BC8A}"/>
              </a:ext>
            </a:extLst>
          </p:cNvPr>
          <p:cNvSpPr>
            <a:spLocks xmlns:a="http://schemas.openxmlformats.org/drawingml/2006/main" noGrp="1"/>
          </p:cNvSpPr>
          <p:nvPr/>
        </p:nvSpPr>
        <p:spPr>
          <a:xfrm xmlns:a="http://schemas.openxmlformats.org/drawingml/2006/main">
            <a:off x="1000125" y="26765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4" name="traj-num-1">
            <a:extLst xmlns:a="http://schemas.openxmlformats.org/drawingml/2006/main">
              <a:ext uri="{FF2B5EF4-FFF2-40B4-BE49-F238E27FC236}">
                <a16:creationId xmlns:a16="http://schemas.microsoft.com/office/drawing/2014/main" id="{FF0A6BFE-E71E-45C5-BAFF-149DFAAAE8FA}"/>
              </a:ext>
            </a:extLst>
          </p:cNvPr>
          <p:cNvSpPr>
            <a:spLocks xmlns:a="http://schemas.openxmlformats.org/drawingml/2006/main" noGrp="1"/>
          </p:cNvSpPr>
          <p:nvPr/>
        </p:nvSpPr>
        <p:spPr>
          <a:xfrm xmlns:a="http://schemas.openxmlformats.org/drawingml/2006/main">
            <a:off x="1000125" y="27432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2</a:t>
            </a:r>
          </a:p>
        </p:txBody>
      </p:sp>
      <p:sp>
        <p:nvSpPr>
          <p:cNvPr id="15" name="traj-tool-1">
            <a:extLst xmlns:a="http://schemas.openxmlformats.org/drawingml/2006/main">
              <a:ext uri="{FF2B5EF4-FFF2-40B4-BE49-F238E27FC236}">
                <a16:creationId xmlns:a16="http://schemas.microsoft.com/office/drawing/2014/main" id="{DDF42A3A-DC3F-4ACF-AD63-A0686CCB7384}"/>
              </a:ext>
            </a:extLst>
          </p:cNvPr>
          <p:cNvSpPr>
            <a:spLocks xmlns:a="http://schemas.openxmlformats.org/drawingml/2006/main" noGrp="1"/>
          </p:cNvSpPr>
          <p:nvPr/>
        </p:nvSpPr>
        <p:spPr>
          <a:xfrm xmlns:a="http://schemas.openxmlformats.org/drawingml/2006/main">
            <a:off x="1666875" y="26670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lookup_customer</a:t>
            </a:r>
          </a:p>
        </p:txBody>
      </p:sp>
      <p:sp>
        <p:nvSpPr>
          <p:cNvPr id="16" name="traj-obs-1">
            <a:extLst xmlns:a="http://schemas.openxmlformats.org/drawingml/2006/main">
              <a:ext uri="{FF2B5EF4-FFF2-40B4-BE49-F238E27FC236}">
                <a16:creationId xmlns:a16="http://schemas.microsoft.com/office/drawing/2014/main" id="{2580ED2B-4DDF-4D77-9683-95D1EB44882E}"/>
              </a:ext>
            </a:extLst>
          </p:cNvPr>
          <p:cNvSpPr>
            <a:spLocks xmlns:a="http://schemas.openxmlformats.org/drawingml/2006/main" noGrp="1"/>
          </p:cNvSpPr>
          <p:nvPr/>
        </p:nvSpPr>
        <p:spPr>
          <a:xfrm xmlns:a="http://schemas.openxmlformats.org/drawingml/2006/main">
            <a:off x="4333875" y="26670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{"customer_id":"CUS-1204","verified":true}</a:t>
            </a:r>
          </a:p>
        </p:txBody>
      </p:sp>
      <p:sp>
        <p:nvSpPr>
          <p:cNvPr id="17" name="traj-dot-2">
            <a:extLst xmlns:a="http://schemas.openxmlformats.org/drawingml/2006/main">
              <a:ext uri="{FF2B5EF4-FFF2-40B4-BE49-F238E27FC236}">
                <a16:creationId xmlns:a16="http://schemas.microsoft.com/office/drawing/2014/main" id="{6427E7A2-DC47-46F8-937B-64C485457DAC}"/>
              </a:ext>
            </a:extLst>
          </p:cNvPr>
          <p:cNvSpPr>
            <a:spLocks xmlns:a="http://schemas.openxmlformats.org/drawingml/2006/main" noGrp="1"/>
          </p:cNvSpPr>
          <p:nvPr/>
        </p:nvSpPr>
        <p:spPr>
          <a:xfrm xmlns:a="http://schemas.openxmlformats.org/drawingml/2006/main">
            <a:off x="1000125" y="32099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8" name="traj-num-2">
            <a:extLst xmlns:a="http://schemas.openxmlformats.org/drawingml/2006/main">
              <a:ext uri="{FF2B5EF4-FFF2-40B4-BE49-F238E27FC236}">
                <a16:creationId xmlns:a16="http://schemas.microsoft.com/office/drawing/2014/main" id="{1B0899EA-6CB0-44BF-83E7-E58625D461FE}"/>
              </a:ext>
            </a:extLst>
          </p:cNvPr>
          <p:cNvSpPr>
            <a:spLocks xmlns:a="http://schemas.openxmlformats.org/drawingml/2006/main" noGrp="1"/>
          </p:cNvSpPr>
          <p:nvPr/>
        </p:nvSpPr>
        <p:spPr>
          <a:xfrm xmlns:a="http://schemas.openxmlformats.org/drawingml/2006/main">
            <a:off x="1000125" y="32766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3</a:t>
            </a:r>
          </a:p>
        </p:txBody>
      </p:sp>
      <p:sp>
        <p:nvSpPr>
          <p:cNvPr id="19" name="traj-tool-2">
            <a:extLst xmlns:a="http://schemas.openxmlformats.org/drawingml/2006/main">
              <a:ext uri="{FF2B5EF4-FFF2-40B4-BE49-F238E27FC236}">
                <a16:creationId xmlns:a16="http://schemas.microsoft.com/office/drawing/2014/main" id="{A92BD459-CA1E-4AD3-8FCE-A098AD3C5A72}"/>
              </a:ext>
            </a:extLst>
          </p:cNvPr>
          <p:cNvSpPr>
            <a:spLocks xmlns:a="http://schemas.openxmlformats.org/drawingml/2006/main" noGrp="1"/>
          </p:cNvSpPr>
          <p:nvPr/>
        </p:nvSpPr>
        <p:spPr>
          <a:xfrm xmlns:a="http://schemas.openxmlformats.org/drawingml/2006/main">
            <a:off x="1666875" y="32004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list_orders</a:t>
            </a:r>
          </a:p>
        </p:txBody>
      </p:sp>
      <p:sp>
        <p:nvSpPr>
          <p:cNvPr id="20" name="traj-obs-2">
            <a:extLst xmlns:a="http://schemas.openxmlformats.org/drawingml/2006/main">
              <a:ext uri="{FF2B5EF4-FFF2-40B4-BE49-F238E27FC236}">
                <a16:creationId xmlns:a16="http://schemas.microsoft.com/office/drawing/2014/main" id="{2FC37D54-D746-4AB6-BD55-E8BA45920561}"/>
              </a:ext>
            </a:extLst>
          </p:cNvPr>
          <p:cNvSpPr>
            <a:spLocks xmlns:a="http://schemas.openxmlformats.org/drawingml/2006/main" noGrp="1"/>
          </p:cNvSpPr>
          <p:nvPr/>
        </p:nvSpPr>
        <p:spPr>
          <a:xfrm xmlns:a="http://schemas.openxmlformats.org/drawingml/2006/main">
            <a:off x="4333875" y="32004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{"orders":[{"amount":349,"currency":"CNY","order_id":"ORD-2026-4204"},{"amount":478.13,…</a:t>
            </a:r>
          </a:p>
        </p:txBody>
      </p:sp>
      <p:sp>
        <p:nvSpPr>
          <p:cNvPr id="21" name="traj-dot-3">
            <a:extLst xmlns:a="http://schemas.openxmlformats.org/drawingml/2006/main">
              <a:ext uri="{FF2B5EF4-FFF2-40B4-BE49-F238E27FC236}">
                <a16:creationId xmlns:a16="http://schemas.microsoft.com/office/drawing/2014/main" id="{00970C02-1D6E-44D6-B48A-7E5ED1678BC8}"/>
              </a:ext>
            </a:extLst>
          </p:cNvPr>
          <p:cNvSpPr>
            <a:spLocks xmlns:a="http://schemas.openxmlformats.org/drawingml/2006/main" noGrp="1"/>
          </p:cNvSpPr>
          <p:nvPr/>
        </p:nvSpPr>
        <p:spPr>
          <a:xfrm xmlns:a="http://schemas.openxmlformats.org/drawingml/2006/main">
            <a:off x="1000125" y="37433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22" name="traj-num-3">
            <a:extLst xmlns:a="http://schemas.openxmlformats.org/drawingml/2006/main">
              <a:ext uri="{FF2B5EF4-FFF2-40B4-BE49-F238E27FC236}">
                <a16:creationId xmlns:a16="http://schemas.microsoft.com/office/drawing/2014/main" id="{4DED6649-1C02-479A-ADCA-67D8A21A63B3}"/>
              </a:ext>
            </a:extLst>
          </p:cNvPr>
          <p:cNvSpPr>
            <a:spLocks xmlns:a="http://schemas.openxmlformats.org/drawingml/2006/main" noGrp="1"/>
          </p:cNvSpPr>
          <p:nvPr/>
        </p:nvSpPr>
        <p:spPr>
          <a:xfrm xmlns:a="http://schemas.openxmlformats.org/drawingml/2006/main">
            <a:off x="1000125" y="38100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4</a:t>
            </a:r>
          </a:p>
        </p:txBody>
      </p:sp>
      <p:sp>
        <p:nvSpPr>
          <p:cNvPr id="23" name="traj-tool-3">
            <a:extLst xmlns:a="http://schemas.openxmlformats.org/drawingml/2006/main">
              <a:ext uri="{FF2B5EF4-FFF2-40B4-BE49-F238E27FC236}">
                <a16:creationId xmlns:a16="http://schemas.microsoft.com/office/drawing/2014/main" id="{8F50EF22-5016-4259-94AE-014846981F3E}"/>
              </a:ext>
            </a:extLst>
          </p:cNvPr>
          <p:cNvSpPr>
            <a:spLocks xmlns:a="http://schemas.openxmlformats.org/drawingml/2006/main" noGrp="1"/>
          </p:cNvSpPr>
          <p:nvPr/>
        </p:nvSpPr>
        <p:spPr>
          <a:xfrm xmlns:a="http://schemas.openxmlformats.org/drawingml/2006/main">
            <a:off x="1666875" y="37338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get_payment_history</a:t>
            </a:r>
          </a:p>
        </p:txBody>
      </p:sp>
      <p:sp>
        <p:nvSpPr>
          <p:cNvPr id="24" name="traj-obs-3">
            <a:extLst xmlns:a="http://schemas.openxmlformats.org/drawingml/2006/main">
              <a:ext uri="{FF2B5EF4-FFF2-40B4-BE49-F238E27FC236}">
                <a16:creationId xmlns:a16="http://schemas.microsoft.com/office/drawing/2014/main" id="{760B82CC-CBE2-44B7-BF9E-16CC4C842ABD}"/>
              </a:ext>
            </a:extLst>
          </p:cNvPr>
          <p:cNvSpPr>
            <a:spLocks xmlns:a="http://schemas.openxmlformats.org/drawingml/2006/main" noGrp="1"/>
          </p:cNvSpPr>
          <p:nvPr/>
        </p:nvSpPr>
        <p:spPr>
          <a:xfrm xmlns:a="http://schemas.openxmlformats.org/drawingml/2006/main">
            <a:off x="4333875" y="37338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{"charges":[{"amount":349,"captured_at":"2026-07-25T09:31:08+08:00","charge_id":"CHG-74…</a:t>
            </a:r>
          </a:p>
        </p:txBody>
      </p:sp>
      <p:sp>
        <p:nvSpPr>
          <p:cNvPr id="25" name="traj-dot-4">
            <a:extLst xmlns:a="http://schemas.openxmlformats.org/drawingml/2006/main">
              <a:ext uri="{FF2B5EF4-FFF2-40B4-BE49-F238E27FC236}">
                <a16:creationId xmlns:a16="http://schemas.microsoft.com/office/drawing/2014/main" id="{64184EAA-CD88-4D0B-A3C9-2EF15FD186FF}"/>
              </a:ext>
            </a:extLst>
          </p:cNvPr>
          <p:cNvSpPr>
            <a:spLocks xmlns:a="http://schemas.openxmlformats.org/drawingml/2006/main" noGrp="1"/>
          </p:cNvSpPr>
          <p:nvPr/>
        </p:nvSpPr>
        <p:spPr>
          <a:xfrm xmlns:a="http://schemas.openxmlformats.org/drawingml/2006/main">
            <a:off x="1000125" y="42767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26" name="traj-num-4">
            <a:extLst xmlns:a="http://schemas.openxmlformats.org/drawingml/2006/main">
              <a:ext uri="{FF2B5EF4-FFF2-40B4-BE49-F238E27FC236}">
                <a16:creationId xmlns:a16="http://schemas.microsoft.com/office/drawing/2014/main" id="{E3B75EF7-1495-4F35-9E10-AB9DF3E1A37C}"/>
              </a:ext>
            </a:extLst>
          </p:cNvPr>
          <p:cNvSpPr>
            <a:spLocks xmlns:a="http://schemas.openxmlformats.org/drawingml/2006/main" noGrp="1"/>
          </p:cNvSpPr>
          <p:nvPr/>
        </p:nvSpPr>
        <p:spPr>
          <a:xfrm xmlns:a="http://schemas.openxmlformats.org/drawingml/2006/main">
            <a:off x="1000125" y="43434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5</a:t>
            </a:r>
          </a:p>
        </p:txBody>
      </p:sp>
      <p:sp>
        <p:nvSpPr>
          <p:cNvPr id="27" name="traj-tool-4">
            <a:extLst xmlns:a="http://schemas.openxmlformats.org/drawingml/2006/main">
              <a:ext uri="{FF2B5EF4-FFF2-40B4-BE49-F238E27FC236}">
                <a16:creationId xmlns:a16="http://schemas.microsoft.com/office/drawing/2014/main" id="{C3A4CC64-D0EA-4660-93E5-D4851945CF94}"/>
              </a:ext>
            </a:extLst>
          </p:cNvPr>
          <p:cNvSpPr>
            <a:spLocks xmlns:a="http://schemas.openxmlformats.org/drawingml/2006/main" noGrp="1"/>
          </p:cNvSpPr>
          <p:nvPr/>
        </p:nvSpPr>
        <p:spPr>
          <a:xfrm xmlns:a="http://schemas.openxmlformats.org/drawingml/2006/main">
            <a:off x="1666875" y="4267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get_refund_policy</a:t>
            </a:r>
          </a:p>
        </p:txBody>
      </p:sp>
      <p:sp>
        <p:nvSpPr>
          <p:cNvPr id="28" name="traj-obs-4">
            <a:extLst xmlns:a="http://schemas.openxmlformats.org/drawingml/2006/main">
              <a:ext uri="{FF2B5EF4-FFF2-40B4-BE49-F238E27FC236}">
                <a16:creationId xmlns:a16="http://schemas.microsoft.com/office/drawing/2014/main" id="{45D43A47-F780-4208-8179-D4B8096B8B36}"/>
              </a:ext>
            </a:extLst>
          </p:cNvPr>
          <p:cNvSpPr>
            <a:spLocks xmlns:a="http://schemas.openxmlformats.org/drawingml/2006/main" noGrp="1"/>
          </p:cNvSpPr>
          <p:nvPr/>
        </p:nvSpPr>
        <p:spPr>
          <a:xfrm xmlns:a="http://schemas.openxmlformats.org/drawingml/2006/main">
            <a:off x="4333875" y="42672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{"arrival_window":"3-5 business days","currency":"CNY","eligible":true,"max_refund":349…</a:t>
            </a:r>
          </a:p>
        </p:txBody>
      </p:sp>
      <p:sp>
        <p:nvSpPr>
          <p:cNvPr id="29" name="traj-dot-5">
            <a:extLst xmlns:a="http://schemas.openxmlformats.org/drawingml/2006/main">
              <a:ext uri="{FF2B5EF4-FFF2-40B4-BE49-F238E27FC236}">
                <a16:creationId xmlns:a16="http://schemas.microsoft.com/office/drawing/2014/main" id="{CB559767-FD2C-4A6B-B0C2-0380654DAD55}"/>
              </a:ext>
            </a:extLst>
          </p:cNvPr>
          <p:cNvSpPr>
            <a:spLocks xmlns:a="http://schemas.openxmlformats.org/drawingml/2006/main" noGrp="1"/>
          </p:cNvSpPr>
          <p:nvPr/>
        </p:nvSpPr>
        <p:spPr>
          <a:xfrm xmlns:a="http://schemas.openxmlformats.org/drawingml/2006/main">
            <a:off x="1000125" y="48101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30" name="traj-num-5">
            <a:extLst xmlns:a="http://schemas.openxmlformats.org/drawingml/2006/main">
              <a:ext uri="{FF2B5EF4-FFF2-40B4-BE49-F238E27FC236}">
                <a16:creationId xmlns:a16="http://schemas.microsoft.com/office/drawing/2014/main" id="{DC006D23-8068-4B61-9AE9-7CA89D73319D}"/>
              </a:ext>
            </a:extLst>
          </p:cNvPr>
          <p:cNvSpPr>
            <a:spLocks xmlns:a="http://schemas.openxmlformats.org/drawingml/2006/main" noGrp="1"/>
          </p:cNvSpPr>
          <p:nvPr/>
        </p:nvSpPr>
        <p:spPr>
          <a:xfrm xmlns:a="http://schemas.openxmlformats.org/drawingml/2006/main">
            <a:off x="1000125" y="48768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6</a:t>
            </a:r>
          </a:p>
        </p:txBody>
      </p:sp>
      <p:sp>
        <p:nvSpPr>
          <p:cNvPr id="31" name="traj-tool-5">
            <a:extLst xmlns:a="http://schemas.openxmlformats.org/drawingml/2006/main">
              <a:ext uri="{FF2B5EF4-FFF2-40B4-BE49-F238E27FC236}">
                <a16:creationId xmlns:a16="http://schemas.microsoft.com/office/drawing/2014/main" id="{9F18483B-F0FA-483B-A5CF-45F052A65822}"/>
              </a:ext>
            </a:extLst>
          </p:cNvPr>
          <p:cNvSpPr>
            <a:spLocks xmlns:a="http://schemas.openxmlformats.org/drawingml/2006/main" noGrp="1"/>
          </p:cNvSpPr>
          <p:nvPr/>
        </p:nvSpPr>
        <p:spPr>
          <a:xfrm xmlns:a="http://schemas.openxmlformats.org/drawingml/2006/main">
            <a:off x="1666875" y="4800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request_confirmation</a:t>
            </a:r>
          </a:p>
        </p:txBody>
      </p:sp>
      <p:sp>
        <p:nvSpPr>
          <p:cNvPr id="32" name="traj-obs-5">
            <a:extLst xmlns:a="http://schemas.openxmlformats.org/drawingml/2006/main">
              <a:ext uri="{FF2B5EF4-FFF2-40B4-BE49-F238E27FC236}">
                <a16:creationId xmlns:a16="http://schemas.microsoft.com/office/drawing/2014/main" id="{A54DF042-5962-400D-901C-65CC92D1539F}"/>
              </a:ext>
            </a:extLst>
          </p:cNvPr>
          <p:cNvSpPr>
            <a:spLocks xmlns:a="http://schemas.openxmlformats.org/drawingml/2006/main" noGrp="1"/>
          </p:cNvSpPr>
          <p:nvPr/>
        </p:nvSpPr>
        <p:spPr>
          <a:xfrm xmlns:a="http://schemas.openxmlformats.org/drawingml/2006/main">
            <a:off x="4333875" y="48006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{"confirmed":true,"user_message":"I confirm refunding only CHG-7409 for CNY 349.00."}</a:t>
            </a:r>
          </a:p>
        </p:txBody>
      </p:sp>
      <p:sp>
        <p:nvSpPr>
          <p:cNvPr id="33" name="traj-dot-6">
            <a:extLst xmlns:a="http://schemas.openxmlformats.org/drawingml/2006/main">
              <a:ext uri="{FF2B5EF4-FFF2-40B4-BE49-F238E27FC236}">
                <a16:creationId xmlns:a16="http://schemas.microsoft.com/office/drawing/2014/main" id="{FF985EAF-9EC3-4990-9845-58CB1654506F}"/>
              </a:ext>
            </a:extLst>
          </p:cNvPr>
          <p:cNvSpPr>
            <a:spLocks xmlns:a="http://schemas.openxmlformats.org/drawingml/2006/main" noGrp="1"/>
          </p:cNvSpPr>
          <p:nvPr/>
        </p:nvSpPr>
        <p:spPr>
          <a:xfrm xmlns:a="http://schemas.openxmlformats.org/drawingml/2006/main">
            <a:off x="1000125" y="53435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34" name="traj-num-6">
            <a:extLst xmlns:a="http://schemas.openxmlformats.org/drawingml/2006/main">
              <a:ext uri="{FF2B5EF4-FFF2-40B4-BE49-F238E27FC236}">
                <a16:creationId xmlns:a16="http://schemas.microsoft.com/office/drawing/2014/main" id="{79DD59DD-A2D1-44BF-BFBC-38DBD6745905}"/>
              </a:ext>
            </a:extLst>
          </p:cNvPr>
          <p:cNvSpPr>
            <a:spLocks xmlns:a="http://schemas.openxmlformats.org/drawingml/2006/main" noGrp="1"/>
          </p:cNvSpPr>
          <p:nvPr/>
        </p:nvSpPr>
        <p:spPr>
          <a:xfrm xmlns:a="http://schemas.openxmlformats.org/drawingml/2006/main">
            <a:off x="1000125" y="54102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7</a:t>
            </a:r>
          </a:p>
        </p:txBody>
      </p:sp>
      <p:sp>
        <p:nvSpPr>
          <p:cNvPr id="35" name="traj-tool-6">
            <a:extLst xmlns:a="http://schemas.openxmlformats.org/drawingml/2006/main">
              <a:ext uri="{FF2B5EF4-FFF2-40B4-BE49-F238E27FC236}">
                <a16:creationId xmlns:a16="http://schemas.microsoft.com/office/drawing/2014/main" id="{E7A8F17E-296B-41DA-A698-4EF3DD4D8D8E}"/>
              </a:ext>
            </a:extLst>
          </p:cNvPr>
          <p:cNvSpPr>
            <a:spLocks xmlns:a="http://schemas.openxmlformats.org/drawingml/2006/main" noGrp="1"/>
          </p:cNvSpPr>
          <p:nvPr/>
        </p:nvSpPr>
        <p:spPr>
          <a:xfrm xmlns:a="http://schemas.openxmlformats.org/drawingml/2006/main">
            <a:off x="1666875" y="53340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create_refund</a:t>
            </a:r>
          </a:p>
        </p:txBody>
      </p:sp>
      <p:sp>
        <p:nvSpPr>
          <p:cNvPr id="36" name="traj-obs-6">
            <a:extLst xmlns:a="http://schemas.openxmlformats.org/drawingml/2006/main">
              <a:ext uri="{FF2B5EF4-FFF2-40B4-BE49-F238E27FC236}">
                <a16:creationId xmlns:a16="http://schemas.microsoft.com/office/drawing/2014/main" id="{464DE9D5-0B9A-46EA-B0DF-A9CE3B5F7BB7}"/>
              </a:ext>
            </a:extLst>
          </p:cNvPr>
          <p:cNvSpPr>
            <a:spLocks xmlns:a="http://schemas.openxmlformats.org/drawingml/2006/main" noGrp="1"/>
          </p:cNvSpPr>
          <p:nvPr/>
        </p:nvSpPr>
        <p:spPr>
          <a:xfrm xmlns:a="http://schemas.openxmlformats.org/drawingml/2006/main">
            <a:off x="4333875" y="53340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{"amount":349,"arrival_window":"3-5 business days","currency":"CNY","refund_id":"RF-275…</a:t>
            </a:r>
          </a:p>
        </p:txBody>
      </p:sp>
      <p:sp>
        <p:nvSpPr>
          <p:cNvPr id="37" name="traj-outcome-bg">
            <a:extLst xmlns:a="http://schemas.openxmlformats.org/drawingml/2006/main">
              <a:ext uri="{FF2B5EF4-FFF2-40B4-BE49-F238E27FC236}">
                <a16:creationId xmlns:a16="http://schemas.microsoft.com/office/drawing/2014/main" id="{B42E0409-5A52-42AA-A0F3-7427A866A130}"/>
              </a:ext>
            </a:extLst>
          </p:cNvPr>
          <p:cNvSpPr>
            <a:spLocks xmlns:a="http://schemas.openxmlformats.org/drawingml/2006/main" noGrp="1"/>
          </p:cNvSpPr>
          <p:nvPr/>
        </p:nvSpPr>
        <p:spPr>
          <a:xfrm xmlns:a="http://schemas.openxmlformats.org/drawingml/2006/main">
            <a:off x="8191500" y="5753100"/>
            <a:ext cx="2381250"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8" name="traj-outcome-text">
            <a:extLst xmlns:a="http://schemas.openxmlformats.org/drawingml/2006/main">
              <a:ext uri="{FF2B5EF4-FFF2-40B4-BE49-F238E27FC236}">
                <a16:creationId xmlns:a16="http://schemas.microsoft.com/office/drawing/2014/main" id="{97DFC7AA-5327-413B-B7BC-C6FC5C29CF09}"/>
              </a:ext>
            </a:extLst>
          </p:cNvPr>
          <p:cNvSpPr>
            <a:spLocks xmlns:a="http://schemas.openxmlformats.org/drawingml/2006/main" noGrp="1"/>
          </p:cNvSpPr>
          <p:nvPr/>
        </p:nvSpPr>
        <p:spPr>
          <a:xfrm xmlns:a="http://schemas.openxmlformats.org/drawingml/2006/main">
            <a:off x="8286750" y="5800725"/>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EXACT OUTCOME PASS</a:t>
            </a:r>
          </a:p>
        </p:txBody>
      </p:sp>
    </p:spTree>
    <p:extLst>
      <p:ext uri="{BB962C8B-B14F-4D97-AF65-F5344CB8AC3E}">
        <p14:creationId xmlns:p14="http://schemas.microsoft.com/office/powerpoint/2010/main" val="1893484392"/>
      </p:ext>
    </p:extLst>
  </p:cSld>
</p:sld>
</file>

<file path=ppt/slides/slide12.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14" name="rail-12">
            <a:extLst xmlns:a="http://schemas.openxmlformats.org/drawingml/2006/main">
              <a:ext uri="{FF2B5EF4-FFF2-40B4-BE49-F238E27FC236}">
                <a16:creationId xmlns:a16="http://schemas.microsoft.com/office/drawing/2014/main" id="{DDD572FA-BE18-4D05-93F4-C560BD739578}"/>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2">
            <a:extLst xmlns:a="http://schemas.openxmlformats.org/drawingml/2006/main">
              <a:ext uri="{FF2B5EF4-FFF2-40B4-BE49-F238E27FC236}">
                <a16:creationId xmlns:a16="http://schemas.microsoft.com/office/drawing/2014/main" id="{D6E1A615-50BD-488C-AA56-25B01D597D53}"/>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2">
            <a:extLst xmlns:a="http://schemas.openxmlformats.org/drawingml/2006/main">
              <a:ext uri="{FF2B5EF4-FFF2-40B4-BE49-F238E27FC236}">
                <a16:creationId xmlns:a16="http://schemas.microsoft.com/office/drawing/2014/main" id="{07BA4AFC-B19E-48A0-B192-7137DE7CBC42}"/>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BENCHMARK BOUNDARY</a:t>
            </a:r>
          </a:p>
        </p:txBody>
      </p:sp>
      <p:sp>
        <p:nvSpPr>
          <p:cNvPr id="4" name="title-12">
            <a:extLst xmlns:a="http://schemas.openxmlformats.org/drawingml/2006/main">
              <a:ext uri="{FF2B5EF4-FFF2-40B4-BE49-F238E27FC236}">
                <a16:creationId xmlns:a16="http://schemas.microsoft.com/office/drawing/2014/main" id="{6E375C03-380E-4F1A-8E5B-5984BE600DEB}"/>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官方 benchmark 没跑，就不应该出现一个分数</a:t>
            </a:r>
          </a:p>
        </p:txBody>
      </p:sp>
      <p:sp>
        <p:nvSpPr>
          <p:cNvPr id="5" name="subtitle-12">
            <a:extLst xmlns:a="http://schemas.openxmlformats.org/drawingml/2006/main">
              <a:ext uri="{FF2B5EF4-FFF2-40B4-BE49-F238E27FC236}">
                <a16:creationId xmlns:a16="http://schemas.microsoft.com/office/drawing/2014/main" id="{B201DE40-35C5-49F9-B87F-D75C80B247BB}"/>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本次验证的是自建 stateful curriculum；BFCL/TAU-2 代码路径保留，但状态必须明确写成 NOT RUN。</a:t>
            </a:r>
          </a:p>
        </p:txBody>
      </p:sp>
      <p:sp>
        <p:nvSpPr>
          <p:cNvPr id="6" name="">
            <a:extLst xmlns:a="http://schemas.openxmlformats.org/drawingml/2006/main">
              <a:ext uri="{FF2B5EF4-FFF2-40B4-BE49-F238E27FC236}">
                <a16:creationId xmlns:a16="http://schemas.microsoft.com/office/drawing/2014/main" id="{F498A79D-04B9-4F06-A7C7-C6DC0551185A}"/>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2">
            <a:extLst xmlns:a="http://schemas.openxmlformats.org/drawingml/2006/main">
              <a:ext uri="{FF2B5EF4-FFF2-40B4-BE49-F238E27FC236}">
                <a16:creationId xmlns:a16="http://schemas.microsoft.com/office/drawing/2014/main" id="{D695FACD-A559-4BE0-867D-6B67F48BB845}"/>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12</a:t>
            </a:r>
          </a:p>
        </p:txBody>
      </p:sp>
      <p:sp>
        <p:nvSpPr>
          <p:cNvPr id="8" name="benchmark-status">
            <a:extLst xmlns:a="http://schemas.openxmlformats.org/drawingml/2006/main">
              <a:ext uri="{FF2B5EF4-FFF2-40B4-BE49-F238E27FC236}">
                <a16:creationId xmlns:a16="http://schemas.microsoft.com/office/drawing/2014/main" id="{F367758A-4CA3-4AF0-A35D-9BDAF2C9AA24}"/>
              </a:ext>
            </a:extLst>
          </p:cNvPr>
          <p:cNvSpPr>
            <a:spLocks xmlns:a="http://schemas.openxmlformats.org/drawingml/2006/main" noGrp="1"/>
          </p:cNvSpPr>
          <p:nvPr/>
        </p:nvSpPr>
        <p:spPr>
          <a:xfrm xmlns:a="http://schemas.openxmlformats.org/drawingml/2006/main">
            <a:off x="714375" y="219075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5850" b="1">
                <a:solidFill>
                  <a:srgbClr val="C56D4A"/>
                </a:solidFill>
              </a:defRPr>
            </a:pPr>
            <a:r>
              <a:rPr sz="5850" b="1">
                <a:solidFill>
                  <a:srgbClr val="C56D4A"/>
                </a:solidFill>
              </a:rPr>
              <a:t>NOT RUN</a:t>
            </a:r>
          </a:p>
        </p:txBody>
      </p:sp>
      <p:sp>
        <p:nvSpPr>
          <p:cNvPr id="9" name="benchmark-label">
            <a:extLst xmlns:a="http://schemas.openxmlformats.org/drawingml/2006/main">
              <a:ext uri="{FF2B5EF4-FFF2-40B4-BE49-F238E27FC236}">
                <a16:creationId xmlns:a16="http://schemas.microsoft.com/office/drawing/2014/main" id="{DB49F4AC-D3E0-475F-9FBF-0948E6FE49A6}"/>
              </a:ext>
            </a:extLst>
          </p:cNvPr>
          <p:cNvSpPr>
            <a:spLocks xmlns:a="http://schemas.openxmlformats.org/drawingml/2006/main" noGrp="1"/>
          </p:cNvSpPr>
          <p:nvPr/>
        </p:nvSpPr>
        <p:spPr>
          <a:xfrm xmlns:a="http://schemas.openxmlformats.org/drawingml/2006/main">
            <a:off x="904875" y="3762375"/>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BFCL-V4 MULTI-TURN</a:t>
            </a:r>
          </a:p>
        </p:txBody>
      </p:sp>
      <p:sp>
        <p:nvSpPr>
          <p:cNvPr id="10" name="">
            <a:extLst xmlns:a="http://schemas.openxmlformats.org/drawingml/2006/main">
              <a:ext uri="{FF2B5EF4-FFF2-40B4-BE49-F238E27FC236}">
                <a16:creationId xmlns:a16="http://schemas.microsoft.com/office/drawing/2014/main" id="{F288954A-930B-4756-9F26-5713A8BA75A5}"/>
              </a:ext>
            </a:extLst>
          </p:cNvPr>
          <p:cNvSpPr>
            <a:spLocks xmlns:a="http://schemas.openxmlformats.org/drawingml/2006/main" noGrp="1"/>
          </p:cNvSpPr>
          <p:nvPr/>
        </p:nvSpPr>
        <p:spPr>
          <a:xfrm xmlns:a="http://schemas.openxmlformats.org/drawingml/2006/main">
            <a:off x="6096000" y="2190750"/>
            <a:ext cx="44767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11" name="benchmark-ready">
            <a:extLst xmlns:a="http://schemas.openxmlformats.org/drawingml/2006/main">
              <a:ext uri="{FF2B5EF4-FFF2-40B4-BE49-F238E27FC236}">
                <a16:creationId xmlns:a16="http://schemas.microsoft.com/office/drawing/2014/main" id="{D214A887-D680-439E-85FD-FD163D96CA2D}"/>
              </a:ext>
            </a:extLst>
          </p:cNvPr>
          <p:cNvSpPr>
            <a:spLocks xmlns:a="http://schemas.openxmlformats.org/drawingml/2006/main" noGrp="1"/>
          </p:cNvSpPr>
          <p:nvPr/>
        </p:nvSpPr>
        <p:spPr>
          <a:xfrm xmlns:a="http://schemas.openxmlformats.org/drawingml/2006/main">
            <a:off x="6096000" y="24574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025" b="1">
                <a:solidFill>
                  <a:srgbClr val="071A2B"/>
                </a:solidFill>
              </a:defRPr>
            </a:pPr>
            <a:r>
              <a:rPr sz="2025" b="1">
                <a:solidFill>
                  <a:srgbClr val="071A2B"/>
                </a:solidFill>
              </a:rPr>
              <a:t>代码已经具备</a:t>
            </a:r>
          </a:p>
        </p:txBody>
      </p:sp>
      <p:sp>
        <p:nvSpPr>
          <p:cNvPr id="12" name="benchmark-list">
            <a:extLst xmlns:a="http://schemas.openxmlformats.org/drawingml/2006/main">
              <a:ext uri="{FF2B5EF4-FFF2-40B4-BE49-F238E27FC236}">
                <a16:creationId xmlns:a16="http://schemas.microsoft.com/office/drawing/2014/main" id="{4BDC74FA-7D56-42A9-872F-34CB9867BD39}"/>
              </a:ext>
            </a:extLst>
          </p:cNvPr>
          <p:cNvSpPr>
            <a:spLocks xmlns:a="http://schemas.openxmlformats.org/drawingml/2006/main" noGrp="1"/>
          </p:cNvSpPr>
          <p:nvPr/>
        </p:nvSpPr>
        <p:spPr>
          <a:xfrm xmlns:a="http://schemas.openxmlformats.org/drawingml/2006/main">
            <a:off x="6096000" y="3190875"/>
            <a:ext cx="4524375"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5000"/>
              </a:lnSpc>
              <a:buNone/>
              <a:defRPr sz="1500">
                <a:solidFill>
                  <a:srgbClr val="64747B"/>
                </a:solidFill>
              </a:defRPr>
            </a:pPr>
            <a:r>
              <a:rPr sz="1500">
                <a:solidFill>
                  <a:srgbClr val="64747B"/>
                </a:solidFill>
              </a:rPr>
              <a:t>• 固定 ID 的 base / adapter 对照</a:t>
            </a:r>
          </a:p>
          <a:p xmlns:a="http://schemas.openxmlformats.org/drawingml/2006/main">
            <a:pPr>
              <a:lnSpc>
                <a:spcPct val="125000"/>
              </a:lnSpc>
              <a:buNone/>
              <a:defRPr sz="1500">
                <a:solidFill>
                  <a:srgbClr val="64747B"/>
                </a:solidFill>
              </a:defRPr>
            </a:pPr>
            <a:r>
              <a:rPr sz="1500">
                <a:solidFill>
                  <a:srgbClr val="64747B"/>
                </a:solidFill>
              </a:rPr>
              <a:t>• 官方 multi-turn 结果与评分目录隔离</a:t>
            </a:r>
          </a:p>
          <a:p xmlns:a="http://schemas.openxmlformats.org/drawingml/2006/main">
            <a:pPr>
              <a:lnSpc>
                <a:spcPct val="125000"/>
              </a:lnSpc>
              <a:buNone/>
              <a:defRPr sz="1500">
                <a:solidFill>
                  <a:srgbClr val="64747B"/>
                </a:solidFill>
              </a:defRPr>
            </a:pPr>
            <a:r>
              <a:rPr sz="1500">
                <a:solidFill>
                  <a:srgbClr val="64747B"/>
                </a:solidFill>
              </a:rPr>
              <a:t>• smoke 与 4×200 paper profile 分开</a:t>
            </a:r>
          </a:p>
          <a:p xmlns:a="http://schemas.openxmlformats.org/drawingml/2006/main">
            <a:pPr>
              <a:lnSpc>
                <a:spcPct val="125000"/>
              </a:lnSpc>
              <a:buNone/>
              <a:defRPr sz="1500">
                <a:solidFill>
                  <a:srgbClr val="64747B"/>
                </a:solidFill>
              </a:defRPr>
            </a:pPr>
            <a:r>
              <a:rPr sz="1500">
                <a:solidFill>
                  <a:srgbClr val="64747B"/>
                </a:solidFill>
              </a:rPr>
              <a:t>• 缺 manifest 时报告和 PPT 不生成分数</a:t>
            </a:r>
          </a:p>
        </p:txBody>
      </p:sp>
      <p:sp>
        <p:nvSpPr>
          <p:cNvPr id="13" name="benchmark-boundary">
            <a:extLst xmlns:a="http://schemas.openxmlformats.org/drawingml/2006/main">
              <a:ext uri="{FF2B5EF4-FFF2-40B4-BE49-F238E27FC236}">
                <a16:creationId xmlns:a16="http://schemas.microsoft.com/office/drawing/2014/main" id="{5C95BACE-DFEC-49E5-BDDA-591521848B38}"/>
              </a:ext>
            </a:extLst>
          </p:cNvPr>
          <p:cNvSpPr>
            <a:spLocks xmlns:a="http://schemas.openxmlformats.org/drawingml/2006/main" noGrp="1"/>
          </p:cNvSpPr>
          <p:nvPr/>
        </p:nvSpPr>
        <p:spPr>
          <a:xfrm xmlns:a="http://schemas.openxmlformats.org/drawingml/2006/main">
            <a:off x="1666875" y="5476875"/>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725" b="1">
                <a:solidFill>
                  <a:srgbClr val="0B797B"/>
                </a:solidFill>
              </a:defRPr>
            </a:pPr>
            <a:r>
              <a:rPr sz="1725" b="1">
                <a:solidFill>
                  <a:srgbClr val="0B797B"/>
                </a:solidFill>
              </a:rPr>
              <a:t>能写：curriculum micro-run PASS    不能写：论文 benchmark 已复现</a:t>
            </a:r>
          </a:p>
        </p:txBody>
      </p:sp>
    </p:spTree>
    <p:extLst>
      <p:ext uri="{BB962C8B-B14F-4D97-AF65-F5344CB8AC3E}">
        <p14:creationId xmlns:p14="http://schemas.microsoft.com/office/powerpoint/2010/main" val="152435134"/>
      </p:ext>
    </p:extLst>
  </p:cSld>
</p:sld>
</file>

<file path=ppt/slides/slide13.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42" name="rail-13">
            <a:extLst xmlns:a="http://schemas.openxmlformats.org/drawingml/2006/main">
              <a:ext uri="{FF2B5EF4-FFF2-40B4-BE49-F238E27FC236}">
                <a16:creationId xmlns:a16="http://schemas.microsoft.com/office/drawing/2014/main" id="{0D9DE5F4-5E63-4C66-A4DE-FF332603F81D}"/>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3">
            <a:extLst xmlns:a="http://schemas.openxmlformats.org/drawingml/2006/main">
              <a:ext uri="{FF2B5EF4-FFF2-40B4-BE49-F238E27FC236}">
                <a16:creationId xmlns:a16="http://schemas.microsoft.com/office/drawing/2014/main" id="{4C9D9011-0028-4C8D-AD5B-FA84AFB82375}"/>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3">
            <a:extLst xmlns:a="http://schemas.openxmlformats.org/drawingml/2006/main">
              <a:ext uri="{FF2B5EF4-FFF2-40B4-BE49-F238E27FC236}">
                <a16:creationId xmlns:a16="http://schemas.microsoft.com/office/drawing/2014/main" id="{584EA228-56B9-46FE-908B-766B7774AB33}"/>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INTEGRITY AUDIT</a:t>
            </a:r>
          </a:p>
        </p:txBody>
      </p:sp>
      <p:sp>
        <p:nvSpPr>
          <p:cNvPr id="4" name="title-13">
            <a:extLst xmlns:a="http://schemas.openxmlformats.org/drawingml/2006/main">
              <a:ext uri="{FF2B5EF4-FFF2-40B4-BE49-F238E27FC236}">
                <a16:creationId xmlns:a16="http://schemas.microsoft.com/office/drawing/2014/main" id="{5871BEE6-F00B-43F0-9180-6F960C46678B}"/>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怎样证明不是“看起来训练了”？</a:t>
            </a:r>
          </a:p>
        </p:txBody>
      </p:sp>
      <p:sp>
        <p:nvSpPr>
          <p:cNvPr id="5" name="subtitle-13">
            <a:extLst xmlns:a="http://schemas.openxmlformats.org/drawingml/2006/main">
              <a:ext uri="{FF2B5EF4-FFF2-40B4-BE49-F238E27FC236}">
                <a16:creationId xmlns:a16="http://schemas.microsoft.com/office/drawing/2014/main" id="{EFCF8E04-A11A-4772-A868-7B61B3359D5C}"/>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把一次 ML run 拆成可证伪的 gate：任何关键证据缺失，最终报告和 PPT 都拒绝生成。</a:t>
            </a:r>
          </a:p>
        </p:txBody>
      </p:sp>
      <p:sp>
        <p:nvSpPr>
          <p:cNvPr id="6" name="">
            <a:extLst xmlns:a="http://schemas.openxmlformats.org/drawingml/2006/main">
              <a:ext uri="{FF2B5EF4-FFF2-40B4-BE49-F238E27FC236}">
                <a16:creationId xmlns:a16="http://schemas.microsoft.com/office/drawing/2014/main" id="{5389300C-03DB-4D8F-B4B9-331F5A266E8B}"/>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3">
            <a:extLst xmlns:a="http://schemas.openxmlformats.org/drawingml/2006/main">
              <a:ext uri="{FF2B5EF4-FFF2-40B4-BE49-F238E27FC236}">
                <a16:creationId xmlns:a16="http://schemas.microsoft.com/office/drawing/2014/main" id="{7106A1D3-A93D-4374-9CAC-03E9BB35767A}"/>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13</a:t>
            </a:r>
          </a:p>
        </p:txBody>
      </p:sp>
      <p:sp>
        <p:nvSpPr>
          <p:cNvPr id="8" name="audit-bg-0">
            <a:extLst xmlns:a="http://schemas.openxmlformats.org/drawingml/2006/main">
              <a:ext uri="{FF2B5EF4-FFF2-40B4-BE49-F238E27FC236}">
                <a16:creationId xmlns:a16="http://schemas.microsoft.com/office/drawing/2014/main" id="{4EC6590A-8A44-46D0-BFD7-3DB09124496C}"/>
              </a:ext>
            </a:extLst>
          </p:cNvPr>
          <p:cNvSpPr>
            <a:spLocks xmlns:a="http://schemas.openxmlformats.org/drawingml/2006/main" noGrp="1"/>
          </p:cNvSpPr>
          <p:nvPr/>
        </p:nvSpPr>
        <p:spPr>
          <a:xfrm xmlns:a="http://schemas.openxmlformats.org/drawingml/2006/main">
            <a:off x="809625" y="21431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9" name="audit-pill-0-bg">
            <a:extLst xmlns:a="http://schemas.openxmlformats.org/drawingml/2006/main">
              <a:ext uri="{FF2B5EF4-FFF2-40B4-BE49-F238E27FC236}">
                <a16:creationId xmlns:a16="http://schemas.microsoft.com/office/drawing/2014/main" id="{12418A66-600C-446F-A84B-A899EA7D314F}"/>
              </a:ext>
            </a:extLst>
          </p:cNvPr>
          <p:cNvSpPr>
            <a:spLocks xmlns:a="http://schemas.openxmlformats.org/drawingml/2006/main" noGrp="1"/>
          </p:cNvSpPr>
          <p:nvPr/>
        </p:nvSpPr>
        <p:spPr>
          <a:xfrm xmlns:a="http://schemas.openxmlformats.org/drawingml/2006/main">
            <a:off x="981075" y="23336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0" name="audit-pill-0-text">
            <a:extLst xmlns:a="http://schemas.openxmlformats.org/drawingml/2006/main">
              <a:ext uri="{FF2B5EF4-FFF2-40B4-BE49-F238E27FC236}">
                <a16:creationId xmlns:a16="http://schemas.microsoft.com/office/drawing/2014/main" id="{8D6C95F3-8812-4708-A3C4-057F04476BB0}"/>
              </a:ext>
            </a:extLst>
          </p:cNvPr>
          <p:cNvSpPr>
            <a:spLocks xmlns:a="http://schemas.openxmlformats.org/drawingml/2006/main" noGrp="1"/>
          </p:cNvSpPr>
          <p:nvPr/>
        </p:nvSpPr>
        <p:spPr>
          <a:xfrm xmlns:a="http://schemas.openxmlformats.org/drawingml/2006/main">
            <a:off x="1076325" y="23812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11" name="audit-name-0">
            <a:extLst xmlns:a="http://schemas.openxmlformats.org/drawingml/2006/main">
              <a:ext uri="{FF2B5EF4-FFF2-40B4-BE49-F238E27FC236}">
                <a16:creationId xmlns:a16="http://schemas.microsoft.com/office/drawing/2014/main" id="{579B145D-F80C-4589-860D-E1CD06B4A1AF}"/>
              </a:ext>
            </a:extLst>
          </p:cNvPr>
          <p:cNvSpPr>
            <a:spLocks xmlns:a="http://schemas.openxmlformats.org/drawingml/2006/main" noGrp="1"/>
          </p:cNvSpPr>
          <p:nvPr/>
        </p:nvSpPr>
        <p:spPr>
          <a:xfrm xmlns:a="http://schemas.openxmlformats.org/drawingml/2006/main">
            <a:off x="1857375" y="23050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stage1 adapter exists</a:t>
            </a:r>
          </a:p>
        </p:txBody>
      </p:sp>
      <p:sp>
        <p:nvSpPr>
          <p:cNvPr id="12" name="audit-bg-1">
            <a:extLst xmlns:a="http://schemas.openxmlformats.org/drawingml/2006/main">
              <a:ext uri="{FF2B5EF4-FFF2-40B4-BE49-F238E27FC236}">
                <a16:creationId xmlns:a16="http://schemas.microsoft.com/office/drawing/2014/main" id="{F777CD7A-F9E8-442A-9454-78A22FDE2697}"/>
              </a:ext>
            </a:extLst>
          </p:cNvPr>
          <p:cNvSpPr>
            <a:spLocks xmlns:a="http://schemas.openxmlformats.org/drawingml/2006/main" noGrp="1"/>
          </p:cNvSpPr>
          <p:nvPr/>
        </p:nvSpPr>
        <p:spPr>
          <a:xfrm xmlns:a="http://schemas.openxmlformats.org/drawingml/2006/main">
            <a:off x="6143625" y="21431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13" name="audit-pill-1-bg">
            <a:extLst xmlns:a="http://schemas.openxmlformats.org/drawingml/2006/main">
              <a:ext uri="{FF2B5EF4-FFF2-40B4-BE49-F238E27FC236}">
                <a16:creationId xmlns:a16="http://schemas.microsoft.com/office/drawing/2014/main" id="{24828A97-F42F-453A-98B1-FB01D9770C5C}"/>
              </a:ext>
            </a:extLst>
          </p:cNvPr>
          <p:cNvSpPr>
            <a:spLocks xmlns:a="http://schemas.openxmlformats.org/drawingml/2006/main" noGrp="1"/>
          </p:cNvSpPr>
          <p:nvPr/>
        </p:nvSpPr>
        <p:spPr>
          <a:xfrm xmlns:a="http://schemas.openxmlformats.org/drawingml/2006/main">
            <a:off x="6315075" y="23336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4" name="audit-pill-1-text">
            <a:extLst xmlns:a="http://schemas.openxmlformats.org/drawingml/2006/main">
              <a:ext uri="{FF2B5EF4-FFF2-40B4-BE49-F238E27FC236}">
                <a16:creationId xmlns:a16="http://schemas.microsoft.com/office/drawing/2014/main" id="{EE714E34-97FC-4D50-AFAB-F307366EAFA9}"/>
              </a:ext>
            </a:extLst>
          </p:cNvPr>
          <p:cNvSpPr>
            <a:spLocks xmlns:a="http://schemas.openxmlformats.org/drawingml/2006/main" noGrp="1"/>
          </p:cNvSpPr>
          <p:nvPr/>
        </p:nvSpPr>
        <p:spPr>
          <a:xfrm xmlns:a="http://schemas.openxmlformats.org/drawingml/2006/main">
            <a:off x="6410325" y="23812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15" name="audit-name-1">
            <a:extLst xmlns:a="http://schemas.openxmlformats.org/drawingml/2006/main">
              <a:ext uri="{FF2B5EF4-FFF2-40B4-BE49-F238E27FC236}">
                <a16:creationId xmlns:a16="http://schemas.microsoft.com/office/drawing/2014/main" id="{CF7B3216-7E23-4CA8-8CCA-3E30B6D57362}"/>
              </a:ext>
            </a:extLst>
          </p:cNvPr>
          <p:cNvSpPr>
            <a:spLocks xmlns:a="http://schemas.openxmlformats.org/drawingml/2006/main" noGrp="1"/>
          </p:cNvSpPr>
          <p:nvPr/>
        </p:nvSpPr>
        <p:spPr>
          <a:xfrm xmlns:a="http://schemas.openxmlformats.org/drawingml/2006/main">
            <a:off x="7191375" y="23050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stage2 adapter exists</a:t>
            </a:r>
          </a:p>
        </p:txBody>
      </p:sp>
      <p:sp>
        <p:nvSpPr>
          <p:cNvPr id="16" name="audit-bg-2">
            <a:extLst xmlns:a="http://schemas.openxmlformats.org/drawingml/2006/main">
              <a:ext uri="{FF2B5EF4-FFF2-40B4-BE49-F238E27FC236}">
                <a16:creationId xmlns:a16="http://schemas.microsoft.com/office/drawing/2014/main" id="{F0FAD1DE-36E3-465E-9267-357D40EB6E0A}"/>
              </a:ext>
            </a:extLst>
          </p:cNvPr>
          <p:cNvSpPr>
            <a:spLocks xmlns:a="http://schemas.openxmlformats.org/drawingml/2006/main" noGrp="1"/>
          </p:cNvSpPr>
          <p:nvPr/>
        </p:nvSpPr>
        <p:spPr>
          <a:xfrm xmlns:a="http://schemas.openxmlformats.org/drawingml/2006/main">
            <a:off x="809625" y="30194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17" name="audit-pill-2-bg">
            <a:extLst xmlns:a="http://schemas.openxmlformats.org/drawingml/2006/main">
              <a:ext uri="{FF2B5EF4-FFF2-40B4-BE49-F238E27FC236}">
                <a16:creationId xmlns:a16="http://schemas.microsoft.com/office/drawing/2014/main" id="{4A15B2F3-745A-4EA4-8C2D-40D23C2B02DB}"/>
              </a:ext>
            </a:extLst>
          </p:cNvPr>
          <p:cNvSpPr>
            <a:spLocks xmlns:a="http://schemas.openxmlformats.org/drawingml/2006/main" noGrp="1"/>
          </p:cNvSpPr>
          <p:nvPr/>
        </p:nvSpPr>
        <p:spPr>
          <a:xfrm xmlns:a="http://schemas.openxmlformats.org/drawingml/2006/main">
            <a:off x="981075" y="32099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8" name="audit-pill-2-text">
            <a:extLst xmlns:a="http://schemas.openxmlformats.org/drawingml/2006/main">
              <a:ext uri="{FF2B5EF4-FFF2-40B4-BE49-F238E27FC236}">
                <a16:creationId xmlns:a16="http://schemas.microsoft.com/office/drawing/2014/main" id="{62E18F8C-9F6D-42DF-83BD-42192C538831}"/>
              </a:ext>
            </a:extLst>
          </p:cNvPr>
          <p:cNvSpPr>
            <a:spLocks xmlns:a="http://schemas.openxmlformats.org/drawingml/2006/main" noGrp="1"/>
          </p:cNvSpPr>
          <p:nvPr/>
        </p:nvSpPr>
        <p:spPr>
          <a:xfrm xmlns:a="http://schemas.openxmlformats.org/drawingml/2006/main">
            <a:off x="1076325" y="32575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19" name="audit-name-2">
            <a:extLst xmlns:a="http://schemas.openxmlformats.org/drawingml/2006/main">
              <a:ext uri="{FF2B5EF4-FFF2-40B4-BE49-F238E27FC236}">
                <a16:creationId xmlns:a16="http://schemas.microsoft.com/office/drawing/2014/main" id="{EAC05EDF-6C56-4530-B014-A370A24E2A3B}"/>
              </a:ext>
            </a:extLst>
          </p:cNvPr>
          <p:cNvSpPr>
            <a:spLocks xmlns:a="http://schemas.openxmlformats.org/drawingml/2006/main" noGrp="1"/>
          </p:cNvSpPr>
          <p:nvPr/>
        </p:nvSpPr>
        <p:spPr>
          <a:xfrm xmlns:a="http://schemas.openxmlformats.org/drawingml/2006/main">
            <a:off x="1857375" y="31813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stage2 adapter differs from stage1</a:t>
            </a:r>
          </a:p>
        </p:txBody>
      </p:sp>
      <p:sp>
        <p:nvSpPr>
          <p:cNvPr id="20" name="audit-bg-3">
            <a:extLst xmlns:a="http://schemas.openxmlformats.org/drawingml/2006/main">
              <a:ext uri="{FF2B5EF4-FFF2-40B4-BE49-F238E27FC236}">
                <a16:creationId xmlns:a16="http://schemas.microsoft.com/office/drawing/2014/main" id="{B802658B-CCBE-41DF-8263-A5B336FF7286}"/>
              </a:ext>
            </a:extLst>
          </p:cNvPr>
          <p:cNvSpPr>
            <a:spLocks xmlns:a="http://schemas.openxmlformats.org/drawingml/2006/main" noGrp="1"/>
          </p:cNvSpPr>
          <p:nvPr/>
        </p:nvSpPr>
        <p:spPr>
          <a:xfrm xmlns:a="http://schemas.openxmlformats.org/drawingml/2006/main">
            <a:off x="6143625" y="30194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21" name="audit-pill-3-bg">
            <a:extLst xmlns:a="http://schemas.openxmlformats.org/drawingml/2006/main">
              <a:ext uri="{FF2B5EF4-FFF2-40B4-BE49-F238E27FC236}">
                <a16:creationId xmlns:a16="http://schemas.microsoft.com/office/drawing/2014/main" id="{5C64083B-D89C-44B6-B64B-7BEE2DF67129}"/>
              </a:ext>
            </a:extLst>
          </p:cNvPr>
          <p:cNvSpPr>
            <a:spLocks xmlns:a="http://schemas.openxmlformats.org/drawingml/2006/main" noGrp="1"/>
          </p:cNvSpPr>
          <p:nvPr/>
        </p:nvSpPr>
        <p:spPr>
          <a:xfrm xmlns:a="http://schemas.openxmlformats.org/drawingml/2006/main">
            <a:off x="6315075" y="32099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22" name="audit-pill-3-text">
            <a:extLst xmlns:a="http://schemas.openxmlformats.org/drawingml/2006/main">
              <a:ext uri="{FF2B5EF4-FFF2-40B4-BE49-F238E27FC236}">
                <a16:creationId xmlns:a16="http://schemas.microsoft.com/office/drawing/2014/main" id="{5B4FC5F8-8CD0-4405-BCED-B68912EB7087}"/>
              </a:ext>
            </a:extLst>
          </p:cNvPr>
          <p:cNvSpPr>
            <a:spLocks xmlns:a="http://schemas.openxmlformats.org/drawingml/2006/main" noGrp="1"/>
          </p:cNvSpPr>
          <p:nvPr/>
        </p:nvSpPr>
        <p:spPr>
          <a:xfrm xmlns:a="http://schemas.openxmlformats.org/drawingml/2006/main">
            <a:off x="6410325" y="32575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23" name="audit-name-3">
            <a:extLst xmlns:a="http://schemas.openxmlformats.org/drawingml/2006/main">
              <a:ext uri="{FF2B5EF4-FFF2-40B4-BE49-F238E27FC236}">
                <a16:creationId xmlns:a16="http://schemas.microsoft.com/office/drawing/2014/main" id="{45DC1173-565A-41CB-B38B-C173AF1FCF56}"/>
              </a:ext>
            </a:extLst>
          </p:cNvPr>
          <p:cNvSpPr>
            <a:spLocks xmlns:a="http://schemas.openxmlformats.org/drawingml/2006/main" noGrp="1"/>
          </p:cNvSpPr>
          <p:nvPr/>
        </p:nvSpPr>
        <p:spPr>
          <a:xfrm xmlns:a="http://schemas.openxmlformats.org/drawingml/2006/main">
            <a:off x="7191375" y="31813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both GRPO stages changed trainable parameters</a:t>
            </a:r>
          </a:p>
        </p:txBody>
      </p:sp>
      <p:sp>
        <p:nvSpPr>
          <p:cNvPr id="24" name="audit-bg-4">
            <a:extLst xmlns:a="http://schemas.openxmlformats.org/drawingml/2006/main">
              <a:ext uri="{FF2B5EF4-FFF2-40B4-BE49-F238E27FC236}">
                <a16:creationId xmlns:a16="http://schemas.microsoft.com/office/drawing/2014/main" id="{6F77BBF1-AD06-473F-91C0-53E144A94569}"/>
              </a:ext>
            </a:extLst>
          </p:cNvPr>
          <p:cNvSpPr>
            <a:spLocks xmlns:a="http://schemas.openxmlformats.org/drawingml/2006/main" noGrp="1"/>
          </p:cNvSpPr>
          <p:nvPr/>
        </p:nvSpPr>
        <p:spPr>
          <a:xfrm xmlns:a="http://schemas.openxmlformats.org/drawingml/2006/main">
            <a:off x="809625" y="38957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25" name="audit-pill-4-bg">
            <a:extLst xmlns:a="http://schemas.openxmlformats.org/drawingml/2006/main">
              <a:ext uri="{FF2B5EF4-FFF2-40B4-BE49-F238E27FC236}">
                <a16:creationId xmlns:a16="http://schemas.microsoft.com/office/drawing/2014/main" id="{AD1C736F-8E60-40CD-BA9C-DE289DACC4C9}"/>
              </a:ext>
            </a:extLst>
          </p:cNvPr>
          <p:cNvSpPr>
            <a:spLocks xmlns:a="http://schemas.openxmlformats.org/drawingml/2006/main" noGrp="1"/>
          </p:cNvSpPr>
          <p:nvPr/>
        </p:nvSpPr>
        <p:spPr>
          <a:xfrm xmlns:a="http://schemas.openxmlformats.org/drawingml/2006/main">
            <a:off x="981075" y="40862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26" name="audit-pill-4-text">
            <a:extLst xmlns:a="http://schemas.openxmlformats.org/drawingml/2006/main">
              <a:ext uri="{FF2B5EF4-FFF2-40B4-BE49-F238E27FC236}">
                <a16:creationId xmlns:a16="http://schemas.microsoft.com/office/drawing/2014/main" id="{ED43FFF8-99C9-4F3F-B20E-AA9187D405EB}"/>
              </a:ext>
            </a:extLst>
          </p:cNvPr>
          <p:cNvSpPr>
            <a:spLocks xmlns:a="http://schemas.openxmlformats.org/drawingml/2006/main" noGrp="1"/>
          </p:cNvSpPr>
          <p:nvPr/>
        </p:nvSpPr>
        <p:spPr>
          <a:xfrm xmlns:a="http://schemas.openxmlformats.org/drawingml/2006/main">
            <a:off x="1076325" y="41338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27" name="audit-name-4">
            <a:extLst xmlns:a="http://schemas.openxmlformats.org/drawingml/2006/main">
              <a:ext uri="{FF2B5EF4-FFF2-40B4-BE49-F238E27FC236}">
                <a16:creationId xmlns:a16="http://schemas.microsoft.com/office/drawing/2014/main" id="{FADCCF9D-232B-4EBD-A382-A9913F777987}"/>
              </a:ext>
            </a:extLst>
          </p:cNvPr>
          <p:cNvSpPr>
            <a:spLocks xmlns:a="http://schemas.openxmlformats.org/drawingml/2006/main" noGrp="1"/>
          </p:cNvSpPr>
          <p:nvPr/>
        </p:nvSpPr>
        <p:spPr>
          <a:xfrm xmlns:a="http://schemas.openxmlformats.org/drawingml/2006/main">
            <a:off x="1857375" y="40576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training reward variance observed</a:t>
            </a:r>
          </a:p>
        </p:txBody>
      </p:sp>
      <p:sp>
        <p:nvSpPr>
          <p:cNvPr id="28" name="audit-bg-5">
            <a:extLst xmlns:a="http://schemas.openxmlformats.org/drawingml/2006/main">
              <a:ext uri="{FF2B5EF4-FFF2-40B4-BE49-F238E27FC236}">
                <a16:creationId xmlns:a16="http://schemas.microsoft.com/office/drawing/2014/main" id="{232BDD5E-74BF-4532-8A00-C59047589D83}"/>
              </a:ext>
            </a:extLst>
          </p:cNvPr>
          <p:cNvSpPr>
            <a:spLocks xmlns:a="http://schemas.openxmlformats.org/drawingml/2006/main" noGrp="1"/>
          </p:cNvSpPr>
          <p:nvPr/>
        </p:nvSpPr>
        <p:spPr>
          <a:xfrm xmlns:a="http://schemas.openxmlformats.org/drawingml/2006/main">
            <a:off x="6143625" y="38957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29" name="audit-pill-5-bg">
            <a:extLst xmlns:a="http://schemas.openxmlformats.org/drawingml/2006/main">
              <a:ext uri="{FF2B5EF4-FFF2-40B4-BE49-F238E27FC236}">
                <a16:creationId xmlns:a16="http://schemas.microsoft.com/office/drawing/2014/main" id="{90927129-03E4-495C-BDA1-14136F46C263}"/>
              </a:ext>
            </a:extLst>
          </p:cNvPr>
          <p:cNvSpPr>
            <a:spLocks xmlns:a="http://schemas.openxmlformats.org/drawingml/2006/main" noGrp="1"/>
          </p:cNvSpPr>
          <p:nvPr/>
        </p:nvSpPr>
        <p:spPr>
          <a:xfrm xmlns:a="http://schemas.openxmlformats.org/drawingml/2006/main">
            <a:off x="6315075" y="40862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0" name="audit-pill-5-text">
            <a:extLst xmlns:a="http://schemas.openxmlformats.org/drawingml/2006/main">
              <a:ext uri="{FF2B5EF4-FFF2-40B4-BE49-F238E27FC236}">
                <a16:creationId xmlns:a16="http://schemas.microsoft.com/office/drawing/2014/main" id="{A3374A7B-96E0-4158-B3C6-08C8EF5B88D7}"/>
              </a:ext>
            </a:extLst>
          </p:cNvPr>
          <p:cNvSpPr>
            <a:spLocks xmlns:a="http://schemas.openxmlformats.org/drawingml/2006/main" noGrp="1"/>
          </p:cNvSpPr>
          <p:nvPr/>
        </p:nvSpPr>
        <p:spPr>
          <a:xfrm xmlns:a="http://schemas.openxmlformats.org/drawingml/2006/main">
            <a:off x="6410325" y="41338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31" name="audit-name-5">
            <a:extLst xmlns:a="http://schemas.openxmlformats.org/drawingml/2006/main">
              <a:ext uri="{FF2B5EF4-FFF2-40B4-BE49-F238E27FC236}">
                <a16:creationId xmlns:a16="http://schemas.microsoft.com/office/drawing/2014/main" id="{865CE0CF-2F5E-43AE-BB30-5BBC85A0D441}"/>
              </a:ext>
            </a:extLst>
          </p:cNvPr>
          <p:cNvSpPr>
            <a:spLocks xmlns:a="http://schemas.openxmlformats.org/drawingml/2006/main" noGrp="1"/>
          </p:cNvSpPr>
          <p:nvPr/>
        </p:nvSpPr>
        <p:spPr>
          <a:xfrm xmlns:a="http://schemas.openxmlformats.org/drawingml/2006/main">
            <a:off x="7191375" y="40576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final holdout isolation</a:t>
            </a:r>
          </a:p>
        </p:txBody>
      </p:sp>
      <p:sp>
        <p:nvSpPr>
          <p:cNvPr id="32" name="audit-bg-6">
            <a:extLst xmlns:a="http://schemas.openxmlformats.org/drawingml/2006/main">
              <a:ext uri="{FF2B5EF4-FFF2-40B4-BE49-F238E27FC236}">
                <a16:creationId xmlns:a16="http://schemas.microsoft.com/office/drawing/2014/main" id="{BCAA550C-B281-4ECD-A287-2519D044CFAF}"/>
              </a:ext>
            </a:extLst>
          </p:cNvPr>
          <p:cNvSpPr>
            <a:spLocks xmlns:a="http://schemas.openxmlformats.org/drawingml/2006/main" noGrp="1"/>
          </p:cNvSpPr>
          <p:nvPr/>
        </p:nvSpPr>
        <p:spPr>
          <a:xfrm xmlns:a="http://schemas.openxmlformats.org/drawingml/2006/main">
            <a:off x="809625" y="47720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33" name="audit-pill-6-bg">
            <a:extLst xmlns:a="http://schemas.openxmlformats.org/drawingml/2006/main">
              <a:ext uri="{FF2B5EF4-FFF2-40B4-BE49-F238E27FC236}">
                <a16:creationId xmlns:a16="http://schemas.microsoft.com/office/drawing/2014/main" id="{503D3275-8E04-4FA4-B154-ED3215F849AC}"/>
              </a:ext>
            </a:extLst>
          </p:cNvPr>
          <p:cNvSpPr>
            <a:spLocks xmlns:a="http://schemas.openxmlformats.org/drawingml/2006/main" noGrp="1"/>
          </p:cNvSpPr>
          <p:nvPr/>
        </p:nvSpPr>
        <p:spPr>
          <a:xfrm xmlns:a="http://schemas.openxmlformats.org/drawingml/2006/main">
            <a:off x="981075" y="49625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4" name="audit-pill-6-text">
            <a:extLst xmlns:a="http://schemas.openxmlformats.org/drawingml/2006/main">
              <a:ext uri="{FF2B5EF4-FFF2-40B4-BE49-F238E27FC236}">
                <a16:creationId xmlns:a16="http://schemas.microsoft.com/office/drawing/2014/main" id="{F9C70E7C-9E3B-40F4-98BE-C2D703C017D8}"/>
              </a:ext>
            </a:extLst>
          </p:cNvPr>
          <p:cNvSpPr>
            <a:spLocks xmlns:a="http://schemas.openxmlformats.org/drawingml/2006/main" noGrp="1"/>
          </p:cNvSpPr>
          <p:nvPr/>
        </p:nvSpPr>
        <p:spPr>
          <a:xfrm xmlns:a="http://schemas.openxmlformats.org/drawingml/2006/main">
            <a:off x="1076325" y="50101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35" name="audit-name-6">
            <a:extLst xmlns:a="http://schemas.openxmlformats.org/drawingml/2006/main">
              <a:ext uri="{FF2B5EF4-FFF2-40B4-BE49-F238E27FC236}">
                <a16:creationId xmlns:a16="http://schemas.microsoft.com/office/drawing/2014/main" id="{781F0F7A-F68F-447B-B2E1-D2AD6F25EFC3}"/>
              </a:ext>
            </a:extLst>
          </p:cNvPr>
          <p:cNvSpPr>
            <a:spLocks xmlns:a="http://schemas.openxmlformats.org/drawingml/2006/main" noGrp="1"/>
          </p:cNvSpPr>
          <p:nvPr/>
        </p:nvSpPr>
        <p:spPr>
          <a:xfrm xmlns:a="http://schemas.openxmlformats.org/drawingml/2006/main">
            <a:off x="1857375" y="49339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failure-driven synthesis has provenance</a:t>
            </a:r>
          </a:p>
        </p:txBody>
      </p:sp>
      <p:sp>
        <p:nvSpPr>
          <p:cNvPr id="36" name="audit-bg-7">
            <a:extLst xmlns:a="http://schemas.openxmlformats.org/drawingml/2006/main">
              <a:ext uri="{FF2B5EF4-FFF2-40B4-BE49-F238E27FC236}">
                <a16:creationId xmlns:a16="http://schemas.microsoft.com/office/drawing/2014/main" id="{0E4E70A1-F5D7-46B5-A42B-0B58D4DCB2F3}"/>
              </a:ext>
            </a:extLst>
          </p:cNvPr>
          <p:cNvSpPr>
            <a:spLocks xmlns:a="http://schemas.openxmlformats.org/drawingml/2006/main" noGrp="1"/>
          </p:cNvSpPr>
          <p:nvPr/>
        </p:nvSpPr>
        <p:spPr>
          <a:xfrm xmlns:a="http://schemas.openxmlformats.org/drawingml/2006/main">
            <a:off x="6143625" y="47720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37" name="audit-pill-7-bg">
            <a:extLst xmlns:a="http://schemas.openxmlformats.org/drawingml/2006/main">
              <a:ext uri="{FF2B5EF4-FFF2-40B4-BE49-F238E27FC236}">
                <a16:creationId xmlns:a16="http://schemas.microsoft.com/office/drawing/2014/main" id="{EE51A294-3279-4D49-9DCA-67EE35BBE629}"/>
              </a:ext>
            </a:extLst>
          </p:cNvPr>
          <p:cNvSpPr>
            <a:spLocks xmlns:a="http://schemas.openxmlformats.org/drawingml/2006/main" noGrp="1"/>
          </p:cNvSpPr>
          <p:nvPr/>
        </p:nvSpPr>
        <p:spPr>
          <a:xfrm xmlns:a="http://schemas.openxmlformats.org/drawingml/2006/main">
            <a:off x="6315075" y="49625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8" name="audit-pill-7-text">
            <a:extLst xmlns:a="http://schemas.openxmlformats.org/drawingml/2006/main">
              <a:ext uri="{FF2B5EF4-FFF2-40B4-BE49-F238E27FC236}">
                <a16:creationId xmlns:a16="http://schemas.microsoft.com/office/drawing/2014/main" id="{F93E7FE2-F67B-4C4A-AE68-2CC765374873}"/>
              </a:ext>
            </a:extLst>
          </p:cNvPr>
          <p:cNvSpPr>
            <a:spLocks xmlns:a="http://schemas.openxmlformats.org/drawingml/2006/main" noGrp="1"/>
          </p:cNvSpPr>
          <p:nvPr/>
        </p:nvSpPr>
        <p:spPr>
          <a:xfrm xmlns:a="http://schemas.openxmlformats.org/drawingml/2006/main">
            <a:off x="6410325" y="50101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39" name="audit-name-7">
            <a:extLst xmlns:a="http://schemas.openxmlformats.org/drawingml/2006/main">
              <a:ext uri="{FF2B5EF4-FFF2-40B4-BE49-F238E27FC236}">
                <a16:creationId xmlns:a16="http://schemas.microsoft.com/office/drawing/2014/main" id="{A208E6B5-9538-4916-BB1B-6E4DB477B57F}"/>
              </a:ext>
            </a:extLst>
          </p:cNvPr>
          <p:cNvSpPr>
            <a:spLocks xmlns:a="http://schemas.openxmlformats.org/drawingml/2006/main" noGrp="1"/>
          </p:cNvSpPr>
          <p:nvPr/>
        </p:nvSpPr>
        <p:spPr>
          <a:xfrm xmlns:a="http://schemas.openxmlformats.org/drawingml/2006/main">
            <a:off x="7191375" y="49339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stage2 consumed stage1 adapter</a:t>
            </a:r>
          </a:p>
        </p:txBody>
      </p:sp>
      <p:sp>
        <p:nvSpPr>
          <p:cNvPr id="40" name="audit-hash">
            <a:extLst xmlns:a="http://schemas.openxmlformats.org/drawingml/2006/main">
              <a:ext uri="{FF2B5EF4-FFF2-40B4-BE49-F238E27FC236}">
                <a16:creationId xmlns:a16="http://schemas.microsoft.com/office/drawing/2014/main" id="{A6A3CB89-31A3-4753-B183-7F921A6F3AB9}"/>
              </a:ext>
            </a:extLst>
          </p:cNvPr>
          <p:cNvSpPr>
            <a:spLocks xmlns:a="http://schemas.openxmlformats.org/drawingml/2006/main" noGrp="1"/>
          </p:cNvSpPr>
          <p:nvPr/>
        </p:nvSpPr>
        <p:spPr>
          <a:xfrm xmlns:a="http://schemas.openxmlformats.org/drawingml/2006/main">
            <a:off x="952500" y="5762625"/>
            <a:ext cx="10096500" cy="476250"/>
          </a:xfrm>
          <a:prstGeom xmlns:a="http://schemas.openxmlformats.org/drawingml/2006/main" prst="roundRect">
            <a:avLst>
              <a:gd name="adj" fmla="val 16000"/>
            </a:avLst>
          </a:prstGeom>
          <a:solidFill xmlns:a="http://schemas.openxmlformats.org/drawingml/2006/main">
            <a:srgbClr val="071A2B"/>
          </a:solidFill>
          <a:ln xmlns:a="http://schemas.openxmlformats.org/drawingml/2006/main" w="0">
            <a:solidFill>
              <a:srgbClr val="071A2B"/>
            </a:solidFill>
            <a:prstDash val="solid"/>
          </a:ln>
        </p:spPr>
      </p:sp>
      <p:sp>
        <p:nvSpPr>
          <p:cNvPr id="41" name="audit-hash-text">
            <a:extLst xmlns:a="http://schemas.openxmlformats.org/drawingml/2006/main">
              <a:ext uri="{FF2B5EF4-FFF2-40B4-BE49-F238E27FC236}">
                <a16:creationId xmlns:a16="http://schemas.microsoft.com/office/drawing/2014/main" id="{57A9DF8F-944C-4BFD-8B77-D5D9AB7D54FA}"/>
              </a:ext>
            </a:extLst>
          </p:cNvPr>
          <p:cNvSpPr>
            <a:spLocks xmlns:a="http://schemas.openxmlformats.org/drawingml/2006/main" noGrp="1"/>
          </p:cNvSpPr>
          <p:nvPr/>
        </p:nvSpPr>
        <p:spPr>
          <a:xfrm xmlns:a="http://schemas.openxmlformats.org/drawingml/2006/main">
            <a:off x="1285875" y="5895975"/>
            <a:ext cx="942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7F1E8"/>
                </a:solidFill>
              </a:defRPr>
            </a:pPr>
            <a:r>
              <a:rPr sz="1050" b="1">
                <a:solidFill>
                  <a:srgbClr val="F7F1E8"/>
                </a:solidFill>
              </a:rPr>
              <a:t>S1 7d3c6d223209f…   →   S2 920f76c8c0f35…   ·   child PID 6913</a:t>
            </a:r>
          </a:p>
        </p:txBody>
      </p:sp>
    </p:spTree>
    <p:extLst>
      <p:ext uri="{BB962C8B-B14F-4D97-AF65-F5344CB8AC3E}">
        <p14:creationId xmlns:p14="http://schemas.microsoft.com/office/powerpoint/2010/main" val="1751903266"/>
      </p:ext>
    </p:extLst>
  </p:cSld>
</p:sld>
</file>

<file path=ppt/slides/slide14.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6" name="rail-14">
            <a:extLst xmlns:a="http://schemas.openxmlformats.org/drawingml/2006/main">
              <a:ext uri="{FF2B5EF4-FFF2-40B4-BE49-F238E27FC236}">
                <a16:creationId xmlns:a16="http://schemas.microsoft.com/office/drawing/2014/main" id="{25878F85-45AD-4474-97D3-0DE312F6DCE9}"/>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4">
            <a:extLst xmlns:a="http://schemas.openxmlformats.org/drawingml/2006/main">
              <a:ext uri="{FF2B5EF4-FFF2-40B4-BE49-F238E27FC236}">
                <a16:creationId xmlns:a16="http://schemas.microsoft.com/office/drawing/2014/main" id="{465E7617-89A4-4020-8502-E27B5D915468}"/>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4">
            <a:extLst xmlns:a="http://schemas.openxmlformats.org/drawingml/2006/main">
              <a:ext uri="{FF2B5EF4-FFF2-40B4-BE49-F238E27FC236}">
                <a16:creationId xmlns:a16="http://schemas.microsoft.com/office/drawing/2014/main" id="{46441381-2804-4C0F-8A95-EC888422AD6D}"/>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HONEST SELF-CHECK</a:t>
            </a:r>
          </a:p>
        </p:txBody>
      </p:sp>
      <p:sp>
        <p:nvSpPr>
          <p:cNvPr id="4" name="title-14">
            <a:extLst xmlns:a="http://schemas.openxmlformats.org/drawingml/2006/main">
              <a:ext uri="{FF2B5EF4-FFF2-40B4-BE49-F238E27FC236}">
                <a16:creationId xmlns:a16="http://schemas.microsoft.com/office/drawing/2014/main" id="{433FDDB3-CF41-4CE8-BF94-74AC4B725E54}"/>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项目已经完整到哪里，哪些仍然不能写？</a:t>
            </a:r>
          </a:p>
        </p:txBody>
      </p:sp>
      <p:sp>
        <p:nvSpPr>
          <p:cNvPr id="5" name="subtitle-14">
            <a:extLst xmlns:a="http://schemas.openxmlformats.org/drawingml/2006/main">
              <a:ext uri="{FF2B5EF4-FFF2-40B4-BE49-F238E27FC236}">
                <a16:creationId xmlns:a16="http://schemas.microsoft.com/office/drawing/2014/main" id="{B3C98081-3E07-4EEC-A8D0-FBFF10C85D02}"/>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把 COMPLETE、CODE_READY 与 BLOCKED_RESOURCE 分开，是这份复现最重要的研究纪律。</a:t>
            </a:r>
          </a:p>
        </p:txBody>
      </p:sp>
      <p:sp>
        <p:nvSpPr>
          <p:cNvPr id="6" name="">
            <a:extLst xmlns:a="http://schemas.openxmlformats.org/drawingml/2006/main">
              <a:ext uri="{FF2B5EF4-FFF2-40B4-BE49-F238E27FC236}">
                <a16:creationId xmlns:a16="http://schemas.microsoft.com/office/drawing/2014/main" id="{93C13F5D-5C13-44ED-95E9-0ECE90BD8146}"/>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4">
            <a:extLst xmlns:a="http://schemas.openxmlformats.org/drawingml/2006/main">
              <a:ext uri="{FF2B5EF4-FFF2-40B4-BE49-F238E27FC236}">
                <a16:creationId xmlns:a16="http://schemas.microsoft.com/office/drawing/2014/main" id="{535AD28C-A20A-4603-B10B-2345FA98A735}"/>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14</a:t>
            </a:r>
          </a:p>
        </p:txBody>
      </p:sp>
      <p:sp>
        <p:nvSpPr>
          <p:cNvPr id="8" name="limit-0">
            <a:extLst xmlns:a="http://schemas.openxmlformats.org/drawingml/2006/main">
              <a:ext uri="{FF2B5EF4-FFF2-40B4-BE49-F238E27FC236}">
                <a16:creationId xmlns:a16="http://schemas.microsoft.com/office/drawing/2014/main" id="{4D081161-9394-4130-9171-7BF23D98B92E}"/>
              </a:ext>
            </a:extLst>
          </p:cNvPr>
          <p:cNvSpPr>
            <a:spLocks xmlns:a="http://schemas.openxmlformats.org/drawingml/2006/main" noGrp="1"/>
          </p:cNvSpPr>
          <p:nvPr/>
        </p:nvSpPr>
        <p:spPr>
          <a:xfrm xmlns:a="http://schemas.openxmlformats.org/drawingml/2006/main">
            <a:off x="714375" y="2143125"/>
            <a:ext cx="3286125" cy="3286125"/>
          </a:xfrm>
          <a:prstGeom xmlns:a="http://schemas.openxmlformats.org/drawingml/2006/main" prst="roundRect">
            <a:avLst>
              <a:gd name="adj" fmla="val 3478"/>
            </a:avLst>
          </a:prstGeom>
          <a:solidFill xmlns:a="http://schemas.openxmlformats.org/drawingml/2006/main">
            <a:srgbClr val="E5F5F3"/>
          </a:solidFill>
          <a:ln xmlns:a="http://schemas.openxmlformats.org/drawingml/2006/main" w="9525">
            <a:solidFill>
              <a:srgbClr val="228B67"/>
            </a:solidFill>
            <a:prstDash val="solid"/>
          </a:ln>
        </p:spPr>
      </p:sp>
      <p:sp>
        <p:nvSpPr>
          <p:cNvPr id="9" name="limit-k-0">
            <a:extLst xmlns:a="http://schemas.openxmlformats.org/drawingml/2006/main">
              <a:ext uri="{FF2B5EF4-FFF2-40B4-BE49-F238E27FC236}">
                <a16:creationId xmlns:a16="http://schemas.microsoft.com/office/drawing/2014/main" id="{0274CA48-FD60-48BC-A6AB-A7BD51B79636}"/>
              </a:ext>
            </a:extLst>
          </p:cNvPr>
          <p:cNvSpPr>
            <a:spLocks xmlns:a="http://schemas.openxmlformats.org/drawingml/2006/main" noGrp="1"/>
          </p:cNvSpPr>
          <p:nvPr/>
        </p:nvSpPr>
        <p:spPr>
          <a:xfrm xmlns:a="http://schemas.openxmlformats.org/drawingml/2006/main">
            <a:off x="942975" y="2381250"/>
            <a:ext cx="28289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28B67"/>
                </a:solidFill>
              </a:defRPr>
            </a:pPr>
            <a:r>
              <a:rPr sz="1275" b="1">
                <a:solidFill>
                  <a:srgbClr val="228B67"/>
                </a:solidFill>
              </a:rPr>
              <a:t>COMPLETE</a:t>
            </a:r>
          </a:p>
        </p:txBody>
      </p:sp>
      <p:sp>
        <p:nvSpPr>
          <p:cNvPr id="10" name="limit-v-0-0">
            <a:extLst xmlns:a="http://schemas.openxmlformats.org/drawingml/2006/main">
              <a:ext uri="{FF2B5EF4-FFF2-40B4-BE49-F238E27FC236}">
                <a16:creationId xmlns:a16="http://schemas.microsoft.com/office/drawing/2014/main" id="{622F7840-4090-42BD-BC0D-68B0F2ED8C12}"/>
              </a:ext>
            </a:extLst>
          </p:cNvPr>
          <p:cNvSpPr>
            <a:spLocks xmlns:a="http://schemas.openxmlformats.org/drawingml/2006/main" noGrp="1"/>
          </p:cNvSpPr>
          <p:nvPr/>
        </p:nvSpPr>
        <p:spPr>
          <a:xfrm xmlns:a="http://schemas.openxmlformats.org/drawingml/2006/main">
            <a:off x="981075" y="3048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两阶段 response-token GRPO</a:t>
            </a:r>
          </a:p>
        </p:txBody>
      </p:sp>
      <p:sp>
        <p:nvSpPr>
          <p:cNvPr id="11" name="limit-v-0-1">
            <a:extLst xmlns:a="http://schemas.openxmlformats.org/drawingml/2006/main">
              <a:ext uri="{FF2B5EF4-FFF2-40B4-BE49-F238E27FC236}">
                <a16:creationId xmlns:a16="http://schemas.microsoft.com/office/drawing/2014/main" id="{020C50F2-69A5-4D98-88E2-E5065356F9F5}"/>
              </a:ext>
            </a:extLst>
          </p:cNvPr>
          <p:cNvSpPr>
            <a:spLocks xmlns:a="http://schemas.openxmlformats.org/drawingml/2006/main" noGrp="1"/>
          </p:cNvSpPr>
          <p:nvPr/>
        </p:nvSpPr>
        <p:spPr>
          <a:xfrm xmlns:a="http://schemas.openxmlformats.org/drawingml/2006/main">
            <a:off x="981075" y="35814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frontier hard-task curriculum</a:t>
            </a:r>
          </a:p>
        </p:txBody>
      </p:sp>
      <p:sp>
        <p:nvSpPr>
          <p:cNvPr id="12" name="limit-v-0-2">
            <a:extLst xmlns:a="http://schemas.openxmlformats.org/drawingml/2006/main">
              <a:ext uri="{FF2B5EF4-FFF2-40B4-BE49-F238E27FC236}">
                <a16:creationId xmlns:a16="http://schemas.microsoft.com/office/drawing/2014/main" id="{908A66F7-4212-45F5-A8F2-41F42FEFFEA4}"/>
              </a:ext>
            </a:extLst>
          </p:cNvPr>
          <p:cNvSpPr>
            <a:spLocks xmlns:a="http://schemas.openxmlformats.org/drawingml/2006/main" noGrp="1"/>
          </p:cNvSpPr>
          <p:nvPr/>
        </p:nvSpPr>
        <p:spPr>
          <a:xfrm xmlns:a="http://schemas.openxmlformats.org/drawingml/2006/main">
            <a:off x="981075" y="41148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fresh-process adapter replay</a:t>
            </a:r>
          </a:p>
        </p:txBody>
      </p:sp>
      <p:sp>
        <p:nvSpPr>
          <p:cNvPr id="13" name="limit-v-0-3">
            <a:extLst xmlns:a="http://schemas.openxmlformats.org/drawingml/2006/main">
              <a:ext uri="{FF2B5EF4-FFF2-40B4-BE49-F238E27FC236}">
                <a16:creationId xmlns:a16="http://schemas.microsoft.com/office/drawing/2014/main" id="{CF3FD820-3EC4-4354-9883-5FCF072D07C8}"/>
              </a:ext>
            </a:extLst>
          </p:cNvPr>
          <p:cNvSpPr>
            <a:spLocks xmlns:a="http://schemas.openxmlformats.org/drawingml/2006/main" noGrp="1"/>
          </p:cNvSpPr>
          <p:nvPr/>
        </p:nvSpPr>
        <p:spPr>
          <a:xfrm xmlns:a="http://schemas.openxmlformats.org/drawingml/2006/main">
            <a:off x="981075" y="46482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V1 失败 → V2 修复审计</a:t>
            </a:r>
          </a:p>
        </p:txBody>
      </p:sp>
      <p:sp>
        <p:nvSpPr>
          <p:cNvPr id="14" name="limit-1">
            <a:extLst xmlns:a="http://schemas.openxmlformats.org/drawingml/2006/main">
              <a:ext uri="{FF2B5EF4-FFF2-40B4-BE49-F238E27FC236}">
                <a16:creationId xmlns:a16="http://schemas.microsoft.com/office/drawing/2014/main" id="{FA766BE1-21F0-4306-A9A2-7178B3E68FB8}"/>
              </a:ext>
            </a:extLst>
          </p:cNvPr>
          <p:cNvSpPr>
            <a:spLocks xmlns:a="http://schemas.openxmlformats.org/drawingml/2006/main" noGrp="1"/>
          </p:cNvSpPr>
          <p:nvPr/>
        </p:nvSpPr>
        <p:spPr>
          <a:xfrm xmlns:a="http://schemas.openxmlformats.org/drawingml/2006/main">
            <a:off x="4381500" y="2143125"/>
            <a:ext cx="3286125" cy="3286125"/>
          </a:xfrm>
          <a:prstGeom xmlns:a="http://schemas.openxmlformats.org/drawingml/2006/main" prst="roundRect">
            <a:avLst>
              <a:gd name="adj" fmla="val 3478"/>
            </a:avLst>
          </a:prstGeom>
          <a:solidFill xmlns:a="http://schemas.openxmlformats.org/drawingml/2006/main">
            <a:srgbClr val="FAF2DE"/>
          </a:solidFill>
          <a:ln xmlns:a="http://schemas.openxmlformats.org/drawingml/2006/main" w="9525">
            <a:solidFill>
              <a:srgbClr val="C56D4A"/>
            </a:solidFill>
            <a:prstDash val="solid"/>
          </a:ln>
        </p:spPr>
      </p:sp>
      <p:sp>
        <p:nvSpPr>
          <p:cNvPr id="15" name="limit-k-1">
            <a:extLst xmlns:a="http://schemas.openxmlformats.org/drawingml/2006/main">
              <a:ext uri="{FF2B5EF4-FFF2-40B4-BE49-F238E27FC236}">
                <a16:creationId xmlns:a16="http://schemas.microsoft.com/office/drawing/2014/main" id="{ACB87A61-8B36-407F-8E80-D84694424C29}"/>
              </a:ext>
            </a:extLst>
          </p:cNvPr>
          <p:cNvSpPr>
            <a:spLocks xmlns:a="http://schemas.openxmlformats.org/drawingml/2006/main" noGrp="1"/>
          </p:cNvSpPr>
          <p:nvPr/>
        </p:nvSpPr>
        <p:spPr>
          <a:xfrm xmlns:a="http://schemas.openxmlformats.org/drawingml/2006/main">
            <a:off x="4610100" y="2381250"/>
            <a:ext cx="28289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C56D4A"/>
                </a:solidFill>
              </a:defRPr>
            </a:pPr>
            <a:r>
              <a:rPr sz="1275" b="1">
                <a:solidFill>
                  <a:srgbClr val="C56D4A"/>
                </a:solidFill>
              </a:rPr>
              <a:t>CODE READY / NOT RUN</a:t>
            </a:r>
          </a:p>
        </p:txBody>
      </p:sp>
      <p:sp>
        <p:nvSpPr>
          <p:cNvPr id="16" name="limit-v-1-0">
            <a:extLst xmlns:a="http://schemas.openxmlformats.org/drawingml/2006/main">
              <a:ext uri="{FF2B5EF4-FFF2-40B4-BE49-F238E27FC236}">
                <a16:creationId xmlns:a16="http://schemas.microsoft.com/office/drawing/2014/main" id="{EE2DC23B-8AC8-4CCF-9D5F-BCEE6668C0FB}"/>
              </a:ext>
            </a:extLst>
          </p:cNvPr>
          <p:cNvSpPr>
            <a:spLocks xmlns:a="http://schemas.openxmlformats.org/drawingml/2006/main" noGrp="1"/>
          </p:cNvSpPr>
          <p:nvPr/>
        </p:nvSpPr>
        <p:spPr>
          <a:xfrm xmlns:a="http://schemas.openxmlformats.org/drawingml/2006/main">
            <a:off x="4648200" y="3048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BFCL-V4 smoke / paper profile</a:t>
            </a:r>
          </a:p>
        </p:txBody>
      </p:sp>
      <p:sp>
        <p:nvSpPr>
          <p:cNvPr id="17" name="limit-v-1-1">
            <a:extLst xmlns:a="http://schemas.openxmlformats.org/drawingml/2006/main">
              <a:ext uri="{FF2B5EF4-FFF2-40B4-BE49-F238E27FC236}">
                <a16:creationId xmlns:a16="http://schemas.microsoft.com/office/drawing/2014/main" id="{74AA7CE8-CB16-418E-BE48-3DD248F31A83}"/>
              </a:ext>
            </a:extLst>
          </p:cNvPr>
          <p:cNvSpPr>
            <a:spLocks xmlns:a="http://schemas.openxmlformats.org/drawingml/2006/main" noGrp="1"/>
          </p:cNvSpPr>
          <p:nvPr/>
        </p:nvSpPr>
        <p:spPr>
          <a:xfrm xmlns:a="http://schemas.openxmlformats.org/drawingml/2006/main">
            <a:off x="4648200" y="35814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TAU-2 Avg@4</a:t>
            </a:r>
          </a:p>
        </p:txBody>
      </p:sp>
      <p:sp>
        <p:nvSpPr>
          <p:cNvPr id="18" name="limit-v-1-2">
            <a:extLst xmlns:a="http://schemas.openxmlformats.org/drawingml/2006/main">
              <a:ext uri="{FF2B5EF4-FFF2-40B4-BE49-F238E27FC236}">
                <a16:creationId xmlns:a16="http://schemas.microsoft.com/office/drawing/2014/main" id="{5B4D3BF8-F0CB-4D50-8AFD-03755767D792}"/>
              </a:ext>
            </a:extLst>
          </p:cNvPr>
          <p:cNvSpPr>
            <a:spLocks xmlns:a="http://schemas.openxmlformats.org/drawingml/2006/main" noGrp="1"/>
          </p:cNvSpPr>
          <p:nvPr/>
        </p:nvSpPr>
        <p:spPr>
          <a:xfrm xmlns:a="http://schemas.openxmlformats.org/drawingml/2006/main">
            <a:off x="4648200" y="41148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3 seeds × ablation matrix</a:t>
            </a:r>
          </a:p>
        </p:txBody>
      </p:sp>
      <p:sp>
        <p:nvSpPr>
          <p:cNvPr id="19" name="limit-v-1-3">
            <a:extLst xmlns:a="http://schemas.openxmlformats.org/drawingml/2006/main">
              <a:ext uri="{FF2B5EF4-FFF2-40B4-BE49-F238E27FC236}">
                <a16:creationId xmlns:a16="http://schemas.microsoft.com/office/drawing/2014/main" id="{70D038E0-CE25-4A83-A26D-0D33C72A1935}"/>
              </a:ext>
            </a:extLst>
          </p:cNvPr>
          <p:cNvSpPr>
            <a:spLocks xmlns:a="http://schemas.openxmlformats.org/drawingml/2006/main" noGrp="1"/>
          </p:cNvSpPr>
          <p:nvPr/>
        </p:nvSpPr>
        <p:spPr>
          <a:xfrm xmlns:a="http://schemas.openxmlformats.org/drawingml/2006/main">
            <a:off x="4648200" y="46482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更长训练与 replay-ratio sweep</a:t>
            </a:r>
          </a:p>
        </p:txBody>
      </p:sp>
      <p:sp>
        <p:nvSpPr>
          <p:cNvPr id="20" name="limit-2">
            <a:extLst xmlns:a="http://schemas.openxmlformats.org/drawingml/2006/main">
              <a:ext uri="{FF2B5EF4-FFF2-40B4-BE49-F238E27FC236}">
                <a16:creationId xmlns:a16="http://schemas.microsoft.com/office/drawing/2014/main" id="{AEF4DA64-53F3-4ADB-9B97-B267240F4F42}"/>
              </a:ext>
            </a:extLst>
          </p:cNvPr>
          <p:cNvSpPr>
            <a:spLocks xmlns:a="http://schemas.openxmlformats.org/drawingml/2006/main" noGrp="1"/>
          </p:cNvSpPr>
          <p:nvPr/>
        </p:nvSpPr>
        <p:spPr>
          <a:xfrm xmlns:a="http://schemas.openxmlformats.org/drawingml/2006/main">
            <a:off x="8048625" y="2143125"/>
            <a:ext cx="3286125" cy="3286125"/>
          </a:xfrm>
          <a:prstGeom xmlns:a="http://schemas.openxmlformats.org/drawingml/2006/main" prst="roundRect">
            <a:avLst>
              <a:gd name="adj" fmla="val 3478"/>
            </a:avLst>
          </a:prstGeom>
          <a:solidFill xmlns:a="http://schemas.openxmlformats.org/drawingml/2006/main">
            <a:srgbClr val="F9E9E6"/>
          </a:solidFill>
          <a:ln xmlns:a="http://schemas.openxmlformats.org/drawingml/2006/main" w="9525">
            <a:solidFill>
              <a:srgbClr val="B44C4C"/>
            </a:solidFill>
            <a:prstDash val="solid"/>
          </a:ln>
        </p:spPr>
      </p:sp>
      <p:sp>
        <p:nvSpPr>
          <p:cNvPr id="21" name="limit-k-2">
            <a:extLst xmlns:a="http://schemas.openxmlformats.org/drawingml/2006/main">
              <a:ext uri="{FF2B5EF4-FFF2-40B4-BE49-F238E27FC236}">
                <a16:creationId xmlns:a16="http://schemas.microsoft.com/office/drawing/2014/main" id="{5F906CAC-C8C0-4652-B53A-D27A87AB7812}"/>
              </a:ext>
            </a:extLst>
          </p:cNvPr>
          <p:cNvSpPr>
            <a:spLocks xmlns:a="http://schemas.openxmlformats.org/drawingml/2006/main" noGrp="1"/>
          </p:cNvSpPr>
          <p:nvPr/>
        </p:nvSpPr>
        <p:spPr>
          <a:xfrm xmlns:a="http://schemas.openxmlformats.org/drawingml/2006/main">
            <a:off x="8277225" y="2381250"/>
            <a:ext cx="28289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B44C4C"/>
                </a:solidFill>
              </a:defRPr>
            </a:pPr>
            <a:r>
              <a:rPr sz="1275" b="1">
                <a:solidFill>
                  <a:srgbClr val="B44C4C"/>
                </a:solidFill>
              </a:rPr>
              <a:t>BLOCKED RESOURCE</a:t>
            </a:r>
          </a:p>
        </p:txBody>
      </p:sp>
      <p:sp>
        <p:nvSpPr>
          <p:cNvPr id="22" name="limit-v-2-0">
            <a:extLst xmlns:a="http://schemas.openxmlformats.org/drawingml/2006/main">
              <a:ext uri="{FF2B5EF4-FFF2-40B4-BE49-F238E27FC236}">
                <a16:creationId xmlns:a16="http://schemas.microsoft.com/office/drawing/2014/main" id="{45664DD8-BFDE-4F3E-94F5-B209F175E4B1}"/>
              </a:ext>
            </a:extLst>
          </p:cNvPr>
          <p:cNvSpPr>
            <a:spLocks xmlns:a="http://schemas.openxmlformats.org/drawingml/2006/main" noGrp="1"/>
          </p:cNvSpPr>
          <p:nvPr/>
        </p:nvSpPr>
        <p:spPr>
          <a:xfrm xmlns:a="http://schemas.openxmlformats.org/drawingml/2006/main">
            <a:off x="8315325" y="3048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论文约 100K 数据飞轮</a:t>
            </a:r>
          </a:p>
        </p:txBody>
      </p:sp>
      <p:sp>
        <p:nvSpPr>
          <p:cNvPr id="23" name="limit-v-2-1">
            <a:extLst xmlns:a="http://schemas.openxmlformats.org/drawingml/2006/main">
              <a:ext uri="{FF2B5EF4-FFF2-40B4-BE49-F238E27FC236}">
                <a16:creationId xmlns:a16="http://schemas.microsoft.com/office/drawing/2014/main" id="{E638F73C-1F38-433B-B5B4-EE4DDD2A8F43}"/>
              </a:ext>
            </a:extLst>
          </p:cNvPr>
          <p:cNvSpPr>
            <a:spLocks xmlns:a="http://schemas.openxmlformats.org/drawingml/2006/main" noGrp="1"/>
          </p:cNvSpPr>
          <p:nvPr/>
        </p:nvSpPr>
        <p:spPr>
          <a:xfrm xmlns:a="http://schemas.openxmlformats.org/drawingml/2006/main">
            <a:off x="8315325" y="35814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Qwen3-235B simulator/judge</a:t>
            </a:r>
          </a:p>
        </p:txBody>
      </p:sp>
      <p:sp>
        <p:nvSpPr>
          <p:cNvPr id="24" name="limit-v-2-2">
            <a:extLst xmlns:a="http://schemas.openxmlformats.org/drawingml/2006/main">
              <a:ext uri="{FF2B5EF4-FFF2-40B4-BE49-F238E27FC236}">
                <a16:creationId xmlns:a16="http://schemas.microsoft.com/office/drawing/2014/main" id="{A04D9E3B-5866-4571-8748-A3BFA2970B43}"/>
              </a:ext>
            </a:extLst>
          </p:cNvPr>
          <p:cNvSpPr>
            <a:spLocks xmlns:a="http://schemas.openxmlformats.org/drawingml/2006/main" noGrp="1"/>
          </p:cNvSpPr>
          <p:nvPr/>
        </p:nvSpPr>
        <p:spPr>
          <a:xfrm xmlns:a="http://schemas.openxmlformats.org/drawingml/2006/main">
            <a:off x="8315325" y="41148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8×H100 原配方</a:t>
            </a:r>
          </a:p>
        </p:txBody>
      </p:sp>
      <p:sp>
        <p:nvSpPr>
          <p:cNvPr id="25" name="limit-v-2-3">
            <a:extLst xmlns:a="http://schemas.openxmlformats.org/drawingml/2006/main">
              <a:ext uri="{FF2B5EF4-FFF2-40B4-BE49-F238E27FC236}">
                <a16:creationId xmlns:a16="http://schemas.microsoft.com/office/drawing/2014/main" id="{4E26C4B4-65A6-454E-A66C-DDE8065AB78F}"/>
              </a:ext>
            </a:extLst>
          </p:cNvPr>
          <p:cNvSpPr>
            <a:spLocks xmlns:a="http://schemas.openxmlformats.org/drawingml/2006/main" noGrp="1"/>
          </p:cNvSpPr>
          <p:nvPr/>
        </p:nvSpPr>
        <p:spPr>
          <a:xfrm xmlns:a="http://schemas.openxmlformats.org/drawingml/2006/main">
            <a:off x="8315325" y="46482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论文 47.4 benchmark claim</a:t>
            </a:r>
          </a:p>
        </p:txBody>
      </p:sp>
    </p:spTree>
    <p:extLst>
      <p:ext uri="{BB962C8B-B14F-4D97-AF65-F5344CB8AC3E}">
        <p14:creationId xmlns:p14="http://schemas.microsoft.com/office/powerpoint/2010/main" val="576466821"/>
      </p:ext>
    </p:extLst>
  </p:cSld>
</p:sld>
</file>

<file path=ppt/slides/slide15.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7" name="mechanism-rail">
            <a:extLst xmlns:a="http://schemas.openxmlformats.org/drawingml/2006/main">
              <a:ext uri="{FF2B5EF4-FFF2-40B4-BE49-F238E27FC236}">
                <a16:creationId xmlns:a16="http://schemas.microsoft.com/office/drawing/2014/main" id="{60069568-E8A0-49BB-8755-1149E7363046}"/>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mechanism-title">
            <a:extLst xmlns:a="http://schemas.openxmlformats.org/drawingml/2006/main">
              <a:ext uri="{FF2B5EF4-FFF2-40B4-BE49-F238E27FC236}">
                <a16:creationId xmlns:a16="http://schemas.microsoft.com/office/drawing/2014/main" id="{06610291-7952-4240-80ED-B74A118CE0C7}"/>
              </a:ext>
            </a:extLst>
          </p:cNvPr>
          <p:cNvSpPr>
            <a:spLocks xmlns:a="http://schemas.openxmlformats.org/drawingml/2006/main" noGrp="1"/>
          </p:cNvSpPr>
          <p:nvPr/>
        </p:nvSpPr>
        <p:spPr>
          <a:xfrm xmlns:a="http://schemas.openxmlformats.org/drawingml/2006/main">
            <a:off x="742950" y="228600"/>
            <a:ext cx="685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400" b="1">
                <a:solidFill>
                  <a:srgbClr val="071A2B"/>
                </a:solidFill>
              </a:defRPr>
            </a:pPr>
            <a:r>
              <a:rPr sz="2400" b="1">
                <a:solidFill>
                  <a:srgbClr val="071A2B"/>
                </a:solidFill>
              </a:rPr>
              <a:t>失败驱动的课程学习闭环</a:t>
            </a:r>
          </a:p>
        </p:txBody>
      </p:sp>
      <p:sp>
        <p:nvSpPr>
          <p:cNvPr id="3" name="mechanism-subtitle">
            <a:extLst xmlns:a="http://schemas.openxmlformats.org/drawingml/2006/main">
              <a:ext uri="{FF2B5EF4-FFF2-40B4-BE49-F238E27FC236}">
                <a16:creationId xmlns:a16="http://schemas.microsoft.com/office/drawing/2014/main" id="{78710CC1-03A9-4958-91F8-4E305B5C8E84}"/>
              </a:ext>
            </a:extLst>
          </p:cNvPr>
          <p:cNvSpPr>
            <a:spLocks xmlns:a="http://schemas.openxmlformats.org/drawingml/2006/main" noGrp="1"/>
          </p:cNvSpPr>
          <p:nvPr/>
        </p:nvSpPr>
        <p:spPr>
          <a:xfrm xmlns:a="http://schemas.openxmlformats.org/drawingml/2006/main">
            <a:off x="7477125" y="323850"/>
            <a:ext cx="3762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1">
                <a:solidFill>
                  <a:srgbClr val="0B797B"/>
                </a:solidFill>
              </a:defRPr>
            </a:pPr>
            <a:r>
              <a:rPr sz="1125" b="1">
                <a:solidFill>
                  <a:srgbClr val="0B797B"/>
                </a:solidFill>
              </a:rPr>
              <a:t>基础工具链 → 轨迹审计 → 定向合成 → 带分支的持续训练</a:t>
            </a:r>
          </a:p>
        </p:txBody>
      </p:sp>
      <p:sp>
        <p:nvSpPr>
          <p:cNvPr id="4" name="">
            <a:extLst xmlns:a="http://schemas.openxmlformats.org/drawingml/2006/main">
              <a:ext uri="{FF2B5EF4-FFF2-40B4-BE49-F238E27FC236}">
                <a16:creationId xmlns:a16="http://schemas.microsoft.com/office/drawing/2014/main" id="{18D1AF44-9D8B-4A5B-807F-68F59D014D0D}"/>
              </a:ext>
            </a:extLst>
          </p:cNvPr>
          <p:cNvSpPr>
            <a:spLocks xmlns:a="http://schemas.openxmlformats.org/drawingml/2006/main" noGrp="1"/>
          </p:cNvSpPr>
          <p:nvPr/>
        </p:nvSpPr>
        <p:spPr>
          <a:xfrm xmlns:a="http://schemas.openxmlformats.org/drawingml/2006/main">
            <a:off x="723900" y="723900"/>
            <a:ext cx="1051560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d89d394b910480e"/>
          <a:stretch xmlns:a="http://schemas.openxmlformats.org/drawingml/2006/main"/>
        </p:blipFill>
        <p:spPr>
          <a:xfrm xmlns:a="http://schemas.openxmlformats.org/drawingml/2006/main">
            <a:off x="1619250" y="839203"/>
            <a:ext cx="8953500" cy="5560595"/>
          </a:xfrm>
          <a:prstGeom xmlns:a="http://schemas.openxmlformats.org/drawingml/2006/main" prst="rect">
            <a:avLst/>
          </a:prstGeom>
        </p:spPr>
      </p:pic>
      <p:sp>
        <p:nvSpPr>
          <p:cNvPr id="6" name="mechanism-page">
            <a:extLst xmlns:a="http://schemas.openxmlformats.org/drawingml/2006/main">
              <a:ext uri="{FF2B5EF4-FFF2-40B4-BE49-F238E27FC236}">
                <a16:creationId xmlns:a16="http://schemas.microsoft.com/office/drawing/2014/main" id="{A0FEAC8A-F28A-43A0-892C-F2867B397D7A}"/>
              </a:ext>
            </a:extLst>
          </p:cNvPr>
          <p:cNvSpPr>
            <a:spLocks xmlns:a="http://schemas.openxmlformats.org/drawingml/2006/main" noGrp="1"/>
          </p:cNvSpPr>
          <p:nvPr/>
        </p:nvSpPr>
        <p:spPr>
          <a:xfrm xmlns:a="http://schemas.openxmlformats.org/drawingml/2006/main">
            <a:off x="10715625" y="64198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15</a:t>
            </a:r>
          </a:p>
        </p:txBody>
      </p:sp>
    </p:spTree>
    <p:extLst>
      <p:ext uri="{BB962C8B-B14F-4D97-AF65-F5344CB8AC3E}">
        <p14:creationId xmlns:p14="http://schemas.microsoft.com/office/powerpoint/2010/main" val="1945553522"/>
      </p:ext>
    </p:extLst>
  </p:cSld>
</p:sld>
</file>

<file path=ppt/slides/slide16.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1" name="copper-16">
            <a:extLst xmlns:a="http://schemas.openxmlformats.org/drawingml/2006/main">
              <a:ext uri="{FF2B5EF4-FFF2-40B4-BE49-F238E27FC236}">
                <a16:creationId xmlns:a16="http://schemas.microsoft.com/office/drawing/2014/main" id="{00D8CF15-435B-463A-B2FC-62BD04C502F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56D4A"/>
          </a:solidFill>
          <a:ln xmlns:a="http://schemas.openxmlformats.org/drawingml/2006/main" w="0">
            <a:solidFill>
              <a:srgbClr val="C56D4A"/>
            </a:solidFill>
            <a:prstDash val="solid"/>
          </a:ln>
        </p:spPr>
      </p:sp>
      <p:sp>
        <p:nvSpPr>
          <p:cNvPr id="2" name="chapter-script-16">
            <a:extLst xmlns:a="http://schemas.openxmlformats.org/drawingml/2006/main">
              <a:ext uri="{FF2B5EF4-FFF2-40B4-BE49-F238E27FC236}">
                <a16:creationId xmlns:a16="http://schemas.microsoft.com/office/drawing/2014/main" id="{D825881C-2264-4CF0-9EBF-A84D96159525}"/>
              </a:ext>
            </a:extLst>
          </p:cNvPr>
          <p:cNvSpPr>
            <a:spLocks xmlns:a="http://schemas.openxmlformats.org/drawingml/2006/main" noGrp="1"/>
          </p:cNvSpPr>
          <p:nvPr/>
        </p:nvSpPr>
        <p:spPr>
          <a:xfrm xmlns:a="http://schemas.openxmlformats.org/drawingml/2006/main">
            <a:off x="800100" y="647700"/>
            <a:ext cx="4762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75" b="1">
                <a:solidFill>
                  <a:srgbClr val="D6A84B"/>
                </a:solidFill>
              </a:defRPr>
            </a:pPr>
            <a:r>
              <a:rPr sz="2175" b="1">
                <a:solidFill>
                  <a:srgbClr val="D6A84B"/>
                </a:solidFill>
              </a:rPr>
              <a:t>长程智能体 · 强化学习</a:t>
            </a:r>
          </a:p>
        </p:txBody>
      </p:sp>
      <p:sp>
        <p:nvSpPr>
          <p:cNvPr id="3" name="roman-16">
            <a:extLst xmlns:a="http://schemas.openxmlformats.org/drawingml/2006/main">
              <a:ext uri="{FF2B5EF4-FFF2-40B4-BE49-F238E27FC236}">
                <a16:creationId xmlns:a16="http://schemas.microsoft.com/office/drawing/2014/main" id="{E081764A-6A03-4851-881F-76727670F3F7}"/>
              </a:ext>
            </a:extLst>
          </p:cNvPr>
          <p:cNvSpPr>
            <a:spLocks xmlns:a="http://schemas.openxmlformats.org/drawingml/2006/main" noGrp="1"/>
          </p:cNvSpPr>
          <p:nvPr/>
        </p:nvSpPr>
        <p:spPr>
          <a:xfrm xmlns:a="http://schemas.openxmlformats.org/drawingml/2006/main">
            <a:off x="8001000" y="323850"/>
            <a:ext cx="30480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2450" b="1">
                <a:solidFill>
                  <a:srgbClr val="0E2B3D"/>
                </a:solidFill>
              </a:defRPr>
            </a:pPr>
            <a:r>
              <a:rPr sz="12450" b="1">
                <a:solidFill>
                  <a:srgbClr val="0E2B3D"/>
                </a:solidFill>
              </a:rPr>
              <a:t>✓</a:t>
            </a:r>
          </a:p>
        </p:txBody>
      </p:sp>
      <p:sp>
        <p:nvSpPr>
          <p:cNvPr id="4" name="">
            <a:extLst xmlns:a="http://schemas.openxmlformats.org/drawingml/2006/main">
              <a:ext uri="{FF2B5EF4-FFF2-40B4-BE49-F238E27FC236}">
                <a16:creationId xmlns:a16="http://schemas.microsoft.com/office/drawing/2014/main" id="{CC35A5A0-E634-49FE-A386-FF0399BFBF50}"/>
              </a:ext>
            </a:extLst>
          </p:cNvPr>
          <p:cNvSpPr>
            <a:spLocks xmlns:a="http://schemas.openxmlformats.org/drawingml/2006/main" noGrp="1"/>
          </p:cNvSpPr>
          <p:nvPr/>
        </p:nvSpPr>
        <p:spPr>
          <a:xfrm xmlns:a="http://schemas.openxmlformats.org/drawingml/2006/main">
            <a:off x="819150" y="1628775"/>
            <a:ext cx="1619250"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5" name="zh-16">
            <a:extLst xmlns:a="http://schemas.openxmlformats.org/drawingml/2006/main">
              <a:ext uri="{FF2B5EF4-FFF2-40B4-BE49-F238E27FC236}">
                <a16:creationId xmlns:a16="http://schemas.microsoft.com/office/drawing/2014/main" id="{06FECFF6-D814-4F2E-821D-44CBEC0380DA}"/>
              </a:ext>
            </a:extLst>
          </p:cNvPr>
          <p:cNvSpPr>
            <a:spLocks xmlns:a="http://schemas.openxmlformats.org/drawingml/2006/main" noGrp="1"/>
          </p:cNvSpPr>
          <p:nvPr/>
        </p:nvSpPr>
        <p:spPr>
          <a:xfrm xmlns:a="http://schemas.openxmlformats.org/drawingml/2006/main">
            <a:off x="781050" y="2038350"/>
            <a:ext cx="7620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275" b="1">
                <a:solidFill>
                  <a:srgbClr val="F7F1E8"/>
                </a:solidFill>
              </a:defRPr>
            </a:pPr>
            <a:r>
              <a:rPr sz="4275" b="1">
                <a:solidFill>
                  <a:srgbClr val="F7F1E8"/>
                </a:solidFill>
              </a:rPr>
              <a:t>从论文到可审计项目</a:t>
            </a:r>
          </a:p>
        </p:txBody>
      </p:sp>
      <p:sp>
        <p:nvSpPr>
          <p:cNvPr id="6" name="en-16">
            <a:extLst xmlns:a="http://schemas.openxmlformats.org/drawingml/2006/main">
              <a:ext uri="{FF2B5EF4-FFF2-40B4-BE49-F238E27FC236}">
                <a16:creationId xmlns:a16="http://schemas.microsoft.com/office/drawing/2014/main" id="{CB8D4588-FA2B-4839-AB15-E10F2DBA90FD}"/>
              </a:ext>
            </a:extLst>
          </p:cNvPr>
          <p:cNvSpPr>
            <a:spLocks xmlns:a="http://schemas.openxmlformats.org/drawingml/2006/main" noGrp="1"/>
          </p:cNvSpPr>
          <p:nvPr/>
        </p:nvSpPr>
        <p:spPr>
          <a:xfrm xmlns:a="http://schemas.openxmlformats.org/drawingml/2006/main">
            <a:off x="828675" y="3028950"/>
            <a:ext cx="857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b="1">
                <a:solidFill>
                  <a:srgbClr val="18A6A6"/>
                </a:solidFill>
              </a:defRPr>
            </a:pPr>
            <a:r>
              <a:rPr sz="1800" b="1">
                <a:solidFill>
                  <a:srgbClr val="18A6A6"/>
                </a:solidFill>
              </a:rPr>
              <a:t>PLAN · EXECUTE · VERIFY · REPORT</a:t>
            </a:r>
          </a:p>
        </p:txBody>
      </p:sp>
      <p:sp>
        <p:nvSpPr>
          <p:cNvPr id="7" name="body-16">
            <a:extLst xmlns:a="http://schemas.openxmlformats.org/drawingml/2006/main">
              <a:ext uri="{FF2B5EF4-FFF2-40B4-BE49-F238E27FC236}">
                <a16:creationId xmlns:a16="http://schemas.microsoft.com/office/drawing/2014/main" id="{5AD912BE-1B89-4661-9590-C2870389C8F1}"/>
              </a:ext>
            </a:extLst>
          </p:cNvPr>
          <p:cNvSpPr>
            <a:spLocks xmlns:a="http://schemas.openxmlformats.org/drawingml/2006/main" noGrp="1"/>
          </p:cNvSpPr>
          <p:nvPr/>
        </p:nvSpPr>
        <p:spPr>
          <a:xfrm xmlns:a="http://schemas.openxmlformats.org/drawingml/2006/main">
            <a:off x="828675" y="3905250"/>
            <a:ext cx="7905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18000"/>
              </a:lnSpc>
              <a:buNone/>
              <a:defRPr sz="1575">
                <a:solidFill>
                  <a:srgbClr val="C7D6DC"/>
                </a:solidFill>
              </a:defRPr>
            </a:pPr>
            <a:r>
              <a:rPr sz="1575">
                <a:solidFill>
                  <a:srgbClr val="C7D6DC"/>
                </a:solidFill>
              </a:rPr>
              <a:t>现在可以真实地讲：我实现并运行了一个 Qwen3-8B 长程 Agentic RL curriculum，模型经历了真实多轮工具环境、失败诊断、难例再训练与独立重载。下一步是运行官方 benchmark、扩大数据与 seeds，而不是补一个更漂亮的故事。</a:t>
            </a:r>
          </a:p>
        </p:txBody>
      </p:sp>
      <p:sp>
        <p:nvSpPr>
          <p:cNvPr id="8" name="chapter-pill-16-bg">
            <a:extLst xmlns:a="http://schemas.openxmlformats.org/drawingml/2006/main">
              <a:ext uri="{FF2B5EF4-FFF2-40B4-BE49-F238E27FC236}">
                <a16:creationId xmlns:a16="http://schemas.microsoft.com/office/drawing/2014/main" id="{E4F35A34-DE46-471D-8AFA-D2D31965A81E}"/>
              </a:ext>
            </a:extLst>
          </p:cNvPr>
          <p:cNvSpPr>
            <a:spLocks xmlns:a="http://schemas.openxmlformats.org/drawingml/2006/main" noGrp="1"/>
          </p:cNvSpPr>
          <p:nvPr/>
        </p:nvSpPr>
        <p:spPr>
          <a:xfrm xmlns:a="http://schemas.openxmlformats.org/drawingml/2006/main">
            <a:off x="828675" y="5638800"/>
            <a:ext cx="1428750" cy="2857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9" name="chapter-pill-16-text">
            <a:extLst xmlns:a="http://schemas.openxmlformats.org/drawingml/2006/main">
              <a:ext uri="{FF2B5EF4-FFF2-40B4-BE49-F238E27FC236}">
                <a16:creationId xmlns:a16="http://schemas.microsoft.com/office/drawing/2014/main" id="{7CCA2D2A-6E36-429C-95D1-9A5EB0DC1C6C}"/>
              </a:ext>
            </a:extLst>
          </p:cNvPr>
          <p:cNvSpPr>
            <a:spLocks xmlns:a="http://schemas.openxmlformats.org/drawingml/2006/main" noGrp="1"/>
          </p:cNvSpPr>
          <p:nvPr/>
        </p:nvSpPr>
        <p:spPr>
          <a:xfrm xmlns:a="http://schemas.openxmlformats.org/drawingml/2006/main">
            <a:off x="923925" y="5686425"/>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CHAPTER 16</a:t>
            </a:r>
          </a:p>
        </p:txBody>
      </p:sp>
      <p:sp>
        <p:nvSpPr>
          <p:cNvPr id="10" name="close-command">
            <a:extLst xmlns:a="http://schemas.openxmlformats.org/drawingml/2006/main">
              <a:ext uri="{FF2B5EF4-FFF2-40B4-BE49-F238E27FC236}">
                <a16:creationId xmlns:a16="http://schemas.microsoft.com/office/drawing/2014/main" id="{6F7EBECD-8804-4645-A1A3-E6D24895D1F3}"/>
              </a:ext>
            </a:extLst>
          </p:cNvPr>
          <p:cNvSpPr>
            <a:spLocks xmlns:a="http://schemas.openxmlformats.org/drawingml/2006/main" noGrp="1"/>
          </p:cNvSpPr>
          <p:nvPr/>
        </p:nvSpPr>
        <p:spPr>
          <a:xfrm xmlns:a="http://schemas.openxmlformats.org/drawingml/2006/main">
            <a:off x="819150" y="5095875"/>
            <a:ext cx="9048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F7F1E8"/>
                </a:solidFill>
              </a:defRPr>
            </a:pPr>
            <a:r>
              <a:rPr sz="1200" b="1">
                <a:solidFill>
                  <a:srgbClr val="F7F1E8"/>
                </a:solidFill>
              </a:rPr>
              <a:t>./run_curriculum_modal.sh  →  ./finalize_curriculum_report.sh  →  build_curriculum_deck.mjs</a:t>
            </a:r>
          </a:p>
        </p:txBody>
      </p:sp>
    </p:spTree>
    <p:extLst>
      <p:ext uri="{BB962C8B-B14F-4D97-AF65-F5344CB8AC3E}">
        <p14:creationId xmlns:p14="http://schemas.microsoft.com/office/powerpoint/2010/main" val="7162974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2026-08-04T06:05:30.9480000Z</dcterms:created>
  <dcterms:modified xsi:type="dcterms:W3CDTF">2026-08-04T06:05:30.9480000Z</dcterms:modified>
</coreProperties>
</file>