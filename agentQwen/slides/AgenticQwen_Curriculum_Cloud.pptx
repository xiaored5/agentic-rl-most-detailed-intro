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a5e1269e699492d" /><Relationship Type="http://schemas.openxmlformats.org/officeDocument/2006/relationships/extended-properties" Target="/docProps/app.xml" Id="Rbd3cbbea38fc44f2" /><Relationship Type="http://schemas.openxmlformats.org/officeDocument/2006/relationships/officeDocument" Target="/ppt/presentation.xml" Id="Rc690b04199b1419f" /></Relationships>
</file>

<file path=ppt/presentation.xml><?xml version="1.0" encoding="utf-8"?>
<p:presentation xmlns:p="http://schemas.openxmlformats.org/presentationml/2006/main">
  <p:sldMasterIdLst>
    <p:sldMasterId xmlns:r="http://schemas.openxmlformats.org/officeDocument/2006/relationships" id="2147483648" r:id="Rea7945ff65214b83"/>
  </p:sldMasterIdLst>
  <p:notesMasterIdLst>
    <p:notesMasterId xmlns:r="http://schemas.openxmlformats.org/officeDocument/2006/relationships" r:id="R4d1d0244504e4682"/>
  </p:notesMasterIdLst>
  <p:sldIdLst>
    <p:sldId xmlns:r="http://schemas.openxmlformats.org/officeDocument/2006/relationships" id="256" r:id="R606b404bc82f43b0"/>
    <p:sldId xmlns:r="http://schemas.openxmlformats.org/officeDocument/2006/relationships" id="257" r:id="R5304f1ad7f244320"/>
    <p:sldId xmlns:r="http://schemas.openxmlformats.org/officeDocument/2006/relationships" id="258" r:id="Rdf3e6f09db9147b4"/>
    <p:sldId xmlns:r="http://schemas.openxmlformats.org/officeDocument/2006/relationships" id="259" r:id="R6386e4396efc49e1"/>
    <p:sldId xmlns:r="http://schemas.openxmlformats.org/officeDocument/2006/relationships" id="260" r:id="R1eba2ba32150480e"/>
    <p:sldId xmlns:r="http://schemas.openxmlformats.org/officeDocument/2006/relationships" id="261" r:id="R6071695009bc4d4f"/>
    <p:sldId xmlns:r="http://schemas.openxmlformats.org/officeDocument/2006/relationships" id="262" r:id="Ra47d4c59e78b4f36"/>
    <p:sldId xmlns:r="http://schemas.openxmlformats.org/officeDocument/2006/relationships" id="263" r:id="R55c9d5de37cc42e5"/>
    <p:sldId xmlns:r="http://schemas.openxmlformats.org/officeDocument/2006/relationships" id="264" r:id="R3b516797b71043ce"/>
    <p:sldId xmlns:r="http://schemas.openxmlformats.org/officeDocument/2006/relationships" id="265" r:id="R1ab56bd3df44479b"/>
    <p:sldId xmlns:r="http://schemas.openxmlformats.org/officeDocument/2006/relationships" id="266" r:id="Ra47422d5456a4345"/>
    <p:sldId xmlns:r="http://schemas.openxmlformats.org/officeDocument/2006/relationships" id="267" r:id="R2fe78f62c9d745ee"/>
    <p:sldId xmlns:r="http://schemas.openxmlformats.org/officeDocument/2006/relationships" id="268" r:id="Ra78fc8d3dd184f4c"/>
    <p:sldId xmlns:r="http://schemas.openxmlformats.org/officeDocument/2006/relationships" id="269" r:id="R47642ecfba7f4a6f"/>
    <p:sldId xmlns:r="http://schemas.openxmlformats.org/officeDocument/2006/relationships" id="270" r:id="R921d96d02d9849a7"/>
    <p:sldId xmlns:r="http://schemas.openxmlformats.org/officeDocument/2006/relationships" id="271" r:id="R18bb3c58be2148f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fc3f552ad8f4812" /><Relationship Type="http://schemas.openxmlformats.org/officeDocument/2006/relationships/slideMaster" Target="/ppt/slideMasters/slideMaster1.xml" Id="Rea7945ff65214b83" /><Relationship Type="http://schemas.openxmlformats.org/officeDocument/2006/relationships/notesMaster" Target="/ppt/notesMasters/notesMaster1.xml" Id="R4d1d0244504e4682" /><Relationship Type="http://schemas.openxmlformats.org/officeDocument/2006/relationships/presProps" Target="/ppt/presProps.xml" Id="R4a1484c56bb84dec" /><Relationship Type="http://schemas.openxmlformats.org/officeDocument/2006/relationships/tableStyles" Target="/ppt/tableStyles.xml" Id="R257855296fbc4776" /><Relationship Type="http://schemas.openxmlformats.org/officeDocument/2006/relationships/slide" Target="/ppt/slides/slide1.xml" Id="R606b404bc82f43b0" /><Relationship Type="http://schemas.openxmlformats.org/officeDocument/2006/relationships/slide" Target="/ppt/slides/slide2.xml" Id="R5304f1ad7f244320" /><Relationship Type="http://schemas.openxmlformats.org/officeDocument/2006/relationships/slide" Target="/ppt/slides/slide3.xml" Id="Rdf3e6f09db9147b4" /><Relationship Type="http://schemas.openxmlformats.org/officeDocument/2006/relationships/slide" Target="/ppt/slides/slide4.xml" Id="R6386e4396efc49e1" /><Relationship Type="http://schemas.openxmlformats.org/officeDocument/2006/relationships/slide" Target="/ppt/slides/slide5.xml" Id="R1eba2ba32150480e" /><Relationship Type="http://schemas.openxmlformats.org/officeDocument/2006/relationships/slide" Target="/ppt/slides/slide6.xml" Id="R6071695009bc4d4f" /><Relationship Type="http://schemas.openxmlformats.org/officeDocument/2006/relationships/slide" Target="/ppt/slides/slide7.xml" Id="Ra47d4c59e78b4f36" /><Relationship Type="http://schemas.openxmlformats.org/officeDocument/2006/relationships/slide" Target="/ppt/slides/slide8.xml" Id="R55c9d5de37cc42e5" /><Relationship Type="http://schemas.openxmlformats.org/officeDocument/2006/relationships/slide" Target="/ppt/slides/slide9.xml" Id="R3b516797b71043ce" /><Relationship Type="http://schemas.openxmlformats.org/officeDocument/2006/relationships/slide" Target="/ppt/slides/slide10.xml" Id="R1ab56bd3df44479b" /><Relationship Type="http://schemas.openxmlformats.org/officeDocument/2006/relationships/slide" Target="/ppt/slides/slide11.xml" Id="Ra47422d5456a4345" /><Relationship Type="http://schemas.openxmlformats.org/officeDocument/2006/relationships/slide" Target="/ppt/slides/slide12.xml" Id="R2fe78f62c9d745ee" /><Relationship Type="http://schemas.openxmlformats.org/officeDocument/2006/relationships/slide" Target="/ppt/slides/slide13.xml" Id="Ra78fc8d3dd184f4c" /><Relationship Type="http://schemas.openxmlformats.org/officeDocument/2006/relationships/slide" Target="/ppt/slides/slide14.xml" Id="R47642ecfba7f4a6f" /><Relationship Type="http://schemas.openxmlformats.org/officeDocument/2006/relationships/slide" Target="/ppt/slides/slide15.xml" Id="R921d96d02d9849a7" /><Relationship Type="http://schemas.openxmlformats.org/officeDocument/2006/relationships/slide" Target="/ppt/slides/slide16.xml" Id="R18bb3c58be2148f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b7b7e867984a8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23ad298f631434f" /><Relationship Type="http://schemas.openxmlformats.org/officeDocument/2006/relationships/notesMaster" Target="/ppt/notesMasters/notesMaster1.xml" Id="Rc52e92329e984d51"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d5fbdf7a0e4175" /><Relationship Type="http://schemas.openxmlformats.org/officeDocument/2006/relationships/notesMaster" Target="/ppt/notesMasters/notesMaster1.xml" Id="R48a83d5fc4ad498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94caef3b2f04903" /><Relationship Type="http://schemas.openxmlformats.org/officeDocument/2006/relationships/notesMaster" Target="/ppt/notesMasters/notesMaster1.xml" Id="Rf6445018160a458d" /></Relationships>
</file>

<file path=ppt/notesSlides/_rels/notesSlide4.xml.rels>&#65279;<?xml version="1.0" encoding="utf-8"?><Relationships xmlns="http://schemas.openxmlformats.org/package/2006/relationships"><Relationship Type="http://schemas.openxmlformats.org/officeDocument/2006/relationships/slide" Target="/ppt/slides/slide4.xml" Id="R06d615218cff4aef" /><Relationship Type="http://schemas.openxmlformats.org/officeDocument/2006/relationships/notesMaster" Target="/ppt/notesMasters/notesMaster1.xml" Id="R4f7c4090991047f6" /></Relationships>
</file>

<file path=ppt/notesSlides/_rels/notesSlide5.xml.rels>&#65279;<?xml version="1.0" encoding="utf-8"?><Relationships xmlns="http://schemas.openxmlformats.org/package/2006/relationships"><Relationship Type="http://schemas.openxmlformats.org/officeDocument/2006/relationships/slide" Target="/ppt/slides/slide5.xml" Id="R2f8bc416369b4863" /><Relationship Type="http://schemas.openxmlformats.org/officeDocument/2006/relationships/notesMaster" Target="/ppt/notesMasters/notesMaster1.xml" Id="R5cd6b441d57b4f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26dc45b78fe4aa5" /><Relationship Type="http://schemas.openxmlformats.org/officeDocument/2006/relationships/notesMaster" Target="/ppt/notesMasters/notesMaster1.xml" Id="R9c7b86bc2b8141cf" /></Relationships>
</file>

<file path=ppt/notesSlides/_rels/notesSlide7.xml.rels>&#65279;<?xml version="1.0" encoding="utf-8"?><Relationships xmlns="http://schemas.openxmlformats.org/package/2006/relationships"><Relationship Type="http://schemas.openxmlformats.org/officeDocument/2006/relationships/slide" Target="/ppt/slides/slide7.xml" Id="Reae182e88eaf47e9" /><Relationship Type="http://schemas.openxmlformats.org/officeDocument/2006/relationships/notesMaster" Target="/ppt/notesMasters/notesMaster1.xml" Id="Ree11190e81b94c05" /></Relationships>
</file>

<file path=ppt/notesSlides/_rels/notesSlide8.xml.rels>&#65279;<?xml version="1.0" encoding="utf-8"?><Relationships xmlns="http://schemas.openxmlformats.org/package/2006/relationships"><Relationship Type="http://schemas.openxmlformats.org/officeDocument/2006/relationships/slide" Target="/ppt/slides/slide8.xml" Id="Rf500c282b68d4a49" /><Relationship Type="http://schemas.openxmlformats.org/officeDocument/2006/relationships/notesMaster" Target="/ppt/notesMasters/notesMaster1.xml" Id="Re87637636e1d4a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2171ca2c494464b" /><Relationship Type="http://schemas.openxmlformats.org/officeDocument/2006/relationships/notesMaster" Target="/ppt/notesMasters/notesMaster1.xml" Id="Rfad2dd21197a489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8e59b8566d4edb" /><Relationship Type="http://schemas.openxmlformats.org/officeDocument/2006/relationships/notesMaster" Target="/ppt/notesMasters/notesMaster1.xml" Id="R17534324e3df4ec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be60fde88244201" /><Relationship Type="http://schemas.openxmlformats.org/officeDocument/2006/relationships/notesMaster" Target="/ppt/notesMasters/notesMaster1.xml" Id="R80f44d6da21647b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819f9b2ffea4f2b" /><Relationship Type="http://schemas.openxmlformats.org/officeDocument/2006/relationships/notesMaster" Target="/ppt/notesMasters/notesMaster1.xml" Id="R695c2167430c4d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279b7c109244ec2" /><Relationship Type="http://schemas.openxmlformats.org/officeDocument/2006/relationships/notesMaster" Target="/ppt/notesMasters/notesMaster1.xml" Id="R51df826b71534c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fed6a457bcf4305" /><Relationship Type="http://schemas.openxmlformats.org/officeDocument/2006/relationships/notesMaster" Target="/ppt/notesMasters/notesMaster1.xml" Id="Rd959b7e0cf18477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e02e4acc2c64c54" /><Relationship Type="http://schemas.openxmlformats.org/officeDocument/2006/relationships/notesMaster" Target="/ppt/notesMasters/notesMaster1.xml" Id="R2672c6f62e784c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441a6f24a9da49c2" /><Relationship Type="http://schemas.openxmlformats.org/officeDocument/2006/relationships/notesMaster" Target="/ppt/notesMasters/notesMaster1.xml" Id="Rd01eadf6f4d3470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开场先讲清证据边界：这是一次真实小规模云端训练闭环，不是论文八卡/100K 数据指标复刻。</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https://arxiv.org/abs/2604.21590</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这是给入门同学的总地图。后面的每一页都落到这四层中的一个证据问题。</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/Users/hongbo/Documents/Codex/2026-08-02/https-yyhdbl-github-io/outputs/agenticqwen-reproduction/docs/curriculum_protocol.md</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先比较论文与本项目尺度，避免把工程闭环 PASS 误解成论文分数复现。</a:t>
            </a:r>
          </a:p>
          <a:p xmlns:a="http://schemas.openxmlformats.org/drawingml/2006/main">
            <a:r>
              <a:t/>
            </a:r>
          </a:p>
          <a:p xmlns:a="http://schemas.openxmlformats.org/drawingml/2006/main">
            <a:r>
              <a:t>[Sources]</a:t>
            </a:r>
          </a:p>
          <a:p xmlns:a="http://schemas.openxmlformats.org/drawingml/2006/main">
            <a:r>
              <a:t>- https://arxiv.org/abs/2604.21590</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强调模型只生成动作，环境负责执行，reward 从最终状态读取。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 /Users/hongbo/Documents/Codex/2026-08-02/https-yyhdbl-github-io/outputs/agenticqwen-reproduction/src/agentic_repro/curriculum_train.py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这页适合面试时讲 environment design：不可逆动作由代码硬门控制，模型无法通过语言绕过。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/Users/hongbo/Documents/Codex/2026-08-02/https-yyhdbl-github-io/outputs/agenticqwen-reproduction/src/agentic_repro/curriculum_env.py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response-token 是本次相对早期单 token demo 的关键升级：整个 assistant completion 参与策略优化。</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/Users/hongbo/Documents/Codex/2026-08-02/https-yyhdbl-github-io/outputs/agenticqwen-reproduction/artifacts/cloud_runs/qwen3-8b-qlora-20260804-v2/evidence/resolved_config.json</a:t>
            </a:r>
          </a:p>
          <a:p xmlns:a="http://schemas.openxmlformats.org/drawingml/2006/main">
            <a:r>
              <a:t>- https://huggingface.co/docs/trl/en/grpo_trainer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第二章切入用户最关心的 curriculum：训练—失败—合成更难数据—再训练。</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Stage 1 后在冻结 probe 上生成轨迹并分类 terminal state；该 trace 的 hash 是合成输入证据。</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/Users/hongbo/Documents/Codex/2026-08-02/https-yyhdbl-github-io/outputs/agenticqwen-reproduction/artifacts/cloud_runs/qwen3-8b-qlora-20260804-v2/evidence/stage1/eval_probe_traces.jsonl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此页是 curriculum 的核心：failure category 到 task perturbation 的确定性映射，并保留 trace/data hash。</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 /Users/hongbo/Documents/Codex/2026-08-02/https-yyhdbl-github-io/outputs/agenticqwen-reproduction/artifacts/cloud_runs/qwen3-8b-qlora-20260804-v2/evidence/tasks/stage2_hard.jsonl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结果页必须如实展示正负 delta；不要用完整性 PASS 替代性能提升。</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 /Users/hongbo/Documents/Codex/2026-08-02/https-yyhdbl-github-io/outputs/agenticqwen-reproduction/artifacts/cloud_runs/qwen3-8b-qlora-20260804-v2/evidence/fresh_replay/summary.json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轨迹页用 environment event ledger，而不是模型自述，证明每次读写、observation 和最终状态。</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/Users/hongbo/Documents/Codex/2026-08-02/https-yyhdbl-github-io/outputs/agenticqwen-reproduction/artifacts/cloud_runs/qwen3-8b-qlora-20260804-v2/evidence/stage2/eval_final_traces.jsonl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这页主动声明 BFCL 未运行；代码就绪不等于实验完成。</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/Users/hongbo/Documents/Codex/2026-08-02/https-yyhdbl-github-io/outputs/agenticqwen-reproduction/docs/benchmark_protocol.md</a:t>
            </a:r>
          </a:p>
          <a:p xmlns:a="http://schemas.openxmlformats.org/drawingml/2006/main">
            <a:r>
              <a:t>- https://github.com/ShishirPatil/gorilla/tree/main/berkeley-function-call-leaderboard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审计门覆盖 adapter、权重变化、Stage-2 继承、数据隔离、轨迹、计划步数和真正的子进程重载。</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/Users/hongbo/Documents/Codex/2026-08-02/https-yyhdbl-github-io/outputs/agenticqwen-reproduction/artifacts/cloud_runs/qwen3-8b-qlora-20260804-v2/evidence/stage1/summary.json</a:t>
            </a:r>
          </a:p>
          <a:p xmlns:a="http://schemas.openxmlformats.org/drawingml/2006/main">
            <a:r>
              <a:t>- /Users/hongbo/Documents/Codex/2026-08-02/https-yyhdbl-github-io/outputs/agenticqwen-reproduction/artifacts/cloud_runs/qwen3-8b-qlora-20260804-v2/evidence/stage2/summary.json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面试时最可信的讲法：先讲闭环与证据，再主动说 paper-scale 没做，最后给出扩展实验。</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/Users/hongbo/Documents/Codex/2026-08-02/https-yyhdbl-github-io/outputs/agenticqwen-reproduction/artifacts/cloud_runs/qwen3-8b-qlora-20260804-v2/evidence/run_summary.json</a:t>
            </a:r>
          </a:p>
          <a:p xmlns:a="http://schemas.openxmlformats.org/drawingml/2006/main">
            <a:r>
              <a:t>- /Users/hongbo/Documents/Codex/2026-08-02/https-yyhdbl-github-io/outputs/agenticqwen-reproduction/README.md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这张机制图解释为什么第二阶段数据不是随机扩充：失败路径被反译成新的环境状态、用户指令、智能体约束与分支工作流。</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/Users/hongbo/Documents/Codex/2026-08-02/https-yyhdbl-github-io/outputs/agenticqwen-reproduction/agenticqwen_report/images/figure4_curriculum_stage_flow.png</a:t>
            </a:r>
          </a:p>
          <a:p xmlns:a="http://schemas.openxmlformats.org/drawingml/2006/main">
            <a:r>
              <a:t>- /Users/hongbo/Documents/Codex/2026-08-02/https-yyhdbl-github-io/outputs/agenticqwen-reproduction/artifacts/cloud_runs/qwen3-8b-qlora-20260804-v2/evidence/stage2/synthesis_manifest.json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结尾把项目浓缩成一句可用于简历和面试、但不越过证据边界的话。</a:t>
            </a:r>
          </a:p>
          <a:p xmlns:a="http://schemas.openxmlformats.org/drawingml/2006/main">
            <a:r>
              <a:t/>
            </a:r>
          </a:p>
          <a:p xmlns:a="http://schemas.openxmlformats.org/drawingml/2006/main">
            <a:r>
              <a:t>[Sources]</a:t>
            </a:r>
          </a:p>
          <a:p xmlns:a="http://schemas.openxmlformats.org/drawingml/2006/main">
            <a:r>
              <a:t>- /Users/hongbo/Documents/Codex/2026-08-02/https-yyhdbl-github-io/outputs/agenticqwen-reproduction/artifacts/cloud_runs/qwen3-8b-qlora-20260804-v2/evidence/verification.json</a:t>
            </a:r>
          </a:p>
          <a:p xmlns:a="http://schemas.openxmlformats.org/drawingml/2006/main">
            <a:r>
              <a:t>- /Users/hongbo/Documents/Codex/2026-08-02/https-yyhdbl-github-io/outputs/agenticqwen-reproduction/docs/benchmark_protocol.md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538a5741ea04f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6041c8c66dd4ddd" /><Relationship Type="http://schemas.openxmlformats.org/officeDocument/2006/relationships/slideLayout" Target="/ppt/slideLayouts/slideLayout1.xml" Id="R6db9c6a7199c4d5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b9c6a7199c4d5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6cbc37daafd4d71" /><Relationship Type="http://schemas.openxmlformats.org/officeDocument/2006/relationships/notesSlide" Target="/ppt/notesSlides/notesSlide1.xml" Id="R833156bb357b47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de969e108e54e14" /><Relationship Type="http://schemas.openxmlformats.org/officeDocument/2006/relationships/notesSlide" Target="/ppt/notesSlides/notesSlide2.xml" Id="R7f0581a94db54a1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bdec2619fcf4b42" /><Relationship Type="http://schemas.openxmlformats.org/officeDocument/2006/relationships/image" Target="/ppt/media/image.png" Id="Ra82f6f11675f48ec" /><Relationship Type="http://schemas.openxmlformats.org/officeDocument/2006/relationships/notesSlide" Target="/ppt/notesSlides/notesSlide3.xml" Id="R7fb55314218a406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20116245cb4614" /><Relationship Type="http://schemas.openxmlformats.org/officeDocument/2006/relationships/notesSlide" Target="/ppt/notesSlides/notesSlide4.xml" Id="R66d9b2e28d4342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21401b555414ea5" /><Relationship Type="http://schemas.openxmlformats.org/officeDocument/2006/relationships/notesSlide" Target="/ppt/notesSlides/notesSlide5.xml" Id="R664fc15a7256425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3741cbba1bc4a9b" /><Relationship Type="http://schemas.openxmlformats.org/officeDocument/2006/relationships/notesSlide" Target="/ppt/notesSlides/notesSlide6.xml" Id="Re7e2782185c44c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cb5f9fab8c74b57" /><Relationship Type="http://schemas.openxmlformats.org/officeDocument/2006/relationships/notesSlide" Target="/ppt/notesSlides/notesSlide7.xml" Id="R1483f28757d543f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ef6b4410acb496a" /><Relationship Type="http://schemas.openxmlformats.org/officeDocument/2006/relationships/notesSlide" Target="/ppt/notesSlides/notesSlide8.xml" Id="R6eabf783577349b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c4ab8ab8ddd473c" /><Relationship Type="http://schemas.openxmlformats.org/officeDocument/2006/relationships/notesSlide" Target="/ppt/notesSlides/notesSlide9.xml" Id="Rde5c184938c74e2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6870fa71c254187" /><Relationship Type="http://schemas.openxmlformats.org/officeDocument/2006/relationships/notesSlide" Target="/ppt/notesSlides/notesSlide10.xml" Id="Re6744eee268147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9c716b30004d15" /><Relationship Type="http://schemas.openxmlformats.org/officeDocument/2006/relationships/notesSlide" Target="/ppt/notesSlides/notesSlide11.xml" Id="Rffd10b605dbe40b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8c687ee0ea747b2" /><Relationship Type="http://schemas.openxmlformats.org/officeDocument/2006/relationships/notesSlide" Target="/ppt/notesSlides/notesSlide12.xml" Id="Rd3bc9052bd8042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43d92db8eaa4816" /><Relationship Type="http://schemas.openxmlformats.org/officeDocument/2006/relationships/notesSlide" Target="/ppt/notesSlides/notesSlide13.xml" Id="R5a9965972f7c45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b2988a4fe4a45d4" /><Relationship Type="http://schemas.openxmlformats.org/officeDocument/2006/relationships/notesSlide" Target="/ppt/notesSlides/notesSlide14.xml" Id="R971544cf29794e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20cfcdb8f6045b5" /><Relationship Type="http://schemas.openxmlformats.org/officeDocument/2006/relationships/image" Target="/ppt/media/image2.png" Id="Rd4c7a094aa2646bb" /><Relationship Type="http://schemas.openxmlformats.org/officeDocument/2006/relationships/notesSlide" Target="/ppt/notesSlides/notesSlide15.xml" Id="R2a7a14ba2cdd444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c133a45a0cf4fe7" /><Relationship Type="http://schemas.openxmlformats.org/officeDocument/2006/relationships/notesSlide" Target="/ppt/notesSlides/notesSlide16.xml" Id="Reee4e7abca694290" /></Relationships>
</file>

<file path=ppt/slides/slide1.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4" name="cover-copper">
            <a:extLst xmlns:a="http://schemas.openxmlformats.org/drawingml/2006/main">
              <a:ext uri="{FF2B5EF4-FFF2-40B4-BE49-F238E27FC236}">
                <a16:creationId xmlns:a16="http://schemas.microsoft.com/office/drawing/2014/main" id="{0A22D651-C953-4AA3-8B6B-FD46006DCBF9}"/>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over-teal">
            <a:extLst xmlns:a="http://schemas.openxmlformats.org/drawingml/2006/main">
              <a:ext uri="{FF2B5EF4-FFF2-40B4-BE49-F238E27FC236}">
                <a16:creationId xmlns:a16="http://schemas.microsoft.com/office/drawing/2014/main" id="{49CE55D6-4171-46E4-BE59-06099F83191A}"/>
              </a:ext>
            </a:extLst>
          </p:cNvPr>
          <p:cNvSpPr>
            <a:spLocks xmlns:a="http://schemas.openxmlformats.org/drawingml/2006/main" noGrp="1"/>
          </p:cNvSpPr>
          <p:nvPr/>
        </p:nvSpPr>
        <p:spPr>
          <a:xfrm xmlns:a="http://schemas.openxmlformats.org/drawingml/2006/main">
            <a:off x="9620250" y="0"/>
            <a:ext cx="2571750" cy="6858000"/>
          </a:xfrm>
          <a:prstGeom xmlns:a="http://schemas.openxmlformats.org/drawingml/2006/main" prst="rect">
            <a:avLst/>
          </a:prstGeom>
          <a:solidFill xmlns:a="http://schemas.openxmlformats.org/drawingml/2006/main">
            <a:srgbClr val="0E2B3D"/>
          </a:solidFill>
          <a:ln xmlns:a="http://schemas.openxmlformats.org/drawingml/2006/main" w="0">
            <a:solidFill>
              <a:srgbClr val="0E2B3D"/>
            </a:solidFill>
            <a:prstDash val="solid"/>
          </a:ln>
        </p:spPr>
      </p:sp>
      <p:sp>
        <p:nvSpPr>
          <p:cNvPr id="3" name="cover-flourish">
            <a:extLst xmlns:a="http://schemas.openxmlformats.org/drawingml/2006/main">
              <a:ext uri="{FF2B5EF4-FFF2-40B4-BE49-F238E27FC236}">
                <a16:creationId xmlns:a16="http://schemas.microsoft.com/office/drawing/2014/main" id="{329A963F-16F5-475C-9955-641A23D848A1}"/>
              </a:ext>
            </a:extLst>
          </p:cNvPr>
          <p:cNvSpPr>
            <a:spLocks xmlns:a="http://schemas.openxmlformats.org/drawingml/2006/main" noGrp="1"/>
          </p:cNvSpPr>
          <p:nvPr/>
        </p:nvSpPr>
        <p:spPr>
          <a:xfrm xmlns:a="http://schemas.openxmlformats.org/drawingml/2006/main">
            <a:off x="800100" y="590550"/>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325" b="1">
                <a:solidFill>
                  <a:srgbClr val="D6A84B"/>
                </a:solidFill>
              </a:defRPr>
            </a:pPr>
            <a:r>
              <a:rPr sz="2325" b="1">
                <a:solidFill>
                  <a:srgbClr val="D6A84B"/>
                </a:solidFill>
              </a:rPr>
              <a:t>长程多轮智能体强化学习</a:t>
            </a:r>
          </a:p>
        </p:txBody>
      </p:sp>
      <p:sp>
        <p:nvSpPr>
          <p:cNvPr id="4" name="">
            <a:extLst xmlns:a="http://schemas.openxmlformats.org/drawingml/2006/main">
              <a:ext uri="{FF2B5EF4-FFF2-40B4-BE49-F238E27FC236}">
                <a16:creationId xmlns:a16="http://schemas.microsoft.com/office/drawing/2014/main" id="{48ECE487-E945-4785-93F3-F2EC23CB5042}"/>
              </a:ext>
            </a:extLst>
          </p:cNvPr>
          <p:cNvSpPr>
            <a:spLocks xmlns:a="http://schemas.openxmlformats.org/drawingml/2006/main" noGrp="1"/>
          </p:cNvSpPr>
          <p:nvPr/>
        </p:nvSpPr>
        <p:spPr>
          <a:xfrm xmlns:a="http://schemas.openxmlformats.org/drawingml/2006/main">
            <a:off x="819150" y="1466850"/>
            <a:ext cx="1762125"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cover-title">
            <a:extLst xmlns:a="http://schemas.openxmlformats.org/drawingml/2006/main">
              <a:ext uri="{FF2B5EF4-FFF2-40B4-BE49-F238E27FC236}">
                <a16:creationId xmlns:a16="http://schemas.microsoft.com/office/drawing/2014/main" id="{2BE12064-07AB-4A46-B19A-DD6A9B73CE50}"/>
              </a:ext>
            </a:extLst>
          </p:cNvPr>
          <p:cNvSpPr>
            <a:spLocks xmlns:a="http://schemas.openxmlformats.org/drawingml/2006/main" noGrp="1"/>
          </p:cNvSpPr>
          <p:nvPr/>
        </p:nvSpPr>
        <p:spPr>
          <a:xfrm xmlns:a="http://schemas.openxmlformats.org/drawingml/2006/main">
            <a:off x="762000" y="1857375"/>
            <a:ext cx="76200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92000"/>
              </a:lnSpc>
              <a:buNone/>
              <a:defRPr sz="5250" b="1">
                <a:solidFill>
                  <a:srgbClr val="F7F1E8"/>
                </a:solidFill>
              </a:defRPr>
            </a:pPr>
            <a:r>
              <a:rPr sz="5250" b="1">
                <a:solidFill>
                  <a:srgbClr val="F7F1E8"/>
                </a:solidFill>
              </a:rPr>
              <a:t>AgenticQwen</a:t>
            </a:r>
          </a:p>
          <a:p xmlns:a="http://schemas.openxmlformats.org/drawingml/2006/main">
            <a:pPr>
              <a:lnSpc>
                <a:spcPct val="92000"/>
              </a:lnSpc>
              <a:buNone/>
              <a:defRPr sz="5250" b="1">
                <a:solidFill>
                  <a:srgbClr val="F7F1E8"/>
                </a:solidFill>
              </a:defRPr>
            </a:pPr>
            <a:r>
              <a:rPr sz="5250" b="1">
                <a:solidFill>
                  <a:srgbClr val="F7F1E8"/>
                </a:solidFill>
              </a:rPr>
              <a:t>Curriculum Lab</a:t>
            </a:r>
          </a:p>
        </p:txBody>
      </p:sp>
      <p:sp>
        <p:nvSpPr>
          <p:cNvPr id="6" name="cover-sub">
            <a:extLst xmlns:a="http://schemas.openxmlformats.org/drawingml/2006/main">
              <a:ext uri="{FF2B5EF4-FFF2-40B4-BE49-F238E27FC236}">
                <a16:creationId xmlns:a16="http://schemas.microsoft.com/office/drawing/2014/main" id="{FD6DC556-103D-4CA0-B414-993B23B9624A}"/>
              </a:ext>
            </a:extLst>
          </p:cNvPr>
          <p:cNvSpPr>
            <a:spLocks xmlns:a="http://schemas.openxmlformats.org/drawingml/2006/main" noGrp="1"/>
          </p:cNvSpPr>
          <p:nvPr/>
        </p:nvSpPr>
        <p:spPr>
          <a:xfrm xmlns:a="http://schemas.openxmlformats.org/drawingml/2006/main">
            <a:off x="819150" y="3733800"/>
            <a:ext cx="752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FFFFFF"/>
                </a:solidFill>
              </a:defRPr>
            </a:pPr>
            <a:r>
              <a:rPr sz="2025" b="1">
                <a:solidFill>
                  <a:srgbClr val="FFFFFF"/>
                </a:solidFill>
              </a:rPr>
              <a:t>训练 → 失败诊断 → 困难数据合成 → 再训练</a:t>
            </a:r>
          </a:p>
        </p:txBody>
      </p:sp>
      <p:sp>
        <p:nvSpPr>
          <p:cNvPr id="7" name="cover-meta">
            <a:extLst xmlns:a="http://schemas.openxmlformats.org/drawingml/2006/main">
              <a:ext uri="{FF2B5EF4-FFF2-40B4-BE49-F238E27FC236}">
                <a16:creationId xmlns:a16="http://schemas.microsoft.com/office/drawing/2014/main" id="{190ECAE5-CA11-4C20-95A2-CC3FC57B23AA}"/>
              </a:ext>
            </a:extLst>
          </p:cNvPr>
          <p:cNvSpPr>
            <a:spLocks xmlns:a="http://schemas.openxmlformats.org/drawingml/2006/main" noGrp="1"/>
          </p:cNvSpPr>
          <p:nvPr/>
        </p:nvSpPr>
        <p:spPr>
          <a:xfrm xmlns:a="http://schemas.openxmlformats.org/drawingml/2006/main">
            <a:off x="838200" y="4533900"/>
            <a:ext cx="7524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ADC3CC"/>
                </a:solidFill>
              </a:defRPr>
            </a:pPr>
            <a:r>
              <a:rPr sz="1200">
                <a:solidFill>
                  <a:srgbClr val="ADC3CC"/>
                </a:solidFill>
              </a:rPr>
              <a:t>Qwen3-8B · response-token QLoRA-GRPO · NVIDIA RTX PRO 6000 Blackwell Server Edition</a:t>
            </a:r>
          </a:p>
          <a:p xmlns:a="http://schemas.openxmlformats.org/drawingml/2006/main">
            <a:pPr>
              <a:defRPr sz="1200">
                <a:solidFill>
                  <a:srgbClr val="ADC3CC"/>
                </a:solidFill>
              </a:defRPr>
            </a:pPr>
            <a:r>
              <a:rPr sz="1200">
                <a:solidFill>
                  <a:srgbClr val="ADC3CC"/>
                </a:solidFill>
              </a:rPr>
              <a:t>/root/autodl-tmp/runs/agenticqwen-qwen3-8b-qlora-v2/qwen3-8b-qlora-20260804-v2</a:t>
            </a:r>
          </a:p>
        </p:txBody>
      </p:sp>
      <p:sp>
        <p:nvSpPr>
          <p:cNvPr id="8" name="cover-02">
            <a:extLst xmlns:a="http://schemas.openxmlformats.org/drawingml/2006/main">
              <a:ext uri="{FF2B5EF4-FFF2-40B4-BE49-F238E27FC236}">
                <a16:creationId xmlns:a16="http://schemas.microsoft.com/office/drawing/2014/main" id="{4D8F7612-4D96-4C56-9588-82C25A0DBFAE}"/>
              </a:ext>
            </a:extLst>
          </p:cNvPr>
          <p:cNvSpPr>
            <a:spLocks xmlns:a="http://schemas.openxmlformats.org/drawingml/2006/main" noGrp="1"/>
          </p:cNvSpPr>
          <p:nvPr/>
        </p:nvSpPr>
        <p:spPr>
          <a:xfrm xmlns:a="http://schemas.openxmlformats.org/drawingml/2006/main">
            <a:off x="9906000" y="857250"/>
            <a:ext cx="16192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0" b="1">
                <a:solidFill>
                  <a:srgbClr val="18A6A6"/>
                </a:solidFill>
              </a:defRPr>
            </a:pPr>
            <a:r>
              <a:rPr sz="9000" b="1">
                <a:solidFill>
                  <a:srgbClr val="18A6A6"/>
                </a:solidFill>
              </a:rPr>
              <a:t>02</a:t>
            </a:r>
          </a:p>
        </p:txBody>
      </p:sp>
      <p:sp>
        <p:nvSpPr>
          <p:cNvPr id="9" name="cover-side">
            <a:extLst xmlns:a="http://schemas.openxmlformats.org/drawingml/2006/main">
              <a:ext uri="{FF2B5EF4-FFF2-40B4-BE49-F238E27FC236}">
                <a16:creationId xmlns:a16="http://schemas.microsoft.com/office/drawing/2014/main" id="{88CF6F2D-DDCF-4103-8C53-8A5EC7B7F9E5}"/>
              </a:ext>
            </a:extLst>
          </p:cNvPr>
          <p:cNvSpPr>
            <a:spLocks xmlns:a="http://schemas.openxmlformats.org/drawingml/2006/main" noGrp="1"/>
          </p:cNvSpPr>
          <p:nvPr/>
        </p:nvSpPr>
        <p:spPr>
          <a:xfrm xmlns:a="http://schemas.openxmlformats.org/drawingml/2006/main">
            <a:off x="9810750" y="3143250"/>
            <a:ext cx="185737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5000"/>
              </a:lnSpc>
              <a:buNone/>
              <a:defRPr sz="1500" b="1">
                <a:solidFill>
                  <a:srgbClr val="F7F1E8"/>
                </a:solidFill>
              </a:defRPr>
            </a:pPr>
            <a:r>
              <a:rPr sz="1500" b="1">
                <a:solidFill>
                  <a:srgbClr val="F7F1E8"/>
                </a:solidFill>
              </a:rPr>
              <a:t>REAL RUN</a:t>
            </a:r>
          </a:p>
          <a:p xmlns:a="http://schemas.openxmlformats.org/drawingml/2006/main">
            <a:pPr algn="ctr">
              <a:lnSpc>
                <a:spcPct val="125000"/>
              </a:lnSpc>
              <a:buNone/>
              <a:defRPr sz="1500" b="1">
                <a:solidFill>
                  <a:srgbClr val="F7F1E8"/>
                </a:solidFill>
              </a:defRPr>
            </a:pPr>
            <a:r>
              <a:rPr sz="1500" b="1">
                <a:solidFill>
                  <a:srgbClr val="F7F1E8"/>
                </a:solidFill>
              </a:rPr>
              <a:t>FAILURE LOOP</a:t>
            </a:r>
          </a:p>
          <a:p xmlns:a="http://schemas.openxmlformats.org/drawingml/2006/main">
            <a:pPr algn="ctr">
              <a:lnSpc>
                <a:spcPct val="125000"/>
              </a:lnSpc>
              <a:buNone/>
              <a:defRPr sz="1500" b="1">
                <a:solidFill>
                  <a:srgbClr val="F7F1E8"/>
                </a:solidFill>
              </a:defRPr>
            </a:pPr>
            <a:r>
              <a:rPr sz="1500" b="1">
                <a:solidFill>
                  <a:srgbClr val="F7F1E8"/>
                </a:solidFill>
              </a:rPr>
              <a:t>AUDITED</a:t>
            </a:r>
          </a:p>
        </p:txBody>
      </p:sp>
      <p:sp>
        <p:nvSpPr>
          <p:cNvPr id="10" name="cover-pass-bg">
            <a:extLst xmlns:a="http://schemas.openxmlformats.org/drawingml/2006/main">
              <a:ext uri="{FF2B5EF4-FFF2-40B4-BE49-F238E27FC236}">
                <a16:creationId xmlns:a16="http://schemas.microsoft.com/office/drawing/2014/main" id="{7C624002-72A8-4741-A747-887E4B2DF06A}"/>
              </a:ext>
            </a:extLst>
          </p:cNvPr>
          <p:cNvSpPr>
            <a:spLocks xmlns:a="http://schemas.openxmlformats.org/drawingml/2006/main" noGrp="1"/>
          </p:cNvSpPr>
          <p:nvPr/>
        </p:nvSpPr>
        <p:spPr>
          <a:xfrm xmlns:a="http://schemas.openxmlformats.org/drawingml/2006/main">
            <a:off x="819150" y="5772150"/>
            <a:ext cx="18097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1" name="cover-pass-text">
            <a:extLst xmlns:a="http://schemas.openxmlformats.org/drawingml/2006/main">
              <a:ext uri="{FF2B5EF4-FFF2-40B4-BE49-F238E27FC236}">
                <a16:creationId xmlns:a16="http://schemas.microsoft.com/office/drawing/2014/main" id="{A6EF7121-366E-47E7-9846-21B7248D1002}"/>
              </a:ext>
            </a:extLst>
          </p:cNvPr>
          <p:cNvSpPr>
            <a:spLocks xmlns:a="http://schemas.openxmlformats.org/drawingml/2006/main" noGrp="1"/>
          </p:cNvSpPr>
          <p:nvPr/>
        </p:nvSpPr>
        <p:spPr>
          <a:xfrm xmlns:a="http://schemas.openxmlformats.org/drawingml/2006/main">
            <a:off x="9144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CURRICULUM PASS</a:t>
            </a:r>
          </a:p>
        </p:txBody>
      </p:sp>
      <p:sp>
        <p:nvSpPr>
          <p:cNvPr id="12" name="cover-bfcl-bg">
            <a:extLst xmlns:a="http://schemas.openxmlformats.org/drawingml/2006/main">
              <a:ext uri="{FF2B5EF4-FFF2-40B4-BE49-F238E27FC236}">
                <a16:creationId xmlns:a16="http://schemas.microsoft.com/office/drawing/2014/main" id="{BD518565-72C8-47F3-A5E0-0058D4AB7837}"/>
              </a:ext>
            </a:extLst>
          </p:cNvPr>
          <p:cNvSpPr>
            <a:spLocks xmlns:a="http://schemas.openxmlformats.org/drawingml/2006/main" noGrp="1"/>
          </p:cNvSpPr>
          <p:nvPr/>
        </p:nvSpPr>
        <p:spPr>
          <a:xfrm xmlns:a="http://schemas.openxmlformats.org/drawingml/2006/main">
            <a:off x="2800350" y="5772150"/>
            <a:ext cx="1809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3" name="cover-bfcl-text">
            <a:extLst xmlns:a="http://schemas.openxmlformats.org/drawingml/2006/main">
              <a:ext uri="{FF2B5EF4-FFF2-40B4-BE49-F238E27FC236}">
                <a16:creationId xmlns:a16="http://schemas.microsoft.com/office/drawing/2014/main" id="{48714DF7-2C3A-4E5A-8E5B-174FB3BB3C30}"/>
              </a:ext>
            </a:extLst>
          </p:cNvPr>
          <p:cNvSpPr>
            <a:spLocks xmlns:a="http://schemas.openxmlformats.org/drawingml/2006/main" noGrp="1"/>
          </p:cNvSpPr>
          <p:nvPr/>
        </p:nvSpPr>
        <p:spPr>
          <a:xfrm xmlns:a="http://schemas.openxmlformats.org/drawingml/2006/main">
            <a:off x="2895600" y="5819775"/>
            <a:ext cx="1619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BFCL NOT RUN</a:t>
            </a:r>
          </a:p>
        </p:txBody>
      </p:sp>
    </p:spTree>
    <p:extLst>
      <p:ext uri="{BB962C8B-B14F-4D97-AF65-F5344CB8AC3E}">
        <p14:creationId xmlns:p14="http://schemas.microsoft.com/office/powerpoint/2010/main" val="610844466"/>
      </p:ext>
    </p:extLst>
  </p:cSld>
</p:sld>
</file>

<file path=ppt/slides/slide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5" name="rail-2">
            <a:extLst xmlns:a="http://schemas.openxmlformats.org/drawingml/2006/main">
              <a:ext uri="{FF2B5EF4-FFF2-40B4-BE49-F238E27FC236}">
                <a16:creationId xmlns:a16="http://schemas.microsoft.com/office/drawing/2014/main" id="{39C6AB00-80E0-4688-9AB7-9B8AAD3616A7}"/>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2">
            <a:extLst xmlns:a="http://schemas.openxmlformats.org/drawingml/2006/main">
              <a:ext uri="{FF2B5EF4-FFF2-40B4-BE49-F238E27FC236}">
                <a16:creationId xmlns:a16="http://schemas.microsoft.com/office/drawing/2014/main" id="{3034A68A-8082-4CDB-AF65-7FD0BAF1643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2">
            <a:extLst xmlns:a="http://schemas.openxmlformats.org/drawingml/2006/main">
              <a:ext uri="{FF2B5EF4-FFF2-40B4-BE49-F238E27FC236}">
                <a16:creationId xmlns:a16="http://schemas.microsoft.com/office/drawing/2014/main" id="{79AB3039-0783-45E7-9319-8FE1765DB34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PROJECT MAP</a:t>
            </a:r>
          </a:p>
        </p:txBody>
      </p:sp>
      <p:sp>
        <p:nvSpPr>
          <p:cNvPr id="4" name="title-2">
            <a:extLst xmlns:a="http://schemas.openxmlformats.org/drawingml/2006/main">
              <a:ext uri="{FF2B5EF4-FFF2-40B4-BE49-F238E27FC236}">
                <a16:creationId xmlns:a16="http://schemas.microsoft.com/office/drawing/2014/main" id="{0739C487-E8C9-474F-8D36-73EB4CD23BF0}"/>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拿到这个项目，你应该先建立四层心智模型</a:t>
            </a:r>
          </a:p>
        </p:txBody>
      </p:sp>
      <p:sp>
        <p:nvSpPr>
          <p:cNvPr id="5" name="subtitle-2">
            <a:extLst xmlns:a="http://schemas.openxmlformats.org/drawingml/2006/main">
              <a:ext uri="{FF2B5EF4-FFF2-40B4-BE49-F238E27FC236}">
                <a16:creationId xmlns:a16="http://schemas.microsoft.com/office/drawing/2014/main" id="{90BEAE92-36E7-4E87-BCFE-769504B834B2}"/>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Agentic RL 不是“模型会调工具”这一件事，而是 policy、environment、reward、curriculum 的闭环。</a:t>
            </a:r>
          </a:p>
        </p:txBody>
      </p:sp>
      <p:sp>
        <p:nvSpPr>
          <p:cNvPr id="6" name="">
            <a:extLst xmlns:a="http://schemas.openxmlformats.org/drawingml/2006/main">
              <a:ext uri="{FF2B5EF4-FFF2-40B4-BE49-F238E27FC236}">
                <a16:creationId xmlns:a16="http://schemas.microsoft.com/office/drawing/2014/main" id="{AAD8BD17-52B8-4776-BA2D-1292D217999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2">
            <a:extLst xmlns:a="http://schemas.openxmlformats.org/drawingml/2006/main">
              <a:ext uri="{FF2B5EF4-FFF2-40B4-BE49-F238E27FC236}">
                <a16:creationId xmlns:a16="http://schemas.microsoft.com/office/drawing/2014/main" id="{F2D5A237-C7C7-4C3B-81A5-FB9A98D3B2B8}"/>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02</a:t>
            </a:r>
          </a:p>
        </p:txBody>
      </p:sp>
      <p:sp>
        <p:nvSpPr>
          <p:cNvPr id="8" name="map-0">
            <a:extLst xmlns:a="http://schemas.openxmlformats.org/drawingml/2006/main">
              <a:ext uri="{FF2B5EF4-FFF2-40B4-BE49-F238E27FC236}">
                <a16:creationId xmlns:a16="http://schemas.microsoft.com/office/drawing/2014/main" id="{322A9FA2-EA4B-41B1-97B8-FEC2D56BB598}"/>
              </a:ext>
            </a:extLst>
          </p:cNvPr>
          <p:cNvSpPr>
            <a:spLocks xmlns:a="http://schemas.openxmlformats.org/drawingml/2006/main" noGrp="1"/>
          </p:cNvSpPr>
          <p:nvPr/>
        </p:nvSpPr>
        <p:spPr>
          <a:xfrm xmlns:a="http://schemas.openxmlformats.org/drawingml/2006/main">
            <a:off x="6858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18A6A6"/>
            </a:solidFill>
            <a:prstDash val="solid"/>
          </a:ln>
        </p:spPr>
      </p:sp>
      <p:sp>
        <p:nvSpPr>
          <p:cNvPr id="9" name="map-num-0">
            <a:extLst xmlns:a="http://schemas.openxmlformats.org/drawingml/2006/main">
              <a:ext uri="{FF2B5EF4-FFF2-40B4-BE49-F238E27FC236}">
                <a16:creationId xmlns:a16="http://schemas.microsoft.com/office/drawing/2014/main" id="{798389D7-E659-429C-AC4E-6FEEA6B79CE1}"/>
              </a:ext>
            </a:extLst>
          </p:cNvPr>
          <p:cNvSpPr>
            <a:spLocks xmlns:a="http://schemas.openxmlformats.org/drawingml/2006/main" noGrp="1"/>
          </p:cNvSpPr>
          <p:nvPr/>
        </p:nvSpPr>
        <p:spPr>
          <a:xfrm xmlns:a="http://schemas.openxmlformats.org/drawingml/2006/main">
            <a:off x="8763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18A6A6"/>
                </a:solidFill>
              </a:defRPr>
            </a:pPr>
            <a:r>
              <a:rPr sz="1875" b="1">
                <a:solidFill>
                  <a:srgbClr val="18A6A6"/>
                </a:solidFill>
              </a:rPr>
              <a:t>01</a:t>
            </a:r>
          </a:p>
        </p:txBody>
      </p:sp>
      <p:sp>
        <p:nvSpPr>
          <p:cNvPr id="10" name="map-name-0">
            <a:extLst xmlns:a="http://schemas.openxmlformats.org/drawingml/2006/main">
              <a:ext uri="{FF2B5EF4-FFF2-40B4-BE49-F238E27FC236}">
                <a16:creationId xmlns:a16="http://schemas.microsoft.com/office/drawing/2014/main" id="{0CA8D4EB-1908-4702-9BCC-E296C22116D8}"/>
              </a:ext>
            </a:extLst>
          </p:cNvPr>
          <p:cNvSpPr>
            <a:spLocks xmlns:a="http://schemas.openxmlformats.org/drawingml/2006/main" noGrp="1"/>
          </p:cNvSpPr>
          <p:nvPr/>
        </p:nvSpPr>
        <p:spPr>
          <a:xfrm xmlns:a="http://schemas.openxmlformats.org/drawingml/2006/main">
            <a:off x="8763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POLICY</a:t>
            </a:r>
          </a:p>
        </p:txBody>
      </p:sp>
      <p:sp>
        <p:nvSpPr>
          <p:cNvPr id="11" name="map-body-0">
            <a:extLst xmlns:a="http://schemas.openxmlformats.org/drawingml/2006/main">
              <a:ext uri="{FF2B5EF4-FFF2-40B4-BE49-F238E27FC236}">
                <a16:creationId xmlns:a16="http://schemas.microsoft.com/office/drawing/2014/main" id="{973BC3FB-D032-449B-95AC-DD7DBC5DF5EC}"/>
              </a:ext>
            </a:extLst>
          </p:cNvPr>
          <p:cNvSpPr>
            <a:spLocks xmlns:a="http://schemas.openxmlformats.org/drawingml/2006/main" noGrp="1"/>
          </p:cNvSpPr>
          <p:nvPr/>
        </p:nvSpPr>
        <p:spPr>
          <a:xfrm xmlns:a="http://schemas.openxmlformats.org/drawingml/2006/main">
            <a:off x="8763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Qwen3-8B 生成完整 assistant response 与工具调用</a:t>
            </a:r>
          </a:p>
        </p:txBody>
      </p:sp>
      <p:sp>
        <p:nvSpPr>
          <p:cNvPr id="12" name="map-1">
            <a:extLst xmlns:a="http://schemas.openxmlformats.org/drawingml/2006/main">
              <a:ext uri="{FF2B5EF4-FFF2-40B4-BE49-F238E27FC236}">
                <a16:creationId xmlns:a16="http://schemas.microsoft.com/office/drawing/2014/main" id="{11D9E507-CE18-44B0-908A-0C3123C3730B}"/>
              </a:ext>
            </a:extLst>
          </p:cNvPr>
          <p:cNvSpPr>
            <a:spLocks xmlns:a="http://schemas.openxmlformats.org/drawingml/2006/main" noGrp="1"/>
          </p:cNvSpPr>
          <p:nvPr/>
        </p:nvSpPr>
        <p:spPr>
          <a:xfrm xmlns:a="http://schemas.openxmlformats.org/drawingml/2006/main">
            <a:off x="33718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C56D4A"/>
            </a:solidFill>
            <a:prstDash val="solid"/>
          </a:ln>
        </p:spPr>
      </p:sp>
      <p:sp>
        <p:nvSpPr>
          <p:cNvPr id="13" name="map-num-1">
            <a:extLst xmlns:a="http://schemas.openxmlformats.org/drawingml/2006/main">
              <a:ext uri="{FF2B5EF4-FFF2-40B4-BE49-F238E27FC236}">
                <a16:creationId xmlns:a16="http://schemas.microsoft.com/office/drawing/2014/main" id="{4FE0DE80-7625-495E-867F-F626E7F54512}"/>
              </a:ext>
            </a:extLst>
          </p:cNvPr>
          <p:cNvSpPr>
            <a:spLocks xmlns:a="http://schemas.openxmlformats.org/drawingml/2006/main" noGrp="1"/>
          </p:cNvSpPr>
          <p:nvPr/>
        </p:nvSpPr>
        <p:spPr>
          <a:xfrm xmlns:a="http://schemas.openxmlformats.org/drawingml/2006/main">
            <a:off x="35623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C56D4A"/>
                </a:solidFill>
              </a:defRPr>
            </a:pPr>
            <a:r>
              <a:rPr sz="1875" b="1">
                <a:solidFill>
                  <a:srgbClr val="C56D4A"/>
                </a:solidFill>
              </a:rPr>
              <a:t>02</a:t>
            </a:r>
          </a:p>
        </p:txBody>
      </p:sp>
      <p:sp>
        <p:nvSpPr>
          <p:cNvPr id="14" name="map-name-1">
            <a:extLst xmlns:a="http://schemas.openxmlformats.org/drawingml/2006/main">
              <a:ext uri="{FF2B5EF4-FFF2-40B4-BE49-F238E27FC236}">
                <a16:creationId xmlns:a16="http://schemas.microsoft.com/office/drawing/2014/main" id="{2749930E-38D8-4DF1-9C8A-D75BA2F9E74D}"/>
              </a:ext>
            </a:extLst>
          </p:cNvPr>
          <p:cNvSpPr>
            <a:spLocks xmlns:a="http://schemas.openxmlformats.org/drawingml/2006/main" noGrp="1"/>
          </p:cNvSpPr>
          <p:nvPr/>
        </p:nvSpPr>
        <p:spPr>
          <a:xfrm xmlns:a="http://schemas.openxmlformats.org/drawingml/2006/main">
            <a:off x="35623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ENVIRONMENT</a:t>
            </a:r>
          </a:p>
        </p:txBody>
      </p:sp>
      <p:sp>
        <p:nvSpPr>
          <p:cNvPr id="15" name="map-body-1">
            <a:extLst xmlns:a="http://schemas.openxmlformats.org/drawingml/2006/main">
              <a:ext uri="{FF2B5EF4-FFF2-40B4-BE49-F238E27FC236}">
                <a16:creationId xmlns:a16="http://schemas.microsoft.com/office/drawing/2014/main" id="{2022192D-E33A-4F4A-8F11-0B051DF8C08B}"/>
              </a:ext>
            </a:extLst>
          </p:cNvPr>
          <p:cNvSpPr>
            <a:spLocks xmlns:a="http://schemas.openxmlformats.org/drawingml/2006/main" noGrp="1"/>
          </p:cNvSpPr>
          <p:nvPr/>
        </p:nvSpPr>
        <p:spPr>
          <a:xfrm xmlns:a="http://schemas.openxmlformats.org/drawingml/2006/main">
            <a:off x="35623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七个 stateful tools 执行读写与真实状态转移</a:t>
            </a:r>
          </a:p>
        </p:txBody>
      </p:sp>
      <p:sp>
        <p:nvSpPr>
          <p:cNvPr id="16" name="map-2">
            <a:extLst xmlns:a="http://schemas.openxmlformats.org/drawingml/2006/main">
              <a:ext uri="{FF2B5EF4-FFF2-40B4-BE49-F238E27FC236}">
                <a16:creationId xmlns:a16="http://schemas.microsoft.com/office/drawing/2014/main" id="{72BEF085-9EB9-4AE3-8CEA-EE981495D674}"/>
              </a:ext>
            </a:extLst>
          </p:cNvPr>
          <p:cNvSpPr>
            <a:spLocks xmlns:a="http://schemas.openxmlformats.org/drawingml/2006/main" noGrp="1"/>
          </p:cNvSpPr>
          <p:nvPr/>
        </p:nvSpPr>
        <p:spPr>
          <a:xfrm xmlns:a="http://schemas.openxmlformats.org/drawingml/2006/main">
            <a:off x="6057900" y="2266950"/>
            <a:ext cx="2324100" cy="2781300"/>
          </a:xfrm>
          <a:prstGeom xmlns:a="http://schemas.openxmlformats.org/drawingml/2006/main" prst="roundRect">
            <a:avLst>
              <a:gd name="adj" fmla="val 4098"/>
            </a:avLst>
          </a:prstGeom>
          <a:solidFill xmlns:a="http://schemas.openxmlformats.org/drawingml/2006/main">
            <a:srgbClr val="FFFDFC"/>
          </a:solidFill>
          <a:ln xmlns:a="http://schemas.openxmlformats.org/drawingml/2006/main" w="9525">
            <a:solidFill>
              <a:srgbClr val="D6A84B"/>
            </a:solidFill>
            <a:prstDash val="solid"/>
          </a:ln>
        </p:spPr>
      </p:sp>
      <p:sp>
        <p:nvSpPr>
          <p:cNvPr id="17" name="map-num-2">
            <a:extLst xmlns:a="http://schemas.openxmlformats.org/drawingml/2006/main">
              <a:ext uri="{FF2B5EF4-FFF2-40B4-BE49-F238E27FC236}">
                <a16:creationId xmlns:a16="http://schemas.microsoft.com/office/drawing/2014/main" id="{B53AB7E3-D0F8-46F8-B225-3E04B9826AD2}"/>
              </a:ext>
            </a:extLst>
          </p:cNvPr>
          <p:cNvSpPr>
            <a:spLocks xmlns:a="http://schemas.openxmlformats.org/drawingml/2006/main" noGrp="1"/>
          </p:cNvSpPr>
          <p:nvPr/>
        </p:nvSpPr>
        <p:spPr>
          <a:xfrm xmlns:a="http://schemas.openxmlformats.org/drawingml/2006/main">
            <a:off x="624840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D6A84B"/>
                </a:solidFill>
              </a:defRPr>
            </a:pPr>
            <a:r>
              <a:rPr sz="1875" b="1">
                <a:solidFill>
                  <a:srgbClr val="D6A84B"/>
                </a:solidFill>
              </a:rPr>
              <a:t>03</a:t>
            </a:r>
          </a:p>
        </p:txBody>
      </p:sp>
      <p:sp>
        <p:nvSpPr>
          <p:cNvPr id="18" name="map-name-2">
            <a:extLst xmlns:a="http://schemas.openxmlformats.org/drawingml/2006/main">
              <a:ext uri="{FF2B5EF4-FFF2-40B4-BE49-F238E27FC236}">
                <a16:creationId xmlns:a16="http://schemas.microsoft.com/office/drawing/2014/main" id="{26AC4D05-7787-4A80-9182-9EB39390079C}"/>
              </a:ext>
            </a:extLst>
          </p:cNvPr>
          <p:cNvSpPr>
            <a:spLocks xmlns:a="http://schemas.openxmlformats.org/drawingml/2006/main" noGrp="1"/>
          </p:cNvSpPr>
          <p:nvPr/>
        </p:nvSpPr>
        <p:spPr>
          <a:xfrm xmlns:a="http://schemas.openxmlformats.org/drawingml/2006/main">
            <a:off x="624840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REWARD</a:t>
            </a:r>
          </a:p>
        </p:txBody>
      </p:sp>
      <p:sp>
        <p:nvSpPr>
          <p:cNvPr id="19" name="map-body-2">
            <a:extLst xmlns:a="http://schemas.openxmlformats.org/drawingml/2006/main">
              <a:ext uri="{FF2B5EF4-FFF2-40B4-BE49-F238E27FC236}">
                <a16:creationId xmlns:a16="http://schemas.microsoft.com/office/drawing/2014/main" id="{525DDCCA-14AB-4475-8D3B-D931A5300785}"/>
              </a:ext>
            </a:extLst>
          </p:cNvPr>
          <p:cNvSpPr>
            <a:spLocks xmlns:a="http://schemas.openxmlformats.org/drawingml/2006/main" noGrp="1"/>
          </p:cNvSpPr>
          <p:nvPr/>
        </p:nvSpPr>
        <p:spPr>
          <a:xfrm xmlns:a="http://schemas.openxmlformats.org/drawingml/2006/main">
            <a:off x="624840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exact outcome + process shaping，按 group 求相对优势</a:t>
            </a:r>
          </a:p>
        </p:txBody>
      </p:sp>
      <p:sp>
        <p:nvSpPr>
          <p:cNvPr id="20" name="map-3">
            <a:extLst xmlns:a="http://schemas.openxmlformats.org/drawingml/2006/main">
              <a:ext uri="{FF2B5EF4-FFF2-40B4-BE49-F238E27FC236}">
                <a16:creationId xmlns:a16="http://schemas.microsoft.com/office/drawing/2014/main" id="{8FF360D8-3B04-483E-9497-3054C3726578}"/>
              </a:ext>
            </a:extLst>
          </p:cNvPr>
          <p:cNvSpPr>
            <a:spLocks xmlns:a="http://schemas.openxmlformats.org/drawingml/2006/main" noGrp="1"/>
          </p:cNvSpPr>
          <p:nvPr/>
        </p:nvSpPr>
        <p:spPr>
          <a:xfrm xmlns:a="http://schemas.openxmlformats.org/drawingml/2006/main">
            <a:off x="8743950" y="2266950"/>
            <a:ext cx="2324100" cy="2781300"/>
          </a:xfrm>
          <a:prstGeom xmlns:a="http://schemas.openxmlformats.org/drawingml/2006/main" prst="roundRect">
            <a:avLst>
              <a:gd name="adj" fmla="val 4098"/>
            </a:avLst>
          </a:prstGeom>
          <a:solidFill xmlns:a="http://schemas.openxmlformats.org/drawingml/2006/main">
            <a:srgbClr val="F7F1E8"/>
          </a:solidFill>
          <a:ln xmlns:a="http://schemas.openxmlformats.org/drawingml/2006/main" w="9525">
            <a:solidFill>
              <a:srgbClr val="228B67"/>
            </a:solidFill>
            <a:prstDash val="solid"/>
          </a:ln>
        </p:spPr>
      </p:sp>
      <p:sp>
        <p:nvSpPr>
          <p:cNvPr id="21" name="map-num-3">
            <a:extLst xmlns:a="http://schemas.openxmlformats.org/drawingml/2006/main">
              <a:ext uri="{FF2B5EF4-FFF2-40B4-BE49-F238E27FC236}">
                <a16:creationId xmlns:a16="http://schemas.microsoft.com/office/drawing/2014/main" id="{FA8D37A4-619A-4C53-AA29-E4F2023B6F3A}"/>
              </a:ext>
            </a:extLst>
          </p:cNvPr>
          <p:cNvSpPr>
            <a:spLocks xmlns:a="http://schemas.openxmlformats.org/drawingml/2006/main" noGrp="1"/>
          </p:cNvSpPr>
          <p:nvPr/>
        </p:nvSpPr>
        <p:spPr>
          <a:xfrm xmlns:a="http://schemas.openxmlformats.org/drawingml/2006/main">
            <a:off x="8934450" y="2457450"/>
            <a:ext cx="6191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75" b="1">
                <a:solidFill>
                  <a:srgbClr val="228B67"/>
                </a:solidFill>
              </a:defRPr>
            </a:pPr>
            <a:r>
              <a:rPr sz="1875" b="1">
                <a:solidFill>
                  <a:srgbClr val="228B67"/>
                </a:solidFill>
              </a:rPr>
              <a:t>04</a:t>
            </a:r>
          </a:p>
        </p:txBody>
      </p:sp>
      <p:sp>
        <p:nvSpPr>
          <p:cNvPr id="22" name="map-name-3">
            <a:extLst xmlns:a="http://schemas.openxmlformats.org/drawingml/2006/main">
              <a:ext uri="{FF2B5EF4-FFF2-40B4-BE49-F238E27FC236}">
                <a16:creationId xmlns:a16="http://schemas.microsoft.com/office/drawing/2014/main" id="{C25F1259-D72C-46F3-A044-C40DFACF89D4}"/>
              </a:ext>
            </a:extLst>
          </p:cNvPr>
          <p:cNvSpPr>
            <a:spLocks xmlns:a="http://schemas.openxmlformats.org/drawingml/2006/main" noGrp="1"/>
          </p:cNvSpPr>
          <p:nvPr/>
        </p:nvSpPr>
        <p:spPr>
          <a:xfrm xmlns:a="http://schemas.openxmlformats.org/drawingml/2006/main">
            <a:off x="8934450" y="3067050"/>
            <a:ext cx="19431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071A2B"/>
                </a:solidFill>
              </a:defRPr>
            </a:pPr>
            <a:r>
              <a:rPr sz="1350" b="1">
                <a:solidFill>
                  <a:srgbClr val="071A2B"/>
                </a:solidFill>
              </a:rPr>
              <a:t>CURRICULUM</a:t>
            </a:r>
          </a:p>
        </p:txBody>
      </p:sp>
      <p:sp>
        <p:nvSpPr>
          <p:cNvPr id="23" name="map-body-3">
            <a:extLst xmlns:a="http://schemas.openxmlformats.org/drawingml/2006/main">
              <a:ext uri="{FF2B5EF4-FFF2-40B4-BE49-F238E27FC236}">
                <a16:creationId xmlns:a16="http://schemas.microsoft.com/office/drawing/2014/main" id="{30E1A9DD-0404-4580-B6A8-5F010F981C6F}"/>
              </a:ext>
            </a:extLst>
          </p:cNvPr>
          <p:cNvSpPr>
            <a:spLocks xmlns:a="http://schemas.openxmlformats.org/drawingml/2006/main" noGrp="1"/>
          </p:cNvSpPr>
          <p:nvPr/>
        </p:nvSpPr>
        <p:spPr>
          <a:xfrm xmlns:a="http://schemas.openxmlformats.org/drawingml/2006/main">
            <a:off x="8934450" y="3714750"/>
            <a:ext cx="19431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0000"/>
              </a:lnSpc>
              <a:buNone/>
              <a:defRPr sz="1350" b="1">
                <a:solidFill>
                  <a:srgbClr val="64747B"/>
                </a:solidFill>
              </a:defRPr>
            </a:pPr>
            <a:r>
              <a:rPr sz="1350" b="1">
                <a:solidFill>
                  <a:srgbClr val="64747B"/>
                </a:solidFill>
              </a:rPr>
              <a:t>从真实失败类型制造 decoy、timeout 与 replay</a:t>
            </a:r>
          </a:p>
        </p:txBody>
      </p:sp>
      <p:sp>
        <p:nvSpPr>
          <p:cNvPr id="24" name="map-foot">
            <a:extLst xmlns:a="http://schemas.openxmlformats.org/drawingml/2006/main">
              <a:ext uri="{FF2B5EF4-FFF2-40B4-BE49-F238E27FC236}">
                <a16:creationId xmlns:a16="http://schemas.microsoft.com/office/drawing/2014/main" id="{DC7077EA-C832-4BDA-AEDD-D9B516AF6C18}"/>
              </a:ext>
            </a:extLst>
          </p:cNvPr>
          <p:cNvSpPr>
            <a:spLocks xmlns:a="http://schemas.openxmlformats.org/drawingml/2006/main" noGrp="1"/>
          </p:cNvSpPr>
          <p:nvPr/>
        </p:nvSpPr>
        <p:spPr>
          <a:xfrm xmlns:a="http://schemas.openxmlformats.org/drawingml/2006/main">
            <a:off x="1143000" y="5562600"/>
            <a:ext cx="962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B797B"/>
                </a:solidFill>
              </a:defRPr>
            </a:pPr>
            <a:r>
              <a:rPr sz="1350" b="1">
                <a:solidFill>
                  <a:srgbClr val="0B797B"/>
                </a:solidFill>
              </a:rPr>
              <a:t>训练完整性的证据链：trajectory → reward → optimizer step → adapter hash → fresh-process replay</a:t>
            </a:r>
          </a:p>
        </p:txBody>
      </p:sp>
    </p:spTree>
    <p:extLst>
      <p:ext uri="{BB962C8B-B14F-4D97-AF65-F5344CB8AC3E}">
        <p14:creationId xmlns:p14="http://schemas.microsoft.com/office/powerpoint/2010/main" val="1366980109"/>
      </p:ext>
    </p:extLst>
  </p:cSld>
</p:sld>
</file>

<file path=ppt/slides/slide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1" name="rail-3">
            <a:extLst xmlns:a="http://schemas.openxmlformats.org/drawingml/2006/main">
              <a:ext uri="{FF2B5EF4-FFF2-40B4-BE49-F238E27FC236}">
                <a16:creationId xmlns:a16="http://schemas.microsoft.com/office/drawing/2014/main" id="{5D3B8405-6D9E-4CB3-B41D-C51C331C57B7}"/>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3">
            <a:extLst xmlns:a="http://schemas.openxmlformats.org/drawingml/2006/main">
              <a:ext uri="{FF2B5EF4-FFF2-40B4-BE49-F238E27FC236}">
                <a16:creationId xmlns:a16="http://schemas.microsoft.com/office/drawing/2014/main" id="{E19CA2E1-14CE-4BEE-85F8-1E5C761C588B}"/>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3">
            <a:extLst xmlns:a="http://schemas.openxmlformats.org/drawingml/2006/main">
              <a:ext uri="{FF2B5EF4-FFF2-40B4-BE49-F238E27FC236}">
                <a16:creationId xmlns:a16="http://schemas.microsoft.com/office/drawing/2014/main" id="{5A4E3F51-ED70-401F-8369-C87422C4C2A0}"/>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PAPER → PROJECT</a:t>
            </a:r>
          </a:p>
        </p:txBody>
      </p:sp>
      <p:sp>
        <p:nvSpPr>
          <p:cNvPr id="4" name="title-3">
            <a:extLst xmlns:a="http://schemas.openxmlformats.org/drawingml/2006/main">
              <a:ext uri="{FF2B5EF4-FFF2-40B4-BE49-F238E27FC236}">
                <a16:creationId xmlns:a16="http://schemas.microsoft.com/office/drawing/2014/main" id="{56EBF8CC-D705-42A4-8502-50CD4FEB79FD}"/>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论文方法如何被拆成一条可执行的工程链路</a:t>
            </a:r>
          </a:p>
        </p:txBody>
      </p:sp>
      <p:sp>
        <p:nvSpPr>
          <p:cNvPr id="5" name="subtitle-3">
            <a:extLst xmlns:a="http://schemas.openxmlformats.org/drawingml/2006/main">
              <a:ext uri="{FF2B5EF4-FFF2-40B4-BE49-F238E27FC236}">
                <a16:creationId xmlns:a16="http://schemas.microsoft.com/office/drawing/2014/main" id="{606A6262-205A-4779-B3AD-70BAE88A668A}"/>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保留双飞轮的因果结构，缩小模型、数据和 benchmark 规模，并明确不支持的 claim。</a:t>
            </a:r>
          </a:p>
        </p:txBody>
      </p:sp>
      <p:sp>
        <p:nvSpPr>
          <p:cNvPr id="6" name="">
            <a:extLst xmlns:a="http://schemas.openxmlformats.org/drawingml/2006/main">
              <a:ext uri="{FF2B5EF4-FFF2-40B4-BE49-F238E27FC236}">
                <a16:creationId xmlns:a16="http://schemas.microsoft.com/office/drawing/2014/main" id="{C121E721-452D-487C-9A4C-8A379385FE96}"/>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3">
            <a:extLst xmlns:a="http://schemas.openxmlformats.org/drawingml/2006/main">
              <a:ext uri="{FF2B5EF4-FFF2-40B4-BE49-F238E27FC236}">
                <a16:creationId xmlns:a16="http://schemas.microsoft.com/office/drawing/2014/main" id="{8FF4B582-F3A2-4FB4-AD48-8F18FC90FEA6}"/>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03</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82f6f11675f48ec"/>
          <a:stretch xmlns:a="http://schemas.openxmlformats.org/drawingml/2006/main"/>
        </p:blipFill>
        <p:spPr>
          <a:xfrm xmlns:a="http://schemas.openxmlformats.org/drawingml/2006/main">
            <a:off x="666750" y="2117031"/>
            <a:ext cx="5429250" cy="3081137"/>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096C0D8D-7541-4937-B039-2EA5F239A93F}"/>
              </a:ext>
            </a:extLst>
          </p:cNvPr>
          <p:cNvSpPr>
            <a:spLocks xmlns:a="http://schemas.openxmlformats.org/drawingml/2006/main" noGrp="1"/>
          </p:cNvSpPr>
          <p:nvPr/>
        </p:nvSpPr>
        <p:spPr>
          <a:xfrm xmlns:a="http://schemas.openxmlformats.org/drawingml/2006/main">
            <a:off x="6667500" y="2209800"/>
            <a:ext cx="34290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10" name="paper-k-0">
            <a:extLst xmlns:a="http://schemas.openxmlformats.org/drawingml/2006/main">
              <a:ext uri="{FF2B5EF4-FFF2-40B4-BE49-F238E27FC236}">
                <a16:creationId xmlns:a16="http://schemas.microsoft.com/office/drawing/2014/main" id="{81E60B18-59CC-4AA4-B246-2154FABCA0F1}"/>
              </a:ext>
            </a:extLst>
          </p:cNvPr>
          <p:cNvSpPr>
            <a:spLocks xmlns:a="http://schemas.openxmlformats.org/drawingml/2006/main" noGrp="1"/>
          </p:cNvSpPr>
          <p:nvPr/>
        </p:nvSpPr>
        <p:spPr>
          <a:xfrm xmlns:a="http://schemas.openxmlformats.org/drawingml/2006/main">
            <a:off x="7219950" y="2095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论文</a:t>
            </a:r>
          </a:p>
        </p:txBody>
      </p:sp>
      <p:sp>
        <p:nvSpPr>
          <p:cNvPr id="11" name="paper-v-0">
            <a:extLst xmlns:a="http://schemas.openxmlformats.org/drawingml/2006/main">
              <a:ext uri="{FF2B5EF4-FFF2-40B4-BE49-F238E27FC236}">
                <a16:creationId xmlns:a16="http://schemas.microsoft.com/office/drawing/2014/main" id="{00EBF084-41C8-4058-81D2-E9997CECEDBA}"/>
              </a:ext>
            </a:extLst>
          </p:cNvPr>
          <p:cNvSpPr>
            <a:spLocks xmlns:a="http://schemas.openxmlformats.org/drawingml/2006/main" noGrp="1"/>
          </p:cNvSpPr>
          <p:nvPr/>
        </p:nvSpPr>
        <p:spPr>
          <a:xfrm xmlns:a="http://schemas.openxmlformats.org/drawingml/2006/main">
            <a:off x="7219950" y="24288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≈100K 数据 · 235B simulator/judge · 8×H100</a:t>
            </a:r>
          </a:p>
        </p:txBody>
      </p:sp>
      <p:sp>
        <p:nvSpPr>
          <p:cNvPr id="12" name="">
            <a:extLst xmlns:a="http://schemas.openxmlformats.org/drawingml/2006/main">
              <a:ext uri="{FF2B5EF4-FFF2-40B4-BE49-F238E27FC236}">
                <a16:creationId xmlns:a16="http://schemas.microsoft.com/office/drawing/2014/main" id="{B382B7EE-EFC3-4D39-8D0D-199D2CDE5EB7}"/>
              </a:ext>
            </a:extLst>
          </p:cNvPr>
          <p:cNvSpPr>
            <a:spLocks xmlns:a="http://schemas.openxmlformats.org/drawingml/2006/main" noGrp="1"/>
          </p:cNvSpPr>
          <p:nvPr/>
        </p:nvSpPr>
        <p:spPr>
          <a:xfrm xmlns:a="http://schemas.openxmlformats.org/drawingml/2006/main">
            <a:off x="6667500" y="3105150"/>
            <a:ext cx="342900" cy="0"/>
          </a:xfrm>
          <a:prstGeom xmlns:a="http://schemas.openxmlformats.org/drawingml/2006/main" prst="line">
            <a:avLst/>
          </a:prstGeom>
          <a:noFill xmlns:a="http://schemas.openxmlformats.org/drawingml/2006/main"/>
          <a:ln xmlns:a="http://schemas.openxmlformats.org/drawingml/2006/main" w="47625">
            <a:solidFill>
              <a:srgbClr val="18A6A6"/>
            </a:solidFill>
            <a:prstDash val="solid"/>
          </a:ln>
        </p:spPr>
      </p:sp>
      <p:sp>
        <p:nvSpPr>
          <p:cNvPr id="13" name="paper-k-1">
            <a:extLst xmlns:a="http://schemas.openxmlformats.org/drawingml/2006/main">
              <a:ext uri="{FF2B5EF4-FFF2-40B4-BE49-F238E27FC236}">
                <a16:creationId xmlns:a16="http://schemas.microsoft.com/office/drawing/2014/main" id="{C3209759-9341-4AA5-AE0D-109A6751184E}"/>
              </a:ext>
            </a:extLst>
          </p:cNvPr>
          <p:cNvSpPr>
            <a:spLocks xmlns:a="http://schemas.openxmlformats.org/drawingml/2006/main" noGrp="1"/>
          </p:cNvSpPr>
          <p:nvPr/>
        </p:nvSpPr>
        <p:spPr>
          <a:xfrm xmlns:a="http://schemas.openxmlformats.org/drawingml/2006/main">
            <a:off x="7219950" y="29908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18A6A6"/>
                </a:solidFill>
              </a:defRPr>
            </a:pPr>
            <a:r>
              <a:rPr sz="1500" b="1">
                <a:solidFill>
                  <a:srgbClr val="18A6A6"/>
                </a:solidFill>
              </a:rPr>
              <a:t>本次</a:t>
            </a:r>
          </a:p>
        </p:txBody>
      </p:sp>
      <p:sp>
        <p:nvSpPr>
          <p:cNvPr id="14" name="paper-v-1">
            <a:extLst xmlns:a="http://schemas.openxmlformats.org/drawingml/2006/main">
              <a:ext uri="{FF2B5EF4-FFF2-40B4-BE49-F238E27FC236}">
                <a16:creationId xmlns:a16="http://schemas.microsoft.com/office/drawing/2014/main" id="{9432115A-C090-4F6D-964F-D3B9D9C20795}"/>
              </a:ext>
            </a:extLst>
          </p:cNvPr>
          <p:cNvSpPr>
            <a:spLocks xmlns:a="http://schemas.openxmlformats.org/drawingml/2006/main" noGrp="1"/>
          </p:cNvSpPr>
          <p:nvPr/>
        </p:nvSpPr>
        <p:spPr>
          <a:xfrm xmlns:a="http://schemas.openxmlformats.org/drawingml/2006/main">
            <a:off x="7219950" y="33242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8+12 训练任务 · 24 optimizer steps · 1×NVIDIA RTX PRO 6000 Blackwell Server Edition</a:t>
            </a:r>
          </a:p>
        </p:txBody>
      </p:sp>
      <p:sp>
        <p:nvSpPr>
          <p:cNvPr id="15" name="">
            <a:extLst xmlns:a="http://schemas.openxmlformats.org/drawingml/2006/main">
              <a:ext uri="{FF2B5EF4-FFF2-40B4-BE49-F238E27FC236}">
                <a16:creationId xmlns:a16="http://schemas.microsoft.com/office/drawing/2014/main" id="{8FC65A7C-2283-4593-989A-2E7AE3744FAF}"/>
              </a:ext>
            </a:extLst>
          </p:cNvPr>
          <p:cNvSpPr>
            <a:spLocks xmlns:a="http://schemas.openxmlformats.org/drawingml/2006/main" noGrp="1"/>
          </p:cNvSpPr>
          <p:nvPr/>
        </p:nvSpPr>
        <p:spPr>
          <a:xfrm xmlns:a="http://schemas.openxmlformats.org/drawingml/2006/main">
            <a:off x="6667500" y="4000500"/>
            <a:ext cx="342900" cy="0"/>
          </a:xfrm>
          <a:prstGeom xmlns:a="http://schemas.openxmlformats.org/drawingml/2006/main" prst="line">
            <a:avLst/>
          </a:prstGeom>
          <a:noFill xmlns:a="http://schemas.openxmlformats.org/drawingml/2006/main"/>
          <a:ln xmlns:a="http://schemas.openxmlformats.org/drawingml/2006/main" w="47625">
            <a:solidFill>
              <a:srgbClr val="228B67"/>
            </a:solidFill>
            <a:prstDash val="solid"/>
          </a:ln>
        </p:spPr>
      </p:sp>
      <p:sp>
        <p:nvSpPr>
          <p:cNvPr id="16" name="paper-k-2">
            <a:extLst xmlns:a="http://schemas.openxmlformats.org/drawingml/2006/main">
              <a:ext uri="{FF2B5EF4-FFF2-40B4-BE49-F238E27FC236}">
                <a16:creationId xmlns:a16="http://schemas.microsoft.com/office/drawing/2014/main" id="{DEFB3AE3-67EA-47AE-B065-98AA466CB67C}"/>
              </a:ext>
            </a:extLst>
          </p:cNvPr>
          <p:cNvSpPr>
            <a:spLocks xmlns:a="http://schemas.openxmlformats.org/drawingml/2006/main" noGrp="1"/>
          </p:cNvSpPr>
          <p:nvPr/>
        </p:nvSpPr>
        <p:spPr>
          <a:xfrm xmlns:a="http://schemas.openxmlformats.org/drawingml/2006/main">
            <a:off x="7219950" y="38862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228B67"/>
                </a:solidFill>
              </a:defRPr>
            </a:pPr>
            <a:r>
              <a:rPr sz="1500" b="1">
                <a:solidFill>
                  <a:srgbClr val="228B67"/>
                </a:solidFill>
              </a:rPr>
              <a:t>保留</a:t>
            </a:r>
          </a:p>
        </p:txBody>
      </p:sp>
      <p:sp>
        <p:nvSpPr>
          <p:cNvPr id="17" name="paper-v-2">
            <a:extLst xmlns:a="http://schemas.openxmlformats.org/drawingml/2006/main">
              <a:ext uri="{FF2B5EF4-FFF2-40B4-BE49-F238E27FC236}">
                <a16:creationId xmlns:a16="http://schemas.microsoft.com/office/drawing/2014/main" id="{2D8F8A85-E003-43F1-BD38-60CFD79AB6E9}"/>
              </a:ext>
            </a:extLst>
          </p:cNvPr>
          <p:cNvSpPr>
            <a:spLocks xmlns:a="http://schemas.openxmlformats.org/drawingml/2006/main" noGrp="1"/>
          </p:cNvSpPr>
          <p:nvPr/>
        </p:nvSpPr>
        <p:spPr>
          <a:xfrm xmlns:a="http://schemas.openxmlformats.org/drawingml/2006/main">
            <a:off x="7219950" y="421957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多轮 response token · stateful tools · GRPO · failure loop</a:t>
            </a:r>
          </a:p>
        </p:txBody>
      </p:sp>
      <p:sp>
        <p:nvSpPr>
          <p:cNvPr id="18" name="">
            <a:extLst xmlns:a="http://schemas.openxmlformats.org/drawingml/2006/main">
              <a:ext uri="{FF2B5EF4-FFF2-40B4-BE49-F238E27FC236}">
                <a16:creationId xmlns:a16="http://schemas.microsoft.com/office/drawing/2014/main" id="{32A5FA17-CF6D-4847-8930-EB8C075A6C1F}"/>
              </a:ext>
            </a:extLst>
          </p:cNvPr>
          <p:cNvSpPr>
            <a:spLocks xmlns:a="http://schemas.openxmlformats.org/drawingml/2006/main" noGrp="1"/>
          </p:cNvSpPr>
          <p:nvPr/>
        </p:nvSpPr>
        <p:spPr>
          <a:xfrm xmlns:a="http://schemas.openxmlformats.org/drawingml/2006/main">
            <a:off x="6667500" y="4895850"/>
            <a:ext cx="342900" cy="0"/>
          </a:xfrm>
          <a:prstGeom xmlns:a="http://schemas.openxmlformats.org/drawingml/2006/main" prst="line">
            <a:avLst/>
          </a:prstGeom>
          <a:noFill xmlns:a="http://schemas.openxmlformats.org/drawingml/2006/main"/>
          <a:ln xmlns:a="http://schemas.openxmlformats.org/drawingml/2006/main" w="47625">
            <a:solidFill>
              <a:srgbClr val="B44C4C"/>
            </a:solidFill>
            <a:prstDash val="solid"/>
          </a:ln>
        </p:spPr>
      </p:sp>
      <p:sp>
        <p:nvSpPr>
          <p:cNvPr id="19" name="paper-k-3">
            <a:extLst xmlns:a="http://schemas.openxmlformats.org/drawingml/2006/main">
              <a:ext uri="{FF2B5EF4-FFF2-40B4-BE49-F238E27FC236}">
                <a16:creationId xmlns:a16="http://schemas.microsoft.com/office/drawing/2014/main" id="{4082D73F-D614-406D-A9FA-DB97B8F55047}"/>
              </a:ext>
            </a:extLst>
          </p:cNvPr>
          <p:cNvSpPr>
            <a:spLocks xmlns:a="http://schemas.openxmlformats.org/drawingml/2006/main" noGrp="1"/>
          </p:cNvSpPr>
          <p:nvPr/>
        </p:nvSpPr>
        <p:spPr>
          <a:xfrm xmlns:a="http://schemas.openxmlformats.org/drawingml/2006/main">
            <a:off x="7219950" y="47815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B44C4C"/>
                </a:solidFill>
              </a:defRPr>
            </a:pPr>
            <a:r>
              <a:rPr sz="1500" b="1">
                <a:solidFill>
                  <a:srgbClr val="B44C4C"/>
                </a:solidFill>
              </a:rPr>
              <a:t>不声称</a:t>
            </a:r>
          </a:p>
        </p:txBody>
      </p:sp>
      <p:sp>
        <p:nvSpPr>
          <p:cNvPr id="20" name="paper-v-3">
            <a:extLst xmlns:a="http://schemas.openxmlformats.org/drawingml/2006/main">
              <a:ext uri="{FF2B5EF4-FFF2-40B4-BE49-F238E27FC236}">
                <a16:creationId xmlns:a16="http://schemas.microsoft.com/office/drawing/2014/main" id="{C7A88290-65FE-4036-A6DC-5569BE039AB8}"/>
              </a:ext>
            </a:extLst>
          </p:cNvPr>
          <p:cNvSpPr>
            <a:spLocks xmlns:a="http://schemas.openxmlformats.org/drawingml/2006/main" noGrp="1"/>
          </p:cNvSpPr>
          <p:nvPr/>
        </p:nvSpPr>
        <p:spPr>
          <a:xfrm xmlns:a="http://schemas.openxmlformats.org/drawingml/2006/main">
            <a:off x="7219950" y="5114925"/>
            <a:ext cx="3905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64747B"/>
                </a:solidFill>
              </a:defRPr>
            </a:pPr>
            <a:r>
              <a:rPr sz="1200" b="1">
                <a:solidFill>
                  <a:srgbClr val="64747B"/>
                </a:solidFill>
              </a:rPr>
              <a:t>论文 47.4 平均分 · 全量 TAU-2/BFCL · 统计显著性</a:t>
            </a:r>
          </a:p>
        </p:txBody>
      </p:sp>
    </p:spTree>
    <p:extLst>
      <p:ext uri="{BB962C8B-B14F-4D97-AF65-F5344CB8AC3E}">
        <p14:creationId xmlns:p14="http://schemas.microsoft.com/office/powerpoint/2010/main" val="1665567531"/>
      </p:ext>
    </p:extLst>
  </p:cSld>
</p:sld>
</file>

<file path=ppt/slides/slide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0" name="rail-4">
            <a:extLst xmlns:a="http://schemas.openxmlformats.org/drawingml/2006/main">
              <a:ext uri="{FF2B5EF4-FFF2-40B4-BE49-F238E27FC236}">
                <a16:creationId xmlns:a16="http://schemas.microsoft.com/office/drawing/2014/main" id="{E9E59F5F-0E45-4BE7-8C8C-DBFED9B8DD43}"/>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4">
            <a:extLst xmlns:a="http://schemas.openxmlformats.org/drawingml/2006/main">
              <a:ext uri="{FF2B5EF4-FFF2-40B4-BE49-F238E27FC236}">
                <a16:creationId xmlns:a16="http://schemas.microsoft.com/office/drawing/2014/main" id="{E100F91C-F930-4D46-AAD5-DA6C6949D88D}"/>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4">
            <a:extLst xmlns:a="http://schemas.openxmlformats.org/drawingml/2006/main">
              <a:ext uri="{FF2B5EF4-FFF2-40B4-BE49-F238E27FC236}">
                <a16:creationId xmlns:a16="http://schemas.microsoft.com/office/drawing/2014/main" id="{B6E4666D-6F65-4403-B127-CE52B0F512A4}"/>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SYSTEM ARCHITECTURE</a:t>
            </a:r>
          </a:p>
        </p:txBody>
      </p:sp>
      <p:sp>
        <p:nvSpPr>
          <p:cNvPr id="4" name="title-4">
            <a:extLst xmlns:a="http://schemas.openxmlformats.org/drawingml/2006/main">
              <a:ext uri="{FF2B5EF4-FFF2-40B4-BE49-F238E27FC236}">
                <a16:creationId xmlns:a16="http://schemas.microsoft.com/office/drawing/2014/main" id="{94DD244E-EEDA-4F38-B1CD-B663E6727A48}"/>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一次 rollout 究竟发生了什么？</a:t>
            </a:r>
          </a:p>
        </p:txBody>
      </p:sp>
      <p:sp>
        <p:nvSpPr>
          <p:cNvPr id="5" name="subtitle-4">
            <a:extLst xmlns:a="http://schemas.openxmlformats.org/drawingml/2006/main">
              <a:ext uri="{FF2B5EF4-FFF2-40B4-BE49-F238E27FC236}">
                <a16:creationId xmlns:a16="http://schemas.microsoft.com/office/drawing/2014/main" id="{2EAE2C5A-0D9F-43CB-B6C9-10671A40E0CF}"/>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模型不能直接改业务状态；所有 side effect 都经过工具、先决条件和 verifier。</a:t>
            </a:r>
          </a:p>
        </p:txBody>
      </p:sp>
      <p:sp>
        <p:nvSpPr>
          <p:cNvPr id="6" name="">
            <a:extLst xmlns:a="http://schemas.openxmlformats.org/drawingml/2006/main">
              <a:ext uri="{FF2B5EF4-FFF2-40B4-BE49-F238E27FC236}">
                <a16:creationId xmlns:a16="http://schemas.microsoft.com/office/drawing/2014/main" id="{B890FB67-4A60-43A7-ABD1-2D71DD79D116}"/>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4">
            <a:extLst xmlns:a="http://schemas.openxmlformats.org/drawingml/2006/main">
              <a:ext uri="{FF2B5EF4-FFF2-40B4-BE49-F238E27FC236}">
                <a16:creationId xmlns:a16="http://schemas.microsoft.com/office/drawing/2014/main" id="{FFE5E00D-211D-4393-9EF0-8F221A562DE8}"/>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04</a:t>
            </a:r>
          </a:p>
        </p:txBody>
      </p:sp>
      <p:sp>
        <p:nvSpPr>
          <p:cNvPr id="8" name="">
            <a:extLst xmlns:a="http://schemas.openxmlformats.org/drawingml/2006/main">
              <a:ext uri="{FF2B5EF4-FFF2-40B4-BE49-F238E27FC236}">
                <a16:creationId xmlns:a16="http://schemas.microsoft.com/office/drawing/2014/main" id="{4FC7625F-C935-4460-A146-D040245BF218}"/>
              </a:ext>
            </a:extLst>
          </p:cNvPr>
          <p:cNvSpPr>
            <a:spLocks xmlns:a="http://schemas.openxmlformats.org/drawingml/2006/main" noGrp="1"/>
          </p:cNvSpPr>
          <p:nvPr/>
        </p:nvSpPr>
        <p:spPr>
          <a:xfrm xmlns:a="http://schemas.openxmlformats.org/drawingml/2006/main">
            <a:off x="2381250" y="3438525"/>
            <a:ext cx="51435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9" name="">
            <a:extLst xmlns:a="http://schemas.openxmlformats.org/drawingml/2006/main">
              <a:ext uri="{FF2B5EF4-FFF2-40B4-BE49-F238E27FC236}">
                <a16:creationId xmlns:a16="http://schemas.microsoft.com/office/drawing/2014/main" id="{9C89CF2B-27E4-4C49-BCF1-83076BE8FD6C}"/>
              </a:ext>
            </a:extLst>
          </p:cNvPr>
          <p:cNvSpPr>
            <a:spLocks xmlns:a="http://schemas.openxmlformats.org/drawingml/2006/main" noGrp="1"/>
          </p:cNvSpPr>
          <p:nvPr/>
        </p:nvSpPr>
        <p:spPr>
          <a:xfrm xmlns:a="http://schemas.openxmlformats.org/drawingml/2006/main">
            <a:off x="45339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0" name="">
            <a:extLst xmlns:a="http://schemas.openxmlformats.org/drawingml/2006/main">
              <a:ext uri="{FF2B5EF4-FFF2-40B4-BE49-F238E27FC236}">
                <a16:creationId xmlns:a16="http://schemas.microsoft.com/office/drawing/2014/main" id="{9E3D1CBE-DEB3-4810-B82A-9051F95506FD}"/>
              </a:ext>
            </a:extLst>
          </p:cNvPr>
          <p:cNvSpPr>
            <a:spLocks xmlns:a="http://schemas.openxmlformats.org/drawingml/2006/main" noGrp="1"/>
          </p:cNvSpPr>
          <p:nvPr/>
        </p:nvSpPr>
        <p:spPr>
          <a:xfrm xmlns:a="http://schemas.openxmlformats.org/drawingml/2006/main">
            <a:off x="68580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1" name="">
            <a:extLst xmlns:a="http://schemas.openxmlformats.org/drawingml/2006/main">
              <a:ext uri="{FF2B5EF4-FFF2-40B4-BE49-F238E27FC236}">
                <a16:creationId xmlns:a16="http://schemas.microsoft.com/office/drawing/2014/main" id="{37681327-F996-41F1-B7A2-501B27ADA11F}"/>
              </a:ext>
            </a:extLst>
          </p:cNvPr>
          <p:cNvSpPr>
            <a:spLocks xmlns:a="http://schemas.openxmlformats.org/drawingml/2006/main" noGrp="1"/>
          </p:cNvSpPr>
          <p:nvPr/>
        </p:nvSpPr>
        <p:spPr>
          <a:xfrm xmlns:a="http://schemas.openxmlformats.org/drawingml/2006/main">
            <a:off x="9182100" y="3438525"/>
            <a:ext cx="685800" cy="0"/>
          </a:xfrm>
          <a:prstGeom xmlns:a="http://schemas.openxmlformats.org/drawingml/2006/main" prst="line">
            <a:avLst/>
          </a:prstGeom>
          <a:noFill xmlns:a="http://schemas.openxmlformats.org/drawingml/2006/main"/>
          <a:ln xmlns:a="http://schemas.openxmlformats.org/drawingml/2006/main" w="19050">
            <a:solidFill>
              <a:srgbClr val="0B797B"/>
            </a:solidFill>
            <a:prstDash val="solid"/>
          </a:ln>
        </p:spPr>
      </p:sp>
      <p:sp>
        <p:nvSpPr>
          <p:cNvPr id="12" name="arch-0">
            <a:extLst xmlns:a="http://schemas.openxmlformats.org/drawingml/2006/main">
              <a:ext uri="{FF2B5EF4-FFF2-40B4-BE49-F238E27FC236}">
                <a16:creationId xmlns:a16="http://schemas.microsoft.com/office/drawing/2014/main" id="{6B82774A-535C-47B5-A0AD-E6EF2799A31D}"/>
              </a:ext>
            </a:extLst>
          </p:cNvPr>
          <p:cNvSpPr>
            <a:spLocks xmlns:a="http://schemas.openxmlformats.org/drawingml/2006/main" noGrp="1"/>
          </p:cNvSpPr>
          <p:nvPr/>
        </p:nvSpPr>
        <p:spPr>
          <a:xfrm xmlns:a="http://schemas.openxmlformats.org/drawingml/2006/main">
            <a:off x="742950" y="2714625"/>
            <a:ext cx="1638300" cy="1447800"/>
          </a:xfrm>
          <a:prstGeom xmlns:a="http://schemas.openxmlformats.org/drawingml/2006/main" prst="roundRect">
            <a:avLst>
              <a:gd name="adj" fmla="val 7895"/>
            </a:avLst>
          </a:prstGeom>
          <a:solidFill xmlns:a="http://schemas.openxmlformats.org/drawingml/2006/main">
            <a:srgbClr val="F7F1E8"/>
          </a:solidFill>
          <a:ln xmlns:a="http://schemas.openxmlformats.org/drawingml/2006/main" w="9525">
            <a:solidFill>
              <a:srgbClr val="CAD9D8"/>
            </a:solidFill>
            <a:prstDash val="solid"/>
          </a:ln>
        </p:spPr>
      </p:sp>
      <p:sp>
        <p:nvSpPr>
          <p:cNvPr id="13" name="arch-k-0">
            <a:extLst xmlns:a="http://schemas.openxmlformats.org/drawingml/2006/main">
              <a:ext uri="{FF2B5EF4-FFF2-40B4-BE49-F238E27FC236}">
                <a16:creationId xmlns:a16="http://schemas.microsoft.com/office/drawing/2014/main" id="{8506D3DF-2224-488A-872D-1204D0DEF03B}"/>
              </a:ext>
            </a:extLst>
          </p:cNvPr>
          <p:cNvSpPr>
            <a:spLocks xmlns:a="http://schemas.openxmlformats.org/drawingml/2006/main" noGrp="1"/>
          </p:cNvSpPr>
          <p:nvPr/>
        </p:nvSpPr>
        <p:spPr>
          <a:xfrm xmlns:a="http://schemas.openxmlformats.org/drawingml/2006/main">
            <a:off x="88582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PROMPT</a:t>
            </a:r>
          </a:p>
        </p:txBody>
      </p:sp>
      <p:sp>
        <p:nvSpPr>
          <p:cNvPr id="14" name="arch-v-0">
            <a:extLst xmlns:a="http://schemas.openxmlformats.org/drawingml/2006/main">
              <a:ext uri="{FF2B5EF4-FFF2-40B4-BE49-F238E27FC236}">
                <a16:creationId xmlns:a16="http://schemas.microsoft.com/office/drawing/2014/main" id="{01E06543-D5C1-455D-A945-1FA318E08B69}"/>
              </a:ext>
            </a:extLst>
          </p:cNvPr>
          <p:cNvSpPr>
            <a:spLocks xmlns:a="http://schemas.openxmlformats.org/drawingml/2006/main" noGrp="1"/>
          </p:cNvSpPr>
          <p:nvPr/>
        </p:nvSpPr>
        <p:spPr>
          <a:xfrm xmlns:a="http://schemas.openxmlformats.org/drawingml/2006/main">
            <a:off x="88582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模糊退款诉求</a:t>
            </a:r>
          </a:p>
        </p:txBody>
      </p:sp>
      <p:sp>
        <p:nvSpPr>
          <p:cNvPr id="15" name="arch-1">
            <a:extLst xmlns:a="http://schemas.openxmlformats.org/drawingml/2006/main">
              <a:ext uri="{FF2B5EF4-FFF2-40B4-BE49-F238E27FC236}">
                <a16:creationId xmlns:a16="http://schemas.microsoft.com/office/drawing/2014/main" id="{3D25D797-DE2C-45D0-AAB5-09C7910DA6E6}"/>
              </a:ext>
            </a:extLst>
          </p:cNvPr>
          <p:cNvSpPr>
            <a:spLocks xmlns:a="http://schemas.openxmlformats.org/drawingml/2006/main" noGrp="1"/>
          </p:cNvSpPr>
          <p:nvPr/>
        </p:nvSpPr>
        <p:spPr>
          <a:xfrm xmlns:a="http://schemas.openxmlformats.org/drawingml/2006/main">
            <a:off x="28956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16" name="arch-k-1">
            <a:extLst xmlns:a="http://schemas.openxmlformats.org/drawingml/2006/main">
              <a:ext uri="{FF2B5EF4-FFF2-40B4-BE49-F238E27FC236}">
                <a16:creationId xmlns:a16="http://schemas.microsoft.com/office/drawing/2014/main" id="{62AB2D31-E2AC-43D8-86F0-71A5D6751DED}"/>
              </a:ext>
            </a:extLst>
          </p:cNvPr>
          <p:cNvSpPr>
            <a:spLocks xmlns:a="http://schemas.openxmlformats.org/drawingml/2006/main" noGrp="1"/>
          </p:cNvSpPr>
          <p:nvPr/>
        </p:nvSpPr>
        <p:spPr>
          <a:xfrm xmlns:a="http://schemas.openxmlformats.org/drawingml/2006/main">
            <a:off x="30384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POLICY</a:t>
            </a:r>
          </a:p>
        </p:txBody>
      </p:sp>
      <p:sp>
        <p:nvSpPr>
          <p:cNvPr id="17" name="arch-v-1">
            <a:extLst xmlns:a="http://schemas.openxmlformats.org/drawingml/2006/main">
              <a:ext uri="{FF2B5EF4-FFF2-40B4-BE49-F238E27FC236}">
                <a16:creationId xmlns:a16="http://schemas.microsoft.com/office/drawing/2014/main" id="{56FFB859-E2C3-4E70-B6A9-F2C5AF5A48A9}"/>
              </a:ext>
            </a:extLst>
          </p:cNvPr>
          <p:cNvSpPr>
            <a:spLocks xmlns:a="http://schemas.openxmlformats.org/drawingml/2006/main" noGrp="1"/>
          </p:cNvSpPr>
          <p:nvPr/>
        </p:nvSpPr>
        <p:spPr>
          <a:xfrm xmlns:a="http://schemas.openxmlformats.org/drawingml/2006/main">
            <a:off x="30384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Qwen3-8B</a:t>
            </a:r>
          </a:p>
          <a:p xmlns:a="http://schemas.openxmlformats.org/drawingml/2006/main">
            <a:pPr algn="ctr">
              <a:defRPr sz="1350" b="1">
                <a:solidFill>
                  <a:srgbClr val="071A2B"/>
                </a:solidFill>
              </a:defRPr>
            </a:pPr>
            <a:r>
              <a:rPr sz="1350" b="1">
                <a:solidFill>
                  <a:srgbClr val="071A2B"/>
                </a:solidFill>
              </a:rPr>
              <a:t>response tokens</a:t>
            </a:r>
          </a:p>
        </p:txBody>
      </p:sp>
      <p:sp>
        <p:nvSpPr>
          <p:cNvPr id="18" name="arch-2">
            <a:extLst xmlns:a="http://schemas.openxmlformats.org/drawingml/2006/main">
              <a:ext uri="{FF2B5EF4-FFF2-40B4-BE49-F238E27FC236}">
                <a16:creationId xmlns:a16="http://schemas.microsoft.com/office/drawing/2014/main" id="{EDBF17AB-ED54-4C6C-BA4F-FF805F1A6147}"/>
              </a:ext>
            </a:extLst>
          </p:cNvPr>
          <p:cNvSpPr>
            <a:spLocks xmlns:a="http://schemas.openxmlformats.org/drawingml/2006/main" noGrp="1"/>
          </p:cNvSpPr>
          <p:nvPr/>
        </p:nvSpPr>
        <p:spPr>
          <a:xfrm xmlns:a="http://schemas.openxmlformats.org/drawingml/2006/main">
            <a:off x="5219700" y="2714625"/>
            <a:ext cx="1638300" cy="1447800"/>
          </a:xfrm>
          <a:prstGeom xmlns:a="http://schemas.openxmlformats.org/drawingml/2006/main" prst="roundRect">
            <a:avLst>
              <a:gd name="adj" fmla="val 7895"/>
            </a:avLst>
          </a:prstGeom>
          <a:solidFill xmlns:a="http://schemas.openxmlformats.org/drawingml/2006/main">
            <a:srgbClr val="FAF2DE"/>
          </a:solidFill>
          <a:ln xmlns:a="http://schemas.openxmlformats.org/drawingml/2006/main" w="9525">
            <a:solidFill>
              <a:srgbClr val="CAD9D8"/>
            </a:solidFill>
            <a:prstDash val="solid"/>
          </a:ln>
        </p:spPr>
      </p:sp>
      <p:sp>
        <p:nvSpPr>
          <p:cNvPr id="19" name="arch-k-2">
            <a:extLst xmlns:a="http://schemas.openxmlformats.org/drawingml/2006/main">
              <a:ext uri="{FF2B5EF4-FFF2-40B4-BE49-F238E27FC236}">
                <a16:creationId xmlns:a16="http://schemas.microsoft.com/office/drawing/2014/main" id="{CBD45942-0774-4215-BB63-3425EE1ED498}"/>
              </a:ext>
            </a:extLst>
          </p:cNvPr>
          <p:cNvSpPr>
            <a:spLocks xmlns:a="http://schemas.openxmlformats.org/drawingml/2006/main" noGrp="1"/>
          </p:cNvSpPr>
          <p:nvPr/>
        </p:nvSpPr>
        <p:spPr>
          <a:xfrm xmlns:a="http://schemas.openxmlformats.org/drawingml/2006/main">
            <a:off x="53625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TOOLS</a:t>
            </a:r>
          </a:p>
        </p:txBody>
      </p:sp>
      <p:sp>
        <p:nvSpPr>
          <p:cNvPr id="20" name="arch-v-2">
            <a:extLst xmlns:a="http://schemas.openxmlformats.org/drawingml/2006/main">
              <a:ext uri="{FF2B5EF4-FFF2-40B4-BE49-F238E27FC236}">
                <a16:creationId xmlns:a16="http://schemas.microsoft.com/office/drawing/2014/main" id="{4D9A7B68-7528-40EF-94BE-4D9DEDE89325}"/>
              </a:ext>
            </a:extLst>
          </p:cNvPr>
          <p:cNvSpPr>
            <a:spLocks xmlns:a="http://schemas.openxmlformats.org/drawingml/2006/main" noGrp="1"/>
          </p:cNvSpPr>
          <p:nvPr/>
        </p:nvSpPr>
        <p:spPr>
          <a:xfrm xmlns:a="http://schemas.openxmlformats.org/drawingml/2006/main">
            <a:off x="53625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7 个工具</a:t>
            </a:r>
          </a:p>
          <a:p xmlns:a="http://schemas.openxmlformats.org/drawingml/2006/main">
            <a:pPr algn="ctr">
              <a:defRPr sz="1350" b="1">
                <a:solidFill>
                  <a:srgbClr val="071A2B"/>
                </a:solidFill>
              </a:defRPr>
            </a:pPr>
            <a:r>
              <a:rPr sz="1350" b="1">
                <a:solidFill>
                  <a:srgbClr val="071A2B"/>
                </a:solidFill>
              </a:rPr>
              <a:t>observation</a:t>
            </a:r>
          </a:p>
        </p:txBody>
      </p:sp>
      <p:sp>
        <p:nvSpPr>
          <p:cNvPr id="21" name="arch-3">
            <a:extLst xmlns:a="http://schemas.openxmlformats.org/drawingml/2006/main">
              <a:ext uri="{FF2B5EF4-FFF2-40B4-BE49-F238E27FC236}">
                <a16:creationId xmlns:a16="http://schemas.microsoft.com/office/drawing/2014/main" id="{3AC05581-FFA3-4EDB-9686-25AA83E50B12}"/>
              </a:ext>
            </a:extLst>
          </p:cNvPr>
          <p:cNvSpPr>
            <a:spLocks xmlns:a="http://schemas.openxmlformats.org/drawingml/2006/main" noGrp="1"/>
          </p:cNvSpPr>
          <p:nvPr/>
        </p:nvSpPr>
        <p:spPr>
          <a:xfrm xmlns:a="http://schemas.openxmlformats.org/drawingml/2006/main">
            <a:off x="7543800" y="2714625"/>
            <a:ext cx="1638300" cy="1447800"/>
          </a:xfrm>
          <a:prstGeom xmlns:a="http://schemas.openxmlformats.org/drawingml/2006/main" prst="roundRect">
            <a:avLst>
              <a:gd name="adj" fmla="val 7895"/>
            </a:avLst>
          </a:prstGeom>
          <a:solidFill xmlns:a="http://schemas.openxmlformats.org/drawingml/2006/main">
            <a:srgbClr val="E5F5F3"/>
          </a:solidFill>
          <a:ln xmlns:a="http://schemas.openxmlformats.org/drawingml/2006/main" w="9525">
            <a:solidFill>
              <a:srgbClr val="CAD9D8"/>
            </a:solidFill>
            <a:prstDash val="solid"/>
          </a:ln>
        </p:spPr>
      </p:sp>
      <p:sp>
        <p:nvSpPr>
          <p:cNvPr id="22" name="arch-k-3">
            <a:extLst xmlns:a="http://schemas.openxmlformats.org/drawingml/2006/main">
              <a:ext uri="{FF2B5EF4-FFF2-40B4-BE49-F238E27FC236}">
                <a16:creationId xmlns:a16="http://schemas.microsoft.com/office/drawing/2014/main" id="{0CF34868-33CD-4018-9E4F-C6A46A274FAE}"/>
              </a:ext>
            </a:extLst>
          </p:cNvPr>
          <p:cNvSpPr>
            <a:spLocks xmlns:a="http://schemas.openxmlformats.org/drawingml/2006/main" noGrp="1"/>
          </p:cNvSpPr>
          <p:nvPr/>
        </p:nvSpPr>
        <p:spPr>
          <a:xfrm xmlns:a="http://schemas.openxmlformats.org/drawingml/2006/main">
            <a:off x="76866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0B797B"/>
                </a:solidFill>
              </a:defRPr>
            </a:pPr>
            <a:r>
              <a:rPr sz="1050" b="1">
                <a:solidFill>
                  <a:srgbClr val="0B797B"/>
                </a:solidFill>
              </a:rPr>
              <a:t>STATE</a:t>
            </a:r>
          </a:p>
        </p:txBody>
      </p:sp>
      <p:sp>
        <p:nvSpPr>
          <p:cNvPr id="23" name="arch-v-3">
            <a:extLst xmlns:a="http://schemas.openxmlformats.org/drawingml/2006/main">
              <a:ext uri="{FF2B5EF4-FFF2-40B4-BE49-F238E27FC236}">
                <a16:creationId xmlns:a16="http://schemas.microsoft.com/office/drawing/2014/main" id="{CF5AC2D5-B0DB-4B40-8507-BA3CBBDAD9ED}"/>
              </a:ext>
            </a:extLst>
          </p:cNvPr>
          <p:cNvSpPr>
            <a:spLocks xmlns:a="http://schemas.openxmlformats.org/drawingml/2006/main" noGrp="1"/>
          </p:cNvSpPr>
          <p:nvPr/>
        </p:nvSpPr>
        <p:spPr>
          <a:xfrm xmlns:a="http://schemas.openxmlformats.org/drawingml/2006/main">
            <a:off x="76866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身份/订单/支付</a:t>
            </a:r>
          </a:p>
          <a:p xmlns:a="http://schemas.openxmlformats.org/drawingml/2006/main">
            <a:pPr algn="ctr">
              <a:defRPr sz="1350" b="1">
                <a:solidFill>
                  <a:srgbClr val="071A2B"/>
                </a:solidFill>
              </a:defRPr>
            </a:pPr>
            <a:r>
              <a:rPr sz="1350" b="1">
                <a:solidFill>
                  <a:srgbClr val="071A2B"/>
                </a:solidFill>
              </a:rPr>
              <a:t>确认/退款</a:t>
            </a:r>
          </a:p>
        </p:txBody>
      </p:sp>
      <p:sp>
        <p:nvSpPr>
          <p:cNvPr id="24" name="arch-4">
            <a:extLst xmlns:a="http://schemas.openxmlformats.org/drawingml/2006/main">
              <a:ext uri="{FF2B5EF4-FFF2-40B4-BE49-F238E27FC236}">
                <a16:creationId xmlns:a16="http://schemas.microsoft.com/office/drawing/2014/main" id="{C81B2248-D1B8-4002-B791-7FE0CEEC71C7}"/>
              </a:ext>
            </a:extLst>
          </p:cNvPr>
          <p:cNvSpPr>
            <a:spLocks xmlns:a="http://schemas.openxmlformats.org/drawingml/2006/main" noGrp="1"/>
          </p:cNvSpPr>
          <p:nvPr/>
        </p:nvSpPr>
        <p:spPr>
          <a:xfrm xmlns:a="http://schemas.openxmlformats.org/drawingml/2006/main">
            <a:off x="9867900" y="2714625"/>
            <a:ext cx="1638300" cy="1447800"/>
          </a:xfrm>
          <a:prstGeom xmlns:a="http://schemas.openxmlformats.org/drawingml/2006/main" prst="roundRect">
            <a:avLst>
              <a:gd name="adj" fmla="val 7895"/>
            </a:avLst>
          </a:prstGeom>
          <a:solidFill xmlns:a="http://schemas.openxmlformats.org/drawingml/2006/main">
            <a:srgbClr val="F9E9E6"/>
          </a:solidFill>
          <a:ln xmlns:a="http://schemas.openxmlformats.org/drawingml/2006/main" w="9525">
            <a:solidFill>
              <a:srgbClr val="C56D4A"/>
            </a:solidFill>
            <a:prstDash val="solid"/>
          </a:ln>
        </p:spPr>
      </p:sp>
      <p:sp>
        <p:nvSpPr>
          <p:cNvPr id="25" name="arch-k-4">
            <a:extLst xmlns:a="http://schemas.openxmlformats.org/drawingml/2006/main">
              <a:ext uri="{FF2B5EF4-FFF2-40B4-BE49-F238E27FC236}">
                <a16:creationId xmlns:a16="http://schemas.microsoft.com/office/drawing/2014/main" id="{33D28780-A538-4B05-9299-CFDB7D36C250}"/>
              </a:ext>
            </a:extLst>
          </p:cNvPr>
          <p:cNvSpPr>
            <a:spLocks xmlns:a="http://schemas.openxmlformats.org/drawingml/2006/main" noGrp="1"/>
          </p:cNvSpPr>
          <p:nvPr/>
        </p:nvSpPr>
        <p:spPr>
          <a:xfrm xmlns:a="http://schemas.openxmlformats.org/drawingml/2006/main">
            <a:off x="10010775" y="2924175"/>
            <a:ext cx="13525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C56D4A"/>
                </a:solidFill>
              </a:defRPr>
            </a:pPr>
            <a:r>
              <a:rPr sz="1050" b="1">
                <a:solidFill>
                  <a:srgbClr val="C56D4A"/>
                </a:solidFill>
              </a:rPr>
              <a:t>REWARD</a:t>
            </a:r>
          </a:p>
        </p:txBody>
      </p:sp>
      <p:sp>
        <p:nvSpPr>
          <p:cNvPr id="26" name="arch-v-4">
            <a:extLst xmlns:a="http://schemas.openxmlformats.org/drawingml/2006/main">
              <a:ext uri="{FF2B5EF4-FFF2-40B4-BE49-F238E27FC236}">
                <a16:creationId xmlns:a16="http://schemas.microsoft.com/office/drawing/2014/main" id="{3F8CEBDA-6CE9-481F-BDB6-D86C7CD48433}"/>
              </a:ext>
            </a:extLst>
          </p:cNvPr>
          <p:cNvSpPr>
            <a:spLocks xmlns:a="http://schemas.openxmlformats.org/drawingml/2006/main" noGrp="1"/>
          </p:cNvSpPr>
          <p:nvPr/>
        </p:nvSpPr>
        <p:spPr>
          <a:xfrm xmlns:a="http://schemas.openxmlformats.org/drawingml/2006/main">
            <a:off x="10010775" y="3381375"/>
            <a:ext cx="1352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outcome +</a:t>
            </a:r>
          </a:p>
          <a:p xmlns:a="http://schemas.openxmlformats.org/drawingml/2006/main">
            <a:pPr algn="ctr">
              <a:defRPr sz="1350" b="1">
                <a:solidFill>
                  <a:srgbClr val="071A2B"/>
                </a:solidFill>
              </a:defRPr>
            </a:pPr>
            <a:r>
              <a:rPr sz="1350" b="1">
                <a:solidFill>
                  <a:srgbClr val="071A2B"/>
                </a:solidFill>
              </a:rPr>
              <a:t>0.30 process</a:t>
            </a:r>
          </a:p>
        </p:txBody>
      </p:sp>
      <p:sp>
        <p:nvSpPr>
          <p:cNvPr id="27" name="arch-loop">
            <a:extLst xmlns:a="http://schemas.openxmlformats.org/drawingml/2006/main">
              <a:ext uri="{FF2B5EF4-FFF2-40B4-BE49-F238E27FC236}">
                <a16:creationId xmlns:a16="http://schemas.microsoft.com/office/drawing/2014/main" id="{EED8A4B3-6FA2-448B-9642-A3B9C659725B}"/>
              </a:ext>
            </a:extLst>
          </p:cNvPr>
          <p:cNvSpPr>
            <a:spLocks xmlns:a="http://schemas.openxmlformats.org/drawingml/2006/main" noGrp="1"/>
          </p:cNvSpPr>
          <p:nvPr/>
        </p:nvSpPr>
        <p:spPr>
          <a:xfrm xmlns:a="http://schemas.openxmlformats.org/drawingml/2006/main">
            <a:off x="2952750" y="476250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C56D4A"/>
                </a:solidFill>
              </a:defRPr>
            </a:pPr>
            <a:r>
              <a:rPr sz="1500" b="1">
                <a:solidFill>
                  <a:srgbClr val="C56D4A"/>
                </a:solidFill>
              </a:rPr>
              <a:t>↺ tool observation 回到同一对话，直到完成或 10 次上限</a:t>
            </a:r>
          </a:p>
        </p:txBody>
      </p:sp>
      <p:sp>
        <p:nvSpPr>
          <p:cNvPr id="28" name="">
            <a:extLst xmlns:a="http://schemas.openxmlformats.org/drawingml/2006/main">
              <a:ext uri="{FF2B5EF4-FFF2-40B4-BE49-F238E27FC236}">
                <a16:creationId xmlns:a16="http://schemas.microsoft.com/office/drawing/2014/main" id="{5531A032-E084-4AA9-8F0D-F203E558267A}"/>
              </a:ext>
            </a:extLst>
          </p:cNvPr>
          <p:cNvSpPr>
            <a:spLocks xmlns:a="http://schemas.openxmlformats.org/drawingml/2006/main" noGrp="1"/>
          </p:cNvSpPr>
          <p:nvPr/>
        </p:nvSpPr>
        <p:spPr>
          <a:xfrm xmlns:a="http://schemas.openxmlformats.org/drawingml/2006/main">
            <a:off x="161925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9" name="arch-tools-value">
            <a:extLst xmlns:a="http://schemas.openxmlformats.org/drawingml/2006/main">
              <a:ext uri="{FF2B5EF4-FFF2-40B4-BE49-F238E27FC236}">
                <a16:creationId xmlns:a16="http://schemas.microsoft.com/office/drawing/2014/main" id="{A2009986-9B25-4C5D-AC9B-ED5A6D0CF27E}"/>
              </a:ext>
            </a:extLst>
          </p:cNvPr>
          <p:cNvSpPr>
            <a:spLocks xmlns:a="http://schemas.openxmlformats.org/drawingml/2006/main" noGrp="1"/>
          </p:cNvSpPr>
          <p:nvPr/>
        </p:nvSpPr>
        <p:spPr>
          <a:xfrm xmlns:a="http://schemas.openxmlformats.org/drawingml/2006/main">
            <a:off x="1619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a:t>
            </a:r>
          </a:p>
        </p:txBody>
      </p:sp>
      <p:sp>
        <p:nvSpPr>
          <p:cNvPr id="30" name="arch-tools-label">
            <a:extLst xmlns:a="http://schemas.openxmlformats.org/drawingml/2006/main">
              <a:ext uri="{FF2B5EF4-FFF2-40B4-BE49-F238E27FC236}">
                <a16:creationId xmlns:a16="http://schemas.microsoft.com/office/drawing/2014/main" id="{63B7DE04-36D8-4A16-A212-F74EE3F9455A}"/>
              </a:ext>
            </a:extLst>
          </p:cNvPr>
          <p:cNvSpPr>
            <a:spLocks xmlns:a="http://schemas.openxmlformats.org/drawingml/2006/main" noGrp="1"/>
          </p:cNvSpPr>
          <p:nvPr/>
        </p:nvSpPr>
        <p:spPr>
          <a:xfrm xmlns:a="http://schemas.openxmlformats.org/drawingml/2006/main">
            <a:off x="1619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typed tools</a:t>
            </a:r>
          </a:p>
        </p:txBody>
      </p:sp>
      <p:sp>
        <p:nvSpPr>
          <p:cNvPr id="31" name="">
            <a:extLst xmlns:a="http://schemas.openxmlformats.org/drawingml/2006/main">
              <a:ext uri="{FF2B5EF4-FFF2-40B4-BE49-F238E27FC236}">
                <a16:creationId xmlns:a16="http://schemas.microsoft.com/office/drawing/2014/main" id="{C1D23482-56AB-4513-A466-D52E23BDCA9C}"/>
              </a:ext>
            </a:extLst>
          </p:cNvPr>
          <p:cNvSpPr>
            <a:spLocks xmlns:a="http://schemas.openxmlformats.org/drawingml/2006/main" noGrp="1"/>
          </p:cNvSpPr>
          <p:nvPr/>
        </p:nvSpPr>
        <p:spPr>
          <a:xfrm xmlns:a="http://schemas.openxmlformats.org/drawingml/2006/main">
            <a:off x="428625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32" name="arch-group-value">
            <a:extLst xmlns:a="http://schemas.openxmlformats.org/drawingml/2006/main">
              <a:ext uri="{FF2B5EF4-FFF2-40B4-BE49-F238E27FC236}">
                <a16:creationId xmlns:a16="http://schemas.microsoft.com/office/drawing/2014/main" id="{CC93E92A-E5DF-4712-814E-C5D11B583780}"/>
              </a:ext>
            </a:extLst>
          </p:cNvPr>
          <p:cNvSpPr>
            <a:spLocks xmlns:a="http://schemas.openxmlformats.org/drawingml/2006/main" noGrp="1"/>
          </p:cNvSpPr>
          <p:nvPr/>
        </p:nvSpPr>
        <p:spPr>
          <a:xfrm xmlns:a="http://schemas.openxmlformats.org/drawingml/2006/main">
            <a:off x="4286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4</a:t>
            </a:r>
          </a:p>
        </p:txBody>
      </p:sp>
      <p:sp>
        <p:nvSpPr>
          <p:cNvPr id="33" name="arch-group-label">
            <a:extLst xmlns:a="http://schemas.openxmlformats.org/drawingml/2006/main">
              <a:ext uri="{FF2B5EF4-FFF2-40B4-BE49-F238E27FC236}">
                <a16:creationId xmlns:a16="http://schemas.microsoft.com/office/drawing/2014/main" id="{7B8EEB50-A202-497E-AFE9-2E5D267FD0C2}"/>
              </a:ext>
            </a:extLst>
          </p:cNvPr>
          <p:cNvSpPr>
            <a:spLocks xmlns:a="http://schemas.openxmlformats.org/drawingml/2006/main" noGrp="1"/>
          </p:cNvSpPr>
          <p:nvPr/>
        </p:nvSpPr>
        <p:spPr>
          <a:xfrm xmlns:a="http://schemas.openxmlformats.org/drawingml/2006/main">
            <a:off x="4286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rollouts / group</a:t>
            </a:r>
          </a:p>
        </p:txBody>
      </p:sp>
      <p:sp>
        <p:nvSpPr>
          <p:cNvPr id="34" name="">
            <a:extLst xmlns:a="http://schemas.openxmlformats.org/drawingml/2006/main">
              <a:ext uri="{FF2B5EF4-FFF2-40B4-BE49-F238E27FC236}">
                <a16:creationId xmlns:a16="http://schemas.microsoft.com/office/drawing/2014/main" id="{FA5540FC-FE8F-480B-8E26-9A4F2056FBD8}"/>
              </a:ext>
            </a:extLst>
          </p:cNvPr>
          <p:cNvSpPr>
            <a:spLocks xmlns:a="http://schemas.openxmlformats.org/drawingml/2006/main" noGrp="1"/>
          </p:cNvSpPr>
          <p:nvPr/>
        </p:nvSpPr>
        <p:spPr>
          <a:xfrm xmlns:a="http://schemas.openxmlformats.org/drawingml/2006/main">
            <a:off x="695325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5" name="arch-max-value">
            <a:extLst xmlns:a="http://schemas.openxmlformats.org/drawingml/2006/main">
              <a:ext uri="{FF2B5EF4-FFF2-40B4-BE49-F238E27FC236}">
                <a16:creationId xmlns:a16="http://schemas.microsoft.com/office/drawing/2014/main" id="{768E1B46-B243-47A0-A2E6-D3297554367D}"/>
              </a:ext>
            </a:extLst>
          </p:cNvPr>
          <p:cNvSpPr>
            <a:spLocks xmlns:a="http://schemas.openxmlformats.org/drawingml/2006/main" noGrp="1"/>
          </p:cNvSpPr>
          <p:nvPr/>
        </p:nvSpPr>
        <p:spPr>
          <a:xfrm xmlns:a="http://schemas.openxmlformats.org/drawingml/2006/main">
            <a:off x="6953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a:t>
            </a:r>
          </a:p>
        </p:txBody>
      </p:sp>
      <p:sp>
        <p:nvSpPr>
          <p:cNvPr id="36" name="arch-max-label">
            <a:extLst xmlns:a="http://schemas.openxmlformats.org/drawingml/2006/main">
              <a:ext uri="{FF2B5EF4-FFF2-40B4-BE49-F238E27FC236}">
                <a16:creationId xmlns:a16="http://schemas.microsoft.com/office/drawing/2014/main" id="{23982825-558B-4716-94BA-13E91509F7B6}"/>
              </a:ext>
            </a:extLst>
          </p:cNvPr>
          <p:cNvSpPr>
            <a:spLocks xmlns:a="http://schemas.openxmlformats.org/drawingml/2006/main" noGrp="1"/>
          </p:cNvSpPr>
          <p:nvPr/>
        </p:nvSpPr>
        <p:spPr>
          <a:xfrm xmlns:a="http://schemas.openxmlformats.org/drawingml/2006/main">
            <a:off x="6953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tool turns</a:t>
            </a:r>
          </a:p>
        </p:txBody>
      </p:sp>
      <p:sp>
        <p:nvSpPr>
          <p:cNvPr id="37" name="">
            <a:extLst xmlns:a="http://schemas.openxmlformats.org/drawingml/2006/main">
              <a:ext uri="{FF2B5EF4-FFF2-40B4-BE49-F238E27FC236}">
                <a16:creationId xmlns:a16="http://schemas.microsoft.com/office/drawing/2014/main" id="{629DD5E3-DF64-4181-9F5B-27262414CB6C}"/>
              </a:ext>
            </a:extLst>
          </p:cNvPr>
          <p:cNvSpPr>
            <a:spLocks xmlns:a="http://schemas.openxmlformats.org/drawingml/2006/main" noGrp="1"/>
          </p:cNvSpPr>
          <p:nvPr/>
        </p:nvSpPr>
        <p:spPr>
          <a:xfrm xmlns:a="http://schemas.openxmlformats.org/drawingml/2006/main">
            <a:off x="962025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38" name="arch-token-value">
            <a:extLst xmlns:a="http://schemas.openxmlformats.org/drawingml/2006/main">
              <a:ext uri="{FF2B5EF4-FFF2-40B4-BE49-F238E27FC236}">
                <a16:creationId xmlns:a16="http://schemas.microsoft.com/office/drawing/2014/main" id="{54372F1D-819E-4158-943F-ED70DDED5DA7}"/>
              </a:ext>
            </a:extLst>
          </p:cNvPr>
          <p:cNvSpPr>
            <a:spLocks xmlns:a="http://schemas.openxmlformats.org/drawingml/2006/main" noGrp="1"/>
          </p:cNvSpPr>
          <p:nvPr/>
        </p:nvSpPr>
        <p:spPr>
          <a:xfrm xmlns:a="http://schemas.openxmlformats.org/drawingml/2006/main">
            <a:off x="962025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1,400</a:t>
            </a:r>
          </a:p>
        </p:txBody>
      </p:sp>
      <p:sp>
        <p:nvSpPr>
          <p:cNvPr id="39" name="arch-token-label">
            <a:extLst xmlns:a="http://schemas.openxmlformats.org/drawingml/2006/main">
              <a:ext uri="{FF2B5EF4-FFF2-40B4-BE49-F238E27FC236}">
                <a16:creationId xmlns:a16="http://schemas.microsoft.com/office/drawing/2014/main" id="{FCA33248-8CFE-49D8-A5AA-1179C14F9472}"/>
              </a:ext>
            </a:extLst>
          </p:cNvPr>
          <p:cNvSpPr>
            <a:spLocks xmlns:a="http://schemas.openxmlformats.org/drawingml/2006/main" noGrp="1"/>
          </p:cNvSpPr>
          <p:nvPr/>
        </p:nvSpPr>
        <p:spPr>
          <a:xfrm xmlns:a="http://schemas.openxmlformats.org/drawingml/2006/main">
            <a:off x="962025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max completion tokens</a:t>
            </a:r>
          </a:p>
        </p:txBody>
      </p:sp>
    </p:spTree>
    <p:extLst>
      <p:ext uri="{BB962C8B-B14F-4D97-AF65-F5344CB8AC3E}">
        <p14:creationId xmlns:p14="http://schemas.microsoft.com/office/powerpoint/2010/main" val="1231843830"/>
      </p:ext>
    </p:extLst>
  </p:cSld>
</p:sld>
</file>

<file path=ppt/slides/slide5.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7" name="rail-5">
            <a:extLst xmlns:a="http://schemas.openxmlformats.org/drawingml/2006/main">
              <a:ext uri="{FF2B5EF4-FFF2-40B4-BE49-F238E27FC236}">
                <a16:creationId xmlns:a16="http://schemas.microsoft.com/office/drawing/2014/main" id="{4D02E208-639D-4EB9-A9A6-9B488321492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5">
            <a:extLst xmlns:a="http://schemas.openxmlformats.org/drawingml/2006/main">
              <a:ext uri="{FF2B5EF4-FFF2-40B4-BE49-F238E27FC236}">
                <a16:creationId xmlns:a16="http://schemas.microsoft.com/office/drawing/2014/main" id="{F2353754-F881-47AB-A0AC-96DEC7869F33}"/>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5">
            <a:extLst xmlns:a="http://schemas.openxmlformats.org/drawingml/2006/main">
              <a:ext uri="{FF2B5EF4-FFF2-40B4-BE49-F238E27FC236}">
                <a16:creationId xmlns:a16="http://schemas.microsoft.com/office/drawing/2014/main" id="{FA030FF4-79F5-4BB5-B907-8389BC2B0E48}"/>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STATE MACHINE</a:t>
            </a:r>
          </a:p>
        </p:txBody>
      </p:sp>
      <p:sp>
        <p:nvSpPr>
          <p:cNvPr id="4" name="title-5">
            <a:extLst xmlns:a="http://schemas.openxmlformats.org/drawingml/2006/main">
              <a:ext uri="{FF2B5EF4-FFF2-40B4-BE49-F238E27FC236}">
                <a16:creationId xmlns:a16="http://schemas.microsoft.com/office/drawing/2014/main" id="{5D7A8EB1-B63D-4A1F-91CF-C8071081ECBA}"/>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退款不是一句话：它是一条受约束的状态机</a:t>
            </a:r>
          </a:p>
        </p:txBody>
      </p:sp>
      <p:sp>
        <p:nvSpPr>
          <p:cNvPr id="5" name="subtitle-5">
            <a:extLst xmlns:a="http://schemas.openxmlformats.org/drawingml/2006/main">
              <a:ext uri="{FF2B5EF4-FFF2-40B4-BE49-F238E27FC236}">
                <a16:creationId xmlns:a16="http://schemas.microsoft.com/office/drawing/2014/main" id="{84CDB97D-1EEF-4269-BF23-E5CE6332F888}"/>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训练目标既包含任务成功，也包含 read-before-write、精确确认和错误恢复。</a:t>
            </a:r>
          </a:p>
        </p:txBody>
      </p:sp>
      <p:sp>
        <p:nvSpPr>
          <p:cNvPr id="6" name="">
            <a:extLst xmlns:a="http://schemas.openxmlformats.org/drawingml/2006/main">
              <a:ext uri="{FF2B5EF4-FFF2-40B4-BE49-F238E27FC236}">
                <a16:creationId xmlns:a16="http://schemas.microsoft.com/office/drawing/2014/main" id="{891CB09B-4EFC-49F6-A7F3-672265C0188A}"/>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5">
            <a:extLst xmlns:a="http://schemas.openxmlformats.org/drawingml/2006/main">
              <a:ext uri="{FF2B5EF4-FFF2-40B4-BE49-F238E27FC236}">
                <a16:creationId xmlns:a16="http://schemas.microsoft.com/office/drawing/2014/main" id="{55AC8BE0-6B44-4E17-96E3-18F760572E54}"/>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05</a:t>
            </a:r>
          </a:p>
        </p:txBody>
      </p:sp>
      <p:sp>
        <p:nvSpPr>
          <p:cNvPr id="8" name="">
            <a:extLst xmlns:a="http://schemas.openxmlformats.org/drawingml/2006/main">
              <a:ext uri="{FF2B5EF4-FFF2-40B4-BE49-F238E27FC236}">
                <a16:creationId xmlns:a16="http://schemas.microsoft.com/office/drawing/2014/main" id="{A2A16F02-99B1-4B0B-94CF-366A8DB25C34}"/>
              </a:ext>
            </a:extLst>
          </p:cNvPr>
          <p:cNvSpPr>
            <a:spLocks xmlns:a="http://schemas.openxmlformats.org/drawingml/2006/main" noGrp="1"/>
          </p:cNvSpPr>
          <p:nvPr/>
        </p:nvSpPr>
        <p:spPr>
          <a:xfrm xmlns:a="http://schemas.openxmlformats.org/drawingml/2006/main">
            <a:off x="12954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9" name="">
            <a:extLst xmlns:a="http://schemas.openxmlformats.org/drawingml/2006/main">
              <a:ext uri="{FF2B5EF4-FFF2-40B4-BE49-F238E27FC236}">
                <a16:creationId xmlns:a16="http://schemas.microsoft.com/office/drawing/2014/main" id="{B3887594-90AE-44B1-92D3-801C40E65475}"/>
              </a:ext>
            </a:extLst>
          </p:cNvPr>
          <p:cNvSpPr>
            <a:spLocks xmlns:a="http://schemas.openxmlformats.org/drawingml/2006/main" noGrp="1"/>
          </p:cNvSpPr>
          <p:nvPr/>
        </p:nvSpPr>
        <p:spPr>
          <a:xfrm xmlns:a="http://schemas.openxmlformats.org/drawingml/2006/main">
            <a:off x="28003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
            <a:extLst xmlns:a="http://schemas.openxmlformats.org/drawingml/2006/main">
              <a:ext uri="{FF2B5EF4-FFF2-40B4-BE49-F238E27FC236}">
                <a16:creationId xmlns:a16="http://schemas.microsoft.com/office/drawing/2014/main" id="{E0FB6290-A3C9-4FB6-9B1A-714B75C70950}"/>
              </a:ext>
            </a:extLst>
          </p:cNvPr>
          <p:cNvSpPr>
            <a:spLocks xmlns:a="http://schemas.openxmlformats.org/drawingml/2006/main" noGrp="1"/>
          </p:cNvSpPr>
          <p:nvPr/>
        </p:nvSpPr>
        <p:spPr>
          <a:xfrm xmlns:a="http://schemas.openxmlformats.org/drawingml/2006/main">
            <a:off x="430530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1" name="">
            <a:extLst xmlns:a="http://schemas.openxmlformats.org/drawingml/2006/main">
              <a:ext uri="{FF2B5EF4-FFF2-40B4-BE49-F238E27FC236}">
                <a16:creationId xmlns:a16="http://schemas.microsoft.com/office/drawing/2014/main" id="{C68A739E-27AE-44B8-95EC-7869D2337CA1}"/>
              </a:ext>
            </a:extLst>
          </p:cNvPr>
          <p:cNvSpPr>
            <a:spLocks xmlns:a="http://schemas.openxmlformats.org/drawingml/2006/main" noGrp="1"/>
          </p:cNvSpPr>
          <p:nvPr/>
        </p:nvSpPr>
        <p:spPr>
          <a:xfrm xmlns:a="http://schemas.openxmlformats.org/drawingml/2006/main">
            <a:off x="5810250" y="3133725"/>
            <a:ext cx="952500"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2" name="">
            <a:extLst xmlns:a="http://schemas.openxmlformats.org/drawingml/2006/main">
              <a:ext uri="{FF2B5EF4-FFF2-40B4-BE49-F238E27FC236}">
                <a16:creationId xmlns:a16="http://schemas.microsoft.com/office/drawing/2014/main" id="{2189E8CD-D7D2-4392-8093-81B3C0A38010}"/>
              </a:ext>
            </a:extLst>
          </p:cNvPr>
          <p:cNvSpPr>
            <a:spLocks xmlns:a="http://schemas.openxmlformats.org/drawingml/2006/main" noGrp="1"/>
          </p:cNvSpPr>
          <p:nvPr/>
        </p:nvSpPr>
        <p:spPr>
          <a:xfrm xmlns:a="http://schemas.openxmlformats.org/drawingml/2006/main">
            <a:off x="731520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3" name="">
            <a:extLst xmlns:a="http://schemas.openxmlformats.org/drawingml/2006/main">
              <a:ext uri="{FF2B5EF4-FFF2-40B4-BE49-F238E27FC236}">
                <a16:creationId xmlns:a16="http://schemas.microsoft.com/office/drawing/2014/main" id="{D04BCE65-BCD2-46CC-BC5A-329EAA89D772}"/>
              </a:ext>
            </a:extLst>
          </p:cNvPr>
          <p:cNvSpPr>
            <a:spLocks xmlns:a="http://schemas.openxmlformats.org/drawingml/2006/main" noGrp="1"/>
          </p:cNvSpPr>
          <p:nvPr/>
        </p:nvSpPr>
        <p:spPr>
          <a:xfrm xmlns:a="http://schemas.openxmlformats.org/drawingml/2006/main">
            <a:off x="8820150" y="3133725"/>
            <a:ext cx="952500"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14" name="state-dot-0">
            <a:extLst xmlns:a="http://schemas.openxmlformats.org/drawingml/2006/main">
              <a:ext uri="{FF2B5EF4-FFF2-40B4-BE49-F238E27FC236}">
                <a16:creationId xmlns:a16="http://schemas.microsoft.com/office/drawing/2014/main" id="{CE126283-A038-4F5C-B750-B3F841610A25}"/>
              </a:ext>
            </a:extLst>
          </p:cNvPr>
          <p:cNvSpPr>
            <a:spLocks xmlns:a="http://schemas.openxmlformats.org/drawingml/2006/main" noGrp="1"/>
          </p:cNvSpPr>
          <p:nvPr/>
        </p:nvSpPr>
        <p:spPr>
          <a:xfrm xmlns:a="http://schemas.openxmlformats.org/drawingml/2006/main">
            <a:off x="7429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5" name="state-n-0">
            <a:extLst xmlns:a="http://schemas.openxmlformats.org/drawingml/2006/main">
              <a:ext uri="{FF2B5EF4-FFF2-40B4-BE49-F238E27FC236}">
                <a16:creationId xmlns:a16="http://schemas.microsoft.com/office/drawing/2014/main" id="{6B5225F3-1B5E-45CC-8BCC-6955F96A661D}"/>
              </a:ext>
            </a:extLst>
          </p:cNvPr>
          <p:cNvSpPr>
            <a:spLocks xmlns:a="http://schemas.openxmlformats.org/drawingml/2006/main" noGrp="1"/>
          </p:cNvSpPr>
          <p:nvPr/>
        </p:nvSpPr>
        <p:spPr>
          <a:xfrm xmlns:a="http://schemas.openxmlformats.org/drawingml/2006/main">
            <a:off x="7429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1</a:t>
            </a:r>
          </a:p>
        </p:txBody>
      </p:sp>
      <p:sp>
        <p:nvSpPr>
          <p:cNvPr id="16" name="state-label-0">
            <a:extLst xmlns:a="http://schemas.openxmlformats.org/drawingml/2006/main">
              <a:ext uri="{FF2B5EF4-FFF2-40B4-BE49-F238E27FC236}">
                <a16:creationId xmlns:a16="http://schemas.microsoft.com/office/drawing/2014/main" id="{F9B6568D-D529-4C96-A71A-F6CD6E6A9587}"/>
              </a:ext>
            </a:extLst>
          </p:cNvPr>
          <p:cNvSpPr>
            <a:spLocks xmlns:a="http://schemas.openxmlformats.org/drawingml/2006/main" noGrp="1"/>
          </p:cNvSpPr>
          <p:nvPr/>
        </p:nvSpPr>
        <p:spPr>
          <a:xfrm xmlns:a="http://schemas.openxmlformats.org/drawingml/2006/main">
            <a:off x="4953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索取身份</a:t>
            </a:r>
          </a:p>
        </p:txBody>
      </p:sp>
      <p:sp>
        <p:nvSpPr>
          <p:cNvPr id="17" name="state-dot-1">
            <a:extLst xmlns:a="http://schemas.openxmlformats.org/drawingml/2006/main">
              <a:ext uri="{FF2B5EF4-FFF2-40B4-BE49-F238E27FC236}">
                <a16:creationId xmlns:a16="http://schemas.microsoft.com/office/drawing/2014/main" id="{EDF8E3D6-833A-40D4-A01A-BD8F8F5E470D}"/>
              </a:ext>
            </a:extLst>
          </p:cNvPr>
          <p:cNvSpPr>
            <a:spLocks xmlns:a="http://schemas.openxmlformats.org/drawingml/2006/main" noGrp="1"/>
          </p:cNvSpPr>
          <p:nvPr/>
        </p:nvSpPr>
        <p:spPr>
          <a:xfrm xmlns:a="http://schemas.openxmlformats.org/drawingml/2006/main">
            <a:off x="22479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18" name="state-n-1">
            <a:extLst xmlns:a="http://schemas.openxmlformats.org/drawingml/2006/main">
              <a:ext uri="{FF2B5EF4-FFF2-40B4-BE49-F238E27FC236}">
                <a16:creationId xmlns:a16="http://schemas.microsoft.com/office/drawing/2014/main" id="{FD5DA091-6BBD-4E1B-BE7B-BC3DEEA59F39}"/>
              </a:ext>
            </a:extLst>
          </p:cNvPr>
          <p:cNvSpPr>
            <a:spLocks xmlns:a="http://schemas.openxmlformats.org/drawingml/2006/main" noGrp="1"/>
          </p:cNvSpPr>
          <p:nvPr/>
        </p:nvSpPr>
        <p:spPr>
          <a:xfrm xmlns:a="http://schemas.openxmlformats.org/drawingml/2006/main">
            <a:off x="22479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2</a:t>
            </a:r>
          </a:p>
        </p:txBody>
      </p:sp>
      <p:sp>
        <p:nvSpPr>
          <p:cNvPr id="19" name="state-label-1">
            <a:extLst xmlns:a="http://schemas.openxmlformats.org/drawingml/2006/main">
              <a:ext uri="{FF2B5EF4-FFF2-40B4-BE49-F238E27FC236}">
                <a16:creationId xmlns:a16="http://schemas.microsoft.com/office/drawing/2014/main" id="{B2847533-1222-47D3-9499-585B09D71A23}"/>
              </a:ext>
            </a:extLst>
          </p:cNvPr>
          <p:cNvSpPr>
            <a:spLocks xmlns:a="http://schemas.openxmlformats.org/drawingml/2006/main" noGrp="1"/>
          </p:cNvSpPr>
          <p:nvPr/>
        </p:nvSpPr>
        <p:spPr>
          <a:xfrm xmlns:a="http://schemas.openxmlformats.org/drawingml/2006/main">
            <a:off x="20002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验证客户</a:t>
            </a:r>
          </a:p>
        </p:txBody>
      </p:sp>
      <p:sp>
        <p:nvSpPr>
          <p:cNvPr id="20" name="state-dot-2">
            <a:extLst xmlns:a="http://schemas.openxmlformats.org/drawingml/2006/main">
              <a:ext uri="{FF2B5EF4-FFF2-40B4-BE49-F238E27FC236}">
                <a16:creationId xmlns:a16="http://schemas.microsoft.com/office/drawing/2014/main" id="{3FF6BB2A-22C6-4724-A624-82A01E2183E6}"/>
              </a:ext>
            </a:extLst>
          </p:cNvPr>
          <p:cNvSpPr>
            <a:spLocks xmlns:a="http://schemas.openxmlformats.org/drawingml/2006/main" noGrp="1"/>
          </p:cNvSpPr>
          <p:nvPr/>
        </p:nvSpPr>
        <p:spPr>
          <a:xfrm xmlns:a="http://schemas.openxmlformats.org/drawingml/2006/main">
            <a:off x="37528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1" name="state-n-2">
            <a:extLst xmlns:a="http://schemas.openxmlformats.org/drawingml/2006/main">
              <a:ext uri="{FF2B5EF4-FFF2-40B4-BE49-F238E27FC236}">
                <a16:creationId xmlns:a16="http://schemas.microsoft.com/office/drawing/2014/main" id="{00561299-3D92-453C-A8DE-CE70354DF6FE}"/>
              </a:ext>
            </a:extLst>
          </p:cNvPr>
          <p:cNvSpPr>
            <a:spLocks xmlns:a="http://schemas.openxmlformats.org/drawingml/2006/main" noGrp="1"/>
          </p:cNvSpPr>
          <p:nvPr/>
        </p:nvSpPr>
        <p:spPr>
          <a:xfrm xmlns:a="http://schemas.openxmlformats.org/drawingml/2006/main">
            <a:off x="37528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3</a:t>
            </a:r>
          </a:p>
        </p:txBody>
      </p:sp>
      <p:sp>
        <p:nvSpPr>
          <p:cNvPr id="22" name="state-label-2">
            <a:extLst xmlns:a="http://schemas.openxmlformats.org/drawingml/2006/main">
              <a:ext uri="{FF2B5EF4-FFF2-40B4-BE49-F238E27FC236}">
                <a16:creationId xmlns:a16="http://schemas.microsoft.com/office/drawing/2014/main" id="{71F18C0F-81CB-440D-A8B5-1FA64515E07D}"/>
              </a:ext>
            </a:extLst>
          </p:cNvPr>
          <p:cNvSpPr>
            <a:spLocks xmlns:a="http://schemas.openxmlformats.org/drawingml/2006/main" noGrp="1"/>
          </p:cNvSpPr>
          <p:nvPr/>
        </p:nvSpPr>
        <p:spPr>
          <a:xfrm xmlns:a="http://schemas.openxmlformats.org/drawingml/2006/main">
            <a:off x="35052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读取订单</a:t>
            </a:r>
          </a:p>
        </p:txBody>
      </p:sp>
      <p:sp>
        <p:nvSpPr>
          <p:cNvPr id="23" name="state-dot-3">
            <a:extLst xmlns:a="http://schemas.openxmlformats.org/drawingml/2006/main">
              <a:ext uri="{FF2B5EF4-FFF2-40B4-BE49-F238E27FC236}">
                <a16:creationId xmlns:a16="http://schemas.microsoft.com/office/drawing/2014/main" id="{6163BDD7-CC95-489A-8A0E-4FC640B725A5}"/>
              </a:ext>
            </a:extLst>
          </p:cNvPr>
          <p:cNvSpPr>
            <a:spLocks xmlns:a="http://schemas.openxmlformats.org/drawingml/2006/main" noGrp="1"/>
          </p:cNvSpPr>
          <p:nvPr/>
        </p:nvSpPr>
        <p:spPr>
          <a:xfrm xmlns:a="http://schemas.openxmlformats.org/drawingml/2006/main">
            <a:off x="52578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4" name="state-n-3">
            <a:extLst xmlns:a="http://schemas.openxmlformats.org/drawingml/2006/main">
              <a:ext uri="{FF2B5EF4-FFF2-40B4-BE49-F238E27FC236}">
                <a16:creationId xmlns:a16="http://schemas.microsoft.com/office/drawing/2014/main" id="{92B03E2B-A0B1-497A-B23C-98398D8CC237}"/>
              </a:ext>
            </a:extLst>
          </p:cNvPr>
          <p:cNvSpPr>
            <a:spLocks xmlns:a="http://schemas.openxmlformats.org/drawingml/2006/main" noGrp="1"/>
          </p:cNvSpPr>
          <p:nvPr/>
        </p:nvSpPr>
        <p:spPr>
          <a:xfrm xmlns:a="http://schemas.openxmlformats.org/drawingml/2006/main">
            <a:off x="52578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4</a:t>
            </a:r>
          </a:p>
        </p:txBody>
      </p:sp>
      <p:sp>
        <p:nvSpPr>
          <p:cNvPr id="25" name="state-label-3">
            <a:extLst xmlns:a="http://schemas.openxmlformats.org/drawingml/2006/main">
              <a:ext uri="{FF2B5EF4-FFF2-40B4-BE49-F238E27FC236}">
                <a16:creationId xmlns:a16="http://schemas.microsoft.com/office/drawing/2014/main" id="{38050D48-9E5C-497C-A141-99251682AD4B}"/>
              </a:ext>
            </a:extLst>
          </p:cNvPr>
          <p:cNvSpPr>
            <a:spLocks xmlns:a="http://schemas.openxmlformats.org/drawingml/2006/main" noGrp="1"/>
          </p:cNvSpPr>
          <p:nvPr/>
        </p:nvSpPr>
        <p:spPr>
          <a:xfrm xmlns:a="http://schemas.openxmlformats.org/drawingml/2006/main">
            <a:off x="50101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检查支付</a:t>
            </a:r>
          </a:p>
        </p:txBody>
      </p:sp>
      <p:sp>
        <p:nvSpPr>
          <p:cNvPr id="26" name="state-dot-4">
            <a:extLst xmlns:a="http://schemas.openxmlformats.org/drawingml/2006/main">
              <a:ext uri="{FF2B5EF4-FFF2-40B4-BE49-F238E27FC236}">
                <a16:creationId xmlns:a16="http://schemas.microsoft.com/office/drawing/2014/main" id="{C6BC4F10-64D4-4094-9237-0AB858269E11}"/>
              </a:ext>
            </a:extLst>
          </p:cNvPr>
          <p:cNvSpPr>
            <a:spLocks xmlns:a="http://schemas.openxmlformats.org/drawingml/2006/main" noGrp="1"/>
          </p:cNvSpPr>
          <p:nvPr/>
        </p:nvSpPr>
        <p:spPr>
          <a:xfrm xmlns:a="http://schemas.openxmlformats.org/drawingml/2006/main">
            <a:off x="676275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27" name="state-n-4">
            <a:extLst xmlns:a="http://schemas.openxmlformats.org/drawingml/2006/main">
              <a:ext uri="{FF2B5EF4-FFF2-40B4-BE49-F238E27FC236}">
                <a16:creationId xmlns:a16="http://schemas.microsoft.com/office/drawing/2014/main" id="{6CF8985C-C8DA-48D2-B5E7-DF66F6675597}"/>
              </a:ext>
            </a:extLst>
          </p:cNvPr>
          <p:cNvSpPr>
            <a:spLocks xmlns:a="http://schemas.openxmlformats.org/drawingml/2006/main" noGrp="1"/>
          </p:cNvSpPr>
          <p:nvPr/>
        </p:nvSpPr>
        <p:spPr>
          <a:xfrm xmlns:a="http://schemas.openxmlformats.org/drawingml/2006/main">
            <a:off x="67627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5</a:t>
            </a:r>
          </a:p>
        </p:txBody>
      </p:sp>
      <p:sp>
        <p:nvSpPr>
          <p:cNvPr id="28" name="state-label-4">
            <a:extLst xmlns:a="http://schemas.openxmlformats.org/drawingml/2006/main">
              <a:ext uri="{FF2B5EF4-FFF2-40B4-BE49-F238E27FC236}">
                <a16:creationId xmlns:a16="http://schemas.microsoft.com/office/drawing/2014/main" id="{61155C8F-82B1-4D21-866A-38001EDCBAE4}"/>
              </a:ext>
            </a:extLst>
          </p:cNvPr>
          <p:cNvSpPr>
            <a:spLocks xmlns:a="http://schemas.openxmlformats.org/drawingml/2006/main" noGrp="1"/>
          </p:cNvSpPr>
          <p:nvPr/>
        </p:nvSpPr>
        <p:spPr>
          <a:xfrm xmlns:a="http://schemas.openxmlformats.org/drawingml/2006/main">
            <a:off x="65151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读取政策</a:t>
            </a:r>
          </a:p>
        </p:txBody>
      </p:sp>
      <p:sp>
        <p:nvSpPr>
          <p:cNvPr id="29" name="state-dot-5">
            <a:extLst xmlns:a="http://schemas.openxmlformats.org/drawingml/2006/main">
              <a:ext uri="{FF2B5EF4-FFF2-40B4-BE49-F238E27FC236}">
                <a16:creationId xmlns:a16="http://schemas.microsoft.com/office/drawing/2014/main" id="{0418815E-8169-4B65-B417-ED02D21E5BD2}"/>
              </a:ext>
            </a:extLst>
          </p:cNvPr>
          <p:cNvSpPr>
            <a:spLocks xmlns:a="http://schemas.openxmlformats.org/drawingml/2006/main" noGrp="1"/>
          </p:cNvSpPr>
          <p:nvPr/>
        </p:nvSpPr>
        <p:spPr>
          <a:xfrm xmlns:a="http://schemas.openxmlformats.org/drawingml/2006/main">
            <a:off x="8267700" y="2857500"/>
            <a:ext cx="552450" cy="552450"/>
          </a:xfrm>
          <a:prstGeom xmlns:a="http://schemas.openxmlformats.org/drawingml/2006/main" prst="roundRect">
            <a:avLst>
              <a:gd name="adj" fmla="val 50000"/>
            </a:avLst>
          </a:prstGeom>
          <a:solidFill xmlns:a="http://schemas.openxmlformats.org/drawingml/2006/main">
            <a:srgbClr val="071A2B"/>
          </a:solidFill>
          <a:ln xmlns:a="http://schemas.openxmlformats.org/drawingml/2006/main" w="0">
            <a:solidFill>
              <a:srgbClr val="071A2B"/>
            </a:solidFill>
            <a:prstDash val="solid"/>
          </a:ln>
        </p:spPr>
      </p:sp>
      <p:sp>
        <p:nvSpPr>
          <p:cNvPr id="30" name="state-n-5">
            <a:extLst xmlns:a="http://schemas.openxmlformats.org/drawingml/2006/main">
              <a:ext uri="{FF2B5EF4-FFF2-40B4-BE49-F238E27FC236}">
                <a16:creationId xmlns:a16="http://schemas.microsoft.com/office/drawing/2014/main" id="{9AD7CBB8-9FCC-4018-8BB9-0E2F27A09F2B}"/>
              </a:ext>
            </a:extLst>
          </p:cNvPr>
          <p:cNvSpPr>
            <a:spLocks xmlns:a="http://schemas.openxmlformats.org/drawingml/2006/main" noGrp="1"/>
          </p:cNvSpPr>
          <p:nvPr/>
        </p:nvSpPr>
        <p:spPr>
          <a:xfrm xmlns:a="http://schemas.openxmlformats.org/drawingml/2006/main">
            <a:off x="826770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6</a:t>
            </a:r>
          </a:p>
        </p:txBody>
      </p:sp>
      <p:sp>
        <p:nvSpPr>
          <p:cNvPr id="31" name="state-label-5">
            <a:extLst xmlns:a="http://schemas.openxmlformats.org/drawingml/2006/main">
              <a:ext uri="{FF2B5EF4-FFF2-40B4-BE49-F238E27FC236}">
                <a16:creationId xmlns:a16="http://schemas.microsoft.com/office/drawing/2014/main" id="{1962910B-74D6-4E88-BEAE-E9933AC4CB04}"/>
              </a:ext>
            </a:extLst>
          </p:cNvPr>
          <p:cNvSpPr>
            <a:spLocks xmlns:a="http://schemas.openxmlformats.org/drawingml/2006/main" noGrp="1"/>
          </p:cNvSpPr>
          <p:nvPr/>
        </p:nvSpPr>
        <p:spPr>
          <a:xfrm xmlns:a="http://schemas.openxmlformats.org/drawingml/2006/main">
            <a:off x="802005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精确确认</a:t>
            </a:r>
          </a:p>
        </p:txBody>
      </p:sp>
      <p:sp>
        <p:nvSpPr>
          <p:cNvPr id="32" name="state-dot-6">
            <a:extLst xmlns:a="http://schemas.openxmlformats.org/drawingml/2006/main">
              <a:ext uri="{FF2B5EF4-FFF2-40B4-BE49-F238E27FC236}">
                <a16:creationId xmlns:a16="http://schemas.microsoft.com/office/drawing/2014/main" id="{CA094696-3592-4E4E-AA18-34B480CEB8E2}"/>
              </a:ext>
            </a:extLst>
          </p:cNvPr>
          <p:cNvSpPr>
            <a:spLocks xmlns:a="http://schemas.openxmlformats.org/drawingml/2006/main" noGrp="1"/>
          </p:cNvSpPr>
          <p:nvPr/>
        </p:nvSpPr>
        <p:spPr>
          <a:xfrm xmlns:a="http://schemas.openxmlformats.org/drawingml/2006/main">
            <a:off x="9772650" y="2857500"/>
            <a:ext cx="552450" cy="5524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3" name="state-n-6">
            <a:extLst xmlns:a="http://schemas.openxmlformats.org/drawingml/2006/main">
              <a:ext uri="{FF2B5EF4-FFF2-40B4-BE49-F238E27FC236}">
                <a16:creationId xmlns:a16="http://schemas.microsoft.com/office/drawing/2014/main" id="{4E89DB94-6029-4810-9123-9116E62307C5}"/>
              </a:ext>
            </a:extLst>
          </p:cNvPr>
          <p:cNvSpPr>
            <a:spLocks xmlns:a="http://schemas.openxmlformats.org/drawingml/2006/main" noGrp="1"/>
          </p:cNvSpPr>
          <p:nvPr/>
        </p:nvSpPr>
        <p:spPr>
          <a:xfrm xmlns:a="http://schemas.openxmlformats.org/drawingml/2006/main">
            <a:off x="9772650" y="29718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b="1">
                <a:solidFill>
                  <a:srgbClr val="FFFFFF"/>
                </a:solidFill>
              </a:defRPr>
            </a:pPr>
            <a:r>
              <a:rPr sz="1500" b="1">
                <a:solidFill>
                  <a:srgbClr val="FFFFFF"/>
                </a:solidFill>
              </a:rPr>
              <a:t>7</a:t>
            </a:r>
          </a:p>
        </p:txBody>
      </p:sp>
      <p:sp>
        <p:nvSpPr>
          <p:cNvPr id="34" name="state-label-6">
            <a:extLst xmlns:a="http://schemas.openxmlformats.org/drawingml/2006/main">
              <a:ext uri="{FF2B5EF4-FFF2-40B4-BE49-F238E27FC236}">
                <a16:creationId xmlns:a16="http://schemas.microsoft.com/office/drawing/2014/main" id="{E4A63DCF-080A-4B23-BE91-1A5493341154}"/>
              </a:ext>
            </a:extLst>
          </p:cNvPr>
          <p:cNvSpPr>
            <a:spLocks xmlns:a="http://schemas.openxmlformats.org/drawingml/2006/main" noGrp="1"/>
          </p:cNvSpPr>
          <p:nvPr/>
        </p:nvSpPr>
        <p:spPr>
          <a:xfrm xmlns:a="http://schemas.openxmlformats.org/drawingml/2006/main">
            <a:off x="9525000" y="3667125"/>
            <a:ext cx="1066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102330"/>
                </a:solidFill>
              </a:defRPr>
            </a:pPr>
            <a:r>
              <a:rPr sz="1200" b="1">
                <a:solidFill>
                  <a:srgbClr val="102330"/>
                </a:solidFill>
              </a:rPr>
              <a:t>幂等退款</a:t>
            </a:r>
          </a:p>
        </p:txBody>
      </p:sp>
      <p:sp>
        <p:nvSpPr>
          <p:cNvPr id="35" name="state-guard">
            <a:extLst xmlns:a="http://schemas.openxmlformats.org/drawingml/2006/main">
              <a:ext uri="{FF2B5EF4-FFF2-40B4-BE49-F238E27FC236}">
                <a16:creationId xmlns:a16="http://schemas.microsoft.com/office/drawing/2014/main" id="{3FF09005-8710-47B7-8BF6-FB24A7955A7F}"/>
              </a:ext>
            </a:extLst>
          </p:cNvPr>
          <p:cNvSpPr>
            <a:spLocks xmlns:a="http://schemas.openxmlformats.org/drawingml/2006/main" noGrp="1"/>
          </p:cNvSpPr>
          <p:nvPr/>
        </p:nvSpPr>
        <p:spPr>
          <a:xfrm xmlns:a="http://schemas.openxmlformats.org/drawingml/2006/main">
            <a:off x="1238250" y="4762500"/>
            <a:ext cx="9715500" cy="876300"/>
          </a:xfrm>
          <a:prstGeom xmlns:a="http://schemas.openxmlformats.org/drawingml/2006/main" prst="roundRect">
            <a:avLst>
              <a:gd name="adj" fmla="val 10870"/>
            </a:avLst>
          </a:prstGeom>
          <a:solidFill xmlns:a="http://schemas.openxmlformats.org/drawingml/2006/main">
            <a:srgbClr val="071A2B"/>
          </a:solidFill>
          <a:ln xmlns:a="http://schemas.openxmlformats.org/drawingml/2006/main" w="0">
            <a:solidFill>
              <a:srgbClr val="071A2B"/>
            </a:solidFill>
            <a:prstDash val="solid"/>
          </a:ln>
        </p:spPr>
      </p:sp>
      <p:sp>
        <p:nvSpPr>
          <p:cNvPr id="36" name="state-guard-text">
            <a:extLst xmlns:a="http://schemas.openxmlformats.org/drawingml/2006/main">
              <a:ext uri="{FF2B5EF4-FFF2-40B4-BE49-F238E27FC236}">
                <a16:creationId xmlns:a16="http://schemas.microsoft.com/office/drawing/2014/main" id="{BCCF84B2-3FE3-4B3B-82C4-404257A35370}"/>
              </a:ext>
            </a:extLst>
          </p:cNvPr>
          <p:cNvSpPr>
            <a:spLocks xmlns:a="http://schemas.openxmlformats.org/drawingml/2006/main" noGrp="1"/>
          </p:cNvSpPr>
          <p:nvPr/>
        </p:nvSpPr>
        <p:spPr>
          <a:xfrm xmlns:a="http://schemas.openxmlformats.org/drawingml/2006/main">
            <a:off x="1571625" y="4991100"/>
            <a:ext cx="904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F7F1E8"/>
                </a:solidFill>
              </a:defRPr>
            </a:pPr>
            <a:r>
              <a:rPr sz="1125" b="1">
                <a:solidFill>
                  <a:srgbClr val="F7F1E8"/>
                </a:solidFill>
              </a:rPr>
              <a:t>WRITE GUARD  ·  verified identity ∧ orders read ∧ payment read ∧ policy read ∧ exact confirmation ∧ duplicate charge ∧ exact amount ∧ idempotency key</a:t>
            </a:r>
          </a:p>
        </p:txBody>
      </p:sp>
    </p:spTree>
    <p:extLst>
      <p:ext uri="{BB962C8B-B14F-4D97-AF65-F5344CB8AC3E}">
        <p14:creationId xmlns:p14="http://schemas.microsoft.com/office/powerpoint/2010/main" val="1346657268"/>
      </p:ext>
    </p:extLst>
  </p:cSld>
</p:sld>
</file>

<file path=ppt/slides/slide6.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4" name="rail-6">
            <a:extLst xmlns:a="http://schemas.openxmlformats.org/drawingml/2006/main">
              <a:ext uri="{FF2B5EF4-FFF2-40B4-BE49-F238E27FC236}">
                <a16:creationId xmlns:a16="http://schemas.microsoft.com/office/drawing/2014/main" id="{BCAA05A5-28DA-4F68-8B41-C19B33692E2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6">
            <a:extLst xmlns:a="http://schemas.openxmlformats.org/drawingml/2006/main">
              <a:ext uri="{FF2B5EF4-FFF2-40B4-BE49-F238E27FC236}">
                <a16:creationId xmlns:a16="http://schemas.microsoft.com/office/drawing/2014/main" id="{3A9CB027-ABC3-47DB-A122-22980D3A263E}"/>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6">
            <a:extLst xmlns:a="http://schemas.openxmlformats.org/drawingml/2006/main">
              <a:ext uri="{FF2B5EF4-FFF2-40B4-BE49-F238E27FC236}">
                <a16:creationId xmlns:a16="http://schemas.microsoft.com/office/drawing/2014/main" id="{6294523F-142E-4C76-BF58-87FCB65728B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OPTIMIZATION</a:t>
            </a:r>
          </a:p>
        </p:txBody>
      </p:sp>
      <p:sp>
        <p:nvSpPr>
          <p:cNvPr id="4" name="title-6">
            <a:extLst xmlns:a="http://schemas.openxmlformats.org/drawingml/2006/main">
              <a:ext uri="{FF2B5EF4-FFF2-40B4-BE49-F238E27FC236}">
                <a16:creationId xmlns:a16="http://schemas.microsoft.com/office/drawing/2014/main" id="{B1FB5992-AD19-44D9-9A17-966B430F9EA7}"/>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为什么用 response-token GRPO，而不是动作分类？</a:t>
            </a:r>
          </a:p>
        </p:txBody>
      </p:sp>
      <p:sp>
        <p:nvSpPr>
          <p:cNvPr id="5" name="subtitle-6">
            <a:extLst xmlns:a="http://schemas.openxmlformats.org/drawingml/2006/main">
              <a:ext uri="{FF2B5EF4-FFF2-40B4-BE49-F238E27FC236}">
                <a16:creationId xmlns:a16="http://schemas.microsoft.com/office/drawing/2014/main" id="{6D578DF2-01C2-4419-A0FB-AC476C805BA6}"/>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每个样本是一条完整多轮轨迹；梯度只覆盖 assistant completion token。</a:t>
            </a:r>
          </a:p>
        </p:txBody>
      </p:sp>
      <p:sp>
        <p:nvSpPr>
          <p:cNvPr id="6" name="">
            <a:extLst xmlns:a="http://schemas.openxmlformats.org/drawingml/2006/main">
              <a:ext uri="{FF2B5EF4-FFF2-40B4-BE49-F238E27FC236}">
                <a16:creationId xmlns:a16="http://schemas.microsoft.com/office/drawing/2014/main" id="{036CE4B7-E144-4A20-B5EE-EFB19B7744D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6">
            <a:extLst xmlns:a="http://schemas.openxmlformats.org/drawingml/2006/main">
              <a:ext uri="{FF2B5EF4-FFF2-40B4-BE49-F238E27FC236}">
                <a16:creationId xmlns:a16="http://schemas.microsoft.com/office/drawing/2014/main" id="{CC687F5C-18E1-4E35-A758-4ADA970F0423}"/>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06</a:t>
            </a:r>
          </a:p>
        </p:txBody>
      </p:sp>
      <p:sp>
        <p:nvSpPr>
          <p:cNvPr id="8" name="grpo-formula">
            <a:extLst xmlns:a="http://schemas.openxmlformats.org/drawingml/2006/main">
              <a:ext uri="{FF2B5EF4-FFF2-40B4-BE49-F238E27FC236}">
                <a16:creationId xmlns:a16="http://schemas.microsoft.com/office/drawing/2014/main" id="{98C4A971-91F8-4573-AF86-87C76BEA5544}"/>
              </a:ext>
            </a:extLst>
          </p:cNvPr>
          <p:cNvSpPr>
            <a:spLocks xmlns:a="http://schemas.openxmlformats.org/drawingml/2006/main" noGrp="1"/>
          </p:cNvSpPr>
          <p:nvPr/>
        </p:nvSpPr>
        <p:spPr>
          <a:xfrm xmlns:a="http://schemas.openxmlformats.org/drawingml/2006/main">
            <a:off x="714375" y="2190750"/>
            <a:ext cx="49530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9" name="grpo-formula-title">
            <a:extLst xmlns:a="http://schemas.openxmlformats.org/drawingml/2006/main">
              <a:ext uri="{FF2B5EF4-FFF2-40B4-BE49-F238E27FC236}">
                <a16:creationId xmlns:a16="http://schemas.microsoft.com/office/drawing/2014/main" id="{07F4DFF1-D44E-4DB7-AC3A-EFE0D3B0ADD0}"/>
              </a:ext>
            </a:extLst>
          </p:cNvPr>
          <p:cNvSpPr>
            <a:spLocks xmlns:a="http://schemas.openxmlformats.org/drawingml/2006/main" noGrp="1"/>
          </p:cNvSpPr>
          <p:nvPr/>
        </p:nvSpPr>
        <p:spPr>
          <a:xfrm xmlns:a="http://schemas.openxmlformats.org/drawingml/2006/main">
            <a:off x="1047750" y="2476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D6A84B"/>
                </a:solidFill>
              </a:defRPr>
            </a:pPr>
            <a:r>
              <a:rPr sz="1275" b="1">
                <a:solidFill>
                  <a:srgbClr val="D6A84B"/>
                </a:solidFill>
              </a:rPr>
              <a:t>GROUP-RELATIVE ADVANTAGE</a:t>
            </a:r>
          </a:p>
        </p:txBody>
      </p:sp>
      <p:sp>
        <p:nvSpPr>
          <p:cNvPr id="10" name="grpo-formula-main">
            <a:extLst xmlns:a="http://schemas.openxmlformats.org/drawingml/2006/main">
              <a:ext uri="{FF2B5EF4-FFF2-40B4-BE49-F238E27FC236}">
                <a16:creationId xmlns:a16="http://schemas.microsoft.com/office/drawing/2014/main" id="{6C8F6B7A-D97B-4493-B394-A9A0070FB8BD}"/>
              </a:ext>
            </a:extLst>
          </p:cNvPr>
          <p:cNvSpPr>
            <a:spLocks xmlns:a="http://schemas.openxmlformats.org/drawingml/2006/main" noGrp="1"/>
          </p:cNvSpPr>
          <p:nvPr/>
        </p:nvSpPr>
        <p:spPr>
          <a:xfrm xmlns:a="http://schemas.openxmlformats.org/drawingml/2006/main">
            <a:off x="1000125" y="3209925"/>
            <a:ext cx="4381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FFFFFF"/>
                </a:solidFill>
              </a:defRPr>
            </a:pPr>
            <a:r>
              <a:rPr sz="2250" b="1">
                <a:solidFill>
                  <a:srgbClr val="FFFFFF"/>
                </a:solidFill>
              </a:rPr>
              <a:t>Aᵢ = (Rᵢ − μgroup) / (σgroup + ε)</a:t>
            </a:r>
          </a:p>
        </p:txBody>
      </p:sp>
      <p:sp>
        <p:nvSpPr>
          <p:cNvPr id="11" name="grpo-reward">
            <a:extLst xmlns:a="http://schemas.openxmlformats.org/drawingml/2006/main">
              <a:ext uri="{FF2B5EF4-FFF2-40B4-BE49-F238E27FC236}">
                <a16:creationId xmlns:a16="http://schemas.microsoft.com/office/drawing/2014/main" id="{5356876F-CE20-40DD-9195-0F8863994E46}"/>
              </a:ext>
            </a:extLst>
          </p:cNvPr>
          <p:cNvSpPr>
            <a:spLocks xmlns:a="http://schemas.openxmlformats.org/drawingml/2006/main" noGrp="1"/>
          </p:cNvSpPr>
          <p:nvPr/>
        </p:nvSpPr>
        <p:spPr>
          <a:xfrm xmlns:a="http://schemas.openxmlformats.org/drawingml/2006/main">
            <a:off x="1047750" y="407670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500">
                <a:solidFill>
                  <a:srgbClr val="BFD9DD"/>
                </a:solidFill>
              </a:defRPr>
            </a:pPr>
            <a:r>
              <a:rPr sz="1500">
                <a:solidFill>
                  <a:srgbClr val="BFD9DD"/>
                </a:solidFill>
              </a:rPr>
              <a:t>R = 𝟙[exact outcome] + 0.30 × Rprocess</a:t>
            </a:r>
          </a:p>
        </p:txBody>
      </p:sp>
      <p:sp>
        <p:nvSpPr>
          <p:cNvPr id="12" name="grpo-num-0">
            <a:extLst xmlns:a="http://schemas.openxmlformats.org/drawingml/2006/main">
              <a:ext uri="{FF2B5EF4-FFF2-40B4-BE49-F238E27FC236}">
                <a16:creationId xmlns:a16="http://schemas.microsoft.com/office/drawing/2014/main" id="{F41725E5-95FD-499C-86CC-AAA40C9F2684}"/>
              </a:ext>
            </a:extLst>
          </p:cNvPr>
          <p:cNvSpPr>
            <a:spLocks xmlns:a="http://schemas.openxmlformats.org/drawingml/2006/main" noGrp="1"/>
          </p:cNvSpPr>
          <p:nvPr/>
        </p:nvSpPr>
        <p:spPr>
          <a:xfrm xmlns:a="http://schemas.openxmlformats.org/drawingml/2006/main">
            <a:off x="6429375" y="21621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01</a:t>
            </a:r>
          </a:p>
        </p:txBody>
      </p:sp>
      <p:sp>
        <p:nvSpPr>
          <p:cNvPr id="13" name="grpo-head-0">
            <a:extLst xmlns:a="http://schemas.openxmlformats.org/drawingml/2006/main">
              <a:ext uri="{FF2B5EF4-FFF2-40B4-BE49-F238E27FC236}">
                <a16:creationId xmlns:a16="http://schemas.microsoft.com/office/drawing/2014/main" id="{46346720-E3C8-4C2A-B19C-72138C413998}"/>
              </a:ext>
            </a:extLst>
          </p:cNvPr>
          <p:cNvSpPr>
            <a:spLocks xmlns:a="http://schemas.openxmlformats.org/drawingml/2006/main" noGrp="1"/>
          </p:cNvSpPr>
          <p:nvPr/>
        </p:nvSpPr>
        <p:spPr>
          <a:xfrm xmlns:a="http://schemas.openxmlformats.org/drawingml/2006/main">
            <a:off x="7067550" y="21336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同 prompt 采样 4 条 trajectory</a:t>
            </a:r>
          </a:p>
        </p:txBody>
      </p:sp>
      <p:sp>
        <p:nvSpPr>
          <p:cNvPr id="14" name="grpo-sub-0">
            <a:extLst xmlns:a="http://schemas.openxmlformats.org/drawingml/2006/main">
              <a:ext uri="{FF2B5EF4-FFF2-40B4-BE49-F238E27FC236}">
                <a16:creationId xmlns:a16="http://schemas.microsoft.com/office/drawing/2014/main" id="{420814CA-143D-4E2B-AEB9-DC9706BE4AD6}"/>
              </a:ext>
            </a:extLst>
          </p:cNvPr>
          <p:cNvSpPr>
            <a:spLocks xmlns:a="http://schemas.openxmlformats.org/drawingml/2006/main" noGrp="1"/>
          </p:cNvSpPr>
          <p:nvPr/>
        </p:nvSpPr>
        <p:spPr>
          <a:xfrm xmlns:a="http://schemas.openxmlformats.org/drawingml/2006/main">
            <a:off x="7067550" y="24860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不依赖单独 value model</a:t>
            </a:r>
          </a:p>
        </p:txBody>
      </p:sp>
      <p:sp>
        <p:nvSpPr>
          <p:cNvPr id="15" name="grpo-num-1">
            <a:extLst xmlns:a="http://schemas.openxmlformats.org/drawingml/2006/main">
              <a:ext uri="{FF2B5EF4-FFF2-40B4-BE49-F238E27FC236}">
                <a16:creationId xmlns:a16="http://schemas.microsoft.com/office/drawing/2014/main" id="{FD2C9AB9-CCF8-4140-A603-9BF932CD4246}"/>
              </a:ext>
            </a:extLst>
          </p:cNvPr>
          <p:cNvSpPr>
            <a:spLocks xmlns:a="http://schemas.openxmlformats.org/drawingml/2006/main" noGrp="1"/>
          </p:cNvSpPr>
          <p:nvPr/>
        </p:nvSpPr>
        <p:spPr>
          <a:xfrm xmlns:a="http://schemas.openxmlformats.org/drawingml/2006/main">
            <a:off x="6429375" y="30194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02</a:t>
            </a:r>
          </a:p>
        </p:txBody>
      </p:sp>
      <p:sp>
        <p:nvSpPr>
          <p:cNvPr id="16" name="grpo-head-1">
            <a:extLst xmlns:a="http://schemas.openxmlformats.org/drawingml/2006/main">
              <a:ext uri="{FF2B5EF4-FFF2-40B4-BE49-F238E27FC236}">
                <a16:creationId xmlns:a16="http://schemas.microsoft.com/office/drawing/2014/main" id="{5625E605-1F28-4300-B46B-538333B8C4CB}"/>
              </a:ext>
            </a:extLst>
          </p:cNvPr>
          <p:cNvSpPr>
            <a:spLocks xmlns:a="http://schemas.openxmlformats.org/drawingml/2006/main" noGrp="1"/>
          </p:cNvSpPr>
          <p:nvPr/>
        </p:nvSpPr>
        <p:spPr>
          <a:xfrm xmlns:a="http://schemas.openxmlformats.org/drawingml/2006/main">
            <a:off x="7067550" y="29908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DAPO-style clipped objective</a:t>
            </a:r>
          </a:p>
        </p:txBody>
      </p:sp>
      <p:sp>
        <p:nvSpPr>
          <p:cNvPr id="17" name="grpo-sub-1">
            <a:extLst xmlns:a="http://schemas.openxmlformats.org/drawingml/2006/main">
              <a:ext uri="{FF2B5EF4-FFF2-40B4-BE49-F238E27FC236}">
                <a16:creationId xmlns:a16="http://schemas.microsoft.com/office/drawing/2014/main" id="{E54D189D-9FCD-484B-ADA9-EB1C76FB486F}"/>
              </a:ext>
            </a:extLst>
          </p:cNvPr>
          <p:cNvSpPr>
            <a:spLocks xmlns:a="http://schemas.openxmlformats.org/drawingml/2006/main" noGrp="1"/>
          </p:cNvSpPr>
          <p:nvPr/>
        </p:nvSpPr>
        <p:spPr>
          <a:xfrm xmlns:a="http://schemas.openxmlformats.org/drawingml/2006/main">
            <a:off x="7067550" y="3343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LoRA 更新 Q/K/V/O + MLP</a:t>
            </a:r>
          </a:p>
        </p:txBody>
      </p:sp>
      <p:sp>
        <p:nvSpPr>
          <p:cNvPr id="18" name="grpo-num-2">
            <a:extLst xmlns:a="http://schemas.openxmlformats.org/drawingml/2006/main">
              <a:ext uri="{FF2B5EF4-FFF2-40B4-BE49-F238E27FC236}">
                <a16:creationId xmlns:a16="http://schemas.microsoft.com/office/drawing/2014/main" id="{C6A5256D-CC42-4D41-BFD1-39D4D4C8425B}"/>
              </a:ext>
            </a:extLst>
          </p:cNvPr>
          <p:cNvSpPr>
            <a:spLocks xmlns:a="http://schemas.openxmlformats.org/drawingml/2006/main" noGrp="1"/>
          </p:cNvSpPr>
          <p:nvPr/>
        </p:nvSpPr>
        <p:spPr>
          <a:xfrm xmlns:a="http://schemas.openxmlformats.org/drawingml/2006/main">
            <a:off x="6429375" y="387667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18A6A6"/>
                </a:solidFill>
              </a:defRPr>
            </a:pPr>
            <a:r>
              <a:rPr sz="1350" b="1">
                <a:solidFill>
                  <a:srgbClr val="18A6A6"/>
                </a:solidFill>
              </a:rPr>
              <a:t>03</a:t>
            </a:r>
          </a:p>
        </p:txBody>
      </p:sp>
      <p:sp>
        <p:nvSpPr>
          <p:cNvPr id="19" name="grpo-head-2">
            <a:extLst xmlns:a="http://schemas.openxmlformats.org/drawingml/2006/main">
              <a:ext uri="{FF2B5EF4-FFF2-40B4-BE49-F238E27FC236}">
                <a16:creationId xmlns:a16="http://schemas.microsoft.com/office/drawing/2014/main" id="{C8D910D9-85E9-41CE-BA4F-231B5BC686F7}"/>
              </a:ext>
            </a:extLst>
          </p:cNvPr>
          <p:cNvSpPr>
            <a:spLocks xmlns:a="http://schemas.openxmlformats.org/drawingml/2006/main" noGrp="1"/>
          </p:cNvSpPr>
          <p:nvPr/>
        </p:nvSpPr>
        <p:spPr>
          <a:xfrm xmlns:a="http://schemas.openxmlformats.org/drawingml/2006/main">
            <a:off x="7067550" y="38481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NF4 base + BF16 compute</a:t>
            </a:r>
          </a:p>
        </p:txBody>
      </p:sp>
      <p:sp>
        <p:nvSpPr>
          <p:cNvPr id="20" name="grpo-sub-2">
            <a:extLst xmlns:a="http://schemas.openxmlformats.org/drawingml/2006/main">
              <a:ext uri="{FF2B5EF4-FFF2-40B4-BE49-F238E27FC236}">
                <a16:creationId xmlns:a16="http://schemas.microsoft.com/office/drawing/2014/main" id="{9B1D5AE4-9B9B-43AE-936C-42A140016315}"/>
              </a:ext>
            </a:extLst>
          </p:cNvPr>
          <p:cNvSpPr>
            <a:spLocks xmlns:a="http://schemas.openxmlformats.org/drawingml/2006/main" noGrp="1"/>
          </p:cNvSpPr>
          <p:nvPr/>
        </p:nvSpPr>
        <p:spPr>
          <a:xfrm xmlns:a="http://schemas.openxmlformats.org/drawingml/2006/main">
            <a:off x="7067550" y="420052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在单张 NVIDIA RTX PRO 6000 Blackwell Server Edition 上完成</a:t>
            </a:r>
          </a:p>
        </p:txBody>
      </p:sp>
      <p:sp>
        <p:nvSpPr>
          <p:cNvPr id="21" name="grpo-num-3">
            <a:extLst xmlns:a="http://schemas.openxmlformats.org/drawingml/2006/main">
              <a:ext uri="{FF2B5EF4-FFF2-40B4-BE49-F238E27FC236}">
                <a16:creationId xmlns:a16="http://schemas.microsoft.com/office/drawing/2014/main" id="{57B35903-ACC5-4C90-A75B-A4C9CEEAE799}"/>
              </a:ext>
            </a:extLst>
          </p:cNvPr>
          <p:cNvSpPr>
            <a:spLocks xmlns:a="http://schemas.openxmlformats.org/drawingml/2006/main" noGrp="1"/>
          </p:cNvSpPr>
          <p:nvPr/>
        </p:nvSpPr>
        <p:spPr>
          <a:xfrm xmlns:a="http://schemas.openxmlformats.org/drawingml/2006/main">
            <a:off x="6429375" y="4733925"/>
            <a:ext cx="52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350" b="1">
                <a:solidFill>
                  <a:srgbClr val="C56D4A"/>
                </a:solidFill>
              </a:defRPr>
            </a:pPr>
            <a:r>
              <a:rPr sz="1350" b="1">
                <a:solidFill>
                  <a:srgbClr val="C56D4A"/>
                </a:solidFill>
              </a:rPr>
              <a:t>04</a:t>
            </a:r>
          </a:p>
        </p:txBody>
      </p:sp>
      <p:sp>
        <p:nvSpPr>
          <p:cNvPr id="22" name="grpo-head-3">
            <a:extLst xmlns:a="http://schemas.openxmlformats.org/drawingml/2006/main">
              <a:ext uri="{FF2B5EF4-FFF2-40B4-BE49-F238E27FC236}">
                <a16:creationId xmlns:a16="http://schemas.microsoft.com/office/drawing/2014/main" id="{C02005E9-FD66-4539-BDE7-58D0116568FF}"/>
              </a:ext>
            </a:extLst>
          </p:cNvPr>
          <p:cNvSpPr>
            <a:spLocks xmlns:a="http://schemas.openxmlformats.org/drawingml/2006/main" noGrp="1"/>
          </p:cNvSpPr>
          <p:nvPr/>
        </p:nvSpPr>
        <p:spPr>
          <a:xfrm xmlns:a="http://schemas.openxmlformats.org/drawingml/2006/main">
            <a:off x="7067550" y="47053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425" b="1">
                <a:solidFill>
                  <a:srgbClr val="071A2B"/>
                </a:solidFill>
              </a:defRPr>
            </a:pPr>
            <a:r>
              <a:rPr sz="1425" b="1">
                <a:solidFill>
                  <a:srgbClr val="071A2B"/>
                </a:solidFill>
              </a:rPr>
              <a:t>过程分只打破失败平局</a:t>
            </a:r>
          </a:p>
        </p:txBody>
      </p:sp>
      <p:sp>
        <p:nvSpPr>
          <p:cNvPr id="23" name="grpo-sub-3">
            <a:extLst xmlns:a="http://schemas.openxmlformats.org/drawingml/2006/main">
              <a:ext uri="{FF2B5EF4-FFF2-40B4-BE49-F238E27FC236}">
                <a16:creationId xmlns:a16="http://schemas.microsoft.com/office/drawing/2014/main" id="{2AC60FAB-6713-4C2F-9900-FF7C224D6F86}"/>
              </a:ext>
            </a:extLst>
          </p:cNvPr>
          <p:cNvSpPr>
            <a:spLocks xmlns:a="http://schemas.openxmlformats.org/drawingml/2006/main" noGrp="1"/>
          </p:cNvSpPr>
          <p:nvPr/>
        </p:nvSpPr>
        <p:spPr>
          <a:xfrm xmlns:a="http://schemas.openxmlformats.org/drawingml/2006/main">
            <a:off x="7067550" y="50577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a:solidFill>
                  <a:srgbClr val="64747B"/>
                </a:solidFill>
              </a:defRPr>
            </a:pPr>
            <a:r>
              <a:rPr sz="1125">
                <a:solidFill>
                  <a:srgbClr val="64747B"/>
                </a:solidFill>
              </a:rPr>
              <a:t>exact outcome 仍是主目标</a:t>
            </a:r>
          </a:p>
        </p:txBody>
      </p:sp>
    </p:spTree>
    <p:extLst>
      <p:ext uri="{BB962C8B-B14F-4D97-AF65-F5344CB8AC3E}">
        <p14:creationId xmlns:p14="http://schemas.microsoft.com/office/powerpoint/2010/main" val="1427664023"/>
      </p:ext>
    </p:extLst>
  </p:cSld>
</p:sld>
</file>

<file path=ppt/slides/slide7.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0" name="copper-7">
            <a:extLst xmlns:a="http://schemas.openxmlformats.org/drawingml/2006/main">
              <a:ext uri="{FF2B5EF4-FFF2-40B4-BE49-F238E27FC236}">
                <a16:creationId xmlns:a16="http://schemas.microsoft.com/office/drawing/2014/main" id="{5DFDFC0E-0AFA-4F61-A49B-901B2907164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7">
            <a:extLst xmlns:a="http://schemas.openxmlformats.org/drawingml/2006/main">
              <a:ext uri="{FF2B5EF4-FFF2-40B4-BE49-F238E27FC236}">
                <a16:creationId xmlns:a16="http://schemas.microsoft.com/office/drawing/2014/main" id="{DB331F41-7F78-45FF-A16D-71A814FD8523}"/>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7">
            <a:extLst xmlns:a="http://schemas.openxmlformats.org/drawingml/2006/main">
              <a:ext uri="{FF2B5EF4-FFF2-40B4-BE49-F238E27FC236}">
                <a16:creationId xmlns:a16="http://schemas.microsoft.com/office/drawing/2014/main" id="{2953FD2C-B7E5-424E-A4F3-055EFA6FEDDB}"/>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II</a:t>
            </a:r>
          </a:p>
        </p:txBody>
      </p:sp>
      <p:sp>
        <p:nvSpPr>
          <p:cNvPr id="4" name="">
            <a:extLst xmlns:a="http://schemas.openxmlformats.org/drawingml/2006/main">
              <a:ext uri="{FF2B5EF4-FFF2-40B4-BE49-F238E27FC236}">
                <a16:creationId xmlns:a16="http://schemas.microsoft.com/office/drawing/2014/main" id="{514C573A-00B3-48CA-8A32-DAE146595145}"/>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7">
            <a:extLst xmlns:a="http://schemas.openxmlformats.org/drawingml/2006/main">
              <a:ext uri="{FF2B5EF4-FFF2-40B4-BE49-F238E27FC236}">
                <a16:creationId xmlns:a16="http://schemas.microsoft.com/office/drawing/2014/main" id="{8D0D8BAA-66E7-4E73-B4A4-1CA3AADE34B5}"/>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课程学习闭环</a:t>
            </a:r>
          </a:p>
        </p:txBody>
      </p:sp>
      <p:sp>
        <p:nvSpPr>
          <p:cNvPr id="6" name="en-7">
            <a:extLst xmlns:a="http://schemas.openxmlformats.org/drawingml/2006/main">
              <a:ext uri="{FF2B5EF4-FFF2-40B4-BE49-F238E27FC236}">
                <a16:creationId xmlns:a16="http://schemas.microsoft.com/office/drawing/2014/main" id="{1E17C02B-8774-44CD-9AB7-99A9A14C6D1E}"/>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DIAGNOSE → SYNTHESIZE → RETRAIN</a:t>
            </a:r>
          </a:p>
        </p:txBody>
      </p:sp>
      <p:sp>
        <p:nvSpPr>
          <p:cNvPr id="7" name="body-7">
            <a:extLst xmlns:a="http://schemas.openxmlformats.org/drawingml/2006/main">
              <a:ext uri="{FF2B5EF4-FFF2-40B4-BE49-F238E27FC236}">
                <a16:creationId xmlns:a16="http://schemas.microsoft.com/office/drawing/2014/main" id="{8F5EDA68-BA96-4F2F-9A9E-0BFF51E35EE8}"/>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真正有价值的不是“又训了一遍”，而是把第一次训练后的残余失败或能力边界变成下一轮可验证的数据分布。</a:t>
            </a:r>
          </a:p>
        </p:txBody>
      </p:sp>
      <p:sp>
        <p:nvSpPr>
          <p:cNvPr id="8" name="chapter-pill-7-bg">
            <a:extLst xmlns:a="http://schemas.openxmlformats.org/drawingml/2006/main">
              <a:ext uri="{FF2B5EF4-FFF2-40B4-BE49-F238E27FC236}">
                <a16:creationId xmlns:a16="http://schemas.microsoft.com/office/drawing/2014/main" id="{7E920D57-743B-437C-91FC-B0AD4F27FAD6}"/>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7-text">
            <a:extLst xmlns:a="http://schemas.openxmlformats.org/drawingml/2006/main">
              <a:ext uri="{FF2B5EF4-FFF2-40B4-BE49-F238E27FC236}">
                <a16:creationId xmlns:a16="http://schemas.microsoft.com/office/drawing/2014/main" id="{6035B461-DC46-47FF-B354-89750044F9EB}"/>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07</a:t>
            </a:r>
          </a:p>
        </p:txBody>
      </p:sp>
    </p:spTree>
    <p:extLst>
      <p:ext uri="{BB962C8B-B14F-4D97-AF65-F5344CB8AC3E}">
        <p14:creationId xmlns:p14="http://schemas.microsoft.com/office/powerpoint/2010/main" val="1123570574"/>
      </p:ext>
    </p:extLst>
  </p:cSld>
</p:sld>
</file>

<file path=ppt/slides/slide8.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8">
            <a:extLst xmlns:a="http://schemas.openxmlformats.org/drawingml/2006/main">
              <a:ext uri="{FF2B5EF4-FFF2-40B4-BE49-F238E27FC236}">
                <a16:creationId xmlns:a16="http://schemas.microsoft.com/office/drawing/2014/main" id="{D8391327-3467-47BE-A746-7E413447B7C6}"/>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8">
            <a:extLst xmlns:a="http://schemas.openxmlformats.org/drawingml/2006/main">
              <a:ext uri="{FF2B5EF4-FFF2-40B4-BE49-F238E27FC236}">
                <a16:creationId xmlns:a16="http://schemas.microsoft.com/office/drawing/2014/main" id="{46C9AB09-42CD-457E-B73C-28EE97908DA4}"/>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8">
            <a:extLst xmlns:a="http://schemas.openxmlformats.org/drawingml/2006/main">
              <a:ext uri="{FF2B5EF4-FFF2-40B4-BE49-F238E27FC236}">
                <a16:creationId xmlns:a16="http://schemas.microsoft.com/office/drawing/2014/main" id="{FFAF42DA-DCC1-48F1-9321-5FF4F8B0074B}"/>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1</a:t>
            </a:r>
          </a:p>
        </p:txBody>
      </p:sp>
      <p:sp>
        <p:nvSpPr>
          <p:cNvPr id="4" name="title-8">
            <a:extLst xmlns:a="http://schemas.openxmlformats.org/drawingml/2006/main">
              <a:ext uri="{FF2B5EF4-FFF2-40B4-BE49-F238E27FC236}">
                <a16:creationId xmlns:a16="http://schemas.microsoft.com/office/drawing/2014/main" id="{39D12A8E-B5D7-48B5-9EF1-92F45CCEF1E3}"/>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第一次训练之后，模型在哪里失败？</a:t>
            </a:r>
          </a:p>
        </p:txBody>
      </p:sp>
      <p:sp>
        <p:nvSpPr>
          <p:cNvPr id="5" name="subtitle-8">
            <a:extLst xmlns:a="http://schemas.openxmlformats.org/drawingml/2006/main">
              <a:ext uri="{FF2B5EF4-FFF2-40B4-BE49-F238E27FC236}">
                <a16:creationId xmlns:a16="http://schemas.microsoft.com/office/drawing/2014/main" id="{909D991E-252C-442D-B313-776231396B23}"/>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报告保留负结果：成功率下降也不会被隐藏，curriculum 依据 failure composition 而不是漂亮样例。</a:t>
            </a:r>
          </a:p>
        </p:txBody>
      </p:sp>
      <p:sp>
        <p:nvSpPr>
          <p:cNvPr id="6" name="">
            <a:extLst xmlns:a="http://schemas.openxmlformats.org/drawingml/2006/main">
              <a:ext uri="{FF2B5EF4-FFF2-40B4-BE49-F238E27FC236}">
                <a16:creationId xmlns:a16="http://schemas.microsoft.com/office/drawing/2014/main" id="{4B3CEF65-02E3-4C41-8D9F-41EE41DEE84F}"/>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8">
            <a:extLst xmlns:a="http://schemas.openxmlformats.org/drawingml/2006/main">
              <a:ext uri="{FF2B5EF4-FFF2-40B4-BE49-F238E27FC236}">
                <a16:creationId xmlns:a16="http://schemas.microsoft.com/office/drawing/2014/main" id="{31F041FA-CF49-4A59-9527-90CE2CA3C062}"/>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08</a:t>
            </a:r>
          </a:p>
        </p:txBody>
      </p:sp>
      <p:sp>
        <p:nvSpPr>
          <p:cNvPr id="8" name="">
            <a:extLst xmlns:a="http://schemas.openxmlformats.org/drawingml/2006/main">
              <a:ext uri="{FF2B5EF4-FFF2-40B4-BE49-F238E27FC236}">
                <a16:creationId xmlns:a16="http://schemas.microsoft.com/office/drawing/2014/main" id="{78E2A55F-7891-47D0-AF13-6EB8DEC75C1C}"/>
              </a:ext>
            </a:extLst>
          </p:cNvPr>
          <p:cNvSpPr>
            <a:spLocks xmlns:a="http://schemas.openxmlformats.org/drawingml/2006/main" noGrp="1"/>
          </p:cNvSpPr>
          <p:nvPr/>
        </p:nvSpPr>
        <p:spPr>
          <a:xfrm xmlns:a="http://schemas.openxmlformats.org/drawingml/2006/main">
            <a:off x="809625" y="2238375"/>
            <a:ext cx="2000250" cy="0"/>
          </a:xfrm>
          <a:prstGeom xmlns:a="http://schemas.openxmlformats.org/drawingml/2006/main" prst="line">
            <a:avLst/>
          </a:prstGeom>
          <a:noFill xmlns:a="http://schemas.openxmlformats.org/drawingml/2006/main"/>
          <a:ln xmlns:a="http://schemas.openxmlformats.org/drawingml/2006/main" w="38100">
            <a:solidFill>
              <a:srgbClr val="64747B"/>
            </a:solidFill>
            <a:prstDash val="solid"/>
          </a:ln>
        </p:spPr>
      </p:sp>
      <p:sp>
        <p:nvSpPr>
          <p:cNvPr id="9" name="s1-before-value">
            <a:extLst xmlns:a="http://schemas.openxmlformats.org/drawingml/2006/main">
              <a:ext uri="{FF2B5EF4-FFF2-40B4-BE49-F238E27FC236}">
                <a16:creationId xmlns:a16="http://schemas.microsoft.com/office/drawing/2014/main" id="{1C0608AC-2845-4F78-85EE-18D31533CCC5}"/>
              </a:ext>
            </a:extLst>
          </p:cNvPr>
          <p:cNvSpPr>
            <a:spLocks xmlns:a="http://schemas.openxmlformats.org/drawingml/2006/main" noGrp="1"/>
          </p:cNvSpPr>
          <p:nvPr/>
        </p:nvSpPr>
        <p:spPr>
          <a:xfrm xmlns:a="http://schemas.openxmlformats.org/drawingml/2006/main">
            <a:off x="809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75.0%</a:t>
            </a:r>
          </a:p>
        </p:txBody>
      </p:sp>
      <p:sp>
        <p:nvSpPr>
          <p:cNvPr id="10" name="s1-before-label">
            <a:extLst xmlns:a="http://schemas.openxmlformats.org/drawingml/2006/main">
              <a:ext uri="{FF2B5EF4-FFF2-40B4-BE49-F238E27FC236}">
                <a16:creationId xmlns:a16="http://schemas.microsoft.com/office/drawing/2014/main" id="{04624CA6-3897-4196-98A3-5EA004A84168}"/>
              </a:ext>
            </a:extLst>
          </p:cNvPr>
          <p:cNvSpPr>
            <a:spLocks xmlns:a="http://schemas.openxmlformats.org/drawingml/2006/main" noGrp="1"/>
          </p:cNvSpPr>
          <p:nvPr/>
        </p:nvSpPr>
        <p:spPr>
          <a:xfrm xmlns:a="http://schemas.openxmlformats.org/drawingml/2006/main">
            <a:off x="809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before</a:t>
            </a:r>
          </a:p>
        </p:txBody>
      </p:sp>
      <p:sp>
        <p:nvSpPr>
          <p:cNvPr id="11" name="">
            <a:extLst xmlns:a="http://schemas.openxmlformats.org/drawingml/2006/main">
              <a:ext uri="{FF2B5EF4-FFF2-40B4-BE49-F238E27FC236}">
                <a16:creationId xmlns:a16="http://schemas.microsoft.com/office/drawing/2014/main" id="{8609C180-BA98-48CB-8B10-122627B234A8}"/>
              </a:ext>
            </a:extLst>
          </p:cNvPr>
          <p:cNvSpPr>
            <a:spLocks xmlns:a="http://schemas.openxmlformats.org/drawingml/2006/main" noGrp="1"/>
          </p:cNvSpPr>
          <p:nvPr/>
        </p:nvSpPr>
        <p:spPr>
          <a:xfrm xmlns:a="http://schemas.openxmlformats.org/drawingml/2006/main">
            <a:off x="3286125" y="2238375"/>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2" name="s1-after-value">
            <a:extLst xmlns:a="http://schemas.openxmlformats.org/drawingml/2006/main">
              <a:ext uri="{FF2B5EF4-FFF2-40B4-BE49-F238E27FC236}">
                <a16:creationId xmlns:a16="http://schemas.microsoft.com/office/drawing/2014/main" id="{A47FA299-EF01-4309-88A2-1A19874F1818}"/>
              </a:ext>
            </a:extLst>
          </p:cNvPr>
          <p:cNvSpPr>
            <a:spLocks xmlns:a="http://schemas.openxmlformats.org/drawingml/2006/main" noGrp="1"/>
          </p:cNvSpPr>
          <p:nvPr/>
        </p:nvSpPr>
        <p:spPr>
          <a:xfrm xmlns:a="http://schemas.openxmlformats.org/drawingml/2006/main">
            <a:off x="3286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100.0%</a:t>
            </a:r>
          </a:p>
        </p:txBody>
      </p:sp>
      <p:sp>
        <p:nvSpPr>
          <p:cNvPr id="13" name="s1-after-label">
            <a:extLst xmlns:a="http://schemas.openxmlformats.org/drawingml/2006/main">
              <a:ext uri="{FF2B5EF4-FFF2-40B4-BE49-F238E27FC236}">
                <a16:creationId xmlns:a16="http://schemas.microsoft.com/office/drawing/2014/main" id="{7FA813F2-F9EE-4635-98E0-E192F3171C4A}"/>
              </a:ext>
            </a:extLst>
          </p:cNvPr>
          <p:cNvSpPr>
            <a:spLocks xmlns:a="http://schemas.openxmlformats.org/drawingml/2006/main" noGrp="1"/>
          </p:cNvSpPr>
          <p:nvPr/>
        </p:nvSpPr>
        <p:spPr>
          <a:xfrm xmlns:a="http://schemas.openxmlformats.org/drawingml/2006/main">
            <a:off x="3286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probe success · after</a:t>
            </a:r>
          </a:p>
        </p:txBody>
      </p:sp>
      <p:sp>
        <p:nvSpPr>
          <p:cNvPr id="14" name="">
            <a:extLst xmlns:a="http://schemas.openxmlformats.org/drawingml/2006/main">
              <a:ext uri="{FF2B5EF4-FFF2-40B4-BE49-F238E27FC236}">
                <a16:creationId xmlns:a16="http://schemas.microsoft.com/office/drawing/2014/main" id="{36C4F12B-71E8-4049-9EC3-7BED064D177B}"/>
              </a:ext>
            </a:extLst>
          </p:cNvPr>
          <p:cNvSpPr>
            <a:spLocks xmlns:a="http://schemas.openxmlformats.org/drawingml/2006/main" noGrp="1"/>
          </p:cNvSpPr>
          <p:nvPr/>
        </p:nvSpPr>
        <p:spPr>
          <a:xfrm xmlns:a="http://schemas.openxmlformats.org/drawingml/2006/main">
            <a:off x="5762625" y="2238375"/>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15" name="s1-delta-value">
            <a:extLst xmlns:a="http://schemas.openxmlformats.org/drawingml/2006/main">
              <a:ext uri="{FF2B5EF4-FFF2-40B4-BE49-F238E27FC236}">
                <a16:creationId xmlns:a16="http://schemas.microsoft.com/office/drawing/2014/main" id="{6FF36055-7F2B-4FAE-AEED-81FEE17580CF}"/>
              </a:ext>
            </a:extLst>
          </p:cNvPr>
          <p:cNvSpPr>
            <a:spLocks xmlns:a="http://schemas.openxmlformats.org/drawingml/2006/main" noGrp="1"/>
          </p:cNvSpPr>
          <p:nvPr/>
        </p:nvSpPr>
        <p:spPr>
          <a:xfrm xmlns:a="http://schemas.openxmlformats.org/drawingml/2006/main">
            <a:off x="57626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+25.0 pt</a:t>
            </a:r>
          </a:p>
        </p:txBody>
      </p:sp>
      <p:sp>
        <p:nvSpPr>
          <p:cNvPr id="16" name="s1-delta-label">
            <a:extLst xmlns:a="http://schemas.openxmlformats.org/drawingml/2006/main">
              <a:ext uri="{FF2B5EF4-FFF2-40B4-BE49-F238E27FC236}">
                <a16:creationId xmlns:a16="http://schemas.microsoft.com/office/drawing/2014/main" id="{73680A00-5E0B-47E1-AE2A-40E2FB04A185}"/>
              </a:ext>
            </a:extLst>
          </p:cNvPr>
          <p:cNvSpPr>
            <a:spLocks xmlns:a="http://schemas.openxmlformats.org/drawingml/2006/main" noGrp="1"/>
          </p:cNvSpPr>
          <p:nvPr/>
        </p:nvSpPr>
        <p:spPr>
          <a:xfrm xmlns:a="http://schemas.openxmlformats.org/drawingml/2006/main">
            <a:off x="57626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success delta</a:t>
            </a:r>
          </a:p>
        </p:txBody>
      </p:sp>
      <p:sp>
        <p:nvSpPr>
          <p:cNvPr id="17" name="">
            <a:extLst xmlns:a="http://schemas.openxmlformats.org/drawingml/2006/main">
              <a:ext uri="{FF2B5EF4-FFF2-40B4-BE49-F238E27FC236}">
                <a16:creationId xmlns:a16="http://schemas.microsoft.com/office/drawing/2014/main" id="{8C44683A-B32C-4CC7-8263-FD8AFB9B258B}"/>
              </a:ext>
            </a:extLst>
          </p:cNvPr>
          <p:cNvSpPr>
            <a:spLocks xmlns:a="http://schemas.openxmlformats.org/drawingml/2006/main" noGrp="1"/>
          </p:cNvSpPr>
          <p:nvPr/>
        </p:nvSpPr>
        <p:spPr>
          <a:xfrm xmlns:a="http://schemas.openxmlformats.org/drawingml/2006/main">
            <a:off x="8239125" y="2238375"/>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18" name="s1-steps-value">
            <a:extLst xmlns:a="http://schemas.openxmlformats.org/drawingml/2006/main">
              <a:ext uri="{FF2B5EF4-FFF2-40B4-BE49-F238E27FC236}">
                <a16:creationId xmlns:a16="http://schemas.microsoft.com/office/drawing/2014/main" id="{55F7870D-C6CA-489A-A51F-6D256BD4F0EA}"/>
              </a:ext>
            </a:extLst>
          </p:cNvPr>
          <p:cNvSpPr>
            <a:spLocks xmlns:a="http://schemas.openxmlformats.org/drawingml/2006/main" noGrp="1"/>
          </p:cNvSpPr>
          <p:nvPr/>
        </p:nvSpPr>
        <p:spPr>
          <a:xfrm xmlns:a="http://schemas.openxmlformats.org/drawingml/2006/main">
            <a:off x="8239125" y="2409825"/>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19" name="s1-steps-label">
            <a:extLst xmlns:a="http://schemas.openxmlformats.org/drawingml/2006/main">
              <a:ext uri="{FF2B5EF4-FFF2-40B4-BE49-F238E27FC236}">
                <a16:creationId xmlns:a16="http://schemas.microsoft.com/office/drawing/2014/main" id="{09A3D27D-3B64-4FE3-BD17-6F2676DA4365}"/>
              </a:ext>
            </a:extLst>
          </p:cNvPr>
          <p:cNvSpPr>
            <a:spLocks xmlns:a="http://schemas.openxmlformats.org/drawingml/2006/main" noGrp="1"/>
          </p:cNvSpPr>
          <p:nvPr/>
        </p:nvSpPr>
        <p:spPr>
          <a:xfrm xmlns:a="http://schemas.openxmlformats.org/drawingml/2006/main">
            <a:off x="8239125" y="2981325"/>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optimizer steps</a:t>
            </a:r>
          </a:p>
        </p:txBody>
      </p:sp>
      <p:sp>
        <p:nvSpPr>
          <p:cNvPr id="20" name="failure-head">
            <a:extLst xmlns:a="http://schemas.openxmlformats.org/drawingml/2006/main">
              <a:ext uri="{FF2B5EF4-FFF2-40B4-BE49-F238E27FC236}">
                <a16:creationId xmlns:a16="http://schemas.microsoft.com/office/drawing/2014/main" id="{13037BF1-45CA-4B95-9F4D-7EC1E0DF0624}"/>
              </a:ext>
            </a:extLst>
          </p:cNvPr>
          <p:cNvSpPr>
            <a:spLocks xmlns:a="http://schemas.openxmlformats.org/drawingml/2006/main" noGrp="1"/>
          </p:cNvSpPr>
          <p:nvPr/>
        </p:nvSpPr>
        <p:spPr>
          <a:xfrm xmlns:a="http://schemas.openxmlformats.org/drawingml/2006/main">
            <a:off x="838200" y="390525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125" b="1">
                <a:solidFill>
                  <a:srgbClr val="C56D4A"/>
                </a:solidFill>
              </a:defRPr>
            </a:pPr>
            <a:r>
              <a:rPr sz="1125" b="1">
                <a:solidFill>
                  <a:srgbClr val="C56D4A"/>
                </a:solidFill>
              </a:rPr>
              <a:t>TERMINAL FAILURE TAXONOMY</a:t>
            </a:r>
          </a:p>
        </p:txBody>
      </p:sp>
      <p:sp>
        <p:nvSpPr>
          <p:cNvPr id="21" name="failure-name-0">
            <a:extLst xmlns:a="http://schemas.openxmlformats.org/drawingml/2006/main">
              <a:ext uri="{FF2B5EF4-FFF2-40B4-BE49-F238E27FC236}">
                <a16:creationId xmlns:a16="http://schemas.microsoft.com/office/drawing/2014/main" id="{E24E53B8-3C59-4DAE-B980-41FAACDB94FD}"/>
              </a:ext>
            </a:extLst>
          </p:cNvPr>
          <p:cNvSpPr>
            <a:spLocks xmlns:a="http://schemas.openxmlformats.org/drawingml/2006/main" noGrp="1"/>
          </p:cNvSpPr>
          <p:nvPr/>
        </p:nvSpPr>
        <p:spPr>
          <a:xfrm xmlns:a="http://schemas.openxmlformats.org/drawingml/2006/main">
            <a:off x="876300" y="436245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a:solidFill>
                  <a:srgbClr val="102330"/>
                </a:solidFill>
              </a:defRPr>
            </a:pPr>
            <a:r>
              <a:rPr sz="1050">
                <a:solidFill>
                  <a:srgbClr val="102330"/>
                </a:solidFill>
              </a:rPr>
              <a:t>POLICY_NOT_INSPECTED</a:t>
            </a:r>
          </a:p>
        </p:txBody>
      </p:sp>
      <p:sp>
        <p:nvSpPr>
          <p:cNvPr id="22" name="failure-track-0">
            <a:extLst xmlns:a="http://schemas.openxmlformats.org/drawingml/2006/main">
              <a:ext uri="{FF2B5EF4-FFF2-40B4-BE49-F238E27FC236}">
                <a16:creationId xmlns:a16="http://schemas.microsoft.com/office/drawing/2014/main" id="{D01A6B1B-0A9F-4D99-80B8-D3F3A381CCB7}"/>
              </a:ext>
            </a:extLst>
          </p:cNvPr>
          <p:cNvSpPr>
            <a:spLocks xmlns:a="http://schemas.openxmlformats.org/drawingml/2006/main" noGrp="1"/>
          </p:cNvSpPr>
          <p:nvPr/>
        </p:nvSpPr>
        <p:spPr>
          <a:xfrm xmlns:a="http://schemas.openxmlformats.org/drawingml/2006/main">
            <a:off x="4667250" y="4391025"/>
            <a:ext cx="4762500" cy="1333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23" name="failure-before-0">
            <a:extLst xmlns:a="http://schemas.openxmlformats.org/drawingml/2006/main">
              <a:ext uri="{FF2B5EF4-FFF2-40B4-BE49-F238E27FC236}">
                <a16:creationId xmlns:a16="http://schemas.microsoft.com/office/drawing/2014/main" id="{82042E93-91F6-420B-854F-6169FF61E16D}"/>
              </a:ext>
            </a:extLst>
          </p:cNvPr>
          <p:cNvSpPr>
            <a:spLocks xmlns:a="http://schemas.openxmlformats.org/drawingml/2006/main" noGrp="1"/>
          </p:cNvSpPr>
          <p:nvPr/>
        </p:nvSpPr>
        <p:spPr>
          <a:xfrm xmlns:a="http://schemas.openxmlformats.org/drawingml/2006/main">
            <a:off x="4667250" y="4391025"/>
            <a:ext cx="1666875" cy="1333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24" name="failure-after-0">
            <a:extLst xmlns:a="http://schemas.openxmlformats.org/drawingml/2006/main">
              <a:ext uri="{FF2B5EF4-FFF2-40B4-BE49-F238E27FC236}">
                <a16:creationId xmlns:a16="http://schemas.microsoft.com/office/drawing/2014/main" id="{9478D7AB-4CB9-44F7-A237-95717A67687E}"/>
              </a:ext>
            </a:extLst>
          </p:cNvPr>
          <p:cNvSpPr>
            <a:spLocks xmlns:a="http://schemas.openxmlformats.org/drawingml/2006/main" noGrp="1"/>
          </p:cNvSpPr>
          <p:nvPr/>
        </p:nvSpPr>
        <p:spPr>
          <a:xfrm xmlns:a="http://schemas.openxmlformats.org/drawingml/2006/main">
            <a:off x="6572250" y="4391025"/>
            <a:ext cx="47625" cy="1333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25" name="failure-count-0">
            <a:extLst xmlns:a="http://schemas.openxmlformats.org/drawingml/2006/main">
              <a:ext uri="{FF2B5EF4-FFF2-40B4-BE49-F238E27FC236}">
                <a16:creationId xmlns:a16="http://schemas.microsoft.com/office/drawing/2014/main" id="{AEA7C6C8-B26C-48DD-864A-8A395104C68E}"/>
              </a:ext>
            </a:extLst>
          </p:cNvPr>
          <p:cNvSpPr>
            <a:spLocks xmlns:a="http://schemas.openxmlformats.org/drawingml/2006/main" noGrp="1"/>
          </p:cNvSpPr>
          <p:nvPr/>
        </p:nvSpPr>
        <p:spPr>
          <a:xfrm xmlns:a="http://schemas.openxmlformats.org/drawingml/2006/main">
            <a:off x="9715500" y="4343400"/>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1">
                <a:solidFill>
                  <a:srgbClr val="071A2B"/>
                </a:solidFill>
              </a:defRPr>
            </a:pPr>
            <a:r>
              <a:rPr sz="1125" b="1">
                <a:solidFill>
                  <a:srgbClr val="071A2B"/>
                </a:solidFill>
              </a:rPr>
              <a:t>1 → 0</a:t>
            </a:r>
          </a:p>
        </p:txBody>
      </p:sp>
    </p:spTree>
    <p:extLst>
      <p:ext uri="{BB962C8B-B14F-4D97-AF65-F5344CB8AC3E}">
        <p14:creationId xmlns:p14="http://schemas.microsoft.com/office/powerpoint/2010/main" val="68153127"/>
      </p:ext>
    </p:extLst>
  </p:cSld>
</p:sld>
</file>

<file path=ppt/slides/slide9.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0" name="rail-9">
            <a:extLst xmlns:a="http://schemas.openxmlformats.org/drawingml/2006/main">
              <a:ext uri="{FF2B5EF4-FFF2-40B4-BE49-F238E27FC236}">
                <a16:creationId xmlns:a16="http://schemas.microsoft.com/office/drawing/2014/main" id="{1F2B7517-5E2C-4E5F-A91B-03A059FB7FA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9">
            <a:extLst xmlns:a="http://schemas.openxmlformats.org/drawingml/2006/main">
              <a:ext uri="{FF2B5EF4-FFF2-40B4-BE49-F238E27FC236}">
                <a16:creationId xmlns:a16="http://schemas.microsoft.com/office/drawing/2014/main" id="{982387D9-7BDA-40FB-A771-6F0A49A1F12E}"/>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9">
            <a:extLst xmlns:a="http://schemas.openxmlformats.org/drawingml/2006/main">
              <a:ext uri="{FF2B5EF4-FFF2-40B4-BE49-F238E27FC236}">
                <a16:creationId xmlns:a16="http://schemas.microsoft.com/office/drawing/2014/main" id="{42A3D572-5F4D-42F7-A9E9-4BE67B7135A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HARD-DATA SYNTHESIS</a:t>
            </a:r>
          </a:p>
        </p:txBody>
      </p:sp>
      <p:sp>
        <p:nvSpPr>
          <p:cNvPr id="4" name="title-9">
            <a:extLst xmlns:a="http://schemas.openxmlformats.org/drawingml/2006/main">
              <a:ext uri="{FF2B5EF4-FFF2-40B4-BE49-F238E27FC236}">
                <a16:creationId xmlns:a16="http://schemas.microsoft.com/office/drawing/2014/main" id="{6A83479E-C6BD-40EB-B617-C8ED4B9CF71F}"/>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残余失败或能力边界，都会进入下一轮数据生成器</a:t>
            </a:r>
          </a:p>
        </p:txBody>
      </p:sp>
      <p:sp>
        <p:nvSpPr>
          <p:cNvPr id="5" name="subtitle-9">
            <a:extLst xmlns:a="http://schemas.openxmlformats.org/drawingml/2006/main">
              <a:ext uri="{FF2B5EF4-FFF2-40B4-BE49-F238E27FC236}">
                <a16:creationId xmlns:a16="http://schemas.microsoft.com/office/drawing/2014/main" id="{1482DBD7-034D-4E51-8BFB-C9C4CC51C4A6}"/>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ground truth 由确定性代码生成；模型自然语言永远不充当 charge、amount 或 verifier target。</a:t>
            </a:r>
          </a:p>
        </p:txBody>
      </p:sp>
      <p:sp>
        <p:nvSpPr>
          <p:cNvPr id="6" name="">
            <a:extLst xmlns:a="http://schemas.openxmlformats.org/drawingml/2006/main">
              <a:ext uri="{FF2B5EF4-FFF2-40B4-BE49-F238E27FC236}">
                <a16:creationId xmlns:a16="http://schemas.microsoft.com/office/drawing/2014/main" id="{52AEFCCD-6FBE-4EDC-85DC-291E07C17C33}"/>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9">
            <a:extLst xmlns:a="http://schemas.openxmlformats.org/drawingml/2006/main">
              <a:ext uri="{FF2B5EF4-FFF2-40B4-BE49-F238E27FC236}">
                <a16:creationId xmlns:a16="http://schemas.microsoft.com/office/drawing/2014/main" id="{A1F4788C-EA70-4459-8834-72CFDEAB53AC}"/>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09</a:t>
            </a:r>
          </a:p>
        </p:txBody>
      </p:sp>
      <p:sp>
        <p:nvSpPr>
          <p:cNvPr id="8" name="">
            <a:extLst xmlns:a="http://schemas.openxmlformats.org/drawingml/2006/main">
              <a:ext uri="{FF2B5EF4-FFF2-40B4-BE49-F238E27FC236}">
                <a16:creationId xmlns:a16="http://schemas.microsoft.com/office/drawing/2014/main" id="{6C346D1E-45C8-4B97-BA41-DE80FE660BC8}"/>
              </a:ext>
            </a:extLst>
          </p:cNvPr>
          <p:cNvSpPr>
            <a:spLocks xmlns:a="http://schemas.openxmlformats.org/drawingml/2006/main" noGrp="1"/>
          </p:cNvSpPr>
          <p:nvPr/>
        </p:nvSpPr>
        <p:spPr>
          <a:xfrm xmlns:a="http://schemas.openxmlformats.org/drawingml/2006/main">
            <a:off x="3571875" y="3714750"/>
            <a:ext cx="1095375" cy="0"/>
          </a:xfrm>
          <a:prstGeom xmlns:a="http://schemas.openxmlformats.org/drawingml/2006/main" prst="line">
            <a:avLst/>
          </a:prstGeom>
          <a:noFill xmlns:a="http://schemas.openxmlformats.org/drawingml/2006/main"/>
          <a:ln xmlns:a="http://schemas.openxmlformats.org/drawingml/2006/main" w="28575">
            <a:solidFill>
              <a:srgbClr val="C56D4A"/>
            </a:solidFill>
            <a:prstDash val="solid"/>
          </a:ln>
        </p:spPr>
      </p:sp>
      <p:sp>
        <p:nvSpPr>
          <p:cNvPr id="9" name="">
            <a:extLst xmlns:a="http://schemas.openxmlformats.org/drawingml/2006/main">
              <a:ext uri="{FF2B5EF4-FFF2-40B4-BE49-F238E27FC236}">
                <a16:creationId xmlns:a16="http://schemas.microsoft.com/office/drawing/2014/main" id="{F1E9D0BD-BA3A-42BB-817A-62138E994EB6}"/>
              </a:ext>
            </a:extLst>
          </p:cNvPr>
          <p:cNvSpPr>
            <a:spLocks xmlns:a="http://schemas.openxmlformats.org/drawingml/2006/main" noGrp="1"/>
          </p:cNvSpPr>
          <p:nvPr/>
        </p:nvSpPr>
        <p:spPr>
          <a:xfrm xmlns:a="http://schemas.openxmlformats.org/drawingml/2006/main">
            <a:off x="7524750" y="3714750"/>
            <a:ext cx="1095375" cy="0"/>
          </a:xfrm>
          <a:prstGeom xmlns:a="http://schemas.openxmlformats.org/drawingml/2006/main" prst="line">
            <a:avLst/>
          </a:prstGeom>
          <a:noFill xmlns:a="http://schemas.openxmlformats.org/drawingml/2006/main"/>
          <a:ln xmlns:a="http://schemas.openxmlformats.org/drawingml/2006/main" w="28575">
            <a:solidFill>
              <a:srgbClr val="18A6A6"/>
            </a:solidFill>
            <a:prstDash val="solid"/>
          </a:ln>
        </p:spPr>
      </p:sp>
      <p:sp>
        <p:nvSpPr>
          <p:cNvPr id="10" name="synth-left">
            <a:extLst xmlns:a="http://schemas.openxmlformats.org/drawingml/2006/main">
              <a:ext uri="{FF2B5EF4-FFF2-40B4-BE49-F238E27FC236}">
                <a16:creationId xmlns:a16="http://schemas.microsoft.com/office/drawing/2014/main" id="{2E43D0FA-7096-4B31-9058-C35694D1EAEC}"/>
              </a:ext>
            </a:extLst>
          </p:cNvPr>
          <p:cNvSpPr>
            <a:spLocks xmlns:a="http://schemas.openxmlformats.org/drawingml/2006/main" noGrp="1"/>
          </p:cNvSpPr>
          <p:nvPr/>
        </p:nvSpPr>
        <p:spPr>
          <a:xfrm xmlns:a="http://schemas.openxmlformats.org/drawingml/2006/main">
            <a:off x="714375" y="2286000"/>
            <a:ext cx="2857500" cy="2857500"/>
          </a:xfrm>
          <a:prstGeom xmlns:a="http://schemas.openxmlformats.org/drawingml/2006/main" prst="roundRect">
            <a:avLst>
              <a:gd name="adj" fmla="val 4000"/>
            </a:avLst>
          </a:prstGeom>
          <a:solidFill xmlns:a="http://schemas.openxmlformats.org/drawingml/2006/main">
            <a:srgbClr val="F9E9E6"/>
          </a:solidFill>
          <a:ln xmlns:a="http://schemas.openxmlformats.org/drawingml/2006/main" w="9525">
            <a:solidFill>
              <a:srgbClr val="C56D4A"/>
            </a:solidFill>
            <a:prstDash val="solid"/>
          </a:ln>
        </p:spPr>
      </p:sp>
      <p:sp>
        <p:nvSpPr>
          <p:cNvPr id="11" name="synth-mid">
            <a:extLst xmlns:a="http://schemas.openxmlformats.org/drawingml/2006/main">
              <a:ext uri="{FF2B5EF4-FFF2-40B4-BE49-F238E27FC236}">
                <a16:creationId xmlns:a16="http://schemas.microsoft.com/office/drawing/2014/main" id="{ED6CD5BE-CDCC-4E92-AC60-26F963683C42}"/>
              </a:ext>
            </a:extLst>
          </p:cNvPr>
          <p:cNvSpPr>
            <a:spLocks xmlns:a="http://schemas.openxmlformats.org/drawingml/2006/main" noGrp="1"/>
          </p:cNvSpPr>
          <p:nvPr/>
        </p:nvSpPr>
        <p:spPr>
          <a:xfrm xmlns:a="http://schemas.openxmlformats.org/drawingml/2006/main">
            <a:off x="4667250" y="2286000"/>
            <a:ext cx="2857500" cy="2857500"/>
          </a:xfrm>
          <a:prstGeom xmlns:a="http://schemas.openxmlformats.org/drawingml/2006/main" prst="roundRect">
            <a:avLst>
              <a:gd name="adj" fmla="val 4000"/>
            </a:avLst>
          </a:prstGeom>
          <a:solidFill xmlns:a="http://schemas.openxmlformats.org/drawingml/2006/main">
            <a:srgbClr val="071A2B"/>
          </a:solidFill>
          <a:ln xmlns:a="http://schemas.openxmlformats.org/drawingml/2006/main" w="0">
            <a:solidFill>
              <a:srgbClr val="071A2B"/>
            </a:solidFill>
            <a:prstDash val="solid"/>
          </a:ln>
        </p:spPr>
      </p:sp>
      <p:sp>
        <p:nvSpPr>
          <p:cNvPr id="12" name="synth-right">
            <a:extLst xmlns:a="http://schemas.openxmlformats.org/drawingml/2006/main">
              <a:ext uri="{FF2B5EF4-FFF2-40B4-BE49-F238E27FC236}">
                <a16:creationId xmlns:a16="http://schemas.microsoft.com/office/drawing/2014/main" id="{C2BCF01D-BB8D-46C3-8450-C760C24D7B76}"/>
              </a:ext>
            </a:extLst>
          </p:cNvPr>
          <p:cNvSpPr>
            <a:spLocks xmlns:a="http://schemas.openxmlformats.org/drawingml/2006/main" noGrp="1"/>
          </p:cNvSpPr>
          <p:nvPr/>
        </p:nvSpPr>
        <p:spPr>
          <a:xfrm xmlns:a="http://schemas.openxmlformats.org/drawingml/2006/main">
            <a:off x="8620125" y="2286000"/>
            <a:ext cx="2857500" cy="2857500"/>
          </a:xfrm>
          <a:prstGeom xmlns:a="http://schemas.openxmlformats.org/drawingml/2006/main" prst="roundRect">
            <a:avLst>
              <a:gd name="adj" fmla="val 4000"/>
            </a:avLst>
          </a:prstGeom>
          <a:solidFill xmlns:a="http://schemas.openxmlformats.org/drawingml/2006/main">
            <a:srgbClr val="E5F5F3"/>
          </a:solidFill>
          <a:ln xmlns:a="http://schemas.openxmlformats.org/drawingml/2006/main" w="9525">
            <a:solidFill>
              <a:srgbClr val="18A6A6"/>
            </a:solidFill>
            <a:prstDash val="solid"/>
          </a:ln>
        </p:spPr>
      </p:sp>
      <p:sp>
        <p:nvSpPr>
          <p:cNvPr id="13" name="synth-left-k">
            <a:extLst xmlns:a="http://schemas.openxmlformats.org/drawingml/2006/main">
              <a:ext uri="{FF2B5EF4-FFF2-40B4-BE49-F238E27FC236}">
                <a16:creationId xmlns:a16="http://schemas.microsoft.com/office/drawing/2014/main" id="{904EB983-4246-4296-9C9E-A2CCE0DC3576}"/>
              </a:ext>
            </a:extLst>
          </p:cNvPr>
          <p:cNvSpPr>
            <a:spLocks xmlns:a="http://schemas.openxmlformats.org/drawingml/2006/main" noGrp="1"/>
          </p:cNvSpPr>
          <p:nvPr/>
        </p:nvSpPr>
        <p:spPr>
          <a:xfrm xmlns:a="http://schemas.openxmlformats.org/drawingml/2006/main">
            <a:off x="1000125" y="2571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C56D4A"/>
                </a:solidFill>
              </a:defRPr>
            </a:pPr>
            <a:r>
              <a:rPr sz="1125" b="1">
                <a:solidFill>
                  <a:srgbClr val="C56D4A"/>
                </a:solidFill>
              </a:rPr>
              <a:t>OBSERVED FAILURES</a:t>
            </a:r>
          </a:p>
        </p:txBody>
      </p:sp>
      <p:sp>
        <p:nvSpPr>
          <p:cNvPr id="14" name="synth-left-v">
            <a:extLst xmlns:a="http://schemas.openxmlformats.org/drawingml/2006/main">
              <a:ext uri="{FF2B5EF4-FFF2-40B4-BE49-F238E27FC236}">
                <a16:creationId xmlns:a16="http://schemas.microsoft.com/office/drawing/2014/main" id="{36C13FFA-84AB-4AFE-B7BC-F088E6E75148}"/>
              </a:ext>
            </a:extLst>
          </p:cNvPr>
          <p:cNvSpPr>
            <a:spLocks xmlns:a="http://schemas.openxmlformats.org/drawingml/2006/main" noGrp="1"/>
          </p:cNvSpPr>
          <p:nvPr/>
        </p:nvSpPr>
        <p:spPr>
          <a:xfrm xmlns:a="http://schemas.openxmlformats.org/drawingml/2006/main">
            <a:off x="1000125" y="31432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a:solidFill>
                  <a:srgbClr val="102330"/>
                </a:solidFill>
              </a:defRPr>
            </a:pPr>
            <a:r>
              <a:rPr sz="1050">
                <a:solidFill>
                  <a:srgbClr val="102330"/>
                </a:solidFill>
              </a:rPr>
              <a:t>no observed failure</a:t>
            </a:r>
          </a:p>
          <a:p xmlns:a="http://schemas.openxmlformats.org/drawingml/2006/main">
            <a:pPr algn="ctr">
              <a:defRPr sz="1050">
                <a:solidFill>
                  <a:srgbClr val="102330"/>
                </a:solidFill>
              </a:defRPr>
            </a:pPr>
            <a:r>
              <a:rPr sz="1050">
                <a:solidFill>
                  <a:srgbClr val="102330"/>
                </a:solidFill>
              </a:rPr>
              <a:t>→ fallback taxonomy</a:t>
            </a:r>
          </a:p>
        </p:txBody>
      </p:sp>
      <p:sp>
        <p:nvSpPr>
          <p:cNvPr id="15" name="synth-mid-k">
            <a:extLst xmlns:a="http://schemas.openxmlformats.org/drawingml/2006/main">
              <a:ext uri="{FF2B5EF4-FFF2-40B4-BE49-F238E27FC236}">
                <a16:creationId xmlns:a16="http://schemas.microsoft.com/office/drawing/2014/main" id="{9D2A2012-433F-43BA-BF2E-D36A2F3536B3}"/>
              </a:ext>
            </a:extLst>
          </p:cNvPr>
          <p:cNvSpPr>
            <a:spLocks xmlns:a="http://schemas.openxmlformats.org/drawingml/2006/main" noGrp="1"/>
          </p:cNvSpPr>
          <p:nvPr/>
        </p:nvSpPr>
        <p:spPr>
          <a:xfrm xmlns:a="http://schemas.openxmlformats.org/drawingml/2006/main">
            <a:off x="5048250" y="2590800"/>
            <a:ext cx="2095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1">
                <a:solidFill>
                  <a:srgbClr val="D6A84B"/>
                </a:solidFill>
              </a:defRPr>
            </a:pPr>
            <a:r>
              <a:rPr sz="1200" b="1">
                <a:solidFill>
                  <a:srgbClr val="D6A84B"/>
                </a:solidFill>
              </a:rPr>
              <a:t>DETERMINISTIC</a:t>
            </a:r>
          </a:p>
          <a:p xmlns:a="http://schemas.openxmlformats.org/drawingml/2006/main">
            <a:pPr algn="ctr">
              <a:defRPr sz="1200" b="1">
                <a:solidFill>
                  <a:srgbClr val="D6A84B"/>
                </a:solidFill>
              </a:defRPr>
            </a:pPr>
            <a:r>
              <a:rPr sz="1200" b="1">
                <a:solidFill>
                  <a:srgbClr val="D6A84B"/>
                </a:solidFill>
              </a:rPr>
              <a:t>TRANSFORMS</a:t>
            </a:r>
          </a:p>
        </p:txBody>
      </p:sp>
      <p:sp>
        <p:nvSpPr>
          <p:cNvPr id="16" name="synth-mid-v">
            <a:extLst xmlns:a="http://schemas.openxmlformats.org/drawingml/2006/main">
              <a:ext uri="{FF2B5EF4-FFF2-40B4-BE49-F238E27FC236}">
                <a16:creationId xmlns:a16="http://schemas.microsoft.com/office/drawing/2014/main" id="{754452FF-1BA5-4EEE-8209-BAD97C1C8F6F}"/>
              </a:ext>
            </a:extLst>
          </p:cNvPr>
          <p:cNvSpPr>
            <a:spLocks xmlns:a="http://schemas.openxmlformats.org/drawingml/2006/main" noGrp="1"/>
          </p:cNvSpPr>
          <p:nvPr/>
        </p:nvSpPr>
        <p:spPr>
          <a:xfrm xmlns:a="http://schemas.openxmlformats.org/drawingml/2006/main">
            <a:off x="5095875" y="3429000"/>
            <a:ext cx="200025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20000"/>
              </a:lnSpc>
              <a:buNone/>
              <a:defRPr sz="1350" b="1">
                <a:solidFill>
                  <a:srgbClr val="FFFFFF"/>
                </a:solidFill>
              </a:defRPr>
            </a:pPr>
            <a:r>
              <a:rPr sz="1350" b="1">
                <a:solidFill>
                  <a:srgbClr val="FFFFFF"/>
                </a:solidFill>
              </a:rPr>
              <a:t>+ decoy orders</a:t>
            </a:r>
          </a:p>
          <a:p xmlns:a="http://schemas.openxmlformats.org/drawingml/2006/main">
            <a:pPr algn="ctr">
              <a:lnSpc>
                <a:spcPct val="120000"/>
              </a:lnSpc>
              <a:buNone/>
              <a:defRPr sz="1350" b="1">
                <a:solidFill>
                  <a:srgbClr val="FFFFFF"/>
                </a:solidFill>
              </a:defRPr>
            </a:pPr>
            <a:r>
              <a:rPr sz="1350" b="1">
                <a:solidFill>
                  <a:srgbClr val="FFFFFF"/>
                </a:solidFill>
              </a:rPr>
              <a:t>+ transient timeout</a:t>
            </a:r>
          </a:p>
          <a:p xmlns:a="http://schemas.openxmlformats.org/drawingml/2006/main">
            <a:pPr algn="ctr">
              <a:lnSpc>
                <a:spcPct val="120000"/>
              </a:lnSpc>
              <a:buNone/>
              <a:defRPr sz="1350" b="1">
                <a:solidFill>
                  <a:srgbClr val="FFFFFF"/>
                </a:solidFill>
              </a:defRPr>
            </a:pPr>
            <a:r>
              <a:rPr sz="1350" b="1">
                <a:solidFill>
                  <a:srgbClr val="FFFFFF"/>
                </a:solidFill>
              </a:rPr>
              <a:t>+ exact confirmation</a:t>
            </a:r>
          </a:p>
          <a:p xmlns:a="http://schemas.openxmlformats.org/drawingml/2006/main">
            <a:pPr algn="ctr">
              <a:lnSpc>
                <a:spcPct val="120000"/>
              </a:lnSpc>
              <a:buNone/>
              <a:defRPr sz="1350" b="1">
                <a:solidFill>
                  <a:srgbClr val="FFFFFF"/>
                </a:solidFill>
              </a:defRPr>
            </a:pPr>
            <a:r>
              <a:rPr sz="1350" b="1">
                <a:solidFill>
                  <a:srgbClr val="FFFFFF"/>
                </a:solidFill>
              </a:rPr>
              <a:t>+ old-task replay</a:t>
            </a:r>
          </a:p>
        </p:txBody>
      </p:sp>
      <p:sp>
        <p:nvSpPr>
          <p:cNvPr id="17" name="synth-right-k">
            <a:extLst xmlns:a="http://schemas.openxmlformats.org/drawingml/2006/main">
              <a:ext uri="{FF2B5EF4-FFF2-40B4-BE49-F238E27FC236}">
                <a16:creationId xmlns:a16="http://schemas.microsoft.com/office/drawing/2014/main" id="{9FC74C2D-7AA5-41EB-856F-5FCECD09E6CD}"/>
              </a:ext>
            </a:extLst>
          </p:cNvPr>
          <p:cNvSpPr>
            <a:spLocks xmlns:a="http://schemas.openxmlformats.org/drawingml/2006/main" noGrp="1"/>
          </p:cNvSpPr>
          <p:nvPr/>
        </p:nvSpPr>
        <p:spPr>
          <a:xfrm xmlns:a="http://schemas.openxmlformats.org/drawingml/2006/main">
            <a:off x="8953500" y="2571750"/>
            <a:ext cx="2190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0B797B"/>
                </a:solidFill>
              </a:defRPr>
            </a:pPr>
            <a:r>
              <a:rPr sz="1125" b="1">
                <a:solidFill>
                  <a:srgbClr val="0B797B"/>
                </a:solidFill>
              </a:rPr>
              <a:t>STAGE-2 MIX</a:t>
            </a:r>
          </a:p>
        </p:txBody>
      </p:sp>
      <p:sp>
        <p:nvSpPr>
          <p:cNvPr id="18" name="synth-right-v">
            <a:extLst xmlns:a="http://schemas.openxmlformats.org/drawingml/2006/main">
              <a:ext uri="{FF2B5EF4-FFF2-40B4-BE49-F238E27FC236}">
                <a16:creationId xmlns:a16="http://schemas.microsoft.com/office/drawing/2014/main" id="{E8A91F2A-C5DB-4E71-BCC5-5EF03D38996E}"/>
              </a:ext>
            </a:extLst>
          </p:cNvPr>
          <p:cNvSpPr>
            <a:spLocks xmlns:a="http://schemas.openxmlformats.org/drawingml/2006/main" noGrp="1"/>
          </p:cNvSpPr>
          <p:nvPr/>
        </p:nvSpPr>
        <p:spPr>
          <a:xfrm xmlns:a="http://schemas.openxmlformats.org/drawingml/2006/main">
            <a:off x="9001125" y="3314700"/>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071A2B"/>
                </a:solidFill>
              </a:defRPr>
            </a:pPr>
            <a:r>
              <a:rPr sz="2025" b="1">
                <a:solidFill>
                  <a:srgbClr val="071A2B"/>
                </a:solidFill>
              </a:rPr>
              <a:t>8 hard tasks</a:t>
            </a:r>
          </a:p>
          <a:p xmlns:a="http://schemas.openxmlformats.org/drawingml/2006/main">
            <a:pPr algn="ctr">
              <a:defRPr sz="2025" b="1">
                <a:solidFill>
                  <a:srgbClr val="071A2B"/>
                </a:solidFill>
              </a:defRPr>
            </a:pPr>
            <a:r>
              <a:rPr sz="2025" b="1">
                <a:solidFill>
                  <a:srgbClr val="071A2B"/>
                </a:solidFill>
              </a:rPr>
              <a:t>+</a:t>
            </a:r>
          </a:p>
          <a:p xmlns:a="http://schemas.openxmlformats.org/drawingml/2006/main">
            <a:pPr algn="ctr">
              <a:defRPr sz="2025" b="1">
                <a:solidFill>
                  <a:srgbClr val="071A2B"/>
                </a:solidFill>
              </a:defRPr>
            </a:pPr>
            <a:r>
              <a:rPr sz="2025" b="1">
                <a:solidFill>
                  <a:srgbClr val="071A2B"/>
                </a:solidFill>
              </a:rPr>
              <a:t>4 replay tasks</a:t>
            </a:r>
          </a:p>
        </p:txBody>
      </p:sp>
      <p:sp>
        <p:nvSpPr>
          <p:cNvPr id="19" name="synth-hash">
            <a:extLst xmlns:a="http://schemas.openxmlformats.org/drawingml/2006/main">
              <a:ext uri="{FF2B5EF4-FFF2-40B4-BE49-F238E27FC236}">
                <a16:creationId xmlns:a16="http://schemas.microsoft.com/office/drawing/2014/main" id="{85C966BD-C507-43EB-B5A2-98B9E59C7B95}"/>
              </a:ext>
            </a:extLst>
          </p:cNvPr>
          <p:cNvSpPr>
            <a:spLocks xmlns:a="http://schemas.openxmlformats.org/drawingml/2006/main" noGrp="1"/>
          </p:cNvSpPr>
          <p:nvPr/>
        </p:nvSpPr>
        <p:spPr>
          <a:xfrm xmlns:a="http://schemas.openxmlformats.org/drawingml/2006/main">
            <a:off x="1762125" y="5619750"/>
            <a:ext cx="866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64747B"/>
                </a:solidFill>
              </a:defRPr>
            </a:pPr>
            <a:r>
              <a:rPr sz="1050" b="1">
                <a:solidFill>
                  <a:srgbClr val="64747B"/>
                </a:solidFill>
              </a:rPr>
              <a:t>source trace  ca0d54b78a400…    stage2 data  5790304c792b7…</a:t>
            </a:r>
          </a:p>
        </p:txBody>
      </p:sp>
    </p:spTree>
    <p:extLst>
      <p:ext uri="{BB962C8B-B14F-4D97-AF65-F5344CB8AC3E}">
        <p14:creationId xmlns:p14="http://schemas.microsoft.com/office/powerpoint/2010/main" val="1387776807"/>
      </p:ext>
    </p:extLst>
  </p:cSld>
</p:sld>
</file>

<file path=ppt/slides/slide10.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2" name="rail-10">
            <a:extLst xmlns:a="http://schemas.openxmlformats.org/drawingml/2006/main">
              <a:ext uri="{FF2B5EF4-FFF2-40B4-BE49-F238E27FC236}">
                <a16:creationId xmlns:a16="http://schemas.microsoft.com/office/drawing/2014/main" id="{C6B19692-0D44-419A-AB27-8714EF4BEA90}"/>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0">
            <a:extLst xmlns:a="http://schemas.openxmlformats.org/drawingml/2006/main">
              <a:ext uri="{FF2B5EF4-FFF2-40B4-BE49-F238E27FC236}">
                <a16:creationId xmlns:a16="http://schemas.microsoft.com/office/drawing/2014/main" id="{E00154BE-B5CE-491C-A6FF-7810EE3B352C}"/>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0">
            <a:extLst xmlns:a="http://schemas.openxmlformats.org/drawingml/2006/main">
              <a:ext uri="{FF2B5EF4-FFF2-40B4-BE49-F238E27FC236}">
                <a16:creationId xmlns:a16="http://schemas.microsoft.com/office/drawing/2014/main" id="{EE849D94-4615-4BCC-AB29-E8FB87450170}"/>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STAGE 2</a:t>
            </a:r>
          </a:p>
        </p:txBody>
      </p:sp>
      <p:sp>
        <p:nvSpPr>
          <p:cNvPr id="4" name="title-10">
            <a:extLst xmlns:a="http://schemas.openxmlformats.org/drawingml/2006/main">
              <a:ext uri="{FF2B5EF4-FFF2-40B4-BE49-F238E27FC236}">
                <a16:creationId xmlns:a16="http://schemas.microsoft.com/office/drawing/2014/main" id="{61BF481A-6FA1-4EF4-B0DB-9A6C1F782819}"/>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从 Stage-1 adapter 继续训练，效果是否真的改变？</a:t>
            </a:r>
          </a:p>
        </p:txBody>
      </p:sp>
      <p:sp>
        <p:nvSpPr>
          <p:cNvPr id="5" name="subtitle-10">
            <a:extLst xmlns:a="http://schemas.openxmlformats.org/drawingml/2006/main">
              <a:ext uri="{FF2B5EF4-FFF2-40B4-BE49-F238E27FC236}">
                <a16:creationId xmlns:a16="http://schemas.microsoft.com/office/drawing/2014/main" id="{EAAF3144-7939-4A5B-847F-053E5A914895}"/>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算法效果和工程完整性分开判断：即使指标不升，只要审计通过，它仍是一个真实负结果。</a:t>
            </a:r>
          </a:p>
        </p:txBody>
      </p:sp>
      <p:sp>
        <p:nvSpPr>
          <p:cNvPr id="6" name="">
            <a:extLst xmlns:a="http://schemas.openxmlformats.org/drawingml/2006/main">
              <a:ext uri="{FF2B5EF4-FFF2-40B4-BE49-F238E27FC236}">
                <a16:creationId xmlns:a16="http://schemas.microsoft.com/office/drawing/2014/main" id="{B17E7479-BA7E-4BF5-87A5-EE4083DFF78B}"/>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0">
            <a:extLst xmlns:a="http://schemas.openxmlformats.org/drawingml/2006/main">
              <a:ext uri="{FF2B5EF4-FFF2-40B4-BE49-F238E27FC236}">
                <a16:creationId xmlns:a16="http://schemas.microsoft.com/office/drawing/2014/main" id="{A1AD820B-9560-47BA-9D68-DFBD05FFC62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10</a:t>
            </a:r>
          </a:p>
        </p:txBody>
      </p:sp>
      <p:sp>
        <p:nvSpPr>
          <p:cNvPr id="8" name="s2-label-0">
            <a:extLst xmlns:a="http://schemas.openxmlformats.org/drawingml/2006/main">
              <a:ext uri="{FF2B5EF4-FFF2-40B4-BE49-F238E27FC236}">
                <a16:creationId xmlns:a16="http://schemas.microsoft.com/office/drawing/2014/main" id="{5288852F-040B-4617-B5F1-FCE1D78698C0}"/>
              </a:ext>
            </a:extLst>
          </p:cNvPr>
          <p:cNvSpPr>
            <a:spLocks xmlns:a="http://schemas.openxmlformats.org/drawingml/2006/main" noGrp="1"/>
          </p:cNvSpPr>
          <p:nvPr/>
        </p:nvSpPr>
        <p:spPr>
          <a:xfrm xmlns:a="http://schemas.openxmlformats.org/drawingml/2006/main">
            <a:off x="857250" y="244792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Final holdout success</a:t>
            </a:r>
          </a:p>
        </p:txBody>
      </p:sp>
      <p:sp>
        <p:nvSpPr>
          <p:cNvPr id="9" name="s2-track-a-0">
            <a:extLst xmlns:a="http://schemas.openxmlformats.org/drawingml/2006/main">
              <a:ext uri="{FF2B5EF4-FFF2-40B4-BE49-F238E27FC236}">
                <a16:creationId xmlns:a16="http://schemas.microsoft.com/office/drawing/2014/main" id="{5CB56315-7780-4E7C-A4AC-C2E13B7527A0}"/>
              </a:ext>
            </a:extLst>
          </p:cNvPr>
          <p:cNvSpPr>
            <a:spLocks xmlns:a="http://schemas.openxmlformats.org/drawingml/2006/main" noGrp="1"/>
          </p:cNvSpPr>
          <p:nvPr/>
        </p:nvSpPr>
        <p:spPr>
          <a:xfrm xmlns:a="http://schemas.openxmlformats.org/drawingml/2006/main">
            <a:off x="3905250" y="25241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0" name="s2-a-0">
            <a:extLst xmlns:a="http://schemas.openxmlformats.org/drawingml/2006/main">
              <a:ext uri="{FF2B5EF4-FFF2-40B4-BE49-F238E27FC236}">
                <a16:creationId xmlns:a16="http://schemas.microsoft.com/office/drawing/2014/main" id="{13DD2263-F356-4330-B36D-1962A0C28B08}"/>
              </a:ext>
            </a:extLst>
          </p:cNvPr>
          <p:cNvSpPr>
            <a:spLocks xmlns:a="http://schemas.openxmlformats.org/drawingml/2006/main" noGrp="1"/>
          </p:cNvSpPr>
          <p:nvPr/>
        </p:nvSpPr>
        <p:spPr>
          <a:xfrm xmlns:a="http://schemas.openxmlformats.org/drawingml/2006/main">
            <a:off x="3905250" y="2524125"/>
            <a:ext cx="3619500"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1" name="s2-track-b-0">
            <a:extLst xmlns:a="http://schemas.openxmlformats.org/drawingml/2006/main">
              <a:ext uri="{FF2B5EF4-FFF2-40B4-BE49-F238E27FC236}">
                <a16:creationId xmlns:a16="http://schemas.microsoft.com/office/drawing/2014/main" id="{01119389-3DC4-473E-8D0B-019291FD614D}"/>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2" name="s2-b-0">
            <a:extLst xmlns:a="http://schemas.openxmlformats.org/drawingml/2006/main">
              <a:ext uri="{FF2B5EF4-FFF2-40B4-BE49-F238E27FC236}">
                <a16:creationId xmlns:a16="http://schemas.microsoft.com/office/drawing/2014/main" id="{ADE730FF-4176-4A8D-94DF-BEB879880099}"/>
              </a:ext>
            </a:extLst>
          </p:cNvPr>
          <p:cNvSpPr>
            <a:spLocks xmlns:a="http://schemas.openxmlformats.org/drawingml/2006/main" noGrp="1"/>
          </p:cNvSpPr>
          <p:nvPr/>
        </p:nvSpPr>
        <p:spPr>
          <a:xfrm xmlns:a="http://schemas.openxmlformats.org/drawingml/2006/main">
            <a:off x="3905250" y="2981325"/>
            <a:ext cx="5429250" cy="20955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3" name="s2-value-0">
            <a:extLst xmlns:a="http://schemas.openxmlformats.org/drawingml/2006/main">
              <a:ext uri="{FF2B5EF4-FFF2-40B4-BE49-F238E27FC236}">
                <a16:creationId xmlns:a16="http://schemas.microsoft.com/office/drawing/2014/main" id="{4CCB58AF-D849-4C5F-A910-93485322C391}"/>
              </a:ext>
            </a:extLst>
          </p:cNvPr>
          <p:cNvSpPr>
            <a:spLocks xmlns:a="http://schemas.openxmlformats.org/drawingml/2006/main" noGrp="1"/>
          </p:cNvSpPr>
          <p:nvPr/>
        </p:nvSpPr>
        <p:spPr>
          <a:xfrm xmlns:a="http://schemas.openxmlformats.org/drawingml/2006/main">
            <a:off x="9525000" y="267652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66.7%  →  100.0%</a:t>
            </a:r>
          </a:p>
        </p:txBody>
      </p:sp>
      <p:sp>
        <p:nvSpPr>
          <p:cNvPr id="14" name="s2-label-1">
            <a:extLst xmlns:a="http://schemas.openxmlformats.org/drawingml/2006/main">
              <a:ext uri="{FF2B5EF4-FFF2-40B4-BE49-F238E27FC236}">
                <a16:creationId xmlns:a16="http://schemas.microsoft.com/office/drawing/2014/main" id="{8471F093-F785-4019-9E94-D0A6DB193B94}"/>
              </a:ext>
            </a:extLst>
          </p:cNvPr>
          <p:cNvSpPr>
            <a:spLocks xmlns:a="http://schemas.openxmlformats.org/drawingml/2006/main" noGrp="1"/>
          </p:cNvSpPr>
          <p:nvPr/>
        </p:nvSpPr>
        <p:spPr>
          <a:xfrm xmlns:a="http://schemas.openxmlformats.org/drawingml/2006/main">
            <a:off x="857250" y="3876675"/>
            <a:ext cx="285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071A2B"/>
                </a:solidFill>
              </a:defRPr>
            </a:pPr>
            <a:r>
              <a:rPr sz="1500" b="1">
                <a:solidFill>
                  <a:srgbClr val="071A2B"/>
                </a:solidFill>
              </a:rPr>
              <a:t>Mean combined reward</a:t>
            </a:r>
          </a:p>
        </p:txBody>
      </p:sp>
      <p:sp>
        <p:nvSpPr>
          <p:cNvPr id="15" name="s2-track-a-1">
            <a:extLst xmlns:a="http://schemas.openxmlformats.org/drawingml/2006/main">
              <a:ext uri="{FF2B5EF4-FFF2-40B4-BE49-F238E27FC236}">
                <a16:creationId xmlns:a16="http://schemas.microsoft.com/office/drawing/2014/main" id="{FB57BC36-139C-43AF-AE9B-4F9C52272930}"/>
              </a:ext>
            </a:extLst>
          </p:cNvPr>
          <p:cNvSpPr>
            <a:spLocks xmlns:a="http://schemas.openxmlformats.org/drawingml/2006/main" noGrp="1"/>
          </p:cNvSpPr>
          <p:nvPr/>
        </p:nvSpPr>
        <p:spPr>
          <a:xfrm xmlns:a="http://schemas.openxmlformats.org/drawingml/2006/main">
            <a:off x="3905250" y="39528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6" name="s2-a-1">
            <a:extLst xmlns:a="http://schemas.openxmlformats.org/drawingml/2006/main">
              <a:ext uri="{FF2B5EF4-FFF2-40B4-BE49-F238E27FC236}">
                <a16:creationId xmlns:a16="http://schemas.microsoft.com/office/drawing/2014/main" id="{072C0C04-E116-443F-BE05-968674C3D31E}"/>
              </a:ext>
            </a:extLst>
          </p:cNvPr>
          <p:cNvSpPr>
            <a:spLocks xmlns:a="http://schemas.openxmlformats.org/drawingml/2006/main" noGrp="1"/>
          </p:cNvSpPr>
          <p:nvPr/>
        </p:nvSpPr>
        <p:spPr>
          <a:xfrm xmlns:a="http://schemas.openxmlformats.org/drawingml/2006/main">
            <a:off x="3905250" y="3952875"/>
            <a:ext cx="3498131" cy="209550"/>
          </a:xfrm>
          <a:prstGeom xmlns:a="http://schemas.openxmlformats.org/drawingml/2006/main" prst="roundRect">
            <a:avLst>
              <a:gd name="adj" fmla="val 50000"/>
            </a:avLst>
          </a:prstGeom>
          <a:solidFill xmlns:a="http://schemas.openxmlformats.org/drawingml/2006/main">
            <a:srgbClr val="9AA8AD"/>
          </a:solidFill>
          <a:ln xmlns:a="http://schemas.openxmlformats.org/drawingml/2006/main" w="0">
            <a:solidFill>
              <a:srgbClr val="9AA8AD"/>
            </a:solidFill>
            <a:prstDash val="solid"/>
          </a:ln>
        </p:spPr>
      </p:sp>
      <p:sp>
        <p:nvSpPr>
          <p:cNvPr id="17" name="s2-track-b-1">
            <a:extLst xmlns:a="http://schemas.openxmlformats.org/drawingml/2006/main">
              <a:ext uri="{FF2B5EF4-FFF2-40B4-BE49-F238E27FC236}">
                <a16:creationId xmlns:a16="http://schemas.microsoft.com/office/drawing/2014/main" id="{3AAF5E1C-7997-4FA5-8144-7A8117E0DAEE}"/>
              </a:ext>
            </a:extLst>
          </p:cNvPr>
          <p:cNvSpPr>
            <a:spLocks xmlns:a="http://schemas.openxmlformats.org/drawingml/2006/main" noGrp="1"/>
          </p:cNvSpPr>
          <p:nvPr/>
        </p:nvSpPr>
        <p:spPr>
          <a:xfrm xmlns:a="http://schemas.openxmlformats.org/drawingml/2006/main">
            <a:off x="3905250" y="4410075"/>
            <a:ext cx="5429250" cy="209550"/>
          </a:xfrm>
          <a:prstGeom xmlns:a="http://schemas.openxmlformats.org/drawingml/2006/main" prst="roundRect">
            <a:avLst>
              <a:gd name="adj" fmla="val 50000"/>
            </a:avLst>
          </a:prstGeom>
          <a:solidFill xmlns:a="http://schemas.openxmlformats.org/drawingml/2006/main">
            <a:srgbClr val="E8F0F0"/>
          </a:solidFill>
          <a:ln xmlns:a="http://schemas.openxmlformats.org/drawingml/2006/main" w="0">
            <a:solidFill>
              <a:srgbClr val="E8F0F0"/>
            </a:solidFill>
            <a:prstDash val="solid"/>
          </a:ln>
        </p:spPr>
      </p:sp>
      <p:sp>
        <p:nvSpPr>
          <p:cNvPr id="18" name="s2-b-1">
            <a:extLst xmlns:a="http://schemas.openxmlformats.org/drawingml/2006/main">
              <a:ext uri="{FF2B5EF4-FFF2-40B4-BE49-F238E27FC236}">
                <a16:creationId xmlns:a16="http://schemas.microsoft.com/office/drawing/2014/main" id="{E92194CE-522F-4A55-BA27-4B722C5DA00C}"/>
              </a:ext>
            </a:extLst>
          </p:cNvPr>
          <p:cNvSpPr>
            <a:spLocks xmlns:a="http://schemas.openxmlformats.org/drawingml/2006/main" noGrp="1"/>
          </p:cNvSpPr>
          <p:nvPr/>
        </p:nvSpPr>
        <p:spPr>
          <a:xfrm xmlns:a="http://schemas.openxmlformats.org/drawingml/2006/main">
            <a:off x="3905250" y="4410075"/>
            <a:ext cx="5222315" cy="2095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19" name="s2-value-1">
            <a:extLst xmlns:a="http://schemas.openxmlformats.org/drawingml/2006/main">
              <a:ext uri="{FF2B5EF4-FFF2-40B4-BE49-F238E27FC236}">
                <a16:creationId xmlns:a16="http://schemas.microsoft.com/office/drawing/2014/main" id="{AF728E05-5BE8-4918-91CE-2B45E1EF9C5F}"/>
              </a:ext>
            </a:extLst>
          </p:cNvPr>
          <p:cNvSpPr>
            <a:spLocks xmlns:a="http://schemas.openxmlformats.org/drawingml/2006/main" noGrp="1"/>
          </p:cNvSpPr>
          <p:nvPr/>
        </p:nvSpPr>
        <p:spPr>
          <a:xfrm xmlns:a="http://schemas.openxmlformats.org/drawingml/2006/main">
            <a:off x="9525000" y="4105275"/>
            <a:ext cx="152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500" b="1">
                <a:solidFill>
                  <a:srgbClr val="228B67"/>
                </a:solidFill>
              </a:defRPr>
            </a:pPr>
            <a:r>
              <a:rPr sz="1500" b="1">
                <a:solidFill>
                  <a:srgbClr val="228B67"/>
                </a:solidFill>
              </a:rPr>
              <a:t>0.838  →  1.250</a:t>
            </a:r>
          </a:p>
        </p:txBody>
      </p:sp>
      <p:sp>
        <p:nvSpPr>
          <p:cNvPr id="20" name="">
            <a:extLst xmlns:a="http://schemas.openxmlformats.org/drawingml/2006/main">
              <a:ext uri="{FF2B5EF4-FFF2-40B4-BE49-F238E27FC236}">
                <a16:creationId xmlns:a16="http://schemas.microsoft.com/office/drawing/2014/main" id="{D7701E91-97B1-4CA5-AF8B-56424B40EA07}"/>
              </a:ext>
            </a:extLst>
          </p:cNvPr>
          <p:cNvSpPr>
            <a:spLocks xmlns:a="http://schemas.openxmlformats.org/drawingml/2006/main" noGrp="1"/>
          </p:cNvSpPr>
          <p:nvPr/>
        </p:nvSpPr>
        <p:spPr>
          <a:xfrm xmlns:a="http://schemas.openxmlformats.org/drawingml/2006/main">
            <a:off x="1143000" y="5429250"/>
            <a:ext cx="20002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21" name="s2-step-value">
            <a:extLst xmlns:a="http://schemas.openxmlformats.org/drawingml/2006/main">
              <a:ext uri="{FF2B5EF4-FFF2-40B4-BE49-F238E27FC236}">
                <a16:creationId xmlns:a16="http://schemas.microsoft.com/office/drawing/2014/main" id="{518D27E0-5C61-429F-855D-2EDCAAA27AEB}"/>
              </a:ext>
            </a:extLst>
          </p:cNvPr>
          <p:cNvSpPr>
            <a:spLocks xmlns:a="http://schemas.openxmlformats.org/drawingml/2006/main" noGrp="1"/>
          </p:cNvSpPr>
          <p:nvPr/>
        </p:nvSpPr>
        <p:spPr>
          <a:xfrm xmlns:a="http://schemas.openxmlformats.org/drawingml/2006/main">
            <a:off x="1143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12</a:t>
            </a:r>
          </a:p>
        </p:txBody>
      </p:sp>
      <p:sp>
        <p:nvSpPr>
          <p:cNvPr id="22" name="s2-step-label">
            <a:extLst xmlns:a="http://schemas.openxmlformats.org/drawingml/2006/main">
              <a:ext uri="{FF2B5EF4-FFF2-40B4-BE49-F238E27FC236}">
                <a16:creationId xmlns:a16="http://schemas.microsoft.com/office/drawing/2014/main" id="{F0D8968E-036A-45CC-9A5F-850FF1C269B3}"/>
              </a:ext>
            </a:extLst>
          </p:cNvPr>
          <p:cNvSpPr>
            <a:spLocks xmlns:a="http://schemas.openxmlformats.org/drawingml/2006/main" noGrp="1"/>
          </p:cNvSpPr>
          <p:nvPr/>
        </p:nvSpPr>
        <p:spPr>
          <a:xfrm xmlns:a="http://schemas.openxmlformats.org/drawingml/2006/main">
            <a:off x="1143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Stage-2 optimizer steps</a:t>
            </a:r>
          </a:p>
        </p:txBody>
      </p:sp>
      <p:sp>
        <p:nvSpPr>
          <p:cNvPr id="23" name="">
            <a:extLst xmlns:a="http://schemas.openxmlformats.org/drawingml/2006/main">
              <a:ext uri="{FF2B5EF4-FFF2-40B4-BE49-F238E27FC236}">
                <a16:creationId xmlns:a16="http://schemas.microsoft.com/office/drawing/2014/main" id="{F88F88ED-631B-4238-9A65-8D363E19CDAF}"/>
              </a:ext>
            </a:extLst>
          </p:cNvPr>
          <p:cNvSpPr>
            <a:spLocks xmlns:a="http://schemas.openxmlformats.org/drawingml/2006/main" noGrp="1"/>
          </p:cNvSpPr>
          <p:nvPr/>
        </p:nvSpPr>
        <p:spPr>
          <a:xfrm xmlns:a="http://schemas.openxmlformats.org/drawingml/2006/main">
            <a:off x="4000500" y="5429250"/>
            <a:ext cx="2000250" cy="0"/>
          </a:xfrm>
          <a:prstGeom xmlns:a="http://schemas.openxmlformats.org/drawingml/2006/main" prst="line">
            <a:avLst/>
          </a:prstGeom>
          <a:noFill xmlns:a="http://schemas.openxmlformats.org/drawingml/2006/main"/>
          <a:ln xmlns:a="http://schemas.openxmlformats.org/drawingml/2006/main" w="38100">
            <a:solidFill>
              <a:srgbClr val="C56D4A"/>
            </a:solidFill>
            <a:prstDash val="solid"/>
          </a:ln>
        </p:spPr>
      </p:sp>
      <p:sp>
        <p:nvSpPr>
          <p:cNvPr id="24" name="s2-time-value">
            <a:extLst xmlns:a="http://schemas.openxmlformats.org/drawingml/2006/main">
              <a:ext uri="{FF2B5EF4-FFF2-40B4-BE49-F238E27FC236}">
                <a16:creationId xmlns:a16="http://schemas.microsoft.com/office/drawing/2014/main" id="{373DC0CA-A7CC-4D77-8677-08879BBFFE80}"/>
              </a:ext>
            </a:extLst>
          </p:cNvPr>
          <p:cNvSpPr>
            <a:spLocks xmlns:a="http://schemas.openxmlformats.org/drawingml/2006/main" noGrp="1"/>
          </p:cNvSpPr>
          <p:nvPr/>
        </p:nvSpPr>
        <p:spPr>
          <a:xfrm xmlns:a="http://schemas.openxmlformats.org/drawingml/2006/main">
            <a:off x="4000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7m</a:t>
            </a:r>
          </a:p>
        </p:txBody>
      </p:sp>
      <p:sp>
        <p:nvSpPr>
          <p:cNvPr id="25" name="s2-time-label">
            <a:extLst xmlns:a="http://schemas.openxmlformats.org/drawingml/2006/main">
              <a:ext uri="{FF2B5EF4-FFF2-40B4-BE49-F238E27FC236}">
                <a16:creationId xmlns:a16="http://schemas.microsoft.com/office/drawing/2014/main" id="{5FECCEFA-94CF-4302-9A60-7D6576573EE1}"/>
              </a:ext>
            </a:extLst>
          </p:cNvPr>
          <p:cNvSpPr>
            <a:spLocks xmlns:a="http://schemas.openxmlformats.org/drawingml/2006/main" noGrp="1"/>
          </p:cNvSpPr>
          <p:nvPr/>
        </p:nvSpPr>
        <p:spPr>
          <a:xfrm xmlns:a="http://schemas.openxmlformats.org/drawingml/2006/main">
            <a:off x="4000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training wall time</a:t>
            </a:r>
          </a:p>
        </p:txBody>
      </p:sp>
      <p:sp>
        <p:nvSpPr>
          <p:cNvPr id="26" name="">
            <a:extLst xmlns:a="http://schemas.openxmlformats.org/drawingml/2006/main">
              <a:ext uri="{FF2B5EF4-FFF2-40B4-BE49-F238E27FC236}">
                <a16:creationId xmlns:a16="http://schemas.microsoft.com/office/drawing/2014/main" id="{96409DB0-22F4-4285-8938-50063C2BBD57}"/>
              </a:ext>
            </a:extLst>
          </p:cNvPr>
          <p:cNvSpPr>
            <a:spLocks xmlns:a="http://schemas.openxmlformats.org/drawingml/2006/main" noGrp="1"/>
          </p:cNvSpPr>
          <p:nvPr/>
        </p:nvSpPr>
        <p:spPr>
          <a:xfrm xmlns:a="http://schemas.openxmlformats.org/drawingml/2006/main">
            <a:off x="6858000" y="5429250"/>
            <a:ext cx="2000250" cy="0"/>
          </a:xfrm>
          <a:prstGeom xmlns:a="http://schemas.openxmlformats.org/drawingml/2006/main" prst="line">
            <a:avLst/>
          </a:prstGeom>
          <a:noFill xmlns:a="http://schemas.openxmlformats.org/drawingml/2006/main"/>
          <a:ln xmlns:a="http://schemas.openxmlformats.org/drawingml/2006/main" w="38100">
            <a:solidFill>
              <a:srgbClr val="228B67"/>
            </a:solidFill>
            <a:prstDash val="solid"/>
          </a:ln>
        </p:spPr>
      </p:sp>
      <p:sp>
        <p:nvSpPr>
          <p:cNvPr id="27" name="s2-replay-value">
            <a:extLst xmlns:a="http://schemas.openxmlformats.org/drawingml/2006/main">
              <a:ext uri="{FF2B5EF4-FFF2-40B4-BE49-F238E27FC236}">
                <a16:creationId xmlns:a16="http://schemas.microsoft.com/office/drawing/2014/main" id="{232C82E8-76CB-4ABF-805F-5A03E33F2222}"/>
              </a:ext>
            </a:extLst>
          </p:cNvPr>
          <p:cNvSpPr>
            <a:spLocks xmlns:a="http://schemas.openxmlformats.org/drawingml/2006/main" noGrp="1"/>
          </p:cNvSpPr>
          <p:nvPr/>
        </p:nvSpPr>
        <p:spPr>
          <a:xfrm xmlns:a="http://schemas.openxmlformats.org/drawingml/2006/main">
            <a:off x="68580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6</a:t>
            </a:r>
          </a:p>
        </p:txBody>
      </p:sp>
      <p:sp>
        <p:nvSpPr>
          <p:cNvPr id="28" name="s2-replay-label">
            <a:extLst xmlns:a="http://schemas.openxmlformats.org/drawingml/2006/main">
              <a:ext uri="{FF2B5EF4-FFF2-40B4-BE49-F238E27FC236}">
                <a16:creationId xmlns:a16="http://schemas.microsoft.com/office/drawing/2014/main" id="{FC590F31-BBC9-47C0-B00E-46F694CF3882}"/>
              </a:ext>
            </a:extLst>
          </p:cNvPr>
          <p:cNvSpPr>
            <a:spLocks xmlns:a="http://schemas.openxmlformats.org/drawingml/2006/main" noGrp="1"/>
          </p:cNvSpPr>
          <p:nvPr/>
        </p:nvSpPr>
        <p:spPr>
          <a:xfrm xmlns:a="http://schemas.openxmlformats.org/drawingml/2006/main">
            <a:off x="68580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fresh-process episodes</a:t>
            </a:r>
          </a:p>
        </p:txBody>
      </p:sp>
      <p:sp>
        <p:nvSpPr>
          <p:cNvPr id="29" name="">
            <a:extLst xmlns:a="http://schemas.openxmlformats.org/drawingml/2006/main">
              <a:ext uri="{FF2B5EF4-FFF2-40B4-BE49-F238E27FC236}">
                <a16:creationId xmlns:a16="http://schemas.microsoft.com/office/drawing/2014/main" id="{CAF25E5D-A6B2-4349-A9E8-0274B55C43B7}"/>
              </a:ext>
            </a:extLst>
          </p:cNvPr>
          <p:cNvSpPr>
            <a:spLocks xmlns:a="http://schemas.openxmlformats.org/drawingml/2006/main" noGrp="1"/>
          </p:cNvSpPr>
          <p:nvPr/>
        </p:nvSpPr>
        <p:spPr>
          <a:xfrm xmlns:a="http://schemas.openxmlformats.org/drawingml/2006/main">
            <a:off x="9715500" y="5429250"/>
            <a:ext cx="2000250" cy="0"/>
          </a:xfrm>
          <a:prstGeom xmlns:a="http://schemas.openxmlformats.org/drawingml/2006/main" prst="line">
            <a:avLst/>
          </a:prstGeom>
          <a:noFill xmlns:a="http://schemas.openxmlformats.org/drawingml/2006/main"/>
          <a:ln xmlns:a="http://schemas.openxmlformats.org/drawingml/2006/main" w="38100">
            <a:solidFill>
              <a:srgbClr val="D6A84B"/>
            </a:solidFill>
            <a:prstDash val="solid"/>
          </a:ln>
        </p:spPr>
      </p:sp>
      <p:sp>
        <p:nvSpPr>
          <p:cNvPr id="30" name="s2-gpu-value">
            <a:extLst xmlns:a="http://schemas.openxmlformats.org/drawingml/2006/main">
              <a:ext uri="{FF2B5EF4-FFF2-40B4-BE49-F238E27FC236}">
                <a16:creationId xmlns:a16="http://schemas.microsoft.com/office/drawing/2014/main" id="{1FF82135-94E7-461C-B7DF-CA33C21C61A1}"/>
              </a:ext>
            </a:extLst>
          </p:cNvPr>
          <p:cNvSpPr>
            <a:spLocks xmlns:a="http://schemas.openxmlformats.org/drawingml/2006/main" noGrp="1"/>
          </p:cNvSpPr>
          <p:nvPr/>
        </p:nvSpPr>
        <p:spPr>
          <a:xfrm xmlns:a="http://schemas.openxmlformats.org/drawingml/2006/main">
            <a:off x="9715500" y="5600700"/>
            <a:ext cx="2000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700" b="1">
                <a:solidFill>
                  <a:srgbClr val="071A2B"/>
                </a:solidFill>
              </a:defRPr>
            </a:pPr>
            <a:r>
              <a:rPr sz="2700" b="1">
                <a:solidFill>
                  <a:srgbClr val="071A2B"/>
                </a:solidFill>
              </a:rPr>
              <a:t>1×</a:t>
            </a:r>
          </a:p>
        </p:txBody>
      </p:sp>
      <p:sp>
        <p:nvSpPr>
          <p:cNvPr id="31" name="s2-gpu-label">
            <a:extLst xmlns:a="http://schemas.openxmlformats.org/drawingml/2006/main">
              <a:ext uri="{FF2B5EF4-FFF2-40B4-BE49-F238E27FC236}">
                <a16:creationId xmlns:a16="http://schemas.microsoft.com/office/drawing/2014/main" id="{E34962AA-1E06-4F77-9BFD-934E23A9C564}"/>
              </a:ext>
            </a:extLst>
          </p:cNvPr>
          <p:cNvSpPr>
            <a:spLocks xmlns:a="http://schemas.openxmlformats.org/drawingml/2006/main" noGrp="1"/>
          </p:cNvSpPr>
          <p:nvPr/>
        </p:nvSpPr>
        <p:spPr>
          <a:xfrm xmlns:a="http://schemas.openxmlformats.org/drawingml/2006/main">
            <a:off x="9715500" y="6172200"/>
            <a:ext cx="2000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050" b="1">
                <a:solidFill>
                  <a:srgbClr val="64747B"/>
                </a:solidFill>
              </a:defRPr>
            </a:pPr>
            <a:r>
              <a:rPr sz="1050" b="1">
                <a:solidFill>
                  <a:srgbClr val="64747B"/>
                </a:solidFill>
              </a:rPr>
              <a:t>RTX PRO 6000 · 96GB</a:t>
            </a:r>
          </a:p>
        </p:txBody>
      </p:sp>
    </p:spTree>
    <p:extLst>
      <p:ext uri="{BB962C8B-B14F-4D97-AF65-F5344CB8AC3E}">
        <p14:creationId xmlns:p14="http://schemas.microsoft.com/office/powerpoint/2010/main" val="740780276"/>
      </p:ext>
    </p:extLst>
  </p:cSld>
</p:sld>
</file>

<file path=ppt/slides/slide11.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39" name="rail-11">
            <a:extLst xmlns:a="http://schemas.openxmlformats.org/drawingml/2006/main">
              <a:ext uri="{FF2B5EF4-FFF2-40B4-BE49-F238E27FC236}">
                <a16:creationId xmlns:a16="http://schemas.microsoft.com/office/drawing/2014/main" id="{0F01EF6B-63EE-46CE-AEC0-A10CFC6CBA69}"/>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1">
            <a:extLst xmlns:a="http://schemas.openxmlformats.org/drawingml/2006/main">
              <a:ext uri="{FF2B5EF4-FFF2-40B4-BE49-F238E27FC236}">
                <a16:creationId xmlns:a16="http://schemas.microsoft.com/office/drawing/2014/main" id="{432C530B-89F6-45F0-9A62-2B17B438EA89}"/>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1">
            <a:extLst xmlns:a="http://schemas.openxmlformats.org/drawingml/2006/main">
              <a:ext uri="{FF2B5EF4-FFF2-40B4-BE49-F238E27FC236}">
                <a16:creationId xmlns:a16="http://schemas.microsoft.com/office/drawing/2014/main" id="{EA995694-0084-45B9-8FDA-3F755E0D9534}"/>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TRAJECTORY EVIDENCE</a:t>
            </a:r>
          </a:p>
        </p:txBody>
      </p:sp>
      <p:sp>
        <p:nvSpPr>
          <p:cNvPr id="4" name="title-11">
            <a:extLst xmlns:a="http://schemas.openxmlformats.org/drawingml/2006/main">
              <a:ext uri="{FF2B5EF4-FFF2-40B4-BE49-F238E27FC236}">
                <a16:creationId xmlns:a16="http://schemas.microsoft.com/office/drawing/2014/main" id="{F135672C-524A-4DE5-A8B0-D35B7E79BE41}"/>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一条完整轨迹：从模糊诉求到安全 side effect</a:t>
            </a:r>
          </a:p>
        </p:txBody>
      </p:sp>
      <p:sp>
        <p:nvSpPr>
          <p:cNvPr id="5" name="subtitle-11">
            <a:extLst xmlns:a="http://schemas.openxmlformats.org/drawingml/2006/main">
              <a:ext uri="{FF2B5EF4-FFF2-40B4-BE49-F238E27FC236}">
                <a16:creationId xmlns:a16="http://schemas.microsoft.com/office/drawing/2014/main" id="{A104AD44-4749-45A6-A5F0-9662ABBBE654}"/>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task=refund-final_holdout-0204 · reward=1.248 · SUCCESS</a:t>
            </a:r>
          </a:p>
        </p:txBody>
      </p:sp>
      <p:sp>
        <p:nvSpPr>
          <p:cNvPr id="6" name="">
            <a:extLst xmlns:a="http://schemas.openxmlformats.org/drawingml/2006/main">
              <a:ext uri="{FF2B5EF4-FFF2-40B4-BE49-F238E27FC236}">
                <a16:creationId xmlns:a16="http://schemas.microsoft.com/office/drawing/2014/main" id="{EC57AF87-BA96-4233-AF64-0DBEAE25FDC4}"/>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1">
            <a:extLst xmlns:a="http://schemas.openxmlformats.org/drawingml/2006/main">
              <a:ext uri="{FF2B5EF4-FFF2-40B4-BE49-F238E27FC236}">
                <a16:creationId xmlns:a16="http://schemas.microsoft.com/office/drawing/2014/main" id="{CFA9DF39-F2DC-453D-B81F-2A57FBB049BB}"/>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11</a:t>
            </a:r>
          </a:p>
        </p:txBody>
      </p:sp>
      <p:sp>
        <p:nvSpPr>
          <p:cNvPr id="8" name="traj-spine">
            <a:extLst xmlns:a="http://schemas.openxmlformats.org/drawingml/2006/main">
              <a:ext uri="{FF2B5EF4-FFF2-40B4-BE49-F238E27FC236}">
                <a16:creationId xmlns:a16="http://schemas.microsoft.com/office/drawing/2014/main" id="{DC75547B-04E8-4388-898B-5C060DC353CA}"/>
              </a:ext>
            </a:extLst>
          </p:cNvPr>
          <p:cNvSpPr>
            <a:spLocks xmlns:a="http://schemas.openxmlformats.org/drawingml/2006/main" noGrp="1"/>
          </p:cNvSpPr>
          <p:nvPr/>
        </p:nvSpPr>
        <p:spPr>
          <a:xfrm xmlns:a="http://schemas.openxmlformats.org/drawingml/2006/main">
            <a:off x="1162050" y="2324100"/>
            <a:ext cx="28575" cy="3200400"/>
          </a:xfrm>
          <a:prstGeom xmlns:a="http://schemas.openxmlformats.org/drawingml/2006/main" prst="rect">
            <a:avLst/>
          </a:prstGeom>
          <a:solidFill xmlns:a="http://schemas.openxmlformats.org/drawingml/2006/main">
            <a:srgbClr val="CAD9D8"/>
          </a:solidFill>
          <a:ln xmlns:a="http://schemas.openxmlformats.org/drawingml/2006/main" w="0">
            <a:solidFill>
              <a:srgbClr val="CAD9D8"/>
            </a:solidFill>
            <a:prstDash val="solid"/>
          </a:ln>
        </p:spPr>
      </p:sp>
      <p:sp>
        <p:nvSpPr>
          <p:cNvPr id="9" name="traj-dot-0">
            <a:extLst xmlns:a="http://schemas.openxmlformats.org/drawingml/2006/main">
              <a:ext uri="{FF2B5EF4-FFF2-40B4-BE49-F238E27FC236}">
                <a16:creationId xmlns:a16="http://schemas.microsoft.com/office/drawing/2014/main" id="{C8F70D9B-F784-4DEE-B2F3-A4A0C7E18E57}"/>
              </a:ext>
            </a:extLst>
          </p:cNvPr>
          <p:cNvSpPr>
            <a:spLocks xmlns:a="http://schemas.openxmlformats.org/drawingml/2006/main" noGrp="1"/>
          </p:cNvSpPr>
          <p:nvPr/>
        </p:nvSpPr>
        <p:spPr>
          <a:xfrm xmlns:a="http://schemas.openxmlformats.org/drawingml/2006/main">
            <a:off x="1000125" y="2143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0" name="traj-num-0">
            <a:extLst xmlns:a="http://schemas.openxmlformats.org/drawingml/2006/main">
              <a:ext uri="{FF2B5EF4-FFF2-40B4-BE49-F238E27FC236}">
                <a16:creationId xmlns:a16="http://schemas.microsoft.com/office/drawing/2014/main" id="{D23037C4-5DE2-42E1-97C7-20DCB9F0C7DD}"/>
              </a:ext>
            </a:extLst>
          </p:cNvPr>
          <p:cNvSpPr>
            <a:spLocks xmlns:a="http://schemas.openxmlformats.org/drawingml/2006/main" noGrp="1"/>
          </p:cNvSpPr>
          <p:nvPr/>
        </p:nvSpPr>
        <p:spPr>
          <a:xfrm xmlns:a="http://schemas.openxmlformats.org/drawingml/2006/main">
            <a:off x="1000125" y="2209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1</a:t>
            </a:r>
          </a:p>
        </p:txBody>
      </p:sp>
      <p:sp>
        <p:nvSpPr>
          <p:cNvPr id="11" name="traj-tool-0">
            <a:extLst xmlns:a="http://schemas.openxmlformats.org/drawingml/2006/main">
              <a:ext uri="{FF2B5EF4-FFF2-40B4-BE49-F238E27FC236}">
                <a16:creationId xmlns:a16="http://schemas.microsoft.com/office/drawing/2014/main" id="{25262CB1-A164-4DD6-99D0-4281D36D4773}"/>
              </a:ext>
            </a:extLst>
          </p:cNvPr>
          <p:cNvSpPr>
            <a:spLocks xmlns:a="http://schemas.openxmlformats.org/drawingml/2006/main" noGrp="1"/>
          </p:cNvSpPr>
          <p:nvPr/>
        </p:nvSpPr>
        <p:spPr>
          <a:xfrm xmlns:a="http://schemas.openxmlformats.org/drawingml/2006/main">
            <a:off x="1666875" y="2133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request_identity</a:t>
            </a:r>
          </a:p>
        </p:txBody>
      </p:sp>
      <p:sp>
        <p:nvSpPr>
          <p:cNvPr id="12" name="traj-obs-0">
            <a:extLst xmlns:a="http://schemas.openxmlformats.org/drawingml/2006/main">
              <a:ext uri="{FF2B5EF4-FFF2-40B4-BE49-F238E27FC236}">
                <a16:creationId xmlns:a16="http://schemas.microsoft.com/office/drawing/2014/main" id="{2F43E74B-C511-4EEC-988E-A8822A577EC5}"/>
              </a:ext>
            </a:extLst>
          </p:cNvPr>
          <p:cNvSpPr>
            <a:spLocks xmlns:a="http://schemas.openxmlformats.org/drawingml/2006/main" noGrp="1"/>
          </p:cNvSpPr>
          <p:nvPr/>
        </p:nvSpPr>
        <p:spPr>
          <a:xfrm xmlns:a="http://schemas.openxmlformats.org/drawingml/2006/main">
            <a:off x="4333875" y="2133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{"email":"customer0204@example.com","phone_last4":"2369"}</a:t>
            </a:r>
          </a:p>
        </p:txBody>
      </p:sp>
      <p:sp>
        <p:nvSpPr>
          <p:cNvPr id="13" name="traj-dot-1">
            <a:extLst xmlns:a="http://schemas.openxmlformats.org/drawingml/2006/main">
              <a:ext uri="{FF2B5EF4-FFF2-40B4-BE49-F238E27FC236}">
                <a16:creationId xmlns:a16="http://schemas.microsoft.com/office/drawing/2014/main" id="{9D2791AA-BB3A-454B-9A57-D64E94119975}"/>
              </a:ext>
            </a:extLst>
          </p:cNvPr>
          <p:cNvSpPr>
            <a:spLocks xmlns:a="http://schemas.openxmlformats.org/drawingml/2006/main" noGrp="1"/>
          </p:cNvSpPr>
          <p:nvPr/>
        </p:nvSpPr>
        <p:spPr>
          <a:xfrm xmlns:a="http://schemas.openxmlformats.org/drawingml/2006/main">
            <a:off x="1000125" y="2676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4" name="traj-num-1">
            <a:extLst xmlns:a="http://schemas.openxmlformats.org/drawingml/2006/main">
              <a:ext uri="{FF2B5EF4-FFF2-40B4-BE49-F238E27FC236}">
                <a16:creationId xmlns:a16="http://schemas.microsoft.com/office/drawing/2014/main" id="{DE93DADA-758D-45DB-9C44-EA0FE946AC8F}"/>
              </a:ext>
            </a:extLst>
          </p:cNvPr>
          <p:cNvSpPr>
            <a:spLocks xmlns:a="http://schemas.openxmlformats.org/drawingml/2006/main" noGrp="1"/>
          </p:cNvSpPr>
          <p:nvPr/>
        </p:nvSpPr>
        <p:spPr>
          <a:xfrm xmlns:a="http://schemas.openxmlformats.org/drawingml/2006/main">
            <a:off x="1000125" y="2743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2</a:t>
            </a:r>
          </a:p>
        </p:txBody>
      </p:sp>
      <p:sp>
        <p:nvSpPr>
          <p:cNvPr id="15" name="traj-tool-1">
            <a:extLst xmlns:a="http://schemas.openxmlformats.org/drawingml/2006/main">
              <a:ext uri="{FF2B5EF4-FFF2-40B4-BE49-F238E27FC236}">
                <a16:creationId xmlns:a16="http://schemas.microsoft.com/office/drawing/2014/main" id="{C7C0E9C7-A056-4E90-83DB-07F43A713384}"/>
              </a:ext>
            </a:extLst>
          </p:cNvPr>
          <p:cNvSpPr>
            <a:spLocks xmlns:a="http://schemas.openxmlformats.org/drawingml/2006/main" noGrp="1"/>
          </p:cNvSpPr>
          <p:nvPr/>
        </p:nvSpPr>
        <p:spPr>
          <a:xfrm xmlns:a="http://schemas.openxmlformats.org/drawingml/2006/main">
            <a:off x="1666875" y="2667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lookup_customer</a:t>
            </a:r>
          </a:p>
        </p:txBody>
      </p:sp>
      <p:sp>
        <p:nvSpPr>
          <p:cNvPr id="16" name="traj-obs-1">
            <a:extLst xmlns:a="http://schemas.openxmlformats.org/drawingml/2006/main">
              <a:ext uri="{FF2B5EF4-FFF2-40B4-BE49-F238E27FC236}">
                <a16:creationId xmlns:a16="http://schemas.microsoft.com/office/drawing/2014/main" id="{1DBF575B-B63A-44BB-A946-BC263DE074D6}"/>
              </a:ext>
            </a:extLst>
          </p:cNvPr>
          <p:cNvSpPr>
            <a:spLocks xmlns:a="http://schemas.openxmlformats.org/drawingml/2006/main" noGrp="1"/>
          </p:cNvSpPr>
          <p:nvPr/>
        </p:nvSpPr>
        <p:spPr>
          <a:xfrm xmlns:a="http://schemas.openxmlformats.org/drawingml/2006/main">
            <a:off x="4333875" y="2667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{"customer_id":"CUS-1204","verified":true}</a:t>
            </a:r>
          </a:p>
        </p:txBody>
      </p:sp>
      <p:sp>
        <p:nvSpPr>
          <p:cNvPr id="17" name="traj-dot-2">
            <a:extLst xmlns:a="http://schemas.openxmlformats.org/drawingml/2006/main">
              <a:ext uri="{FF2B5EF4-FFF2-40B4-BE49-F238E27FC236}">
                <a16:creationId xmlns:a16="http://schemas.microsoft.com/office/drawing/2014/main" id="{AF94B954-C75E-4CF1-B30B-09B673B806F3}"/>
              </a:ext>
            </a:extLst>
          </p:cNvPr>
          <p:cNvSpPr>
            <a:spLocks xmlns:a="http://schemas.openxmlformats.org/drawingml/2006/main" noGrp="1"/>
          </p:cNvSpPr>
          <p:nvPr/>
        </p:nvSpPr>
        <p:spPr>
          <a:xfrm xmlns:a="http://schemas.openxmlformats.org/drawingml/2006/main">
            <a:off x="1000125" y="32099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18" name="traj-num-2">
            <a:extLst xmlns:a="http://schemas.openxmlformats.org/drawingml/2006/main">
              <a:ext uri="{FF2B5EF4-FFF2-40B4-BE49-F238E27FC236}">
                <a16:creationId xmlns:a16="http://schemas.microsoft.com/office/drawing/2014/main" id="{70AED5EB-52DF-4CC1-918D-B12D8389424F}"/>
              </a:ext>
            </a:extLst>
          </p:cNvPr>
          <p:cNvSpPr>
            <a:spLocks xmlns:a="http://schemas.openxmlformats.org/drawingml/2006/main" noGrp="1"/>
          </p:cNvSpPr>
          <p:nvPr/>
        </p:nvSpPr>
        <p:spPr>
          <a:xfrm xmlns:a="http://schemas.openxmlformats.org/drawingml/2006/main">
            <a:off x="1000125" y="32766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3</a:t>
            </a:r>
          </a:p>
        </p:txBody>
      </p:sp>
      <p:sp>
        <p:nvSpPr>
          <p:cNvPr id="19" name="traj-tool-2">
            <a:extLst xmlns:a="http://schemas.openxmlformats.org/drawingml/2006/main">
              <a:ext uri="{FF2B5EF4-FFF2-40B4-BE49-F238E27FC236}">
                <a16:creationId xmlns:a16="http://schemas.microsoft.com/office/drawing/2014/main" id="{2C23F83E-C3AE-41D5-B7B8-29F6D44714E0}"/>
              </a:ext>
            </a:extLst>
          </p:cNvPr>
          <p:cNvSpPr>
            <a:spLocks xmlns:a="http://schemas.openxmlformats.org/drawingml/2006/main" noGrp="1"/>
          </p:cNvSpPr>
          <p:nvPr/>
        </p:nvSpPr>
        <p:spPr>
          <a:xfrm xmlns:a="http://schemas.openxmlformats.org/drawingml/2006/main">
            <a:off x="1666875" y="32004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list_orders</a:t>
            </a:r>
          </a:p>
        </p:txBody>
      </p:sp>
      <p:sp>
        <p:nvSpPr>
          <p:cNvPr id="20" name="traj-obs-2">
            <a:extLst xmlns:a="http://schemas.openxmlformats.org/drawingml/2006/main">
              <a:ext uri="{FF2B5EF4-FFF2-40B4-BE49-F238E27FC236}">
                <a16:creationId xmlns:a16="http://schemas.microsoft.com/office/drawing/2014/main" id="{E4DFC978-D59A-4D27-8828-12DE90B01089}"/>
              </a:ext>
            </a:extLst>
          </p:cNvPr>
          <p:cNvSpPr>
            <a:spLocks xmlns:a="http://schemas.openxmlformats.org/drawingml/2006/main" noGrp="1"/>
          </p:cNvSpPr>
          <p:nvPr/>
        </p:nvSpPr>
        <p:spPr>
          <a:xfrm xmlns:a="http://schemas.openxmlformats.org/drawingml/2006/main">
            <a:off x="4333875" y="32004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{"orders":[{"amount":349,"currency":"CNY","order_id":"ORD-2026-4204"},{"amount":478.13,…</a:t>
            </a:r>
          </a:p>
        </p:txBody>
      </p:sp>
      <p:sp>
        <p:nvSpPr>
          <p:cNvPr id="21" name="traj-dot-3">
            <a:extLst xmlns:a="http://schemas.openxmlformats.org/drawingml/2006/main">
              <a:ext uri="{FF2B5EF4-FFF2-40B4-BE49-F238E27FC236}">
                <a16:creationId xmlns:a16="http://schemas.microsoft.com/office/drawing/2014/main" id="{F0394C59-8F4F-42DE-874A-0766AA20AF7A}"/>
              </a:ext>
            </a:extLst>
          </p:cNvPr>
          <p:cNvSpPr>
            <a:spLocks xmlns:a="http://schemas.openxmlformats.org/drawingml/2006/main" noGrp="1"/>
          </p:cNvSpPr>
          <p:nvPr/>
        </p:nvSpPr>
        <p:spPr>
          <a:xfrm xmlns:a="http://schemas.openxmlformats.org/drawingml/2006/main">
            <a:off x="1000125" y="37433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2" name="traj-num-3">
            <a:extLst xmlns:a="http://schemas.openxmlformats.org/drawingml/2006/main">
              <a:ext uri="{FF2B5EF4-FFF2-40B4-BE49-F238E27FC236}">
                <a16:creationId xmlns:a16="http://schemas.microsoft.com/office/drawing/2014/main" id="{590BE3E3-2060-4A7B-936E-4443BD14D99B}"/>
              </a:ext>
            </a:extLst>
          </p:cNvPr>
          <p:cNvSpPr>
            <a:spLocks xmlns:a="http://schemas.openxmlformats.org/drawingml/2006/main" noGrp="1"/>
          </p:cNvSpPr>
          <p:nvPr/>
        </p:nvSpPr>
        <p:spPr>
          <a:xfrm xmlns:a="http://schemas.openxmlformats.org/drawingml/2006/main">
            <a:off x="1000125" y="38100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4</a:t>
            </a:r>
          </a:p>
        </p:txBody>
      </p:sp>
      <p:sp>
        <p:nvSpPr>
          <p:cNvPr id="23" name="traj-tool-3">
            <a:extLst xmlns:a="http://schemas.openxmlformats.org/drawingml/2006/main">
              <a:ext uri="{FF2B5EF4-FFF2-40B4-BE49-F238E27FC236}">
                <a16:creationId xmlns:a16="http://schemas.microsoft.com/office/drawing/2014/main" id="{F80E561B-8F55-4934-AE67-FB3F66306A98}"/>
              </a:ext>
            </a:extLst>
          </p:cNvPr>
          <p:cNvSpPr>
            <a:spLocks xmlns:a="http://schemas.openxmlformats.org/drawingml/2006/main" noGrp="1"/>
          </p:cNvSpPr>
          <p:nvPr/>
        </p:nvSpPr>
        <p:spPr>
          <a:xfrm xmlns:a="http://schemas.openxmlformats.org/drawingml/2006/main">
            <a:off x="1666875" y="37338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get_payment_history</a:t>
            </a:r>
          </a:p>
        </p:txBody>
      </p:sp>
      <p:sp>
        <p:nvSpPr>
          <p:cNvPr id="24" name="traj-obs-3">
            <a:extLst xmlns:a="http://schemas.openxmlformats.org/drawingml/2006/main">
              <a:ext uri="{FF2B5EF4-FFF2-40B4-BE49-F238E27FC236}">
                <a16:creationId xmlns:a16="http://schemas.microsoft.com/office/drawing/2014/main" id="{D4AE48B6-B475-4F76-AD08-0E2E66C46B2E}"/>
              </a:ext>
            </a:extLst>
          </p:cNvPr>
          <p:cNvSpPr>
            <a:spLocks xmlns:a="http://schemas.openxmlformats.org/drawingml/2006/main" noGrp="1"/>
          </p:cNvSpPr>
          <p:nvPr/>
        </p:nvSpPr>
        <p:spPr>
          <a:xfrm xmlns:a="http://schemas.openxmlformats.org/drawingml/2006/main">
            <a:off x="4333875" y="37338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{"charges":[{"amount":349,"captured_at":"2026-07-25T09:31:08+08:00","charge_id":"CHG-74…</a:t>
            </a:r>
          </a:p>
        </p:txBody>
      </p:sp>
      <p:sp>
        <p:nvSpPr>
          <p:cNvPr id="25" name="traj-dot-4">
            <a:extLst xmlns:a="http://schemas.openxmlformats.org/drawingml/2006/main">
              <a:ext uri="{FF2B5EF4-FFF2-40B4-BE49-F238E27FC236}">
                <a16:creationId xmlns:a16="http://schemas.microsoft.com/office/drawing/2014/main" id="{6FC548C1-1B14-4DFF-BD83-B5606A05DEEA}"/>
              </a:ext>
            </a:extLst>
          </p:cNvPr>
          <p:cNvSpPr>
            <a:spLocks xmlns:a="http://schemas.openxmlformats.org/drawingml/2006/main" noGrp="1"/>
          </p:cNvSpPr>
          <p:nvPr/>
        </p:nvSpPr>
        <p:spPr>
          <a:xfrm xmlns:a="http://schemas.openxmlformats.org/drawingml/2006/main">
            <a:off x="1000125" y="42767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26" name="traj-num-4">
            <a:extLst xmlns:a="http://schemas.openxmlformats.org/drawingml/2006/main">
              <a:ext uri="{FF2B5EF4-FFF2-40B4-BE49-F238E27FC236}">
                <a16:creationId xmlns:a16="http://schemas.microsoft.com/office/drawing/2014/main" id="{BFE22536-D06A-4F10-8389-C0DCA08CEFFB}"/>
              </a:ext>
            </a:extLst>
          </p:cNvPr>
          <p:cNvSpPr>
            <a:spLocks xmlns:a="http://schemas.openxmlformats.org/drawingml/2006/main" noGrp="1"/>
          </p:cNvSpPr>
          <p:nvPr/>
        </p:nvSpPr>
        <p:spPr>
          <a:xfrm xmlns:a="http://schemas.openxmlformats.org/drawingml/2006/main">
            <a:off x="1000125" y="43434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5</a:t>
            </a:r>
          </a:p>
        </p:txBody>
      </p:sp>
      <p:sp>
        <p:nvSpPr>
          <p:cNvPr id="27" name="traj-tool-4">
            <a:extLst xmlns:a="http://schemas.openxmlformats.org/drawingml/2006/main">
              <a:ext uri="{FF2B5EF4-FFF2-40B4-BE49-F238E27FC236}">
                <a16:creationId xmlns:a16="http://schemas.microsoft.com/office/drawing/2014/main" id="{AECC7637-40E9-4FB3-BE73-20A0F4519599}"/>
              </a:ext>
            </a:extLst>
          </p:cNvPr>
          <p:cNvSpPr>
            <a:spLocks xmlns:a="http://schemas.openxmlformats.org/drawingml/2006/main" noGrp="1"/>
          </p:cNvSpPr>
          <p:nvPr/>
        </p:nvSpPr>
        <p:spPr>
          <a:xfrm xmlns:a="http://schemas.openxmlformats.org/drawingml/2006/main">
            <a:off x="1666875" y="4267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get_refund_policy</a:t>
            </a:r>
          </a:p>
        </p:txBody>
      </p:sp>
      <p:sp>
        <p:nvSpPr>
          <p:cNvPr id="28" name="traj-obs-4">
            <a:extLst xmlns:a="http://schemas.openxmlformats.org/drawingml/2006/main">
              <a:ext uri="{FF2B5EF4-FFF2-40B4-BE49-F238E27FC236}">
                <a16:creationId xmlns:a16="http://schemas.microsoft.com/office/drawing/2014/main" id="{87E339A4-860B-4BFC-BC56-F0E0B61377F9}"/>
              </a:ext>
            </a:extLst>
          </p:cNvPr>
          <p:cNvSpPr>
            <a:spLocks xmlns:a="http://schemas.openxmlformats.org/drawingml/2006/main" noGrp="1"/>
          </p:cNvSpPr>
          <p:nvPr/>
        </p:nvSpPr>
        <p:spPr>
          <a:xfrm xmlns:a="http://schemas.openxmlformats.org/drawingml/2006/main">
            <a:off x="4333875" y="42672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{"arrival_window":"3-5 business days","currency":"CNY","eligible":true,"max_refund":349…</a:t>
            </a:r>
          </a:p>
        </p:txBody>
      </p:sp>
      <p:sp>
        <p:nvSpPr>
          <p:cNvPr id="29" name="traj-dot-5">
            <a:extLst xmlns:a="http://schemas.openxmlformats.org/drawingml/2006/main">
              <a:ext uri="{FF2B5EF4-FFF2-40B4-BE49-F238E27FC236}">
                <a16:creationId xmlns:a16="http://schemas.microsoft.com/office/drawing/2014/main" id="{AF89F9B8-CD1F-442B-A759-37E7A0E6A87D}"/>
              </a:ext>
            </a:extLst>
          </p:cNvPr>
          <p:cNvSpPr>
            <a:spLocks xmlns:a="http://schemas.openxmlformats.org/drawingml/2006/main" noGrp="1"/>
          </p:cNvSpPr>
          <p:nvPr/>
        </p:nvSpPr>
        <p:spPr>
          <a:xfrm xmlns:a="http://schemas.openxmlformats.org/drawingml/2006/main">
            <a:off x="1000125" y="48101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0" name="traj-num-5">
            <a:extLst xmlns:a="http://schemas.openxmlformats.org/drawingml/2006/main">
              <a:ext uri="{FF2B5EF4-FFF2-40B4-BE49-F238E27FC236}">
                <a16:creationId xmlns:a16="http://schemas.microsoft.com/office/drawing/2014/main" id="{24BB051D-8FFC-4DBF-A710-D057FC26123F}"/>
              </a:ext>
            </a:extLst>
          </p:cNvPr>
          <p:cNvSpPr>
            <a:spLocks xmlns:a="http://schemas.openxmlformats.org/drawingml/2006/main" noGrp="1"/>
          </p:cNvSpPr>
          <p:nvPr/>
        </p:nvSpPr>
        <p:spPr>
          <a:xfrm xmlns:a="http://schemas.openxmlformats.org/drawingml/2006/main">
            <a:off x="1000125" y="48768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6</a:t>
            </a:r>
          </a:p>
        </p:txBody>
      </p:sp>
      <p:sp>
        <p:nvSpPr>
          <p:cNvPr id="31" name="traj-tool-5">
            <a:extLst xmlns:a="http://schemas.openxmlformats.org/drawingml/2006/main">
              <a:ext uri="{FF2B5EF4-FFF2-40B4-BE49-F238E27FC236}">
                <a16:creationId xmlns:a16="http://schemas.microsoft.com/office/drawing/2014/main" id="{75C6DEE8-B15B-4A81-8CCD-15359D5182D2}"/>
              </a:ext>
            </a:extLst>
          </p:cNvPr>
          <p:cNvSpPr>
            <a:spLocks xmlns:a="http://schemas.openxmlformats.org/drawingml/2006/main" noGrp="1"/>
          </p:cNvSpPr>
          <p:nvPr/>
        </p:nvSpPr>
        <p:spPr>
          <a:xfrm xmlns:a="http://schemas.openxmlformats.org/drawingml/2006/main">
            <a:off x="1666875" y="4800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request_confirmation</a:t>
            </a:r>
          </a:p>
        </p:txBody>
      </p:sp>
      <p:sp>
        <p:nvSpPr>
          <p:cNvPr id="32" name="traj-obs-5">
            <a:extLst xmlns:a="http://schemas.openxmlformats.org/drawingml/2006/main">
              <a:ext uri="{FF2B5EF4-FFF2-40B4-BE49-F238E27FC236}">
                <a16:creationId xmlns:a16="http://schemas.microsoft.com/office/drawing/2014/main" id="{7802E3D6-3E23-43CD-8C9F-0A652B76D92D}"/>
              </a:ext>
            </a:extLst>
          </p:cNvPr>
          <p:cNvSpPr>
            <a:spLocks xmlns:a="http://schemas.openxmlformats.org/drawingml/2006/main" noGrp="1"/>
          </p:cNvSpPr>
          <p:nvPr/>
        </p:nvSpPr>
        <p:spPr>
          <a:xfrm xmlns:a="http://schemas.openxmlformats.org/drawingml/2006/main">
            <a:off x="4333875" y="48006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{"confirmed":true,"user_message":"I confirm refunding only CHG-7409 for CNY 349.00."}</a:t>
            </a:r>
          </a:p>
        </p:txBody>
      </p:sp>
      <p:sp>
        <p:nvSpPr>
          <p:cNvPr id="33" name="traj-dot-6">
            <a:extLst xmlns:a="http://schemas.openxmlformats.org/drawingml/2006/main">
              <a:ext uri="{FF2B5EF4-FFF2-40B4-BE49-F238E27FC236}">
                <a16:creationId xmlns:a16="http://schemas.microsoft.com/office/drawing/2014/main" id="{8A0D250F-4CED-4F9B-A821-85F0A78F2C4C}"/>
              </a:ext>
            </a:extLst>
          </p:cNvPr>
          <p:cNvSpPr>
            <a:spLocks xmlns:a="http://schemas.openxmlformats.org/drawingml/2006/main" noGrp="1"/>
          </p:cNvSpPr>
          <p:nvPr/>
        </p:nvSpPr>
        <p:spPr>
          <a:xfrm xmlns:a="http://schemas.openxmlformats.org/drawingml/2006/main">
            <a:off x="1000125" y="5343525"/>
            <a:ext cx="342900" cy="342900"/>
          </a:xfrm>
          <a:prstGeom xmlns:a="http://schemas.openxmlformats.org/drawingml/2006/main" prst="roundRect">
            <a:avLst>
              <a:gd name="adj" fmla="val 50000"/>
            </a:avLst>
          </a:prstGeom>
          <a:solidFill xmlns:a="http://schemas.openxmlformats.org/drawingml/2006/main">
            <a:srgbClr val="18A6A6"/>
          </a:solidFill>
          <a:ln xmlns:a="http://schemas.openxmlformats.org/drawingml/2006/main" w="0">
            <a:solidFill>
              <a:srgbClr val="18A6A6"/>
            </a:solidFill>
            <a:prstDash val="solid"/>
          </a:ln>
        </p:spPr>
      </p:sp>
      <p:sp>
        <p:nvSpPr>
          <p:cNvPr id="34" name="traj-num-6">
            <a:extLst xmlns:a="http://schemas.openxmlformats.org/drawingml/2006/main">
              <a:ext uri="{FF2B5EF4-FFF2-40B4-BE49-F238E27FC236}">
                <a16:creationId xmlns:a16="http://schemas.microsoft.com/office/drawing/2014/main" id="{E0A417D9-3D2D-4C91-87F6-42BF47856AB6}"/>
              </a:ext>
            </a:extLst>
          </p:cNvPr>
          <p:cNvSpPr>
            <a:spLocks xmlns:a="http://schemas.openxmlformats.org/drawingml/2006/main" noGrp="1"/>
          </p:cNvSpPr>
          <p:nvPr/>
        </p:nvSpPr>
        <p:spPr>
          <a:xfrm xmlns:a="http://schemas.openxmlformats.org/drawingml/2006/main">
            <a:off x="1000125" y="541020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FFFFF"/>
                </a:solidFill>
              </a:defRPr>
            </a:pPr>
            <a:r>
              <a:rPr sz="1050" b="1">
                <a:solidFill>
                  <a:srgbClr val="FFFFFF"/>
                </a:solidFill>
              </a:rPr>
              <a:t>7</a:t>
            </a:r>
          </a:p>
        </p:txBody>
      </p:sp>
      <p:sp>
        <p:nvSpPr>
          <p:cNvPr id="35" name="traj-tool-6">
            <a:extLst xmlns:a="http://schemas.openxmlformats.org/drawingml/2006/main">
              <a:ext uri="{FF2B5EF4-FFF2-40B4-BE49-F238E27FC236}">
                <a16:creationId xmlns:a16="http://schemas.microsoft.com/office/drawing/2014/main" id="{B03F13E5-F588-45C4-BB3F-1037D8765C98}"/>
              </a:ext>
            </a:extLst>
          </p:cNvPr>
          <p:cNvSpPr>
            <a:spLocks xmlns:a="http://schemas.openxmlformats.org/drawingml/2006/main" noGrp="1"/>
          </p:cNvSpPr>
          <p:nvPr/>
        </p:nvSpPr>
        <p:spPr>
          <a:xfrm xmlns:a="http://schemas.openxmlformats.org/drawingml/2006/main">
            <a:off x="1666875" y="53340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create_refund</a:t>
            </a:r>
          </a:p>
        </p:txBody>
      </p:sp>
      <p:sp>
        <p:nvSpPr>
          <p:cNvPr id="36" name="traj-obs-6">
            <a:extLst xmlns:a="http://schemas.openxmlformats.org/drawingml/2006/main">
              <a:ext uri="{FF2B5EF4-FFF2-40B4-BE49-F238E27FC236}">
                <a16:creationId xmlns:a16="http://schemas.microsoft.com/office/drawing/2014/main" id="{01E9F964-A657-4C68-AA4E-6949F0D19274}"/>
              </a:ext>
            </a:extLst>
          </p:cNvPr>
          <p:cNvSpPr>
            <a:spLocks xmlns:a="http://schemas.openxmlformats.org/drawingml/2006/main" noGrp="1"/>
          </p:cNvSpPr>
          <p:nvPr/>
        </p:nvSpPr>
        <p:spPr>
          <a:xfrm xmlns:a="http://schemas.openxmlformats.org/drawingml/2006/main">
            <a:off x="4333875" y="5334000"/>
            <a:ext cx="647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900">
                <a:solidFill>
                  <a:srgbClr val="64747B"/>
                </a:solidFill>
              </a:defRPr>
            </a:pPr>
            <a:r>
              <a:rPr sz="900">
                <a:solidFill>
                  <a:srgbClr val="64747B"/>
                </a:solidFill>
              </a:rPr>
              <a:t>{"amount":349,"arrival_window":"3-5 business days","currency":"CNY","refund_id":"RF-275…</a:t>
            </a:r>
          </a:p>
        </p:txBody>
      </p:sp>
      <p:sp>
        <p:nvSpPr>
          <p:cNvPr id="37" name="traj-outcome-bg">
            <a:extLst xmlns:a="http://schemas.openxmlformats.org/drawingml/2006/main">
              <a:ext uri="{FF2B5EF4-FFF2-40B4-BE49-F238E27FC236}">
                <a16:creationId xmlns:a16="http://schemas.microsoft.com/office/drawing/2014/main" id="{0E1B44D5-FCCC-44E2-A5AE-00F194C5B1AE}"/>
              </a:ext>
            </a:extLst>
          </p:cNvPr>
          <p:cNvSpPr>
            <a:spLocks xmlns:a="http://schemas.openxmlformats.org/drawingml/2006/main" noGrp="1"/>
          </p:cNvSpPr>
          <p:nvPr/>
        </p:nvSpPr>
        <p:spPr>
          <a:xfrm xmlns:a="http://schemas.openxmlformats.org/drawingml/2006/main">
            <a:off x="8191500" y="5753100"/>
            <a:ext cx="2381250"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traj-outcome-text">
            <a:extLst xmlns:a="http://schemas.openxmlformats.org/drawingml/2006/main">
              <a:ext uri="{FF2B5EF4-FFF2-40B4-BE49-F238E27FC236}">
                <a16:creationId xmlns:a16="http://schemas.microsoft.com/office/drawing/2014/main" id="{3F7AD9FA-52B4-43A7-B4B6-419A635BF2BE}"/>
              </a:ext>
            </a:extLst>
          </p:cNvPr>
          <p:cNvSpPr>
            <a:spLocks xmlns:a="http://schemas.openxmlformats.org/drawingml/2006/main" noGrp="1"/>
          </p:cNvSpPr>
          <p:nvPr/>
        </p:nvSpPr>
        <p:spPr>
          <a:xfrm xmlns:a="http://schemas.openxmlformats.org/drawingml/2006/main">
            <a:off x="8286750" y="5800725"/>
            <a:ext cx="2190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EXACT OUTCOME PASS</a:t>
            </a:r>
          </a:p>
        </p:txBody>
      </p:sp>
    </p:spTree>
    <p:extLst>
      <p:ext uri="{BB962C8B-B14F-4D97-AF65-F5344CB8AC3E}">
        <p14:creationId xmlns:p14="http://schemas.microsoft.com/office/powerpoint/2010/main" val="1166656885"/>
      </p:ext>
    </p:extLst>
  </p:cSld>
</p:sld>
</file>

<file path=ppt/slides/slide12.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14" name="rail-12">
            <a:extLst xmlns:a="http://schemas.openxmlformats.org/drawingml/2006/main">
              <a:ext uri="{FF2B5EF4-FFF2-40B4-BE49-F238E27FC236}">
                <a16:creationId xmlns:a16="http://schemas.microsoft.com/office/drawing/2014/main" id="{A984D337-9C3C-41A4-88E8-92B6440D27B2}"/>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2">
            <a:extLst xmlns:a="http://schemas.openxmlformats.org/drawingml/2006/main">
              <a:ext uri="{FF2B5EF4-FFF2-40B4-BE49-F238E27FC236}">
                <a16:creationId xmlns:a16="http://schemas.microsoft.com/office/drawing/2014/main" id="{9AD2B6A5-D52D-4700-815C-0559E6DF5A25}"/>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2">
            <a:extLst xmlns:a="http://schemas.openxmlformats.org/drawingml/2006/main">
              <a:ext uri="{FF2B5EF4-FFF2-40B4-BE49-F238E27FC236}">
                <a16:creationId xmlns:a16="http://schemas.microsoft.com/office/drawing/2014/main" id="{561371D5-F5A6-4F37-A50B-7150EA8F9ECD}"/>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BENCHMARK BOUNDARY</a:t>
            </a:r>
          </a:p>
        </p:txBody>
      </p:sp>
      <p:sp>
        <p:nvSpPr>
          <p:cNvPr id="4" name="title-12">
            <a:extLst xmlns:a="http://schemas.openxmlformats.org/drawingml/2006/main">
              <a:ext uri="{FF2B5EF4-FFF2-40B4-BE49-F238E27FC236}">
                <a16:creationId xmlns:a16="http://schemas.microsoft.com/office/drawing/2014/main" id="{7A504ABA-9BDB-4198-99A0-93BBB3CA735D}"/>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官方 benchmark 没跑，就不应该出现一个分数</a:t>
            </a:r>
          </a:p>
        </p:txBody>
      </p:sp>
      <p:sp>
        <p:nvSpPr>
          <p:cNvPr id="5" name="subtitle-12">
            <a:extLst xmlns:a="http://schemas.openxmlformats.org/drawingml/2006/main">
              <a:ext uri="{FF2B5EF4-FFF2-40B4-BE49-F238E27FC236}">
                <a16:creationId xmlns:a16="http://schemas.microsoft.com/office/drawing/2014/main" id="{0F997E42-AE1E-48C5-91D2-2F88B07B93BB}"/>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本次验证的是自建 stateful curriculum；BFCL/TAU-2 代码路径保留，但状态必须明确写成 NOT RUN。</a:t>
            </a:r>
          </a:p>
        </p:txBody>
      </p:sp>
      <p:sp>
        <p:nvSpPr>
          <p:cNvPr id="6" name="">
            <a:extLst xmlns:a="http://schemas.openxmlformats.org/drawingml/2006/main">
              <a:ext uri="{FF2B5EF4-FFF2-40B4-BE49-F238E27FC236}">
                <a16:creationId xmlns:a16="http://schemas.microsoft.com/office/drawing/2014/main" id="{EB5B6B54-A759-41EF-A1FF-B1524416B983}"/>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2">
            <a:extLst xmlns:a="http://schemas.openxmlformats.org/drawingml/2006/main">
              <a:ext uri="{FF2B5EF4-FFF2-40B4-BE49-F238E27FC236}">
                <a16:creationId xmlns:a16="http://schemas.microsoft.com/office/drawing/2014/main" id="{439F076A-BCC2-49F5-A297-6EFDBA9C1481}"/>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12</a:t>
            </a:r>
          </a:p>
        </p:txBody>
      </p:sp>
      <p:sp>
        <p:nvSpPr>
          <p:cNvPr id="8" name="benchmark-status">
            <a:extLst xmlns:a="http://schemas.openxmlformats.org/drawingml/2006/main">
              <a:ext uri="{FF2B5EF4-FFF2-40B4-BE49-F238E27FC236}">
                <a16:creationId xmlns:a16="http://schemas.microsoft.com/office/drawing/2014/main" id="{01D2B942-E666-4238-94FE-3885935FE395}"/>
              </a:ext>
            </a:extLst>
          </p:cNvPr>
          <p:cNvSpPr>
            <a:spLocks xmlns:a="http://schemas.openxmlformats.org/drawingml/2006/main" noGrp="1"/>
          </p:cNvSpPr>
          <p:nvPr/>
        </p:nvSpPr>
        <p:spPr>
          <a:xfrm xmlns:a="http://schemas.openxmlformats.org/drawingml/2006/main">
            <a:off x="714375" y="219075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5850" b="1">
                <a:solidFill>
                  <a:srgbClr val="C56D4A"/>
                </a:solidFill>
              </a:defRPr>
            </a:pPr>
            <a:r>
              <a:rPr sz="5850" b="1">
                <a:solidFill>
                  <a:srgbClr val="C56D4A"/>
                </a:solidFill>
              </a:rPr>
              <a:t>NOT RUN</a:t>
            </a:r>
          </a:p>
        </p:txBody>
      </p:sp>
      <p:sp>
        <p:nvSpPr>
          <p:cNvPr id="9" name="benchmark-label">
            <a:extLst xmlns:a="http://schemas.openxmlformats.org/drawingml/2006/main">
              <a:ext uri="{FF2B5EF4-FFF2-40B4-BE49-F238E27FC236}">
                <a16:creationId xmlns:a16="http://schemas.microsoft.com/office/drawing/2014/main" id="{3C72E84F-8AB8-4C7E-9232-3065B31F5DC7}"/>
              </a:ext>
            </a:extLst>
          </p:cNvPr>
          <p:cNvSpPr>
            <a:spLocks xmlns:a="http://schemas.openxmlformats.org/drawingml/2006/main" noGrp="1"/>
          </p:cNvSpPr>
          <p:nvPr/>
        </p:nvSpPr>
        <p:spPr>
          <a:xfrm xmlns:a="http://schemas.openxmlformats.org/drawingml/2006/main">
            <a:off x="904875" y="3762375"/>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71A2B"/>
                </a:solidFill>
              </a:defRPr>
            </a:pPr>
            <a:r>
              <a:rPr sz="1350" b="1">
                <a:solidFill>
                  <a:srgbClr val="071A2B"/>
                </a:solidFill>
              </a:rPr>
              <a:t>BFCL-V4 MULTI-TURN</a:t>
            </a:r>
          </a:p>
        </p:txBody>
      </p:sp>
      <p:sp>
        <p:nvSpPr>
          <p:cNvPr id="10" name="">
            <a:extLst xmlns:a="http://schemas.openxmlformats.org/drawingml/2006/main">
              <a:ext uri="{FF2B5EF4-FFF2-40B4-BE49-F238E27FC236}">
                <a16:creationId xmlns:a16="http://schemas.microsoft.com/office/drawing/2014/main" id="{E06BC403-4C1F-4FE7-98FC-9522A2787465}"/>
              </a:ext>
            </a:extLst>
          </p:cNvPr>
          <p:cNvSpPr>
            <a:spLocks xmlns:a="http://schemas.openxmlformats.org/drawingml/2006/main" noGrp="1"/>
          </p:cNvSpPr>
          <p:nvPr/>
        </p:nvSpPr>
        <p:spPr>
          <a:xfrm xmlns:a="http://schemas.openxmlformats.org/drawingml/2006/main">
            <a:off x="6096000" y="2190750"/>
            <a:ext cx="4476750" cy="0"/>
          </a:xfrm>
          <a:prstGeom xmlns:a="http://schemas.openxmlformats.org/drawingml/2006/main" prst="line">
            <a:avLst/>
          </a:prstGeom>
          <a:noFill xmlns:a="http://schemas.openxmlformats.org/drawingml/2006/main"/>
          <a:ln xmlns:a="http://schemas.openxmlformats.org/drawingml/2006/main" w="38100">
            <a:solidFill>
              <a:srgbClr val="18A6A6"/>
            </a:solidFill>
            <a:prstDash val="solid"/>
          </a:ln>
        </p:spPr>
      </p:sp>
      <p:sp>
        <p:nvSpPr>
          <p:cNvPr id="11" name="benchmark-ready">
            <a:extLst xmlns:a="http://schemas.openxmlformats.org/drawingml/2006/main">
              <a:ext uri="{FF2B5EF4-FFF2-40B4-BE49-F238E27FC236}">
                <a16:creationId xmlns:a16="http://schemas.microsoft.com/office/drawing/2014/main" id="{AEEE6967-3D77-4F34-A460-D5E983AD8F19}"/>
              </a:ext>
            </a:extLst>
          </p:cNvPr>
          <p:cNvSpPr>
            <a:spLocks xmlns:a="http://schemas.openxmlformats.org/drawingml/2006/main" noGrp="1"/>
          </p:cNvSpPr>
          <p:nvPr/>
        </p:nvSpPr>
        <p:spPr>
          <a:xfrm xmlns:a="http://schemas.openxmlformats.org/drawingml/2006/main">
            <a:off x="6096000" y="2457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025" b="1">
                <a:solidFill>
                  <a:srgbClr val="071A2B"/>
                </a:solidFill>
              </a:defRPr>
            </a:pPr>
            <a:r>
              <a:rPr sz="2025" b="1">
                <a:solidFill>
                  <a:srgbClr val="071A2B"/>
                </a:solidFill>
              </a:rPr>
              <a:t>代码已经具备</a:t>
            </a:r>
          </a:p>
        </p:txBody>
      </p:sp>
      <p:sp>
        <p:nvSpPr>
          <p:cNvPr id="12" name="benchmark-list">
            <a:extLst xmlns:a="http://schemas.openxmlformats.org/drawingml/2006/main">
              <a:ext uri="{FF2B5EF4-FFF2-40B4-BE49-F238E27FC236}">
                <a16:creationId xmlns:a16="http://schemas.microsoft.com/office/drawing/2014/main" id="{0F90DE71-DAF6-4BFE-90A8-7A64A27D4FF3}"/>
              </a:ext>
            </a:extLst>
          </p:cNvPr>
          <p:cNvSpPr>
            <a:spLocks xmlns:a="http://schemas.openxmlformats.org/drawingml/2006/main" noGrp="1"/>
          </p:cNvSpPr>
          <p:nvPr/>
        </p:nvSpPr>
        <p:spPr>
          <a:xfrm xmlns:a="http://schemas.openxmlformats.org/drawingml/2006/main">
            <a:off x="6096000" y="3190875"/>
            <a:ext cx="45243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25000"/>
              </a:lnSpc>
              <a:buNone/>
              <a:defRPr sz="1500">
                <a:solidFill>
                  <a:srgbClr val="64747B"/>
                </a:solidFill>
              </a:defRPr>
            </a:pPr>
            <a:r>
              <a:rPr sz="1500">
                <a:solidFill>
                  <a:srgbClr val="64747B"/>
                </a:solidFill>
              </a:rPr>
              <a:t>• 固定 ID 的 base / adapter 对照</a:t>
            </a:r>
          </a:p>
          <a:p xmlns:a="http://schemas.openxmlformats.org/drawingml/2006/main">
            <a:pPr>
              <a:lnSpc>
                <a:spcPct val="125000"/>
              </a:lnSpc>
              <a:buNone/>
              <a:defRPr sz="1500">
                <a:solidFill>
                  <a:srgbClr val="64747B"/>
                </a:solidFill>
              </a:defRPr>
            </a:pPr>
            <a:r>
              <a:rPr sz="1500">
                <a:solidFill>
                  <a:srgbClr val="64747B"/>
                </a:solidFill>
              </a:rPr>
              <a:t>• 官方 multi-turn 结果与评分目录隔离</a:t>
            </a:r>
          </a:p>
          <a:p xmlns:a="http://schemas.openxmlformats.org/drawingml/2006/main">
            <a:pPr>
              <a:lnSpc>
                <a:spcPct val="125000"/>
              </a:lnSpc>
              <a:buNone/>
              <a:defRPr sz="1500">
                <a:solidFill>
                  <a:srgbClr val="64747B"/>
                </a:solidFill>
              </a:defRPr>
            </a:pPr>
            <a:r>
              <a:rPr sz="1500">
                <a:solidFill>
                  <a:srgbClr val="64747B"/>
                </a:solidFill>
              </a:rPr>
              <a:t>• smoke 与 4×200 paper profile 分开</a:t>
            </a:r>
          </a:p>
          <a:p xmlns:a="http://schemas.openxmlformats.org/drawingml/2006/main">
            <a:pPr>
              <a:lnSpc>
                <a:spcPct val="125000"/>
              </a:lnSpc>
              <a:buNone/>
              <a:defRPr sz="1500">
                <a:solidFill>
                  <a:srgbClr val="64747B"/>
                </a:solidFill>
              </a:defRPr>
            </a:pPr>
            <a:r>
              <a:rPr sz="1500">
                <a:solidFill>
                  <a:srgbClr val="64747B"/>
                </a:solidFill>
              </a:rPr>
              <a:t>• 缺 manifest 时报告和 PPT 不生成分数</a:t>
            </a:r>
          </a:p>
        </p:txBody>
      </p:sp>
      <p:sp>
        <p:nvSpPr>
          <p:cNvPr id="13" name="benchmark-boundary">
            <a:extLst xmlns:a="http://schemas.openxmlformats.org/drawingml/2006/main">
              <a:ext uri="{FF2B5EF4-FFF2-40B4-BE49-F238E27FC236}">
                <a16:creationId xmlns:a16="http://schemas.microsoft.com/office/drawing/2014/main" id="{EBD72A3C-0A66-4D2B-BE04-44349F8ADA5B}"/>
              </a:ext>
            </a:extLst>
          </p:cNvPr>
          <p:cNvSpPr>
            <a:spLocks xmlns:a="http://schemas.openxmlformats.org/drawingml/2006/main" noGrp="1"/>
          </p:cNvSpPr>
          <p:nvPr/>
        </p:nvSpPr>
        <p:spPr>
          <a:xfrm xmlns:a="http://schemas.openxmlformats.org/drawingml/2006/main">
            <a:off x="1666875" y="5476875"/>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725" b="1">
                <a:solidFill>
                  <a:srgbClr val="0B797B"/>
                </a:solidFill>
              </a:defRPr>
            </a:pPr>
            <a:r>
              <a:rPr sz="1725" b="1">
                <a:solidFill>
                  <a:srgbClr val="0B797B"/>
                </a:solidFill>
              </a:rPr>
              <a:t>能写：curriculum micro-run PASS    不能写：论文 benchmark 已复现</a:t>
            </a:r>
          </a:p>
        </p:txBody>
      </p:sp>
    </p:spTree>
    <p:extLst>
      <p:ext uri="{BB962C8B-B14F-4D97-AF65-F5344CB8AC3E}">
        <p14:creationId xmlns:p14="http://schemas.microsoft.com/office/powerpoint/2010/main" val="352939769"/>
      </p:ext>
    </p:extLst>
  </p:cSld>
</p:sld>
</file>

<file path=ppt/slides/slide13.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42" name="rail-13">
            <a:extLst xmlns:a="http://schemas.openxmlformats.org/drawingml/2006/main">
              <a:ext uri="{FF2B5EF4-FFF2-40B4-BE49-F238E27FC236}">
                <a16:creationId xmlns:a16="http://schemas.microsoft.com/office/drawing/2014/main" id="{4D2449D2-A449-46F3-9605-5795C0120B5E}"/>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3">
            <a:extLst xmlns:a="http://schemas.openxmlformats.org/drawingml/2006/main">
              <a:ext uri="{FF2B5EF4-FFF2-40B4-BE49-F238E27FC236}">
                <a16:creationId xmlns:a16="http://schemas.microsoft.com/office/drawing/2014/main" id="{E793C783-C2B4-4059-AF67-B70D2C6B4FCE}"/>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3">
            <a:extLst xmlns:a="http://schemas.openxmlformats.org/drawingml/2006/main">
              <a:ext uri="{FF2B5EF4-FFF2-40B4-BE49-F238E27FC236}">
                <a16:creationId xmlns:a16="http://schemas.microsoft.com/office/drawing/2014/main" id="{8421FB8A-D7DD-4485-ACE1-1DA3E2D95F7F}"/>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INTEGRITY AUDIT</a:t>
            </a:r>
          </a:p>
        </p:txBody>
      </p:sp>
      <p:sp>
        <p:nvSpPr>
          <p:cNvPr id="4" name="title-13">
            <a:extLst xmlns:a="http://schemas.openxmlformats.org/drawingml/2006/main">
              <a:ext uri="{FF2B5EF4-FFF2-40B4-BE49-F238E27FC236}">
                <a16:creationId xmlns:a16="http://schemas.microsoft.com/office/drawing/2014/main" id="{C3B9567E-9EAD-47D5-BA88-D94E2272398B}"/>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怎样证明不是“看起来训练了”？</a:t>
            </a:r>
          </a:p>
        </p:txBody>
      </p:sp>
      <p:sp>
        <p:nvSpPr>
          <p:cNvPr id="5" name="subtitle-13">
            <a:extLst xmlns:a="http://schemas.openxmlformats.org/drawingml/2006/main">
              <a:ext uri="{FF2B5EF4-FFF2-40B4-BE49-F238E27FC236}">
                <a16:creationId xmlns:a16="http://schemas.microsoft.com/office/drawing/2014/main" id="{0EF67892-131C-4489-93DE-C417A056827C}"/>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把一次 ML run 拆成可证伪的 gate：任何关键证据缺失，最终报告和 PPT 都拒绝生成。</a:t>
            </a:r>
          </a:p>
        </p:txBody>
      </p:sp>
      <p:sp>
        <p:nvSpPr>
          <p:cNvPr id="6" name="">
            <a:extLst xmlns:a="http://schemas.openxmlformats.org/drawingml/2006/main">
              <a:ext uri="{FF2B5EF4-FFF2-40B4-BE49-F238E27FC236}">
                <a16:creationId xmlns:a16="http://schemas.microsoft.com/office/drawing/2014/main" id="{1F84950F-00B5-484E-A738-9E117D0BA980}"/>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3">
            <a:extLst xmlns:a="http://schemas.openxmlformats.org/drawingml/2006/main">
              <a:ext uri="{FF2B5EF4-FFF2-40B4-BE49-F238E27FC236}">
                <a16:creationId xmlns:a16="http://schemas.microsoft.com/office/drawing/2014/main" id="{B149894F-1736-47BC-8911-2BECBF65E6D8}"/>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13</a:t>
            </a:r>
          </a:p>
        </p:txBody>
      </p:sp>
      <p:sp>
        <p:nvSpPr>
          <p:cNvPr id="8" name="audit-bg-0">
            <a:extLst xmlns:a="http://schemas.openxmlformats.org/drawingml/2006/main">
              <a:ext uri="{FF2B5EF4-FFF2-40B4-BE49-F238E27FC236}">
                <a16:creationId xmlns:a16="http://schemas.microsoft.com/office/drawing/2014/main" id="{E18390E8-4C00-4338-A862-90E4E28DFA04}"/>
              </a:ext>
            </a:extLst>
          </p:cNvPr>
          <p:cNvSpPr>
            <a:spLocks xmlns:a="http://schemas.openxmlformats.org/drawingml/2006/main" noGrp="1"/>
          </p:cNvSpPr>
          <p:nvPr/>
        </p:nvSpPr>
        <p:spPr>
          <a:xfrm xmlns:a="http://schemas.openxmlformats.org/drawingml/2006/main">
            <a:off x="809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9" name="audit-pill-0-bg">
            <a:extLst xmlns:a="http://schemas.openxmlformats.org/drawingml/2006/main">
              <a:ext uri="{FF2B5EF4-FFF2-40B4-BE49-F238E27FC236}">
                <a16:creationId xmlns:a16="http://schemas.microsoft.com/office/drawing/2014/main" id="{9E785704-8EDC-476E-B248-7C2E130725E7}"/>
              </a:ext>
            </a:extLst>
          </p:cNvPr>
          <p:cNvSpPr>
            <a:spLocks xmlns:a="http://schemas.openxmlformats.org/drawingml/2006/main" noGrp="1"/>
          </p:cNvSpPr>
          <p:nvPr/>
        </p:nvSpPr>
        <p:spPr>
          <a:xfrm xmlns:a="http://schemas.openxmlformats.org/drawingml/2006/main">
            <a:off x="981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0" name="audit-pill-0-text">
            <a:extLst xmlns:a="http://schemas.openxmlformats.org/drawingml/2006/main">
              <a:ext uri="{FF2B5EF4-FFF2-40B4-BE49-F238E27FC236}">
                <a16:creationId xmlns:a16="http://schemas.microsoft.com/office/drawing/2014/main" id="{4B5A7504-1152-49D0-9347-F5744142E916}"/>
              </a:ext>
            </a:extLst>
          </p:cNvPr>
          <p:cNvSpPr>
            <a:spLocks xmlns:a="http://schemas.openxmlformats.org/drawingml/2006/main" noGrp="1"/>
          </p:cNvSpPr>
          <p:nvPr/>
        </p:nvSpPr>
        <p:spPr>
          <a:xfrm xmlns:a="http://schemas.openxmlformats.org/drawingml/2006/main">
            <a:off x="1076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1" name="audit-name-0">
            <a:extLst xmlns:a="http://schemas.openxmlformats.org/drawingml/2006/main">
              <a:ext uri="{FF2B5EF4-FFF2-40B4-BE49-F238E27FC236}">
                <a16:creationId xmlns:a16="http://schemas.microsoft.com/office/drawing/2014/main" id="{590892B8-3BA1-4532-8E75-1389839232AB}"/>
              </a:ext>
            </a:extLst>
          </p:cNvPr>
          <p:cNvSpPr>
            <a:spLocks xmlns:a="http://schemas.openxmlformats.org/drawingml/2006/main" noGrp="1"/>
          </p:cNvSpPr>
          <p:nvPr/>
        </p:nvSpPr>
        <p:spPr>
          <a:xfrm xmlns:a="http://schemas.openxmlformats.org/drawingml/2006/main">
            <a:off x="1857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stage1 adapter exists</a:t>
            </a:r>
          </a:p>
        </p:txBody>
      </p:sp>
      <p:sp>
        <p:nvSpPr>
          <p:cNvPr id="12" name="audit-bg-1">
            <a:extLst xmlns:a="http://schemas.openxmlformats.org/drawingml/2006/main">
              <a:ext uri="{FF2B5EF4-FFF2-40B4-BE49-F238E27FC236}">
                <a16:creationId xmlns:a16="http://schemas.microsoft.com/office/drawing/2014/main" id="{EFB26290-595E-412E-8798-B81B9B0F664E}"/>
              </a:ext>
            </a:extLst>
          </p:cNvPr>
          <p:cNvSpPr>
            <a:spLocks xmlns:a="http://schemas.openxmlformats.org/drawingml/2006/main" noGrp="1"/>
          </p:cNvSpPr>
          <p:nvPr/>
        </p:nvSpPr>
        <p:spPr>
          <a:xfrm xmlns:a="http://schemas.openxmlformats.org/drawingml/2006/main">
            <a:off x="6143625" y="21431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3" name="audit-pill-1-bg">
            <a:extLst xmlns:a="http://schemas.openxmlformats.org/drawingml/2006/main">
              <a:ext uri="{FF2B5EF4-FFF2-40B4-BE49-F238E27FC236}">
                <a16:creationId xmlns:a16="http://schemas.microsoft.com/office/drawing/2014/main" id="{8BACFDE8-EF38-4396-99ED-D1172B8F2C94}"/>
              </a:ext>
            </a:extLst>
          </p:cNvPr>
          <p:cNvSpPr>
            <a:spLocks xmlns:a="http://schemas.openxmlformats.org/drawingml/2006/main" noGrp="1"/>
          </p:cNvSpPr>
          <p:nvPr/>
        </p:nvSpPr>
        <p:spPr>
          <a:xfrm xmlns:a="http://schemas.openxmlformats.org/drawingml/2006/main">
            <a:off x="6315075" y="23336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4" name="audit-pill-1-text">
            <a:extLst xmlns:a="http://schemas.openxmlformats.org/drawingml/2006/main">
              <a:ext uri="{FF2B5EF4-FFF2-40B4-BE49-F238E27FC236}">
                <a16:creationId xmlns:a16="http://schemas.microsoft.com/office/drawing/2014/main" id="{21EA203D-BCAA-4C3D-A7AB-ADE7E0445287}"/>
              </a:ext>
            </a:extLst>
          </p:cNvPr>
          <p:cNvSpPr>
            <a:spLocks xmlns:a="http://schemas.openxmlformats.org/drawingml/2006/main" noGrp="1"/>
          </p:cNvSpPr>
          <p:nvPr/>
        </p:nvSpPr>
        <p:spPr>
          <a:xfrm xmlns:a="http://schemas.openxmlformats.org/drawingml/2006/main">
            <a:off x="6410325" y="23812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5" name="audit-name-1">
            <a:extLst xmlns:a="http://schemas.openxmlformats.org/drawingml/2006/main">
              <a:ext uri="{FF2B5EF4-FFF2-40B4-BE49-F238E27FC236}">
                <a16:creationId xmlns:a16="http://schemas.microsoft.com/office/drawing/2014/main" id="{4EF6F57A-79D8-491D-AA3C-F3996918FCCD}"/>
              </a:ext>
            </a:extLst>
          </p:cNvPr>
          <p:cNvSpPr>
            <a:spLocks xmlns:a="http://schemas.openxmlformats.org/drawingml/2006/main" noGrp="1"/>
          </p:cNvSpPr>
          <p:nvPr/>
        </p:nvSpPr>
        <p:spPr>
          <a:xfrm xmlns:a="http://schemas.openxmlformats.org/drawingml/2006/main">
            <a:off x="7191375" y="23050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exists</a:t>
            </a:r>
          </a:p>
        </p:txBody>
      </p:sp>
      <p:sp>
        <p:nvSpPr>
          <p:cNvPr id="16" name="audit-bg-2">
            <a:extLst xmlns:a="http://schemas.openxmlformats.org/drawingml/2006/main">
              <a:ext uri="{FF2B5EF4-FFF2-40B4-BE49-F238E27FC236}">
                <a16:creationId xmlns:a16="http://schemas.microsoft.com/office/drawing/2014/main" id="{02219D7D-0782-4C3D-A51E-D6BE02A60962}"/>
              </a:ext>
            </a:extLst>
          </p:cNvPr>
          <p:cNvSpPr>
            <a:spLocks xmlns:a="http://schemas.openxmlformats.org/drawingml/2006/main" noGrp="1"/>
          </p:cNvSpPr>
          <p:nvPr/>
        </p:nvSpPr>
        <p:spPr>
          <a:xfrm xmlns:a="http://schemas.openxmlformats.org/drawingml/2006/main">
            <a:off x="809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17" name="audit-pill-2-bg">
            <a:extLst xmlns:a="http://schemas.openxmlformats.org/drawingml/2006/main">
              <a:ext uri="{FF2B5EF4-FFF2-40B4-BE49-F238E27FC236}">
                <a16:creationId xmlns:a16="http://schemas.microsoft.com/office/drawing/2014/main" id="{2CDC8CB2-C78B-4051-BC7D-CB8F90E666DF}"/>
              </a:ext>
            </a:extLst>
          </p:cNvPr>
          <p:cNvSpPr>
            <a:spLocks xmlns:a="http://schemas.openxmlformats.org/drawingml/2006/main" noGrp="1"/>
          </p:cNvSpPr>
          <p:nvPr/>
        </p:nvSpPr>
        <p:spPr>
          <a:xfrm xmlns:a="http://schemas.openxmlformats.org/drawingml/2006/main">
            <a:off x="981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18" name="audit-pill-2-text">
            <a:extLst xmlns:a="http://schemas.openxmlformats.org/drawingml/2006/main">
              <a:ext uri="{FF2B5EF4-FFF2-40B4-BE49-F238E27FC236}">
                <a16:creationId xmlns:a16="http://schemas.microsoft.com/office/drawing/2014/main" id="{C49F3254-1DC2-4A3E-BE03-32439F29FD4C}"/>
              </a:ext>
            </a:extLst>
          </p:cNvPr>
          <p:cNvSpPr>
            <a:spLocks xmlns:a="http://schemas.openxmlformats.org/drawingml/2006/main" noGrp="1"/>
          </p:cNvSpPr>
          <p:nvPr/>
        </p:nvSpPr>
        <p:spPr>
          <a:xfrm xmlns:a="http://schemas.openxmlformats.org/drawingml/2006/main">
            <a:off x="1076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19" name="audit-name-2">
            <a:extLst xmlns:a="http://schemas.openxmlformats.org/drawingml/2006/main">
              <a:ext uri="{FF2B5EF4-FFF2-40B4-BE49-F238E27FC236}">
                <a16:creationId xmlns:a16="http://schemas.microsoft.com/office/drawing/2014/main" id="{42C1948D-F8B5-4C2F-BEE7-87ED30B5EB50}"/>
              </a:ext>
            </a:extLst>
          </p:cNvPr>
          <p:cNvSpPr>
            <a:spLocks xmlns:a="http://schemas.openxmlformats.org/drawingml/2006/main" noGrp="1"/>
          </p:cNvSpPr>
          <p:nvPr/>
        </p:nvSpPr>
        <p:spPr>
          <a:xfrm xmlns:a="http://schemas.openxmlformats.org/drawingml/2006/main">
            <a:off x="1857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adapter differs from stage1</a:t>
            </a:r>
          </a:p>
        </p:txBody>
      </p:sp>
      <p:sp>
        <p:nvSpPr>
          <p:cNvPr id="20" name="audit-bg-3">
            <a:extLst xmlns:a="http://schemas.openxmlformats.org/drawingml/2006/main">
              <a:ext uri="{FF2B5EF4-FFF2-40B4-BE49-F238E27FC236}">
                <a16:creationId xmlns:a16="http://schemas.microsoft.com/office/drawing/2014/main" id="{66D4C7D0-9504-48FD-BB8E-745411994683}"/>
              </a:ext>
            </a:extLst>
          </p:cNvPr>
          <p:cNvSpPr>
            <a:spLocks xmlns:a="http://schemas.openxmlformats.org/drawingml/2006/main" noGrp="1"/>
          </p:cNvSpPr>
          <p:nvPr/>
        </p:nvSpPr>
        <p:spPr>
          <a:xfrm xmlns:a="http://schemas.openxmlformats.org/drawingml/2006/main">
            <a:off x="6143625" y="30194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1" name="audit-pill-3-bg">
            <a:extLst xmlns:a="http://schemas.openxmlformats.org/drawingml/2006/main">
              <a:ext uri="{FF2B5EF4-FFF2-40B4-BE49-F238E27FC236}">
                <a16:creationId xmlns:a16="http://schemas.microsoft.com/office/drawing/2014/main" id="{9CA4CE5E-532C-4750-956E-2FE4F3089081}"/>
              </a:ext>
            </a:extLst>
          </p:cNvPr>
          <p:cNvSpPr>
            <a:spLocks xmlns:a="http://schemas.openxmlformats.org/drawingml/2006/main" noGrp="1"/>
          </p:cNvSpPr>
          <p:nvPr/>
        </p:nvSpPr>
        <p:spPr>
          <a:xfrm xmlns:a="http://schemas.openxmlformats.org/drawingml/2006/main">
            <a:off x="6315075" y="32099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2" name="audit-pill-3-text">
            <a:extLst xmlns:a="http://schemas.openxmlformats.org/drawingml/2006/main">
              <a:ext uri="{FF2B5EF4-FFF2-40B4-BE49-F238E27FC236}">
                <a16:creationId xmlns:a16="http://schemas.microsoft.com/office/drawing/2014/main" id="{D770A415-D1C5-4FBE-9829-249205C636B6}"/>
              </a:ext>
            </a:extLst>
          </p:cNvPr>
          <p:cNvSpPr>
            <a:spLocks xmlns:a="http://schemas.openxmlformats.org/drawingml/2006/main" noGrp="1"/>
          </p:cNvSpPr>
          <p:nvPr/>
        </p:nvSpPr>
        <p:spPr>
          <a:xfrm xmlns:a="http://schemas.openxmlformats.org/drawingml/2006/main">
            <a:off x="6410325" y="32575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3" name="audit-name-3">
            <a:extLst xmlns:a="http://schemas.openxmlformats.org/drawingml/2006/main">
              <a:ext uri="{FF2B5EF4-FFF2-40B4-BE49-F238E27FC236}">
                <a16:creationId xmlns:a16="http://schemas.microsoft.com/office/drawing/2014/main" id="{23DF560D-6762-4598-A68B-FD9860B92396}"/>
              </a:ext>
            </a:extLst>
          </p:cNvPr>
          <p:cNvSpPr>
            <a:spLocks xmlns:a="http://schemas.openxmlformats.org/drawingml/2006/main" noGrp="1"/>
          </p:cNvSpPr>
          <p:nvPr/>
        </p:nvSpPr>
        <p:spPr>
          <a:xfrm xmlns:a="http://schemas.openxmlformats.org/drawingml/2006/main">
            <a:off x="7191375" y="31813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both GRPO stages changed trainable parameters</a:t>
            </a:r>
          </a:p>
        </p:txBody>
      </p:sp>
      <p:sp>
        <p:nvSpPr>
          <p:cNvPr id="24" name="audit-bg-4">
            <a:extLst xmlns:a="http://schemas.openxmlformats.org/drawingml/2006/main">
              <a:ext uri="{FF2B5EF4-FFF2-40B4-BE49-F238E27FC236}">
                <a16:creationId xmlns:a16="http://schemas.microsoft.com/office/drawing/2014/main" id="{9369210E-7414-4FD8-816F-397B1423B268}"/>
              </a:ext>
            </a:extLst>
          </p:cNvPr>
          <p:cNvSpPr>
            <a:spLocks xmlns:a="http://schemas.openxmlformats.org/drawingml/2006/main" noGrp="1"/>
          </p:cNvSpPr>
          <p:nvPr/>
        </p:nvSpPr>
        <p:spPr>
          <a:xfrm xmlns:a="http://schemas.openxmlformats.org/drawingml/2006/main">
            <a:off x="809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5" name="audit-pill-4-bg">
            <a:extLst xmlns:a="http://schemas.openxmlformats.org/drawingml/2006/main">
              <a:ext uri="{FF2B5EF4-FFF2-40B4-BE49-F238E27FC236}">
                <a16:creationId xmlns:a16="http://schemas.microsoft.com/office/drawing/2014/main" id="{2D92F620-EFE9-47F1-B900-542B2C0021D7}"/>
              </a:ext>
            </a:extLst>
          </p:cNvPr>
          <p:cNvSpPr>
            <a:spLocks xmlns:a="http://schemas.openxmlformats.org/drawingml/2006/main" noGrp="1"/>
          </p:cNvSpPr>
          <p:nvPr/>
        </p:nvSpPr>
        <p:spPr>
          <a:xfrm xmlns:a="http://schemas.openxmlformats.org/drawingml/2006/main">
            <a:off x="981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26" name="audit-pill-4-text">
            <a:extLst xmlns:a="http://schemas.openxmlformats.org/drawingml/2006/main">
              <a:ext uri="{FF2B5EF4-FFF2-40B4-BE49-F238E27FC236}">
                <a16:creationId xmlns:a16="http://schemas.microsoft.com/office/drawing/2014/main" id="{567233B0-9BA3-4E60-A2EE-B8018C306C0E}"/>
              </a:ext>
            </a:extLst>
          </p:cNvPr>
          <p:cNvSpPr>
            <a:spLocks xmlns:a="http://schemas.openxmlformats.org/drawingml/2006/main" noGrp="1"/>
          </p:cNvSpPr>
          <p:nvPr/>
        </p:nvSpPr>
        <p:spPr>
          <a:xfrm xmlns:a="http://schemas.openxmlformats.org/drawingml/2006/main">
            <a:off x="1076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27" name="audit-name-4">
            <a:extLst xmlns:a="http://schemas.openxmlformats.org/drawingml/2006/main">
              <a:ext uri="{FF2B5EF4-FFF2-40B4-BE49-F238E27FC236}">
                <a16:creationId xmlns:a16="http://schemas.microsoft.com/office/drawing/2014/main" id="{042EBF2A-71A8-41BD-8D9E-0894A275E528}"/>
              </a:ext>
            </a:extLst>
          </p:cNvPr>
          <p:cNvSpPr>
            <a:spLocks xmlns:a="http://schemas.openxmlformats.org/drawingml/2006/main" noGrp="1"/>
          </p:cNvSpPr>
          <p:nvPr/>
        </p:nvSpPr>
        <p:spPr>
          <a:xfrm xmlns:a="http://schemas.openxmlformats.org/drawingml/2006/main">
            <a:off x="1857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training reward variance observed</a:t>
            </a:r>
          </a:p>
        </p:txBody>
      </p:sp>
      <p:sp>
        <p:nvSpPr>
          <p:cNvPr id="28" name="audit-bg-5">
            <a:extLst xmlns:a="http://schemas.openxmlformats.org/drawingml/2006/main">
              <a:ext uri="{FF2B5EF4-FFF2-40B4-BE49-F238E27FC236}">
                <a16:creationId xmlns:a16="http://schemas.microsoft.com/office/drawing/2014/main" id="{26C5818B-1C3F-44F9-ADF3-21A98414A76D}"/>
              </a:ext>
            </a:extLst>
          </p:cNvPr>
          <p:cNvSpPr>
            <a:spLocks xmlns:a="http://schemas.openxmlformats.org/drawingml/2006/main" noGrp="1"/>
          </p:cNvSpPr>
          <p:nvPr/>
        </p:nvSpPr>
        <p:spPr>
          <a:xfrm xmlns:a="http://schemas.openxmlformats.org/drawingml/2006/main">
            <a:off x="6143625" y="38957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29" name="audit-pill-5-bg">
            <a:extLst xmlns:a="http://schemas.openxmlformats.org/drawingml/2006/main">
              <a:ext uri="{FF2B5EF4-FFF2-40B4-BE49-F238E27FC236}">
                <a16:creationId xmlns:a16="http://schemas.microsoft.com/office/drawing/2014/main" id="{388CEC4D-08A4-4238-86AE-B134786BC765}"/>
              </a:ext>
            </a:extLst>
          </p:cNvPr>
          <p:cNvSpPr>
            <a:spLocks xmlns:a="http://schemas.openxmlformats.org/drawingml/2006/main" noGrp="1"/>
          </p:cNvSpPr>
          <p:nvPr/>
        </p:nvSpPr>
        <p:spPr>
          <a:xfrm xmlns:a="http://schemas.openxmlformats.org/drawingml/2006/main">
            <a:off x="6315075" y="40862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0" name="audit-pill-5-text">
            <a:extLst xmlns:a="http://schemas.openxmlformats.org/drawingml/2006/main">
              <a:ext uri="{FF2B5EF4-FFF2-40B4-BE49-F238E27FC236}">
                <a16:creationId xmlns:a16="http://schemas.microsoft.com/office/drawing/2014/main" id="{B848046E-C889-4653-98C6-83A630C4FA48}"/>
              </a:ext>
            </a:extLst>
          </p:cNvPr>
          <p:cNvSpPr>
            <a:spLocks xmlns:a="http://schemas.openxmlformats.org/drawingml/2006/main" noGrp="1"/>
          </p:cNvSpPr>
          <p:nvPr/>
        </p:nvSpPr>
        <p:spPr>
          <a:xfrm xmlns:a="http://schemas.openxmlformats.org/drawingml/2006/main">
            <a:off x="6410325" y="4133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1" name="audit-name-5">
            <a:extLst xmlns:a="http://schemas.openxmlformats.org/drawingml/2006/main">
              <a:ext uri="{FF2B5EF4-FFF2-40B4-BE49-F238E27FC236}">
                <a16:creationId xmlns:a16="http://schemas.microsoft.com/office/drawing/2014/main" id="{2BD07168-858A-4E3C-88F9-0AD19D5DDCBF}"/>
              </a:ext>
            </a:extLst>
          </p:cNvPr>
          <p:cNvSpPr>
            <a:spLocks xmlns:a="http://schemas.openxmlformats.org/drawingml/2006/main" noGrp="1"/>
          </p:cNvSpPr>
          <p:nvPr/>
        </p:nvSpPr>
        <p:spPr>
          <a:xfrm xmlns:a="http://schemas.openxmlformats.org/drawingml/2006/main">
            <a:off x="7191375" y="40576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final holdout isolation</a:t>
            </a:r>
          </a:p>
        </p:txBody>
      </p:sp>
      <p:sp>
        <p:nvSpPr>
          <p:cNvPr id="32" name="audit-bg-6">
            <a:extLst xmlns:a="http://schemas.openxmlformats.org/drawingml/2006/main">
              <a:ext uri="{FF2B5EF4-FFF2-40B4-BE49-F238E27FC236}">
                <a16:creationId xmlns:a16="http://schemas.microsoft.com/office/drawing/2014/main" id="{5F8F0E62-ABCF-4938-9E11-5BCC8B456401}"/>
              </a:ext>
            </a:extLst>
          </p:cNvPr>
          <p:cNvSpPr>
            <a:spLocks xmlns:a="http://schemas.openxmlformats.org/drawingml/2006/main" noGrp="1"/>
          </p:cNvSpPr>
          <p:nvPr/>
        </p:nvSpPr>
        <p:spPr>
          <a:xfrm xmlns:a="http://schemas.openxmlformats.org/drawingml/2006/main">
            <a:off x="809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3" name="audit-pill-6-bg">
            <a:extLst xmlns:a="http://schemas.openxmlformats.org/drawingml/2006/main">
              <a:ext uri="{FF2B5EF4-FFF2-40B4-BE49-F238E27FC236}">
                <a16:creationId xmlns:a16="http://schemas.microsoft.com/office/drawing/2014/main" id="{5BEB3EA9-73AD-4D66-BB11-EB6A90528457}"/>
              </a:ext>
            </a:extLst>
          </p:cNvPr>
          <p:cNvSpPr>
            <a:spLocks xmlns:a="http://schemas.openxmlformats.org/drawingml/2006/main" noGrp="1"/>
          </p:cNvSpPr>
          <p:nvPr/>
        </p:nvSpPr>
        <p:spPr>
          <a:xfrm xmlns:a="http://schemas.openxmlformats.org/drawingml/2006/main">
            <a:off x="981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4" name="audit-pill-6-text">
            <a:extLst xmlns:a="http://schemas.openxmlformats.org/drawingml/2006/main">
              <a:ext uri="{FF2B5EF4-FFF2-40B4-BE49-F238E27FC236}">
                <a16:creationId xmlns:a16="http://schemas.microsoft.com/office/drawing/2014/main" id="{552EE86E-2D7F-4013-89BF-7C03AD28B20D}"/>
              </a:ext>
            </a:extLst>
          </p:cNvPr>
          <p:cNvSpPr>
            <a:spLocks xmlns:a="http://schemas.openxmlformats.org/drawingml/2006/main" noGrp="1"/>
          </p:cNvSpPr>
          <p:nvPr/>
        </p:nvSpPr>
        <p:spPr>
          <a:xfrm xmlns:a="http://schemas.openxmlformats.org/drawingml/2006/main">
            <a:off x="1076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5" name="audit-name-6">
            <a:extLst xmlns:a="http://schemas.openxmlformats.org/drawingml/2006/main">
              <a:ext uri="{FF2B5EF4-FFF2-40B4-BE49-F238E27FC236}">
                <a16:creationId xmlns:a16="http://schemas.microsoft.com/office/drawing/2014/main" id="{E1EBC173-5E98-44C1-8F93-B52EDECD7DE1}"/>
              </a:ext>
            </a:extLst>
          </p:cNvPr>
          <p:cNvSpPr>
            <a:spLocks xmlns:a="http://schemas.openxmlformats.org/drawingml/2006/main" noGrp="1"/>
          </p:cNvSpPr>
          <p:nvPr/>
        </p:nvSpPr>
        <p:spPr>
          <a:xfrm xmlns:a="http://schemas.openxmlformats.org/drawingml/2006/main">
            <a:off x="1857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failure-driven synthesis has provenance</a:t>
            </a:r>
          </a:p>
        </p:txBody>
      </p:sp>
      <p:sp>
        <p:nvSpPr>
          <p:cNvPr id="36" name="audit-bg-7">
            <a:extLst xmlns:a="http://schemas.openxmlformats.org/drawingml/2006/main">
              <a:ext uri="{FF2B5EF4-FFF2-40B4-BE49-F238E27FC236}">
                <a16:creationId xmlns:a16="http://schemas.microsoft.com/office/drawing/2014/main" id="{F99EEAF8-D532-4F56-8E1B-86078270154B}"/>
              </a:ext>
            </a:extLst>
          </p:cNvPr>
          <p:cNvSpPr>
            <a:spLocks xmlns:a="http://schemas.openxmlformats.org/drawingml/2006/main" noGrp="1"/>
          </p:cNvSpPr>
          <p:nvPr/>
        </p:nvSpPr>
        <p:spPr>
          <a:xfrm xmlns:a="http://schemas.openxmlformats.org/drawingml/2006/main">
            <a:off x="6143625" y="4772025"/>
            <a:ext cx="4953000" cy="685800"/>
          </a:xfrm>
          <a:prstGeom xmlns:a="http://schemas.openxmlformats.org/drawingml/2006/main" prst="roundRect">
            <a:avLst>
              <a:gd name="adj" fmla="val 12500"/>
            </a:avLst>
          </a:prstGeom>
          <a:solidFill xmlns:a="http://schemas.openxmlformats.org/drawingml/2006/main">
            <a:srgbClr val="E5F5F3"/>
          </a:solidFill>
          <a:ln xmlns:a="http://schemas.openxmlformats.org/drawingml/2006/main" w="9525">
            <a:solidFill>
              <a:srgbClr val="18A6A6"/>
            </a:solidFill>
            <a:prstDash val="solid"/>
          </a:ln>
        </p:spPr>
      </p:sp>
      <p:sp>
        <p:nvSpPr>
          <p:cNvPr id="37" name="audit-pill-7-bg">
            <a:extLst xmlns:a="http://schemas.openxmlformats.org/drawingml/2006/main">
              <a:ext uri="{FF2B5EF4-FFF2-40B4-BE49-F238E27FC236}">
                <a16:creationId xmlns:a16="http://schemas.microsoft.com/office/drawing/2014/main" id="{34DAD203-4088-403E-A561-F7A332816DED}"/>
              </a:ext>
            </a:extLst>
          </p:cNvPr>
          <p:cNvSpPr>
            <a:spLocks xmlns:a="http://schemas.openxmlformats.org/drawingml/2006/main" noGrp="1"/>
          </p:cNvSpPr>
          <p:nvPr/>
        </p:nvSpPr>
        <p:spPr>
          <a:xfrm xmlns:a="http://schemas.openxmlformats.org/drawingml/2006/main">
            <a:off x="6315075" y="4962525"/>
            <a:ext cx="714375" cy="285750"/>
          </a:xfrm>
          <a:prstGeom xmlns:a="http://schemas.openxmlformats.org/drawingml/2006/main" prst="roundRect">
            <a:avLst>
              <a:gd name="adj" fmla="val 50000"/>
            </a:avLst>
          </a:prstGeom>
          <a:solidFill xmlns:a="http://schemas.openxmlformats.org/drawingml/2006/main">
            <a:srgbClr val="228B67"/>
          </a:solidFill>
          <a:ln xmlns:a="http://schemas.openxmlformats.org/drawingml/2006/main" w="0">
            <a:solidFill>
              <a:srgbClr val="228B67"/>
            </a:solidFill>
            <a:prstDash val="solid"/>
          </a:ln>
        </p:spPr>
      </p:sp>
      <p:sp>
        <p:nvSpPr>
          <p:cNvPr id="38" name="audit-pill-7-text">
            <a:extLst xmlns:a="http://schemas.openxmlformats.org/drawingml/2006/main">
              <a:ext uri="{FF2B5EF4-FFF2-40B4-BE49-F238E27FC236}">
                <a16:creationId xmlns:a16="http://schemas.microsoft.com/office/drawing/2014/main" id="{DA0E974D-718C-465D-80C2-50996045DD75}"/>
              </a:ext>
            </a:extLst>
          </p:cNvPr>
          <p:cNvSpPr>
            <a:spLocks xmlns:a="http://schemas.openxmlformats.org/drawingml/2006/main" noGrp="1"/>
          </p:cNvSpPr>
          <p:nvPr/>
        </p:nvSpPr>
        <p:spPr>
          <a:xfrm xmlns:a="http://schemas.openxmlformats.org/drawingml/2006/main">
            <a:off x="6410325" y="50101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PASS</a:t>
            </a:r>
          </a:p>
        </p:txBody>
      </p:sp>
      <p:sp>
        <p:nvSpPr>
          <p:cNvPr id="39" name="audit-name-7">
            <a:extLst xmlns:a="http://schemas.openxmlformats.org/drawingml/2006/main">
              <a:ext uri="{FF2B5EF4-FFF2-40B4-BE49-F238E27FC236}">
                <a16:creationId xmlns:a16="http://schemas.microsoft.com/office/drawing/2014/main" id="{30F453F1-5D94-4365-8E01-8B1095A55190}"/>
              </a:ext>
            </a:extLst>
          </p:cNvPr>
          <p:cNvSpPr>
            <a:spLocks xmlns:a="http://schemas.openxmlformats.org/drawingml/2006/main" noGrp="1"/>
          </p:cNvSpPr>
          <p:nvPr/>
        </p:nvSpPr>
        <p:spPr>
          <a:xfrm xmlns:a="http://schemas.openxmlformats.org/drawingml/2006/main">
            <a:off x="7191375" y="49339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071A2B"/>
                </a:solidFill>
              </a:defRPr>
            </a:pPr>
            <a:r>
              <a:rPr sz="1200" b="1">
                <a:solidFill>
                  <a:srgbClr val="071A2B"/>
                </a:solidFill>
              </a:rPr>
              <a:t>stage2 consumed stage1 adapter</a:t>
            </a:r>
          </a:p>
        </p:txBody>
      </p:sp>
      <p:sp>
        <p:nvSpPr>
          <p:cNvPr id="40" name="audit-hash">
            <a:extLst xmlns:a="http://schemas.openxmlformats.org/drawingml/2006/main">
              <a:ext uri="{FF2B5EF4-FFF2-40B4-BE49-F238E27FC236}">
                <a16:creationId xmlns:a16="http://schemas.microsoft.com/office/drawing/2014/main" id="{70D5A568-8ABC-4193-867E-452D91615394}"/>
              </a:ext>
            </a:extLst>
          </p:cNvPr>
          <p:cNvSpPr>
            <a:spLocks xmlns:a="http://schemas.openxmlformats.org/drawingml/2006/main" noGrp="1"/>
          </p:cNvSpPr>
          <p:nvPr/>
        </p:nvSpPr>
        <p:spPr>
          <a:xfrm xmlns:a="http://schemas.openxmlformats.org/drawingml/2006/main">
            <a:off x="952500" y="5762625"/>
            <a:ext cx="10096500" cy="476250"/>
          </a:xfrm>
          <a:prstGeom xmlns:a="http://schemas.openxmlformats.org/drawingml/2006/main" prst="roundRect">
            <a:avLst>
              <a:gd name="adj" fmla="val 16000"/>
            </a:avLst>
          </a:prstGeom>
          <a:solidFill xmlns:a="http://schemas.openxmlformats.org/drawingml/2006/main">
            <a:srgbClr val="071A2B"/>
          </a:solidFill>
          <a:ln xmlns:a="http://schemas.openxmlformats.org/drawingml/2006/main" w="0">
            <a:solidFill>
              <a:srgbClr val="071A2B"/>
            </a:solidFill>
            <a:prstDash val="solid"/>
          </a:ln>
        </p:spPr>
      </p:sp>
      <p:sp>
        <p:nvSpPr>
          <p:cNvPr id="41" name="audit-hash-text">
            <a:extLst xmlns:a="http://schemas.openxmlformats.org/drawingml/2006/main">
              <a:ext uri="{FF2B5EF4-FFF2-40B4-BE49-F238E27FC236}">
                <a16:creationId xmlns:a16="http://schemas.microsoft.com/office/drawing/2014/main" id="{9ADBDD96-75D7-4BEF-958E-99DFFE3706E4}"/>
              </a:ext>
            </a:extLst>
          </p:cNvPr>
          <p:cNvSpPr>
            <a:spLocks xmlns:a="http://schemas.openxmlformats.org/drawingml/2006/main" noGrp="1"/>
          </p:cNvSpPr>
          <p:nvPr/>
        </p:nvSpPr>
        <p:spPr>
          <a:xfrm xmlns:a="http://schemas.openxmlformats.org/drawingml/2006/main">
            <a:off x="1285875" y="5895975"/>
            <a:ext cx="942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F7F1E8"/>
                </a:solidFill>
              </a:defRPr>
            </a:pPr>
            <a:r>
              <a:rPr sz="1050" b="1">
                <a:solidFill>
                  <a:srgbClr val="F7F1E8"/>
                </a:solidFill>
              </a:rPr>
              <a:t>S1 7d3c6d223209f…   →   S2 920f76c8c0f35…   ·   child PID 6913</a:t>
            </a:r>
          </a:p>
        </p:txBody>
      </p:sp>
    </p:spTree>
    <p:extLst>
      <p:ext uri="{BB962C8B-B14F-4D97-AF65-F5344CB8AC3E}">
        <p14:creationId xmlns:p14="http://schemas.microsoft.com/office/powerpoint/2010/main" val="1067733725"/>
      </p:ext>
    </p:extLst>
  </p:cSld>
</p:sld>
</file>

<file path=ppt/slides/slide14.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26" name="rail-14">
            <a:extLst xmlns:a="http://schemas.openxmlformats.org/drawingml/2006/main">
              <a:ext uri="{FF2B5EF4-FFF2-40B4-BE49-F238E27FC236}">
                <a16:creationId xmlns:a16="http://schemas.microsoft.com/office/drawing/2014/main" id="{51535F1D-A575-4799-ADA8-7C1DF786BCEF}"/>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flourish-14">
            <a:extLst xmlns:a="http://schemas.openxmlformats.org/drawingml/2006/main">
              <a:ext uri="{FF2B5EF4-FFF2-40B4-BE49-F238E27FC236}">
                <a16:creationId xmlns:a16="http://schemas.microsoft.com/office/drawing/2014/main" id="{15AAD097-5167-4892-ACA9-071EA2CC7372}"/>
              </a:ext>
            </a:extLst>
          </p:cNvPr>
          <p:cNvSpPr>
            <a:spLocks xmlns:a="http://schemas.openxmlformats.org/drawingml/2006/main" noGrp="1"/>
          </p:cNvSpPr>
          <p:nvPr/>
        </p:nvSpPr>
        <p:spPr>
          <a:xfrm xmlns:a="http://schemas.openxmlformats.org/drawingml/2006/main">
            <a:off x="666750" y="276225"/>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500" b="1">
                <a:solidFill>
                  <a:srgbClr val="C56D4A"/>
                </a:solidFill>
              </a:defRPr>
            </a:pPr>
            <a:r>
              <a:rPr sz="1500" b="1">
                <a:solidFill>
                  <a:srgbClr val="C56D4A"/>
                </a:solidFill>
              </a:rPr>
              <a:t>长程多轮智能体强化学习</a:t>
            </a:r>
          </a:p>
        </p:txBody>
      </p:sp>
      <p:sp>
        <p:nvSpPr>
          <p:cNvPr id="3" name="chapter-14">
            <a:extLst xmlns:a="http://schemas.openxmlformats.org/drawingml/2006/main">
              <a:ext uri="{FF2B5EF4-FFF2-40B4-BE49-F238E27FC236}">
                <a16:creationId xmlns:a16="http://schemas.microsoft.com/office/drawing/2014/main" id="{601EB705-5983-4A03-89F0-9F917D1C880E}"/>
              </a:ext>
            </a:extLst>
          </p:cNvPr>
          <p:cNvSpPr>
            <a:spLocks xmlns:a="http://schemas.openxmlformats.org/drawingml/2006/main" noGrp="1"/>
          </p:cNvSpPr>
          <p:nvPr/>
        </p:nvSpPr>
        <p:spPr>
          <a:xfrm xmlns:a="http://schemas.openxmlformats.org/drawingml/2006/main">
            <a:off x="7239000" y="31432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1">
                <a:solidFill>
                  <a:srgbClr val="0B797B"/>
                </a:solidFill>
              </a:defRPr>
            </a:pPr>
            <a:r>
              <a:rPr sz="975" b="1">
                <a:solidFill>
                  <a:srgbClr val="0B797B"/>
                </a:solidFill>
              </a:rPr>
              <a:t>HONEST SELF-CHECK</a:t>
            </a:r>
          </a:p>
        </p:txBody>
      </p:sp>
      <p:sp>
        <p:nvSpPr>
          <p:cNvPr id="4" name="title-14">
            <a:extLst xmlns:a="http://schemas.openxmlformats.org/drawingml/2006/main">
              <a:ext uri="{FF2B5EF4-FFF2-40B4-BE49-F238E27FC236}">
                <a16:creationId xmlns:a16="http://schemas.microsoft.com/office/drawing/2014/main" id="{3F39B751-A65C-4F71-B891-07F680175C99}"/>
              </a:ext>
            </a:extLst>
          </p:cNvPr>
          <p:cNvSpPr>
            <a:spLocks xmlns:a="http://schemas.openxmlformats.org/drawingml/2006/main" noGrp="1"/>
          </p:cNvSpPr>
          <p:nvPr/>
        </p:nvSpPr>
        <p:spPr>
          <a:xfrm xmlns:a="http://schemas.openxmlformats.org/drawingml/2006/main">
            <a:off x="666750" y="742950"/>
            <a:ext cx="10429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625" b="1">
                <a:solidFill>
                  <a:srgbClr val="071A2B"/>
                </a:solidFill>
              </a:defRPr>
            </a:pPr>
            <a:r>
              <a:rPr sz="2625" b="1">
                <a:solidFill>
                  <a:srgbClr val="071A2B"/>
                </a:solidFill>
              </a:rPr>
              <a:t>项目已经完整到哪里，哪些仍然不能写？</a:t>
            </a:r>
          </a:p>
        </p:txBody>
      </p:sp>
      <p:sp>
        <p:nvSpPr>
          <p:cNvPr id="5" name="subtitle-14">
            <a:extLst xmlns:a="http://schemas.openxmlformats.org/drawingml/2006/main">
              <a:ext uri="{FF2B5EF4-FFF2-40B4-BE49-F238E27FC236}">
                <a16:creationId xmlns:a16="http://schemas.microsoft.com/office/drawing/2014/main" id="{318EB085-A843-42CB-8B85-D003D73E58C6}"/>
              </a:ext>
            </a:extLst>
          </p:cNvPr>
          <p:cNvSpPr>
            <a:spLocks xmlns:a="http://schemas.openxmlformats.org/drawingml/2006/main" noGrp="1"/>
          </p:cNvSpPr>
          <p:nvPr/>
        </p:nvSpPr>
        <p:spPr>
          <a:xfrm xmlns:a="http://schemas.openxmlformats.org/drawingml/2006/main">
            <a:off x="685800" y="1304925"/>
            <a:ext cx="1028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a:solidFill>
                  <a:srgbClr val="64747B"/>
                </a:solidFill>
              </a:defRPr>
            </a:pPr>
            <a:r>
              <a:rPr sz="1200">
                <a:solidFill>
                  <a:srgbClr val="64747B"/>
                </a:solidFill>
              </a:rPr>
              <a:t>把 COMPLETE、CODE_READY 与 BLOCKED_RESOURCE 分开，是这份复现最重要的研究纪律。</a:t>
            </a:r>
          </a:p>
        </p:txBody>
      </p:sp>
      <p:sp>
        <p:nvSpPr>
          <p:cNvPr id="6" name="">
            <a:extLst xmlns:a="http://schemas.openxmlformats.org/drawingml/2006/main">
              <a:ext uri="{FF2B5EF4-FFF2-40B4-BE49-F238E27FC236}">
                <a16:creationId xmlns:a16="http://schemas.microsoft.com/office/drawing/2014/main" id="{B2F086C7-CE60-4E27-946F-D559109B890C}"/>
              </a:ext>
            </a:extLst>
          </p:cNvPr>
          <p:cNvSpPr>
            <a:spLocks xmlns:a="http://schemas.openxmlformats.org/drawingml/2006/main" noGrp="1"/>
          </p:cNvSpPr>
          <p:nvPr/>
        </p:nvSpPr>
        <p:spPr>
          <a:xfrm xmlns:a="http://schemas.openxmlformats.org/drawingml/2006/main">
            <a:off x="666750" y="1752600"/>
            <a:ext cx="1057275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sp>
        <p:nvSpPr>
          <p:cNvPr id="7" name="page-14">
            <a:extLst xmlns:a="http://schemas.openxmlformats.org/drawingml/2006/main">
              <a:ext uri="{FF2B5EF4-FFF2-40B4-BE49-F238E27FC236}">
                <a16:creationId xmlns:a16="http://schemas.microsoft.com/office/drawing/2014/main" id="{B3510A3B-73A0-4301-A9A8-FF09D87B26A5}"/>
              </a:ext>
            </a:extLst>
          </p:cNvPr>
          <p:cNvSpPr>
            <a:spLocks xmlns:a="http://schemas.openxmlformats.org/drawingml/2006/main" noGrp="1"/>
          </p:cNvSpPr>
          <p:nvPr/>
        </p:nvSpPr>
        <p:spPr>
          <a:xfrm xmlns:a="http://schemas.openxmlformats.org/drawingml/2006/main">
            <a:off x="10715625" y="63817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14</a:t>
            </a:r>
          </a:p>
        </p:txBody>
      </p:sp>
      <p:sp>
        <p:nvSpPr>
          <p:cNvPr id="8" name="limit-0">
            <a:extLst xmlns:a="http://schemas.openxmlformats.org/drawingml/2006/main">
              <a:ext uri="{FF2B5EF4-FFF2-40B4-BE49-F238E27FC236}">
                <a16:creationId xmlns:a16="http://schemas.microsoft.com/office/drawing/2014/main" id="{E6F22D8C-BA29-4387-BE30-59A44A541D7A}"/>
              </a:ext>
            </a:extLst>
          </p:cNvPr>
          <p:cNvSpPr>
            <a:spLocks xmlns:a="http://schemas.openxmlformats.org/drawingml/2006/main" noGrp="1"/>
          </p:cNvSpPr>
          <p:nvPr/>
        </p:nvSpPr>
        <p:spPr>
          <a:xfrm xmlns:a="http://schemas.openxmlformats.org/drawingml/2006/main">
            <a:off x="714375" y="2143125"/>
            <a:ext cx="3286125" cy="3286125"/>
          </a:xfrm>
          <a:prstGeom xmlns:a="http://schemas.openxmlformats.org/drawingml/2006/main" prst="roundRect">
            <a:avLst>
              <a:gd name="adj" fmla="val 3478"/>
            </a:avLst>
          </a:prstGeom>
          <a:solidFill xmlns:a="http://schemas.openxmlformats.org/drawingml/2006/main">
            <a:srgbClr val="E5F5F3"/>
          </a:solidFill>
          <a:ln xmlns:a="http://schemas.openxmlformats.org/drawingml/2006/main" w="9525">
            <a:solidFill>
              <a:srgbClr val="228B67"/>
            </a:solidFill>
            <a:prstDash val="solid"/>
          </a:ln>
        </p:spPr>
      </p:sp>
      <p:sp>
        <p:nvSpPr>
          <p:cNvPr id="9" name="limit-k-0">
            <a:extLst xmlns:a="http://schemas.openxmlformats.org/drawingml/2006/main">
              <a:ext uri="{FF2B5EF4-FFF2-40B4-BE49-F238E27FC236}">
                <a16:creationId xmlns:a16="http://schemas.microsoft.com/office/drawing/2014/main" id="{5774EE42-2AE9-4C39-A261-503CCAB9C96C}"/>
              </a:ext>
            </a:extLst>
          </p:cNvPr>
          <p:cNvSpPr>
            <a:spLocks xmlns:a="http://schemas.openxmlformats.org/drawingml/2006/main" noGrp="1"/>
          </p:cNvSpPr>
          <p:nvPr/>
        </p:nvSpPr>
        <p:spPr>
          <a:xfrm xmlns:a="http://schemas.openxmlformats.org/drawingml/2006/main">
            <a:off x="94297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28B67"/>
                </a:solidFill>
              </a:defRPr>
            </a:pPr>
            <a:r>
              <a:rPr sz="1275" b="1">
                <a:solidFill>
                  <a:srgbClr val="228B67"/>
                </a:solidFill>
              </a:rPr>
              <a:t>COMPLETE</a:t>
            </a:r>
          </a:p>
        </p:txBody>
      </p:sp>
      <p:sp>
        <p:nvSpPr>
          <p:cNvPr id="10" name="limit-v-0-0">
            <a:extLst xmlns:a="http://schemas.openxmlformats.org/drawingml/2006/main">
              <a:ext uri="{FF2B5EF4-FFF2-40B4-BE49-F238E27FC236}">
                <a16:creationId xmlns:a16="http://schemas.microsoft.com/office/drawing/2014/main" id="{73888BBB-C226-4B14-B760-5B08C284054C}"/>
              </a:ext>
            </a:extLst>
          </p:cNvPr>
          <p:cNvSpPr>
            <a:spLocks xmlns:a="http://schemas.openxmlformats.org/drawingml/2006/main" noGrp="1"/>
          </p:cNvSpPr>
          <p:nvPr/>
        </p:nvSpPr>
        <p:spPr>
          <a:xfrm xmlns:a="http://schemas.openxmlformats.org/drawingml/2006/main">
            <a:off x="98107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两阶段 response-token GRPO</a:t>
            </a:r>
          </a:p>
        </p:txBody>
      </p:sp>
      <p:sp>
        <p:nvSpPr>
          <p:cNvPr id="11" name="limit-v-0-1">
            <a:extLst xmlns:a="http://schemas.openxmlformats.org/drawingml/2006/main">
              <a:ext uri="{FF2B5EF4-FFF2-40B4-BE49-F238E27FC236}">
                <a16:creationId xmlns:a16="http://schemas.microsoft.com/office/drawing/2014/main" id="{FBB22901-198A-4F72-932E-3D7B29D5DE19}"/>
              </a:ext>
            </a:extLst>
          </p:cNvPr>
          <p:cNvSpPr>
            <a:spLocks xmlns:a="http://schemas.openxmlformats.org/drawingml/2006/main" noGrp="1"/>
          </p:cNvSpPr>
          <p:nvPr/>
        </p:nvSpPr>
        <p:spPr>
          <a:xfrm xmlns:a="http://schemas.openxmlformats.org/drawingml/2006/main">
            <a:off x="98107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frontier hard-task curriculum</a:t>
            </a:r>
          </a:p>
        </p:txBody>
      </p:sp>
      <p:sp>
        <p:nvSpPr>
          <p:cNvPr id="12" name="limit-v-0-2">
            <a:extLst xmlns:a="http://schemas.openxmlformats.org/drawingml/2006/main">
              <a:ext uri="{FF2B5EF4-FFF2-40B4-BE49-F238E27FC236}">
                <a16:creationId xmlns:a16="http://schemas.microsoft.com/office/drawing/2014/main" id="{45885CF8-C680-4125-9FE3-B595BF7468DD}"/>
              </a:ext>
            </a:extLst>
          </p:cNvPr>
          <p:cNvSpPr>
            <a:spLocks xmlns:a="http://schemas.openxmlformats.org/drawingml/2006/main" noGrp="1"/>
          </p:cNvSpPr>
          <p:nvPr/>
        </p:nvSpPr>
        <p:spPr>
          <a:xfrm xmlns:a="http://schemas.openxmlformats.org/drawingml/2006/main">
            <a:off x="98107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fresh-process adapter replay</a:t>
            </a:r>
          </a:p>
        </p:txBody>
      </p:sp>
      <p:sp>
        <p:nvSpPr>
          <p:cNvPr id="13" name="limit-v-0-3">
            <a:extLst xmlns:a="http://schemas.openxmlformats.org/drawingml/2006/main">
              <a:ext uri="{FF2B5EF4-FFF2-40B4-BE49-F238E27FC236}">
                <a16:creationId xmlns:a16="http://schemas.microsoft.com/office/drawing/2014/main" id="{7B0B6E46-7F8B-43B8-A5CD-AEE8F358E839}"/>
              </a:ext>
            </a:extLst>
          </p:cNvPr>
          <p:cNvSpPr>
            <a:spLocks xmlns:a="http://schemas.openxmlformats.org/drawingml/2006/main" noGrp="1"/>
          </p:cNvSpPr>
          <p:nvPr/>
        </p:nvSpPr>
        <p:spPr>
          <a:xfrm xmlns:a="http://schemas.openxmlformats.org/drawingml/2006/main">
            <a:off x="98107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V1 失败 → V2 修复审计</a:t>
            </a:r>
          </a:p>
        </p:txBody>
      </p:sp>
      <p:sp>
        <p:nvSpPr>
          <p:cNvPr id="14" name="limit-1">
            <a:extLst xmlns:a="http://schemas.openxmlformats.org/drawingml/2006/main">
              <a:ext uri="{FF2B5EF4-FFF2-40B4-BE49-F238E27FC236}">
                <a16:creationId xmlns:a16="http://schemas.microsoft.com/office/drawing/2014/main" id="{AE5D5C6A-A3CB-4DE5-A80C-BDCDD46802F4}"/>
              </a:ext>
            </a:extLst>
          </p:cNvPr>
          <p:cNvSpPr>
            <a:spLocks xmlns:a="http://schemas.openxmlformats.org/drawingml/2006/main" noGrp="1"/>
          </p:cNvSpPr>
          <p:nvPr/>
        </p:nvSpPr>
        <p:spPr>
          <a:xfrm xmlns:a="http://schemas.openxmlformats.org/drawingml/2006/main">
            <a:off x="4381500" y="2143125"/>
            <a:ext cx="3286125" cy="3286125"/>
          </a:xfrm>
          <a:prstGeom xmlns:a="http://schemas.openxmlformats.org/drawingml/2006/main" prst="roundRect">
            <a:avLst>
              <a:gd name="adj" fmla="val 3478"/>
            </a:avLst>
          </a:prstGeom>
          <a:solidFill xmlns:a="http://schemas.openxmlformats.org/drawingml/2006/main">
            <a:srgbClr val="FAF2DE"/>
          </a:solidFill>
          <a:ln xmlns:a="http://schemas.openxmlformats.org/drawingml/2006/main" w="9525">
            <a:solidFill>
              <a:srgbClr val="C56D4A"/>
            </a:solidFill>
            <a:prstDash val="solid"/>
          </a:ln>
        </p:spPr>
      </p:sp>
      <p:sp>
        <p:nvSpPr>
          <p:cNvPr id="15" name="limit-k-1">
            <a:extLst xmlns:a="http://schemas.openxmlformats.org/drawingml/2006/main">
              <a:ext uri="{FF2B5EF4-FFF2-40B4-BE49-F238E27FC236}">
                <a16:creationId xmlns:a16="http://schemas.microsoft.com/office/drawing/2014/main" id="{80A22A39-E52C-4EF8-83F9-A9EA74461822}"/>
              </a:ext>
            </a:extLst>
          </p:cNvPr>
          <p:cNvSpPr>
            <a:spLocks xmlns:a="http://schemas.openxmlformats.org/drawingml/2006/main" noGrp="1"/>
          </p:cNvSpPr>
          <p:nvPr/>
        </p:nvSpPr>
        <p:spPr>
          <a:xfrm xmlns:a="http://schemas.openxmlformats.org/drawingml/2006/main">
            <a:off x="4610100"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C56D4A"/>
                </a:solidFill>
              </a:defRPr>
            </a:pPr>
            <a:r>
              <a:rPr sz="1275" b="1">
                <a:solidFill>
                  <a:srgbClr val="C56D4A"/>
                </a:solidFill>
              </a:rPr>
              <a:t>CODE READY / NOT RUN</a:t>
            </a:r>
          </a:p>
        </p:txBody>
      </p:sp>
      <p:sp>
        <p:nvSpPr>
          <p:cNvPr id="16" name="limit-v-1-0">
            <a:extLst xmlns:a="http://schemas.openxmlformats.org/drawingml/2006/main">
              <a:ext uri="{FF2B5EF4-FFF2-40B4-BE49-F238E27FC236}">
                <a16:creationId xmlns:a16="http://schemas.microsoft.com/office/drawing/2014/main" id="{168C3CA6-17FC-497C-9CC2-EEE56C6A254C}"/>
              </a:ext>
            </a:extLst>
          </p:cNvPr>
          <p:cNvSpPr>
            <a:spLocks xmlns:a="http://schemas.openxmlformats.org/drawingml/2006/main" noGrp="1"/>
          </p:cNvSpPr>
          <p:nvPr/>
        </p:nvSpPr>
        <p:spPr>
          <a:xfrm xmlns:a="http://schemas.openxmlformats.org/drawingml/2006/main">
            <a:off x="4648200"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BFCL-V4 smoke / paper profile</a:t>
            </a:r>
          </a:p>
        </p:txBody>
      </p:sp>
      <p:sp>
        <p:nvSpPr>
          <p:cNvPr id="17" name="limit-v-1-1">
            <a:extLst xmlns:a="http://schemas.openxmlformats.org/drawingml/2006/main">
              <a:ext uri="{FF2B5EF4-FFF2-40B4-BE49-F238E27FC236}">
                <a16:creationId xmlns:a16="http://schemas.microsoft.com/office/drawing/2014/main" id="{5124EEDD-6AC5-4C85-956F-7C1C8F6CB611}"/>
              </a:ext>
            </a:extLst>
          </p:cNvPr>
          <p:cNvSpPr>
            <a:spLocks xmlns:a="http://schemas.openxmlformats.org/drawingml/2006/main" noGrp="1"/>
          </p:cNvSpPr>
          <p:nvPr/>
        </p:nvSpPr>
        <p:spPr>
          <a:xfrm xmlns:a="http://schemas.openxmlformats.org/drawingml/2006/main">
            <a:off x="4648200"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TAU-2 Avg@4</a:t>
            </a:r>
          </a:p>
        </p:txBody>
      </p:sp>
      <p:sp>
        <p:nvSpPr>
          <p:cNvPr id="18" name="limit-v-1-2">
            <a:extLst xmlns:a="http://schemas.openxmlformats.org/drawingml/2006/main">
              <a:ext uri="{FF2B5EF4-FFF2-40B4-BE49-F238E27FC236}">
                <a16:creationId xmlns:a16="http://schemas.microsoft.com/office/drawing/2014/main" id="{A998EA74-E44C-4BAA-B304-42A0A0A43FF6}"/>
              </a:ext>
            </a:extLst>
          </p:cNvPr>
          <p:cNvSpPr>
            <a:spLocks xmlns:a="http://schemas.openxmlformats.org/drawingml/2006/main" noGrp="1"/>
          </p:cNvSpPr>
          <p:nvPr/>
        </p:nvSpPr>
        <p:spPr>
          <a:xfrm xmlns:a="http://schemas.openxmlformats.org/drawingml/2006/main">
            <a:off x="4648200"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3 seeds × ablation matrix</a:t>
            </a:r>
          </a:p>
        </p:txBody>
      </p:sp>
      <p:sp>
        <p:nvSpPr>
          <p:cNvPr id="19" name="limit-v-1-3">
            <a:extLst xmlns:a="http://schemas.openxmlformats.org/drawingml/2006/main">
              <a:ext uri="{FF2B5EF4-FFF2-40B4-BE49-F238E27FC236}">
                <a16:creationId xmlns:a16="http://schemas.microsoft.com/office/drawing/2014/main" id="{6984425E-ADC3-43FC-B310-ABFF5658E294}"/>
              </a:ext>
            </a:extLst>
          </p:cNvPr>
          <p:cNvSpPr>
            <a:spLocks xmlns:a="http://schemas.openxmlformats.org/drawingml/2006/main" noGrp="1"/>
          </p:cNvSpPr>
          <p:nvPr/>
        </p:nvSpPr>
        <p:spPr>
          <a:xfrm xmlns:a="http://schemas.openxmlformats.org/drawingml/2006/main">
            <a:off x="4648200"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更长训练与 replay-ratio sweep</a:t>
            </a:r>
          </a:p>
        </p:txBody>
      </p:sp>
      <p:sp>
        <p:nvSpPr>
          <p:cNvPr id="20" name="limit-2">
            <a:extLst xmlns:a="http://schemas.openxmlformats.org/drawingml/2006/main">
              <a:ext uri="{FF2B5EF4-FFF2-40B4-BE49-F238E27FC236}">
                <a16:creationId xmlns:a16="http://schemas.microsoft.com/office/drawing/2014/main" id="{4BEC41D0-DDA5-40EE-8E22-D7BC06BFC549}"/>
              </a:ext>
            </a:extLst>
          </p:cNvPr>
          <p:cNvSpPr>
            <a:spLocks xmlns:a="http://schemas.openxmlformats.org/drawingml/2006/main" noGrp="1"/>
          </p:cNvSpPr>
          <p:nvPr/>
        </p:nvSpPr>
        <p:spPr>
          <a:xfrm xmlns:a="http://schemas.openxmlformats.org/drawingml/2006/main">
            <a:off x="8048625" y="2143125"/>
            <a:ext cx="3286125" cy="3286125"/>
          </a:xfrm>
          <a:prstGeom xmlns:a="http://schemas.openxmlformats.org/drawingml/2006/main" prst="roundRect">
            <a:avLst>
              <a:gd name="adj" fmla="val 3478"/>
            </a:avLst>
          </a:prstGeom>
          <a:solidFill xmlns:a="http://schemas.openxmlformats.org/drawingml/2006/main">
            <a:srgbClr val="F9E9E6"/>
          </a:solidFill>
          <a:ln xmlns:a="http://schemas.openxmlformats.org/drawingml/2006/main" w="9525">
            <a:solidFill>
              <a:srgbClr val="B44C4C"/>
            </a:solidFill>
            <a:prstDash val="solid"/>
          </a:ln>
        </p:spPr>
      </p:sp>
      <p:sp>
        <p:nvSpPr>
          <p:cNvPr id="21" name="limit-k-2">
            <a:extLst xmlns:a="http://schemas.openxmlformats.org/drawingml/2006/main">
              <a:ext uri="{FF2B5EF4-FFF2-40B4-BE49-F238E27FC236}">
                <a16:creationId xmlns:a16="http://schemas.microsoft.com/office/drawing/2014/main" id="{0D5CF265-A655-47AA-971F-27FEA53B788F}"/>
              </a:ext>
            </a:extLst>
          </p:cNvPr>
          <p:cNvSpPr>
            <a:spLocks xmlns:a="http://schemas.openxmlformats.org/drawingml/2006/main" noGrp="1"/>
          </p:cNvSpPr>
          <p:nvPr/>
        </p:nvSpPr>
        <p:spPr>
          <a:xfrm xmlns:a="http://schemas.openxmlformats.org/drawingml/2006/main">
            <a:off x="8277225" y="2381250"/>
            <a:ext cx="28289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C4C"/>
                </a:solidFill>
              </a:defRPr>
            </a:pPr>
            <a:r>
              <a:rPr sz="1275" b="1">
                <a:solidFill>
                  <a:srgbClr val="B44C4C"/>
                </a:solidFill>
              </a:rPr>
              <a:t>BLOCKED RESOURCE</a:t>
            </a:r>
          </a:p>
        </p:txBody>
      </p:sp>
      <p:sp>
        <p:nvSpPr>
          <p:cNvPr id="22" name="limit-v-2-0">
            <a:extLst xmlns:a="http://schemas.openxmlformats.org/drawingml/2006/main">
              <a:ext uri="{FF2B5EF4-FFF2-40B4-BE49-F238E27FC236}">
                <a16:creationId xmlns:a16="http://schemas.microsoft.com/office/drawing/2014/main" id="{08DAC514-C3E3-43CD-87D7-F2BCEB5F1973}"/>
              </a:ext>
            </a:extLst>
          </p:cNvPr>
          <p:cNvSpPr>
            <a:spLocks xmlns:a="http://schemas.openxmlformats.org/drawingml/2006/main" noGrp="1"/>
          </p:cNvSpPr>
          <p:nvPr/>
        </p:nvSpPr>
        <p:spPr>
          <a:xfrm xmlns:a="http://schemas.openxmlformats.org/drawingml/2006/main">
            <a:off x="8315325" y="30480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论文约 100K 数据飞轮</a:t>
            </a:r>
          </a:p>
        </p:txBody>
      </p:sp>
      <p:sp>
        <p:nvSpPr>
          <p:cNvPr id="23" name="limit-v-2-1">
            <a:extLst xmlns:a="http://schemas.openxmlformats.org/drawingml/2006/main">
              <a:ext uri="{FF2B5EF4-FFF2-40B4-BE49-F238E27FC236}">
                <a16:creationId xmlns:a16="http://schemas.microsoft.com/office/drawing/2014/main" id="{7F0B4D1F-EECD-410F-BB79-95AD2B49AC75}"/>
              </a:ext>
            </a:extLst>
          </p:cNvPr>
          <p:cNvSpPr>
            <a:spLocks xmlns:a="http://schemas.openxmlformats.org/drawingml/2006/main" noGrp="1"/>
          </p:cNvSpPr>
          <p:nvPr/>
        </p:nvSpPr>
        <p:spPr>
          <a:xfrm xmlns:a="http://schemas.openxmlformats.org/drawingml/2006/main">
            <a:off x="8315325" y="35814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Qwen3-235B simulator/judge</a:t>
            </a:r>
          </a:p>
        </p:txBody>
      </p:sp>
      <p:sp>
        <p:nvSpPr>
          <p:cNvPr id="24" name="limit-v-2-2">
            <a:extLst xmlns:a="http://schemas.openxmlformats.org/drawingml/2006/main">
              <a:ext uri="{FF2B5EF4-FFF2-40B4-BE49-F238E27FC236}">
                <a16:creationId xmlns:a16="http://schemas.microsoft.com/office/drawing/2014/main" id="{17F844C4-6B42-4A60-8501-559DB975BF0D}"/>
              </a:ext>
            </a:extLst>
          </p:cNvPr>
          <p:cNvSpPr>
            <a:spLocks xmlns:a="http://schemas.openxmlformats.org/drawingml/2006/main" noGrp="1"/>
          </p:cNvSpPr>
          <p:nvPr/>
        </p:nvSpPr>
        <p:spPr>
          <a:xfrm xmlns:a="http://schemas.openxmlformats.org/drawingml/2006/main">
            <a:off x="8315325" y="41148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8×H100 原配方</a:t>
            </a:r>
          </a:p>
        </p:txBody>
      </p:sp>
      <p:sp>
        <p:nvSpPr>
          <p:cNvPr id="25" name="limit-v-2-3">
            <a:extLst xmlns:a="http://schemas.openxmlformats.org/drawingml/2006/main">
              <a:ext uri="{FF2B5EF4-FFF2-40B4-BE49-F238E27FC236}">
                <a16:creationId xmlns:a16="http://schemas.microsoft.com/office/drawing/2014/main" id="{9E8D51AC-4F4A-4259-9753-0A7705ED81C1}"/>
              </a:ext>
            </a:extLst>
          </p:cNvPr>
          <p:cNvSpPr>
            <a:spLocks xmlns:a="http://schemas.openxmlformats.org/drawingml/2006/main" noGrp="1"/>
          </p:cNvSpPr>
          <p:nvPr/>
        </p:nvSpPr>
        <p:spPr>
          <a:xfrm xmlns:a="http://schemas.openxmlformats.org/drawingml/2006/main">
            <a:off x="8315325" y="4648200"/>
            <a:ext cx="2762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102330"/>
                </a:solidFill>
              </a:defRPr>
            </a:pPr>
            <a:r>
              <a:rPr sz="1200" b="1">
                <a:solidFill>
                  <a:srgbClr val="102330"/>
                </a:solidFill>
              </a:rPr>
              <a:t>×  论文 47.4 benchmark claim</a:t>
            </a:r>
          </a:p>
        </p:txBody>
      </p:sp>
    </p:spTree>
    <p:extLst>
      <p:ext uri="{BB962C8B-B14F-4D97-AF65-F5344CB8AC3E}">
        <p14:creationId xmlns:p14="http://schemas.microsoft.com/office/powerpoint/2010/main" val="589666834"/>
      </p:ext>
    </p:extLst>
  </p:cSld>
</p:sld>
</file>

<file path=ppt/slides/slide15.xml><?xml version="1.0" encoding="utf-8"?>
<p:sld xmlns:p="http://schemas.openxmlformats.org/presentationml/2006/main">
  <p:cSld>
    <p:bg>
      <p:bgPr>
        <a:solidFill xmlns:a="http://schemas.openxmlformats.org/drawingml/2006/main">
          <a:srgbClr val="FFFDFC"/>
        </a:solidFill>
      </p:bgPr>
    </p:bg>
    <p:spTree>
      <p:nvGrpSpPr>
        <p:cNvPr id="1" name=""/>
        <p:cNvGrpSpPr/>
        <p:nvPr/>
      </p:nvGrpSpPr>
      <p:grpSpPr>
        <a:xfrm xmlns:a="http://schemas.openxmlformats.org/drawingml/2006/main"/>
      </p:grpSpPr>
      <p:sp>
        <p:nvSpPr>
          <p:cNvPr id="7" name="mechanism-rail">
            <a:extLst xmlns:a="http://schemas.openxmlformats.org/drawingml/2006/main">
              <a:ext uri="{FF2B5EF4-FFF2-40B4-BE49-F238E27FC236}">
                <a16:creationId xmlns:a16="http://schemas.microsoft.com/office/drawing/2014/main" id="{468AF987-B726-4EB5-B88C-CF6AA42E4E3A}"/>
              </a:ext>
            </a:extLst>
          </p:cNvPr>
          <p:cNvSpPr>
            <a:spLocks xmlns:a="http://schemas.openxmlformats.org/drawingml/2006/main" noGrp="1"/>
          </p:cNvSpPr>
          <p:nvPr/>
        </p:nvSpPr>
        <p:spPr>
          <a:xfrm xmlns:a="http://schemas.openxmlformats.org/drawingml/2006/main">
            <a:off x="0" y="0"/>
            <a:ext cx="285750" cy="6858000"/>
          </a:xfrm>
          <a:prstGeom xmlns:a="http://schemas.openxmlformats.org/drawingml/2006/main" prst="rect">
            <a:avLst/>
          </a:prstGeom>
          <a:solidFill xmlns:a="http://schemas.openxmlformats.org/drawingml/2006/main">
            <a:srgbClr val="071A2B"/>
          </a:solidFill>
          <a:ln xmlns:a="http://schemas.openxmlformats.org/drawingml/2006/main" w="0">
            <a:solidFill>
              <a:srgbClr val="071A2B"/>
            </a:solidFill>
            <a:prstDash val="solid"/>
          </a:ln>
        </p:spPr>
      </p:sp>
      <p:sp>
        <p:nvSpPr>
          <p:cNvPr id="2" name="mechanism-title">
            <a:extLst xmlns:a="http://schemas.openxmlformats.org/drawingml/2006/main">
              <a:ext uri="{FF2B5EF4-FFF2-40B4-BE49-F238E27FC236}">
                <a16:creationId xmlns:a16="http://schemas.microsoft.com/office/drawing/2014/main" id="{DDAEF585-7984-44B8-B55E-35398F7441F9}"/>
              </a:ext>
            </a:extLst>
          </p:cNvPr>
          <p:cNvSpPr>
            <a:spLocks xmlns:a="http://schemas.openxmlformats.org/drawingml/2006/main" noGrp="1"/>
          </p:cNvSpPr>
          <p:nvPr/>
        </p:nvSpPr>
        <p:spPr>
          <a:xfrm xmlns:a="http://schemas.openxmlformats.org/drawingml/2006/main">
            <a:off x="742950" y="228600"/>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400" b="1">
                <a:solidFill>
                  <a:srgbClr val="071A2B"/>
                </a:solidFill>
              </a:defRPr>
            </a:pPr>
            <a:r>
              <a:rPr sz="2400" b="1">
                <a:solidFill>
                  <a:srgbClr val="071A2B"/>
                </a:solidFill>
              </a:rPr>
              <a:t>失败驱动的课程学习闭环</a:t>
            </a:r>
          </a:p>
        </p:txBody>
      </p:sp>
      <p:sp>
        <p:nvSpPr>
          <p:cNvPr id="3" name="mechanism-subtitle">
            <a:extLst xmlns:a="http://schemas.openxmlformats.org/drawingml/2006/main">
              <a:ext uri="{FF2B5EF4-FFF2-40B4-BE49-F238E27FC236}">
                <a16:creationId xmlns:a16="http://schemas.microsoft.com/office/drawing/2014/main" id="{1AE09CB3-A913-40E8-9CFA-615A4624F0B5}"/>
              </a:ext>
            </a:extLst>
          </p:cNvPr>
          <p:cNvSpPr>
            <a:spLocks xmlns:a="http://schemas.openxmlformats.org/drawingml/2006/main" noGrp="1"/>
          </p:cNvSpPr>
          <p:nvPr/>
        </p:nvSpPr>
        <p:spPr>
          <a:xfrm xmlns:a="http://schemas.openxmlformats.org/drawingml/2006/main">
            <a:off x="7477125" y="323850"/>
            <a:ext cx="37623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125" b="1">
                <a:solidFill>
                  <a:srgbClr val="0B797B"/>
                </a:solidFill>
              </a:defRPr>
            </a:pPr>
            <a:r>
              <a:rPr sz="1125" b="1">
                <a:solidFill>
                  <a:srgbClr val="0B797B"/>
                </a:solidFill>
              </a:rPr>
              <a:t>基础工具链 → 轨迹审计 → 定向合成 → 带分支的持续训练</a:t>
            </a:r>
          </a:p>
        </p:txBody>
      </p:sp>
      <p:sp>
        <p:nvSpPr>
          <p:cNvPr id="4" name="">
            <a:extLst xmlns:a="http://schemas.openxmlformats.org/drawingml/2006/main">
              <a:ext uri="{FF2B5EF4-FFF2-40B4-BE49-F238E27FC236}">
                <a16:creationId xmlns:a16="http://schemas.microsoft.com/office/drawing/2014/main" id="{0820BAB4-72A9-43EE-93A9-FA4485580BBE}"/>
              </a:ext>
            </a:extLst>
          </p:cNvPr>
          <p:cNvSpPr>
            <a:spLocks xmlns:a="http://schemas.openxmlformats.org/drawingml/2006/main" noGrp="1"/>
          </p:cNvSpPr>
          <p:nvPr/>
        </p:nvSpPr>
        <p:spPr>
          <a:xfrm xmlns:a="http://schemas.openxmlformats.org/drawingml/2006/main">
            <a:off x="723900" y="723900"/>
            <a:ext cx="10515600" cy="0"/>
          </a:xfrm>
          <a:prstGeom xmlns:a="http://schemas.openxmlformats.org/drawingml/2006/main" prst="line">
            <a:avLst/>
          </a:prstGeom>
          <a:noFill xmlns:a="http://schemas.openxmlformats.org/drawingml/2006/main"/>
          <a:ln xmlns:a="http://schemas.openxmlformats.org/drawingml/2006/main" w="9525">
            <a:solidFill>
              <a:srgbClr val="CAD9D8"/>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4c7a094aa2646bb"/>
          <a:stretch xmlns:a="http://schemas.openxmlformats.org/drawingml/2006/main"/>
        </p:blipFill>
        <p:spPr>
          <a:xfrm xmlns:a="http://schemas.openxmlformats.org/drawingml/2006/main">
            <a:off x="1619250" y="1099989"/>
            <a:ext cx="8953500" cy="5039021"/>
          </a:xfrm>
          <a:prstGeom xmlns:a="http://schemas.openxmlformats.org/drawingml/2006/main" prst="rect">
            <a:avLst/>
          </a:prstGeom>
        </p:spPr>
      </p:pic>
      <p:sp>
        <p:nvSpPr>
          <p:cNvPr id="6" name="mechanism-page">
            <a:extLst xmlns:a="http://schemas.openxmlformats.org/drawingml/2006/main">
              <a:ext uri="{FF2B5EF4-FFF2-40B4-BE49-F238E27FC236}">
                <a16:creationId xmlns:a16="http://schemas.microsoft.com/office/drawing/2014/main" id="{EA940490-31A4-4DA0-8E18-E42DF97D61BD}"/>
              </a:ext>
            </a:extLst>
          </p:cNvPr>
          <p:cNvSpPr>
            <a:spLocks xmlns:a="http://schemas.openxmlformats.org/drawingml/2006/main" noGrp="1"/>
          </p:cNvSpPr>
          <p:nvPr/>
        </p:nvSpPr>
        <p:spPr>
          <a:xfrm xmlns:a="http://schemas.openxmlformats.org/drawingml/2006/main">
            <a:off x="10715625" y="6419850"/>
            <a:ext cx="523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a:solidFill>
                  <a:srgbClr val="64747B"/>
                </a:solidFill>
              </a:defRPr>
            </a:pPr>
            <a:r>
              <a:rPr sz="900">
                <a:solidFill>
                  <a:srgbClr val="64747B"/>
                </a:solidFill>
              </a:rPr>
              <a:t>15</a:t>
            </a:r>
          </a:p>
        </p:txBody>
      </p:sp>
    </p:spTree>
    <p:extLst>
      <p:ext uri="{BB962C8B-B14F-4D97-AF65-F5344CB8AC3E}">
        <p14:creationId xmlns:p14="http://schemas.microsoft.com/office/powerpoint/2010/main" val="1845188322"/>
      </p:ext>
    </p:extLst>
  </p:cSld>
</p:sld>
</file>

<file path=ppt/slides/slide16.xml><?xml version="1.0" encoding="utf-8"?>
<p:sld xmlns:p="http://schemas.openxmlformats.org/presentationml/2006/main">
  <p:cSld>
    <p:bg>
      <p:bgPr>
        <a:solidFill xmlns:a="http://schemas.openxmlformats.org/drawingml/2006/main">
          <a:srgbClr val="071A2B"/>
        </a:solidFill>
      </p:bgPr>
    </p:bg>
    <p:spTree>
      <p:nvGrpSpPr>
        <p:cNvPr id="1" name=""/>
        <p:cNvGrpSpPr/>
        <p:nvPr/>
      </p:nvGrpSpPr>
      <p:grpSpPr>
        <a:xfrm xmlns:a="http://schemas.openxmlformats.org/drawingml/2006/main"/>
      </p:grpSpPr>
      <p:sp>
        <p:nvSpPr>
          <p:cNvPr id="11" name="copper-16">
            <a:extLst xmlns:a="http://schemas.openxmlformats.org/drawingml/2006/main">
              <a:ext uri="{FF2B5EF4-FFF2-40B4-BE49-F238E27FC236}">
                <a16:creationId xmlns:a16="http://schemas.microsoft.com/office/drawing/2014/main" id="{69A0B52E-0F5E-4C4E-84D5-2EB07AD078A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56D4A"/>
          </a:solidFill>
          <a:ln xmlns:a="http://schemas.openxmlformats.org/drawingml/2006/main" w="0">
            <a:solidFill>
              <a:srgbClr val="C56D4A"/>
            </a:solidFill>
            <a:prstDash val="solid"/>
          </a:ln>
        </p:spPr>
      </p:sp>
      <p:sp>
        <p:nvSpPr>
          <p:cNvPr id="2" name="chapter-script-16">
            <a:extLst xmlns:a="http://schemas.openxmlformats.org/drawingml/2006/main">
              <a:ext uri="{FF2B5EF4-FFF2-40B4-BE49-F238E27FC236}">
                <a16:creationId xmlns:a16="http://schemas.microsoft.com/office/drawing/2014/main" id="{E076BC11-02C1-4AA1-B242-A5A00C0D9BAC}"/>
              </a:ext>
            </a:extLst>
          </p:cNvPr>
          <p:cNvSpPr>
            <a:spLocks xmlns:a="http://schemas.openxmlformats.org/drawingml/2006/main" noGrp="1"/>
          </p:cNvSpPr>
          <p:nvPr/>
        </p:nvSpPr>
        <p:spPr>
          <a:xfrm xmlns:a="http://schemas.openxmlformats.org/drawingml/2006/main">
            <a:off x="800100" y="647700"/>
            <a:ext cx="4762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2175" b="1">
                <a:solidFill>
                  <a:srgbClr val="D6A84B"/>
                </a:solidFill>
              </a:defRPr>
            </a:pPr>
            <a:r>
              <a:rPr sz="2175" b="1">
                <a:solidFill>
                  <a:srgbClr val="D6A84B"/>
                </a:solidFill>
              </a:rPr>
              <a:t>长程智能体 · 强化学习</a:t>
            </a:r>
          </a:p>
        </p:txBody>
      </p:sp>
      <p:sp>
        <p:nvSpPr>
          <p:cNvPr id="3" name="roman-16">
            <a:extLst xmlns:a="http://schemas.openxmlformats.org/drawingml/2006/main">
              <a:ext uri="{FF2B5EF4-FFF2-40B4-BE49-F238E27FC236}">
                <a16:creationId xmlns:a16="http://schemas.microsoft.com/office/drawing/2014/main" id="{94B0A66A-38A4-4FFC-807D-40FB1E3C746B}"/>
              </a:ext>
            </a:extLst>
          </p:cNvPr>
          <p:cNvSpPr>
            <a:spLocks xmlns:a="http://schemas.openxmlformats.org/drawingml/2006/main" noGrp="1"/>
          </p:cNvSpPr>
          <p:nvPr/>
        </p:nvSpPr>
        <p:spPr>
          <a:xfrm xmlns:a="http://schemas.openxmlformats.org/drawingml/2006/main">
            <a:off x="8001000" y="323850"/>
            <a:ext cx="3048000" cy="2286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12450" b="1">
                <a:solidFill>
                  <a:srgbClr val="0E2B3D"/>
                </a:solidFill>
              </a:defRPr>
            </a:pPr>
            <a:r>
              <a:rPr sz="12450" b="1">
                <a:solidFill>
                  <a:srgbClr val="0E2B3D"/>
                </a:solidFill>
              </a:rPr>
              <a:t>✓</a:t>
            </a:r>
          </a:p>
        </p:txBody>
      </p:sp>
      <p:sp>
        <p:nvSpPr>
          <p:cNvPr id="4" name="">
            <a:extLst xmlns:a="http://schemas.openxmlformats.org/drawingml/2006/main">
              <a:ext uri="{FF2B5EF4-FFF2-40B4-BE49-F238E27FC236}">
                <a16:creationId xmlns:a16="http://schemas.microsoft.com/office/drawing/2014/main" id="{8B10209B-2E18-4447-8F40-933D21814AA9}"/>
              </a:ext>
            </a:extLst>
          </p:cNvPr>
          <p:cNvSpPr>
            <a:spLocks xmlns:a="http://schemas.openxmlformats.org/drawingml/2006/main" noGrp="1"/>
          </p:cNvSpPr>
          <p:nvPr/>
        </p:nvSpPr>
        <p:spPr>
          <a:xfrm xmlns:a="http://schemas.openxmlformats.org/drawingml/2006/main">
            <a:off x="819150" y="1628775"/>
            <a:ext cx="1619250" cy="0"/>
          </a:xfrm>
          <a:prstGeom xmlns:a="http://schemas.openxmlformats.org/drawingml/2006/main" prst="line">
            <a:avLst/>
          </a:prstGeom>
          <a:noFill xmlns:a="http://schemas.openxmlformats.org/drawingml/2006/main"/>
          <a:ln xmlns:a="http://schemas.openxmlformats.org/drawingml/2006/main" w="47625">
            <a:solidFill>
              <a:srgbClr val="C56D4A"/>
            </a:solidFill>
            <a:prstDash val="solid"/>
          </a:ln>
        </p:spPr>
      </p:sp>
      <p:sp>
        <p:nvSpPr>
          <p:cNvPr id="5" name="zh-16">
            <a:extLst xmlns:a="http://schemas.openxmlformats.org/drawingml/2006/main">
              <a:ext uri="{FF2B5EF4-FFF2-40B4-BE49-F238E27FC236}">
                <a16:creationId xmlns:a16="http://schemas.microsoft.com/office/drawing/2014/main" id="{E6AA5AEA-2806-48A3-AC37-D8D0411DDFC9}"/>
              </a:ext>
            </a:extLst>
          </p:cNvPr>
          <p:cNvSpPr>
            <a:spLocks xmlns:a="http://schemas.openxmlformats.org/drawingml/2006/main" noGrp="1"/>
          </p:cNvSpPr>
          <p:nvPr/>
        </p:nvSpPr>
        <p:spPr>
          <a:xfrm xmlns:a="http://schemas.openxmlformats.org/drawingml/2006/main">
            <a:off x="781050" y="2038350"/>
            <a:ext cx="7620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4275" b="1">
                <a:solidFill>
                  <a:srgbClr val="F7F1E8"/>
                </a:solidFill>
              </a:defRPr>
            </a:pPr>
            <a:r>
              <a:rPr sz="4275" b="1">
                <a:solidFill>
                  <a:srgbClr val="F7F1E8"/>
                </a:solidFill>
              </a:rPr>
              <a:t>从论文到可审计项目</a:t>
            </a:r>
          </a:p>
        </p:txBody>
      </p:sp>
      <p:sp>
        <p:nvSpPr>
          <p:cNvPr id="6" name="en-16">
            <a:extLst xmlns:a="http://schemas.openxmlformats.org/drawingml/2006/main">
              <a:ext uri="{FF2B5EF4-FFF2-40B4-BE49-F238E27FC236}">
                <a16:creationId xmlns:a16="http://schemas.microsoft.com/office/drawing/2014/main" id="{CC4BD1B9-902E-4D89-98BB-E7B9592A3A66}"/>
              </a:ext>
            </a:extLst>
          </p:cNvPr>
          <p:cNvSpPr>
            <a:spLocks xmlns:a="http://schemas.openxmlformats.org/drawingml/2006/main" noGrp="1"/>
          </p:cNvSpPr>
          <p:nvPr/>
        </p:nvSpPr>
        <p:spPr>
          <a:xfrm xmlns:a="http://schemas.openxmlformats.org/drawingml/2006/main">
            <a:off x="828675" y="3028950"/>
            <a:ext cx="857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800" b="1">
                <a:solidFill>
                  <a:srgbClr val="18A6A6"/>
                </a:solidFill>
              </a:defRPr>
            </a:pPr>
            <a:r>
              <a:rPr sz="1800" b="1">
                <a:solidFill>
                  <a:srgbClr val="18A6A6"/>
                </a:solidFill>
              </a:rPr>
              <a:t>PLAN · EXECUTE · VERIFY · REPORT</a:t>
            </a:r>
          </a:p>
        </p:txBody>
      </p:sp>
      <p:sp>
        <p:nvSpPr>
          <p:cNvPr id="7" name="body-16">
            <a:extLst xmlns:a="http://schemas.openxmlformats.org/drawingml/2006/main">
              <a:ext uri="{FF2B5EF4-FFF2-40B4-BE49-F238E27FC236}">
                <a16:creationId xmlns:a16="http://schemas.microsoft.com/office/drawing/2014/main" id="{1B89B987-F299-4CAA-9E66-5812922C9B11}"/>
              </a:ext>
            </a:extLst>
          </p:cNvPr>
          <p:cNvSpPr>
            <a:spLocks xmlns:a="http://schemas.openxmlformats.org/drawingml/2006/main" noGrp="1"/>
          </p:cNvSpPr>
          <p:nvPr/>
        </p:nvSpPr>
        <p:spPr>
          <a:xfrm xmlns:a="http://schemas.openxmlformats.org/drawingml/2006/main">
            <a:off x="828675" y="3905250"/>
            <a:ext cx="7905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nSpc>
                <a:spcPct val="118000"/>
              </a:lnSpc>
              <a:buNone/>
              <a:defRPr sz="1575">
                <a:solidFill>
                  <a:srgbClr val="C7D6DC"/>
                </a:solidFill>
              </a:defRPr>
            </a:pPr>
            <a:r>
              <a:rPr sz="1575">
                <a:solidFill>
                  <a:srgbClr val="C7D6DC"/>
                </a:solidFill>
              </a:rPr>
              <a:t>现在可以真实地讲：我实现并运行了一个 Qwen3-8B 长程 Agentic RL curriculum，模型经历了真实多轮工具环境、失败诊断、难例再训练与独立重载。下一步是运行官方 benchmark、扩大数据与 seeds，而不是补一个更漂亮的故事。</a:t>
            </a:r>
          </a:p>
        </p:txBody>
      </p:sp>
      <p:sp>
        <p:nvSpPr>
          <p:cNvPr id="8" name="chapter-pill-16-bg">
            <a:extLst xmlns:a="http://schemas.openxmlformats.org/drawingml/2006/main">
              <a:ext uri="{FF2B5EF4-FFF2-40B4-BE49-F238E27FC236}">
                <a16:creationId xmlns:a16="http://schemas.microsoft.com/office/drawing/2014/main" id="{6159B46F-FAA5-4C8D-9CE7-BCFAC1AF4A25}"/>
              </a:ext>
            </a:extLst>
          </p:cNvPr>
          <p:cNvSpPr>
            <a:spLocks xmlns:a="http://schemas.openxmlformats.org/drawingml/2006/main" noGrp="1"/>
          </p:cNvSpPr>
          <p:nvPr/>
        </p:nvSpPr>
        <p:spPr>
          <a:xfrm xmlns:a="http://schemas.openxmlformats.org/drawingml/2006/main">
            <a:off x="828675" y="5638800"/>
            <a:ext cx="1428750" cy="285750"/>
          </a:xfrm>
          <a:prstGeom xmlns:a="http://schemas.openxmlformats.org/drawingml/2006/main" prst="roundRect">
            <a:avLst>
              <a:gd name="adj" fmla="val 50000"/>
            </a:avLst>
          </a:prstGeom>
          <a:solidFill xmlns:a="http://schemas.openxmlformats.org/drawingml/2006/main">
            <a:srgbClr val="C56D4A"/>
          </a:solidFill>
          <a:ln xmlns:a="http://schemas.openxmlformats.org/drawingml/2006/main" w="0">
            <a:solidFill>
              <a:srgbClr val="C56D4A"/>
            </a:solidFill>
            <a:prstDash val="solid"/>
          </a:ln>
        </p:spPr>
      </p:sp>
      <p:sp>
        <p:nvSpPr>
          <p:cNvPr id="9" name="chapter-pill-16-text">
            <a:extLst xmlns:a="http://schemas.openxmlformats.org/drawingml/2006/main">
              <a:ext uri="{FF2B5EF4-FFF2-40B4-BE49-F238E27FC236}">
                <a16:creationId xmlns:a16="http://schemas.microsoft.com/office/drawing/2014/main" id="{A873AC04-3E9F-4132-BC21-587FE75D0D9A}"/>
              </a:ext>
            </a:extLst>
          </p:cNvPr>
          <p:cNvSpPr>
            <a:spLocks xmlns:a="http://schemas.openxmlformats.org/drawingml/2006/main" noGrp="1"/>
          </p:cNvSpPr>
          <p:nvPr/>
        </p:nvSpPr>
        <p:spPr>
          <a:xfrm xmlns:a="http://schemas.openxmlformats.org/drawingml/2006/main">
            <a:off x="923925" y="568642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00" b="1">
                <a:solidFill>
                  <a:srgbClr val="FFFFFF"/>
                </a:solidFill>
              </a:defRPr>
            </a:pPr>
            <a:r>
              <a:rPr sz="900" b="1">
                <a:solidFill>
                  <a:srgbClr val="FFFFFF"/>
                </a:solidFill>
              </a:rPr>
              <a:t>CHAPTER 16</a:t>
            </a:r>
          </a:p>
        </p:txBody>
      </p:sp>
      <p:sp>
        <p:nvSpPr>
          <p:cNvPr id="10" name="close-command">
            <a:extLst xmlns:a="http://schemas.openxmlformats.org/drawingml/2006/main">
              <a:ext uri="{FF2B5EF4-FFF2-40B4-BE49-F238E27FC236}">
                <a16:creationId xmlns:a16="http://schemas.microsoft.com/office/drawing/2014/main" id="{C7A82972-D710-46E4-8648-6AE16F04BE90}"/>
              </a:ext>
            </a:extLst>
          </p:cNvPr>
          <p:cNvSpPr>
            <a:spLocks xmlns:a="http://schemas.openxmlformats.org/drawingml/2006/main" noGrp="1"/>
          </p:cNvSpPr>
          <p:nvPr/>
        </p:nvSpPr>
        <p:spPr>
          <a:xfrm xmlns:a="http://schemas.openxmlformats.org/drawingml/2006/main">
            <a:off x="819150" y="5095875"/>
            <a:ext cx="90487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defRPr sz="1200" b="1">
                <a:solidFill>
                  <a:srgbClr val="F7F1E8"/>
                </a:solidFill>
              </a:defRPr>
            </a:pPr>
            <a:r>
              <a:rPr sz="1200" b="1">
                <a:solidFill>
                  <a:srgbClr val="F7F1E8"/>
                </a:solidFill>
              </a:rPr>
              <a:t>./run_curriculum_modal.sh  →  ./finalize_curriculum_report.sh  →  build_curriculum_deck.mjs</a:t>
            </a:r>
          </a:p>
        </p:txBody>
      </p:sp>
    </p:spTree>
    <p:extLst>
      <p:ext uri="{BB962C8B-B14F-4D97-AF65-F5344CB8AC3E}">
        <p14:creationId xmlns:p14="http://schemas.microsoft.com/office/powerpoint/2010/main" val="6575828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2026-08-04T06:20:07.7440000Z</dcterms:created>
  <dcterms:modified xsi:type="dcterms:W3CDTF">2026-08-04T06:20:07.7440000Z</dcterms:modified>
</coreProperties>
</file>