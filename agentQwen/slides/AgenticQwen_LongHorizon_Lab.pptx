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24057108a3400f" /><Relationship Type="http://schemas.openxmlformats.org/officeDocument/2006/relationships/extended-properties" Target="/docProps/app.xml" Id="R178ea407f0184f55" /><Relationship Type="http://schemas.openxmlformats.org/officeDocument/2006/relationships/officeDocument" Target="/ppt/presentation.xml" Id="R745488ec64ed40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6bb7cf62544915"/>
  </p:sldMasterIdLst>
  <p:notesMasterIdLst>
    <p:notesMasterId xmlns:r="http://schemas.openxmlformats.org/officeDocument/2006/relationships" r:id="R3515f993c1f94ca2"/>
  </p:notesMasterIdLst>
  <p:sldIdLst>
    <p:sldId xmlns:r="http://schemas.openxmlformats.org/officeDocument/2006/relationships" id="256" r:id="R4c2c7ccf8d954717"/>
    <p:sldId xmlns:r="http://schemas.openxmlformats.org/officeDocument/2006/relationships" id="257" r:id="R70f0f962d3ad4bdf"/>
    <p:sldId xmlns:r="http://schemas.openxmlformats.org/officeDocument/2006/relationships" id="258" r:id="R346dab712d4749e6"/>
    <p:sldId xmlns:r="http://schemas.openxmlformats.org/officeDocument/2006/relationships" id="259" r:id="R1f58c2a4ba374e91"/>
    <p:sldId xmlns:r="http://schemas.openxmlformats.org/officeDocument/2006/relationships" id="260" r:id="R4cf6149c620f4eb4"/>
    <p:sldId xmlns:r="http://schemas.openxmlformats.org/officeDocument/2006/relationships" id="261" r:id="R6a1dfb04f0174707"/>
    <p:sldId xmlns:r="http://schemas.openxmlformats.org/officeDocument/2006/relationships" id="262" r:id="R041f9cc6461245e0"/>
    <p:sldId xmlns:r="http://schemas.openxmlformats.org/officeDocument/2006/relationships" id="263" r:id="Rcd274ff84c514c8a"/>
    <p:sldId xmlns:r="http://schemas.openxmlformats.org/officeDocument/2006/relationships" id="264" r:id="R70d9e9bccd784fc3"/>
    <p:sldId xmlns:r="http://schemas.openxmlformats.org/officeDocument/2006/relationships" id="265" r:id="Rf4ec95af242f46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a11015b4cd49a1" /><Relationship Type="http://schemas.openxmlformats.org/officeDocument/2006/relationships/slideMaster" Target="/ppt/slideMasters/slideMaster1.xml" Id="Rdb6bb7cf62544915" /><Relationship Type="http://schemas.openxmlformats.org/officeDocument/2006/relationships/notesMaster" Target="/ppt/notesMasters/notesMaster1.xml" Id="R3515f993c1f94ca2" /><Relationship Type="http://schemas.openxmlformats.org/officeDocument/2006/relationships/presProps" Target="/ppt/presProps.xml" Id="R47a2625979504cb6" /><Relationship Type="http://schemas.openxmlformats.org/officeDocument/2006/relationships/tableStyles" Target="/ppt/tableStyles.xml" Id="R3427aad49aff44b9" /><Relationship Type="http://schemas.openxmlformats.org/officeDocument/2006/relationships/slide" Target="/ppt/slides/slide1.xml" Id="R4c2c7ccf8d954717" /><Relationship Type="http://schemas.openxmlformats.org/officeDocument/2006/relationships/slide" Target="/ppt/slides/slide2.xml" Id="R70f0f962d3ad4bdf" /><Relationship Type="http://schemas.openxmlformats.org/officeDocument/2006/relationships/slide" Target="/ppt/slides/slide3.xml" Id="R346dab712d4749e6" /><Relationship Type="http://schemas.openxmlformats.org/officeDocument/2006/relationships/slide" Target="/ppt/slides/slide4.xml" Id="R1f58c2a4ba374e91" /><Relationship Type="http://schemas.openxmlformats.org/officeDocument/2006/relationships/slide" Target="/ppt/slides/slide5.xml" Id="R4cf6149c620f4eb4" /><Relationship Type="http://schemas.openxmlformats.org/officeDocument/2006/relationships/slide" Target="/ppt/slides/slide6.xml" Id="R6a1dfb04f0174707" /><Relationship Type="http://schemas.openxmlformats.org/officeDocument/2006/relationships/slide" Target="/ppt/slides/slide7.xml" Id="R041f9cc6461245e0" /><Relationship Type="http://schemas.openxmlformats.org/officeDocument/2006/relationships/slide" Target="/ppt/slides/slide8.xml" Id="Rcd274ff84c514c8a" /><Relationship Type="http://schemas.openxmlformats.org/officeDocument/2006/relationships/slide" Target="/ppt/slides/slide9.xml" Id="R70d9e9bccd784fc3" /><Relationship Type="http://schemas.openxmlformats.org/officeDocument/2006/relationships/slide" Target="/ppt/slides/slide10.xml" Id="Rf4ec95af242f46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83a8a761444c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4c0f4fb248482c" /><Relationship Type="http://schemas.openxmlformats.org/officeDocument/2006/relationships/notesMaster" Target="/ppt/notesMasters/notesMaster1.xml" Id="R36a6e08eeca543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f05a56926d4a79" /><Relationship Type="http://schemas.openxmlformats.org/officeDocument/2006/relationships/notesMaster" Target="/ppt/notesMasters/notesMaster1.xml" Id="R265e59e7ae794d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217922f35842b0" /><Relationship Type="http://schemas.openxmlformats.org/officeDocument/2006/relationships/notesMaster" Target="/ppt/notesMasters/notesMaster1.xml" Id="R9ee70702b39a4c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c2181357f04817" /><Relationship Type="http://schemas.openxmlformats.org/officeDocument/2006/relationships/notesMaster" Target="/ppt/notesMasters/notesMaster1.xml" Id="R68fe9830d3e549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0506f0990a4615" /><Relationship Type="http://schemas.openxmlformats.org/officeDocument/2006/relationships/notesMaster" Target="/ppt/notesMasters/notesMaster1.xml" Id="Rd182dad2679348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8cd44a54674ed9" /><Relationship Type="http://schemas.openxmlformats.org/officeDocument/2006/relationships/notesMaster" Target="/ppt/notesMasters/notesMaster1.xml" Id="R280286f8610d48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9df16782c84892" /><Relationship Type="http://schemas.openxmlformats.org/officeDocument/2006/relationships/notesMaster" Target="/ppt/notesMasters/notesMaster1.xml" Id="R9f365644564448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64b27f8b864f94" /><Relationship Type="http://schemas.openxmlformats.org/officeDocument/2006/relationships/notesMaster" Target="/ppt/notesMasters/notesMaster1.xml" Id="Rc57592396a564c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cdf732452e4518" /><Relationship Type="http://schemas.openxmlformats.org/officeDocument/2006/relationships/notesMaster" Target="/ppt/notesMasters/notesMaster1.xml" Id="Rf8755da960984c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00e71cfd824f18" /><Relationship Type="http://schemas.openxmlformats.org/officeDocument/2006/relationships/notesMaster" Target="/ppt/notesMasters/notesMaster1.xml" Id="R389c8464fad441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开场界定：真实跑通一条 Qwen3.7-Flash 多轮工具轨迹，并保留此前 Qwen3-8B LoRA-GRPO 权重更新与 fresh-process replay。两部分均有独立 verifier，但尚未合并成多轮 response-token RL。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https://arxiv.org/abs/2604.21590</a:t>
            </a:r>
          </a:p>
          <a:p xmlns:a="http://schemas.openxmlformats.org/drawingml/2006/main">
            <a:r>
              <a:t>- /Users/hongbo/Documents/Codex/2026-08-02/https-yyhdbl-github-io/outputs/agenticqwen-reproduction/artifacts/long_horizon/trajectory_qwen3.7_flash.json</a:t>
            </a:r>
          </a:p>
          <a:p xmlns:a="http://schemas.openxmlformats.org/drawingml/2006/main">
            <a:r>
              <a:t>- /Users/hongbo/Documents/Codex/2026-08-02/https-yyhdbl-github-io/outputs/agenticqwen-reproduction/artifacts/real_qwen3_8b/summary.json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四层证据避免把一个漂亮框架误写成完整复现：环境证明状态可变，轨迹证明闭环可运行，训练证明参数真的更新，验证证明结论不是 executor 自报。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/Users/hongbo/Documents/Codex/2026-08-02/https-yyhdbl-github-io/outputs/agenticqwen-reproduction/artifacts/long_horizon/trajectory_qwen3.7_flash.json</a:t>
            </a:r>
          </a:p>
          <a:p xmlns:a="http://schemas.openxmlformats.org/drawingml/2006/main">
            <a:r>
              <a:t>- /Users/hongbo/Documents/Codex/2026-08-02/https-yyhdbl-github-io/outputs/agenticqwen-reproduction/artifacts/real_qwen3_8b/summary.json</a:t>
            </a:r>
          </a:p>
          <a:p xmlns:a="http://schemas.openxmlformats.org/drawingml/2006/main">
            <a:r>
              <a:t>- /Users/hongbo/Documents/Codex/2026-08-02/https-yyhdbl-github-io/outputs/agenticqwen-reproduction/artifacts/real_qwen3_8b/verification.json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说明论文目标：用 GRPO-style 多轮 RL + 双飞轮增强小模型工具使用。此页只展示论文结果，不是本机测量。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https://arxiv.org/abs/2604.21590</a:t>
            </a:r>
          </a:p>
          <a:p xmlns:a="http://schemas.openxmlformats.org/drawingml/2006/main">
            <a:r>
              <a:t>- https://github.com/haruhi-sudo/data_synth_and_rl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Policy 只能提出工具调用；环境执行 side effect；verifier 从最终状态判定结果。用户模拟器负责提供事实与明确确认，这就是长程 Agentic RL 的最小安全闭环。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/Users/hongbo/Documents/Codex/2026-08-02/https-yyhdbl-github-io/outputs/agenticqwen-reproduction/src/agentic_repro/long_horizon_env.py</a:t>
            </a:r>
          </a:p>
          <a:p xmlns:a="http://schemas.openxmlformats.org/drawingml/2006/main">
            <a:r>
              <a:t>- /Users/hongbo/Documents/Codex/2026-08-02/https-yyhdbl-github-io/outputs/agenticqwen-reproduction/src/agentic_repro/trajectory_runner.py</a:t>
            </a:r>
          </a:p>
          <a:p xmlns:a="http://schemas.openxmlformats.org/drawingml/2006/main">
            <a:r>
              <a:t>- /Users/hongbo/Documents/Codex/2026-08-02/https-yyhdbl-github-io/outputs/agenticqwen-reproduction/artifacts/long_horizon/trajectory_qwen3.7_flash.json</a:t>
            </a:r>
          </a:p>
          <a:p xmlns:a="http://schemas.openxmlformats.org/drawingml/2006/main">
            <a:r>
              <a:t>- https://help.aliyun.com/en/model-studio/qwen-function-calling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真实轨迹没有直接退款：先身份验证，再读取订单、支付记录与策略，明确指出重复扣款 CHG-9002，等待用户确认后才执行 create_refund。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/Users/hongbo/Documents/Codex/2026-08-02/https-yyhdbl-github-io/outputs/agenticqwen-reproduction/artifacts/long_horizon/trajectory_qwen3.7_flash.json</a:t>
            </a:r>
          </a:p>
          <a:p xmlns:a="http://schemas.openxmlformats.org/drawingml/2006/main">
            <a:r>
              <a:t>- /Users/hongbo/Documents/Codex/2026-08-02/https-yyhdbl-github-io/outputs/agenticqwen-reproduction/artifacts/long_horizon/trajectory_qwen3.7_flash.md</a:t>
            </a:r>
          </a:p>
          <a:p xmlns:a="http://schemas.openxmlformats.org/drawingml/2006/main">
            <a:r>
              <a:t>- https://help.aliyun.com/en/model-studio/multi-round-conversation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解读时避免夸大：prompt holdout 与训练任务共享任务 identity；未见任务不提升说明尚无跨域泛化。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/Users/hongbo/Documents/Codex/2026-08-02/https-yyhdbl-github-io/outputs/agenticqwen-reproduction/artifacts/real_qwen3_8b/baseline_eval.json</a:t>
            </a:r>
          </a:p>
          <a:p xmlns:a="http://schemas.openxmlformats.org/drawingml/2006/main">
            <a:r>
              <a:t>- /Users/hongbo/Documents/Codex/2026-08-02/https-yyhdbl-github-io/outputs/agenticqwen-reproduction/artifacts/real_qwen3_8b/final_eval.json</a:t>
            </a:r>
          </a:p>
          <a:p xmlns:a="http://schemas.openxmlformats.org/drawingml/2006/main">
            <a:r>
              <a:t>- /Users/hongbo/Documents/Codex/2026-08-02/https-yyhdbl-github-io/outputs/agenticqwen-reproduction/artifacts/real_qwen3_8b/summary.json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解释三种证据互补：norm 证明数值更新，hash 证明文件变化，fresh-process 证明 checkpoint 可加载且指标重现。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/Users/hongbo/Documents/Codex/2026-08-02/https-yyhdbl-github-io/outputs/agenticqwen-reproduction/artifacts/real_qwen3_8b/adapter/adapters.safetensors</a:t>
            </a:r>
          </a:p>
          <a:p xmlns:a="http://schemas.openxmlformats.org/drawingml/2006/main">
            <a:r>
              <a:t>- /Users/hongbo/Documents/Codex/2026-08-02/https-yyhdbl-github-io/outputs/agenticqwen-reproduction/artifacts/real_qwen3_8b/verification.json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long-horizon 参考项目最重要的 failure mode：group saturation。离线 PRM 诊断保留为负结果，严禁把它写成消融精度；真正验证需要多轮工具轨迹在线训练。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https://github.com/qiqihezh/agentic-grpo-longhorizon</a:t>
            </a:r>
          </a:p>
          <a:p xmlns:a="http://schemas.openxmlformats.org/drawingml/2006/main">
            <a:r>
              <a:t>- /Users/hongbo/Documents/Codex/2026-08-02/https-yyhdbl-github-io/outputs/agenticqwen-reproduction/artifacts/real_qwen3_8b/summary.json</a:t>
            </a:r>
          </a:p>
          <a:p xmlns:a="http://schemas.openxmlformats.org/drawingml/2006/main">
            <a:r>
              <a:t>- /Users/hongbo/Documents/Codex/2026-08-02/https-yyhdbl-github-io/outputs/agenticqwen-reproduction/artifacts/ablations/offline_reward_diagnostic.json</a:t>
            </a:r>
          </a:p>
          <a:p xmlns:a="http://schemas.openxmlformats.org/drawingml/2006/main">
            <a:r>
              <a:t>- /Users/hongbo/Documents/Codex/2026-08-02/https-yyhdbl-github-io/outputs/agenticqwen-reproduction/configs/ablation_matrix.json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新增真实 API 多轮轨迹后，COMPLETE 与 PARTIAL_RUN 各增加一项，BLOCKED_RESOURCE 减少一项。多轮训练本身仍是 PARTIAL_RUN，不能写成论文指标复现。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/Users/hongbo/Documents/Codex/2026-08-02/https-yyhdbl-github-io/outputs/agenticqwen-reproduction/artifacts/real_qwen3_8b/completion_matrix.json</a:t>
            </a:r>
          </a:p>
          <a:p xmlns:a="http://schemas.openxmlformats.org/drawingml/2006/main">
            <a:r>
              <a:t>- /Users/hongbo/Documents/Codex/2026-08-02/https-yyhdbl-github-io/outputs/agenticqwen-reproduction/artifacts/long_horizon/trajectory_qwen3.7_flash.json</a:t>
            </a:r>
          </a:p>
          <a:p xmlns:a="http://schemas.openxmlformats.org/drawingml/2006/main">
            <a:r>
              <a:t>- /Users/hongbo/Documents/Codex/2026-08-02/https-yyhdbl-github-io/outputs/agenticqwen-reproduction/artifacts/real_qwen3_8b/verification.json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收束到一键评测入口。BFCL 使用官方 bfcl-eval；TAU 固定论文相关的 v0.2.0。dry-run manifest 已验证命令和规模，但没有执行耗时 benchmark，因此没有 benchmark score。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https://github.com/ShishirPatil/gorilla/tree/main/berkeley-function-call-leaderboard</a:t>
            </a:r>
          </a:p>
          <a:p xmlns:a="http://schemas.openxmlformats.org/drawingml/2006/main">
            <a:r>
              <a:t>- https://github.com/sierra-research/tau2-bench/tree/v0.2.0</a:t>
            </a:r>
          </a:p>
          <a:p xmlns:a="http://schemas.openxmlformats.org/drawingml/2006/main">
            <a:r>
              <a:t>- /Users/hongbo/Documents/Codex/2026-08-02/https-yyhdbl-github-io/outputs/agenticqwen-reproduction/src/agentic_repro/benchmark_runner.py</a:t>
            </a:r>
          </a:p>
          <a:p xmlns:a="http://schemas.openxmlformats.org/drawingml/2006/main">
            <a:r>
              <a:t>- /Users/hongbo/Documents/Codex/2026-08-02/https-yyhdbl-github-io/outputs/agenticqwen-reproduction/artifacts/benchmarks/planned_manifest.json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fd05b5a4cb4e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544699075c481f" /><Relationship Type="http://schemas.openxmlformats.org/officeDocument/2006/relationships/slideLayout" Target="/ppt/slideLayouts/slideLayout1.xml" Id="R820fec64da6244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0fec64da6244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26796c7c045e3" /><Relationship Type="http://schemas.openxmlformats.org/officeDocument/2006/relationships/image" Target="/ppt/media/image.png" Id="R353d81e1aed046e3" /><Relationship Type="http://schemas.openxmlformats.org/officeDocument/2006/relationships/notesSlide" Target="/ppt/notesSlides/notesSlide1.xml" Id="R9a238af775b24e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ca2a413e044c6" /><Relationship Type="http://schemas.openxmlformats.org/officeDocument/2006/relationships/notesSlide" Target="/ppt/notesSlides/notesSlide2.xml" Id="R9e27db3c558747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254ecfc6e4dfe" /><Relationship Type="http://schemas.openxmlformats.org/officeDocument/2006/relationships/image" Target="/ppt/media/image2.png" Id="Rca656c73acc84020" /><Relationship Type="http://schemas.openxmlformats.org/officeDocument/2006/relationships/notesSlide" Target="/ppt/notesSlides/notesSlide3.xml" Id="R63ef8520bbe04c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4b3a9d9ff4949" /><Relationship Type="http://schemas.openxmlformats.org/officeDocument/2006/relationships/notesSlide" Target="/ppt/notesSlides/notesSlide4.xml" Id="R91a4436788744f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3df4f771b4544" /><Relationship Type="http://schemas.openxmlformats.org/officeDocument/2006/relationships/notesSlide" Target="/ppt/notesSlides/notesSlide5.xml" Id="Rf54af6fe7dd348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1d0823e4742ab" /><Relationship Type="http://schemas.openxmlformats.org/officeDocument/2006/relationships/notesSlide" Target="/ppt/notesSlides/notesSlide6.xml" Id="Rcbf5f52ff5b943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061820daa4031" /><Relationship Type="http://schemas.openxmlformats.org/officeDocument/2006/relationships/notesSlide" Target="/ppt/notesSlides/notesSlide7.xml" Id="Rab7d1a6e770048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58ae726ac4db5" /><Relationship Type="http://schemas.openxmlformats.org/officeDocument/2006/relationships/notesSlide" Target="/ppt/notesSlides/notesSlide8.xml" Id="R3de6f64336fd46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c63f6e8244f76" /><Relationship Type="http://schemas.openxmlformats.org/officeDocument/2006/relationships/notesSlide" Target="/ppt/notesSlides/notesSlide9.xml" Id="R729900fc6b9e4f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5c13e37b04d73" /><Relationship Type="http://schemas.openxmlformats.org/officeDocument/2006/relationships/notesSlide" Target="/ppt/notesSlides/notesSlide10.xml" Id="Rd644c11477734a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paper">
            <a:extLst xmlns:a="http://schemas.openxmlformats.org/drawingml/2006/main">
              <a:ext uri="{FF2B5EF4-FFF2-40B4-BE49-F238E27FC236}">
                <a16:creationId xmlns:a16="http://schemas.microsoft.com/office/drawing/2014/main" id="{CA5114C3-060B-4340-8C63-C70F4393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142CB-0C08-4681-BBD7-C5CFD363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8472D"/>
            </a:solidFill>
            <a:prstDash val="solid"/>
          </a:ln>
        </p:spPr>
      </p:sp>
      <p:sp>
        <p:nvSpPr>
          <p:cNvPr id="3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F2753DA5-8F34-4121-A638-FC23A4E1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90600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8472D"/>
                </a:solidFill>
              </a:defRPr>
            </a:pPr>
            <a:r>
              <a:rPr sz="1050" b="1">
                <a:solidFill>
                  <a:srgbClr val="A8472D"/>
                </a:solidFill>
              </a:rPr>
              <a:t>STATEFUL TRAJECTORY · REAL UPDATE · VERIFIED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1FE598E1-518E-4DC2-A330-69EF44D0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575" b="1">
                <a:solidFill>
                  <a:srgbClr val="28231F"/>
                </a:solidFill>
              </a:defRPr>
            </a:pPr>
            <a:r>
              <a:rPr sz="4575" b="1">
                <a:solidFill>
                  <a:srgbClr val="28231F"/>
                </a:solidFill>
              </a:rPr>
              <a:t>AgenticQwen</a:t>
            </a:r>
          </a:p>
          <a:p xmlns:a="http://schemas.openxmlformats.org/drawingml/2006/main">
            <a:pPr algn="l">
              <a:buNone/>
              <a:defRPr sz="4575" b="1">
                <a:solidFill>
                  <a:srgbClr val="28231F"/>
                </a:solidFill>
              </a:defRPr>
            </a:pPr>
            <a:r>
              <a:rPr sz="4575" b="1">
                <a:solidFill>
                  <a:srgbClr val="28231F"/>
                </a:solidFill>
              </a:rPr>
              <a:t>Long-Horizon Lab</a:t>
            </a:r>
          </a:p>
        </p:txBody>
      </p:sp>
      <p:sp>
        <p:nvSpPr>
          <p:cNvPr id="5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81479251-02F7-4766-A93E-D0781184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756B62"/>
                </a:solidFill>
              </a:defRPr>
            </a:pPr>
            <a:r>
              <a:rPr sz="1650" b="0">
                <a:solidFill>
                  <a:srgbClr val="756B62"/>
                </a:solidFill>
              </a:rPr>
              <a:t>Qwen3.7-Flash · 8-turn tool trajectory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756B62"/>
                </a:solidFill>
              </a:defRPr>
            </a:pPr>
            <a:r>
              <a:rPr sz="1650" b="0">
                <a:solidFill>
                  <a:srgbClr val="756B62"/>
                </a:solidFill>
              </a:rPr>
              <a:t>Qwen3-8B · LoRA-GRPO · verifier 9/9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d81e1aed046e3"/>
          <a:stretch xmlns:a="http://schemas.openxmlformats.org/drawingml/2006/main"/>
        </p:blipFill>
        <p:spPr>
          <a:xfrm xmlns:a="http://schemas.openxmlformats.org/drawingml/2006/main">
            <a:off x="6858000" y="1525414"/>
            <a:ext cx="4191000" cy="2378422"/>
          </a:xfrm>
          <a:prstGeom xmlns:a="http://schemas.openxmlformats.org/drawingml/2006/main" prst="rect">
            <a:avLst/>
          </a:prstGeom>
        </p:spPr>
      </p:pic>
      <p:sp>
        <p:nvSpPr>
          <p:cNvPr id="7" name="title-state">
            <a:extLst xmlns:a="http://schemas.openxmlformats.org/drawingml/2006/main">
              <a:ext uri="{FF2B5EF4-FFF2-40B4-BE49-F238E27FC236}">
                <a16:creationId xmlns:a16="http://schemas.microsoft.com/office/drawing/2014/main" id="{B095749F-77D1-4D62-95FF-52050222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F55"/>
                </a:solidFill>
              </a:defRPr>
            </a:pPr>
            <a:r>
              <a:rPr sz="1050" b="1">
                <a:solidFill>
                  <a:srgbClr val="2F6F55"/>
                </a:solidFill>
              </a:rPr>
              <a:t>TRAJECTORY 9/9 PASS · TRAINING 9/9 PASS</a:t>
            </a:r>
          </a:p>
        </p:txBody>
      </p:sp>
    </p:spTree>
    <p:extLst>
      <p:ext uri="{BB962C8B-B14F-4D97-AF65-F5344CB8AC3E}">
        <p14:creationId xmlns:p14="http://schemas.microsoft.com/office/powerpoint/2010/main" val="15473487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aper-2">
            <a:extLst xmlns:a="http://schemas.openxmlformats.org/drawingml/2006/main">
              <a:ext uri="{FF2B5EF4-FFF2-40B4-BE49-F238E27FC236}">
                <a16:creationId xmlns:a16="http://schemas.microsoft.com/office/drawing/2014/main" id="{1AE73F5C-A56E-4209-A803-4F01A461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" name="eyebrow-2">
            <a:extLst xmlns:a="http://schemas.openxmlformats.org/drawingml/2006/main">
              <a:ext uri="{FF2B5EF4-FFF2-40B4-BE49-F238E27FC236}">
                <a16:creationId xmlns:a16="http://schemas.microsoft.com/office/drawing/2014/main" id="{40DC722C-77C6-4795-A497-56E15994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472D"/>
                </a:solidFill>
              </a:defRPr>
            </a:pPr>
            <a:r>
              <a:rPr sz="975" b="1">
                <a:solidFill>
                  <a:srgbClr val="A8472D"/>
                </a:solidFill>
              </a:rPr>
              <a:t>ANSWER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BCA2F062-5357-48D6-8180-662E9796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28231F"/>
                </a:solidFill>
              </a:defRPr>
            </a:pPr>
            <a:r>
              <a:rPr sz="2925" b="1">
                <a:solidFill>
                  <a:srgbClr val="28231F"/>
                </a:solidFill>
              </a:rPr>
              <a:t>完整 Agentic RL 项目，需要四层证据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868F8FF5-B40B-4C12-BE0A-5FFCE50C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56B62"/>
                </a:solidFill>
              </a:defRPr>
            </a:pPr>
            <a:r>
              <a:rPr sz="1350" b="0">
                <a:solidFill>
                  <a:srgbClr val="756B62"/>
                </a:solidFill>
              </a:rPr>
              <a:t>环境、轨迹、训练、验证分别回答不同问题。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47238-5991-439E-BC6C-F8098A60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5AFD4806-D3B5-4053-8407-28F6E1FF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96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56B62"/>
                </a:solidFill>
              </a:defRPr>
            </a:pPr>
            <a:r>
              <a:rPr sz="900" b="0">
                <a:solidFill>
                  <a:srgbClr val="756B62"/>
                </a:solidFill>
              </a:rPr>
              <a:t>02</a:t>
            </a:r>
          </a:p>
        </p:txBody>
      </p:sp>
      <p:sp>
        <p:nvSpPr>
          <p:cNvPr id="7" name="answer-card-0">
            <a:extLst xmlns:a="http://schemas.openxmlformats.org/drawingml/2006/main">
              <a:ext uri="{FF2B5EF4-FFF2-40B4-BE49-F238E27FC236}">
                <a16:creationId xmlns:a16="http://schemas.microsoft.com/office/drawing/2014/main" id="{A6457CE0-B42A-4595-AF18-A9F9686E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284C75"/>
            </a:solidFill>
            <a:prstDash val="solid"/>
          </a:ln>
        </p:spPr>
      </p:sp>
      <p:sp>
        <p:nvSpPr>
          <p:cNvPr id="8" name="answer-num-0">
            <a:extLst xmlns:a="http://schemas.openxmlformats.org/drawingml/2006/main">
              <a:ext uri="{FF2B5EF4-FFF2-40B4-BE49-F238E27FC236}">
                <a16:creationId xmlns:a16="http://schemas.microsoft.com/office/drawing/2014/main" id="{825E1CA0-3D03-48FF-B369-6BDE55E1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2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84C75"/>
                </a:solidFill>
              </a:defRPr>
            </a:pPr>
            <a:r>
              <a:rPr sz="1500" b="1">
                <a:solidFill>
                  <a:srgbClr val="284C75"/>
                </a:solidFill>
              </a:rPr>
              <a:t>01</a:t>
            </a:r>
          </a:p>
        </p:txBody>
      </p:sp>
      <p:sp>
        <p:nvSpPr>
          <p:cNvPr id="9" name="answer-name-0">
            <a:extLst xmlns:a="http://schemas.openxmlformats.org/drawingml/2006/main">
              <a:ext uri="{FF2B5EF4-FFF2-40B4-BE49-F238E27FC236}">
                <a16:creationId xmlns:a16="http://schemas.microsoft.com/office/drawing/2014/main" id="{8D20ED25-C9B5-4894-B88D-0FAC4DD6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8231F"/>
                </a:solidFill>
              </a:defRPr>
            </a:pPr>
            <a:r>
              <a:rPr sz="1950" b="1">
                <a:solidFill>
                  <a:srgbClr val="28231F"/>
                </a:solidFill>
              </a:rPr>
              <a:t>状态环境</a:t>
            </a:r>
          </a:p>
        </p:txBody>
      </p:sp>
      <p:sp>
        <p:nvSpPr>
          <p:cNvPr id="10" name="answer-detail-0">
            <a:extLst xmlns:a="http://schemas.openxmlformats.org/drawingml/2006/main">
              <a:ext uri="{FF2B5EF4-FFF2-40B4-BE49-F238E27FC236}">
                <a16:creationId xmlns:a16="http://schemas.microsoft.com/office/drawing/2014/main" id="{68075852-0FF0-4E44-BEFB-CAEA386C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6712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756B62"/>
                </a:solidFill>
              </a:rPr>
              <a:t>identity · order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756B62"/>
                </a:solidFill>
              </a:rPr>
              <a:t>payment · policy</a:t>
            </a:r>
          </a:p>
        </p:txBody>
      </p:sp>
      <p:sp>
        <p:nvSpPr>
          <p:cNvPr id="11" name="answer-card-1">
            <a:extLst xmlns:a="http://schemas.openxmlformats.org/drawingml/2006/main">
              <a:ext uri="{FF2B5EF4-FFF2-40B4-BE49-F238E27FC236}">
                <a16:creationId xmlns:a16="http://schemas.microsoft.com/office/drawing/2014/main" id="{05202D74-11CF-48A3-8224-6F1F395E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33625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A8472D"/>
            </a:solidFill>
            <a:prstDash val="solid"/>
          </a:ln>
        </p:spPr>
      </p:sp>
      <p:sp>
        <p:nvSpPr>
          <p:cNvPr id="12" name="answer-num-1">
            <a:extLst xmlns:a="http://schemas.openxmlformats.org/drawingml/2006/main">
              <a:ext uri="{FF2B5EF4-FFF2-40B4-BE49-F238E27FC236}">
                <a16:creationId xmlns:a16="http://schemas.microsoft.com/office/drawing/2014/main" id="{EE4AF24F-EDAC-4DBC-96CD-E8C4A3D3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2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A8472D"/>
                </a:solidFill>
              </a:defRPr>
            </a:pPr>
            <a:r>
              <a:rPr sz="1500" b="1">
                <a:solidFill>
                  <a:srgbClr val="A8472D"/>
                </a:solidFill>
              </a:rPr>
              <a:t>02</a:t>
            </a:r>
          </a:p>
        </p:txBody>
      </p:sp>
      <p:sp>
        <p:nvSpPr>
          <p:cNvPr id="13" name="answer-name-1">
            <a:extLst xmlns:a="http://schemas.openxmlformats.org/drawingml/2006/main">
              <a:ext uri="{FF2B5EF4-FFF2-40B4-BE49-F238E27FC236}">
                <a16:creationId xmlns:a16="http://schemas.microsoft.com/office/drawing/2014/main" id="{42E11B4B-8511-4BC3-82C3-67ED48C5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0480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8231F"/>
                </a:solidFill>
              </a:defRPr>
            </a:pPr>
            <a:r>
              <a:rPr sz="1950" b="1">
                <a:solidFill>
                  <a:srgbClr val="28231F"/>
                </a:solidFill>
              </a:rPr>
              <a:t>真实轨迹</a:t>
            </a:r>
          </a:p>
        </p:txBody>
      </p:sp>
      <p:sp>
        <p:nvSpPr>
          <p:cNvPr id="14" name="answer-detail-1">
            <a:extLst xmlns:a="http://schemas.openxmlformats.org/drawingml/2006/main">
              <a:ext uri="{FF2B5EF4-FFF2-40B4-BE49-F238E27FC236}">
                <a16:creationId xmlns:a16="http://schemas.microsoft.com/office/drawing/2014/main" id="{8BAEACEB-F80C-4C38-8D9F-7E6F1C52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6712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756B62"/>
                </a:solidFill>
              </a:rPr>
              <a:t>8 agent turns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756B62"/>
                </a:solidFill>
              </a:rPr>
              <a:t>5 JSON tool calls</a:t>
            </a:r>
          </a:p>
        </p:txBody>
      </p:sp>
      <p:sp>
        <p:nvSpPr>
          <p:cNvPr id="15" name="answer-card-2">
            <a:extLst xmlns:a="http://schemas.openxmlformats.org/drawingml/2006/main">
              <a:ext uri="{FF2B5EF4-FFF2-40B4-BE49-F238E27FC236}">
                <a16:creationId xmlns:a16="http://schemas.microsoft.com/office/drawing/2014/main" id="{466A0CF1-3B14-43D2-8E04-5A774C29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EF7F1"/>
          </a:solidFill>
          <a:ln xmlns:a="http://schemas.openxmlformats.org/drawingml/2006/main" w="9525">
            <a:solidFill>
              <a:srgbClr val="2F6F55"/>
            </a:solidFill>
            <a:prstDash val="solid"/>
          </a:ln>
        </p:spPr>
      </p:sp>
      <p:sp>
        <p:nvSpPr>
          <p:cNvPr id="16" name="answer-num-2">
            <a:extLst xmlns:a="http://schemas.openxmlformats.org/drawingml/2006/main">
              <a:ext uri="{FF2B5EF4-FFF2-40B4-BE49-F238E27FC236}">
                <a16:creationId xmlns:a16="http://schemas.microsoft.com/office/drawing/2014/main" id="{348BDB2F-F289-426D-AFB6-906BEAEA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F6F55"/>
                </a:solidFill>
              </a:defRPr>
            </a:pPr>
            <a:r>
              <a:rPr sz="1500" b="1">
                <a:solidFill>
                  <a:srgbClr val="2F6F55"/>
                </a:solidFill>
              </a:rPr>
              <a:t>03</a:t>
            </a:r>
          </a:p>
        </p:txBody>
      </p:sp>
      <p:sp>
        <p:nvSpPr>
          <p:cNvPr id="17" name="answer-name-2">
            <a:extLst xmlns:a="http://schemas.openxmlformats.org/drawingml/2006/main">
              <a:ext uri="{FF2B5EF4-FFF2-40B4-BE49-F238E27FC236}">
                <a16:creationId xmlns:a16="http://schemas.microsoft.com/office/drawing/2014/main" id="{81B8F8C6-35FB-4020-8D73-7F4B41BC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480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8231F"/>
                </a:solidFill>
              </a:defRPr>
            </a:pPr>
            <a:r>
              <a:rPr sz="1950" b="1">
                <a:solidFill>
                  <a:srgbClr val="28231F"/>
                </a:solidFill>
              </a:rPr>
              <a:t>真实训练</a:t>
            </a:r>
          </a:p>
        </p:txBody>
      </p:sp>
      <p:sp>
        <p:nvSpPr>
          <p:cNvPr id="18" name="answer-detail-2">
            <a:extLst xmlns:a="http://schemas.openxmlformats.org/drawingml/2006/main">
              <a:ext uri="{FF2B5EF4-FFF2-40B4-BE49-F238E27FC236}">
                <a16:creationId xmlns:a16="http://schemas.microsoft.com/office/drawing/2014/main" id="{3CC58488-DA17-45B8-AD28-62715417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6712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756B62"/>
                </a:solidFill>
              </a:rPr>
              <a:t>24 rollout groups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756B62"/>
                </a:solidFill>
              </a:rPr>
              <a:t>8 optimizer steps</a:t>
            </a:r>
          </a:p>
        </p:txBody>
      </p:sp>
      <p:sp>
        <p:nvSpPr>
          <p:cNvPr id="19" name="answer-card-3">
            <a:extLst xmlns:a="http://schemas.openxmlformats.org/drawingml/2006/main">
              <a:ext uri="{FF2B5EF4-FFF2-40B4-BE49-F238E27FC236}">
                <a16:creationId xmlns:a16="http://schemas.microsoft.com/office/drawing/2014/main" id="{778B1D69-E06B-45F6-B984-657439B7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33625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A36B13"/>
            </a:solidFill>
            <a:prstDash val="solid"/>
          </a:ln>
        </p:spPr>
      </p:sp>
      <p:sp>
        <p:nvSpPr>
          <p:cNvPr id="20" name="answer-num-3">
            <a:extLst xmlns:a="http://schemas.openxmlformats.org/drawingml/2006/main">
              <a:ext uri="{FF2B5EF4-FFF2-40B4-BE49-F238E27FC236}">
                <a16:creationId xmlns:a16="http://schemas.microsoft.com/office/drawing/2014/main" id="{F46B12EB-929E-4BB2-9AF4-B4AAAFC2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52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A36B13"/>
                </a:solidFill>
              </a:defRPr>
            </a:pPr>
            <a:r>
              <a:rPr sz="1500" b="1">
                <a:solidFill>
                  <a:srgbClr val="A36B13"/>
                </a:solidFill>
              </a:rPr>
              <a:t>04</a:t>
            </a:r>
          </a:p>
        </p:txBody>
      </p:sp>
      <p:sp>
        <p:nvSpPr>
          <p:cNvPr id="21" name="answer-name-3">
            <a:extLst xmlns:a="http://schemas.openxmlformats.org/drawingml/2006/main">
              <a:ext uri="{FF2B5EF4-FFF2-40B4-BE49-F238E27FC236}">
                <a16:creationId xmlns:a16="http://schemas.microsoft.com/office/drawing/2014/main" id="{CEE2EDB3-D785-4554-AFF3-FFF75D53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0480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8231F"/>
                </a:solidFill>
              </a:defRPr>
            </a:pPr>
            <a:r>
              <a:rPr sz="1950" b="1">
                <a:solidFill>
                  <a:srgbClr val="28231F"/>
                </a:solidFill>
              </a:rPr>
              <a:t>独立验证</a:t>
            </a:r>
          </a:p>
        </p:txBody>
      </p:sp>
      <p:sp>
        <p:nvSpPr>
          <p:cNvPr id="22" name="answer-detail-3">
            <a:extLst xmlns:a="http://schemas.openxmlformats.org/drawingml/2006/main">
              <a:ext uri="{FF2B5EF4-FFF2-40B4-BE49-F238E27FC236}">
                <a16:creationId xmlns:a16="http://schemas.microsoft.com/office/drawing/2014/main" id="{0706A030-6809-44ED-A03B-0FD5DA3B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66712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756B62"/>
                </a:solidFill>
              </a:rPr>
              <a:t>trajectory 9/9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756B62"/>
                </a:solidFill>
              </a:rPr>
              <a:t>checkpoint 9/9</a:t>
            </a:r>
          </a:p>
        </p:txBody>
      </p:sp>
      <p:sp>
        <p:nvSpPr>
          <p:cNvPr id="23" name="answer-boundary">
            <a:extLst xmlns:a="http://schemas.openxmlformats.org/drawingml/2006/main">
              <a:ext uri="{FF2B5EF4-FFF2-40B4-BE49-F238E27FC236}">
                <a16:creationId xmlns:a16="http://schemas.microsoft.com/office/drawing/2014/main" id="{55C6C5A5-B6A5-4BE7-B055-D41197F0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81625"/>
            <a:ext cx="942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13322"/>
                </a:solidFill>
              </a:defRPr>
            </a:pPr>
            <a:r>
              <a:rPr sz="1425" b="1">
                <a:solidFill>
                  <a:srgbClr val="713322"/>
                </a:solidFill>
              </a:rPr>
              <a:t>边界：多轮 inference 与单步 GRPO 分别跑通；尚未连接成多轮 response-token RL。</a:t>
            </a:r>
          </a:p>
        </p:txBody>
      </p:sp>
    </p:spTree>
    <p:extLst>
      <p:ext uri="{BB962C8B-B14F-4D97-AF65-F5344CB8AC3E}">
        <p14:creationId xmlns:p14="http://schemas.microsoft.com/office/powerpoint/2010/main" val="11227107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aper-3">
            <a:extLst xmlns:a="http://schemas.openxmlformats.org/drawingml/2006/main">
              <a:ext uri="{FF2B5EF4-FFF2-40B4-BE49-F238E27FC236}">
                <a16:creationId xmlns:a16="http://schemas.microsoft.com/office/drawing/2014/main" id="{D962896A-B086-4486-B8A5-107A9169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" name="eyebrow-3">
            <a:extLst xmlns:a="http://schemas.openxmlformats.org/drawingml/2006/main">
              <a:ext uri="{FF2B5EF4-FFF2-40B4-BE49-F238E27FC236}">
                <a16:creationId xmlns:a16="http://schemas.microsoft.com/office/drawing/2014/main" id="{2D105DD6-C8DC-401A-B203-734E7865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472D"/>
                </a:solidFill>
              </a:defRPr>
            </a:pPr>
            <a:r>
              <a:rPr sz="975" b="1">
                <a:solidFill>
                  <a:srgbClr val="A8472D"/>
                </a:solidFill>
              </a:rPr>
              <a:t>PAPER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A411AED9-574B-4B99-8E12-5431D51E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28231F"/>
                </a:solidFill>
              </a:defRPr>
            </a:pPr>
            <a:r>
              <a:rPr sz="2925" b="1">
                <a:solidFill>
                  <a:srgbClr val="28231F"/>
                </a:solidFill>
              </a:rPr>
              <a:t>论文靠双数据飞轮持续制造“更难但可验证”的信号</a:t>
            </a:r>
          </a:p>
        </p:txBody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E8FFD33F-2138-42C2-8AFC-6728AF3C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56B62"/>
                </a:solidFill>
              </a:defRPr>
            </a:pPr>
            <a:r>
              <a:rPr sz="1350" b="0">
                <a:solidFill>
                  <a:srgbClr val="756B62"/>
                </a:solidFill>
              </a:rPr>
              <a:t>Reasoning 从错误题扩展；Agentic 从线性 workflow 长成带对抗分支的行为树。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0BAB3-8BF2-46A7-81AD-C9FE9640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6" name="page-3">
            <a:extLst xmlns:a="http://schemas.openxmlformats.org/drawingml/2006/main">
              <a:ext uri="{FF2B5EF4-FFF2-40B4-BE49-F238E27FC236}">
                <a16:creationId xmlns:a16="http://schemas.microsoft.com/office/drawing/2014/main" id="{B1E72ABE-BCB8-4BE9-935A-31120984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96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56B62"/>
                </a:solidFill>
              </a:defRPr>
            </a:pPr>
            <a:r>
              <a:rPr sz="900" b="0">
                <a:solidFill>
                  <a:srgbClr val="756B62"/>
                </a:solidFill>
              </a:rPr>
              <a:t>03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656c73acc84020"/>
          <a:stretch xmlns:a="http://schemas.openxmlformats.org/drawingml/2006/main"/>
        </p:blipFill>
        <p:spPr>
          <a:xfrm xmlns:a="http://schemas.openxmlformats.org/drawingml/2006/main">
            <a:off x="2806349" y="2000250"/>
            <a:ext cx="6579302" cy="3733800"/>
          </a:xfrm>
          <a:prstGeom xmlns:a="http://schemas.openxmlformats.org/drawingml/2006/main" prst="rect">
            <a:avLst/>
          </a:prstGeom>
        </p:spPr>
      </p:pic>
      <p:sp>
        <p:nvSpPr>
          <p:cNvPr id="8" name="paper-caption">
            <a:extLst xmlns:a="http://schemas.openxmlformats.org/drawingml/2006/main">
              <a:ext uri="{FF2B5EF4-FFF2-40B4-BE49-F238E27FC236}">
                <a16:creationId xmlns:a16="http://schemas.microsoft.com/office/drawing/2014/main" id="{5E3E6B07-D0D1-4D83-B227-89D504C0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56B62"/>
                </a:solidFill>
              </a:defRPr>
            </a:pPr>
            <a:r>
              <a:rPr sz="1050" b="0">
                <a:solidFill>
                  <a:srgbClr val="756B62"/>
                </a:solidFill>
              </a:rPr>
              <a:t>Paper Figure 1 · 论文训练约 100K 样本，并使用 Qwen3-235B 模拟用户、工具与 reward judge。</a:t>
            </a:r>
          </a:p>
        </p:txBody>
      </p:sp>
    </p:spTree>
    <p:extLst>
      <p:ext uri="{BB962C8B-B14F-4D97-AF65-F5344CB8AC3E}">
        <p14:creationId xmlns:p14="http://schemas.microsoft.com/office/powerpoint/2010/main" val="11361409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aper-4">
            <a:extLst xmlns:a="http://schemas.openxmlformats.org/drawingml/2006/main">
              <a:ext uri="{FF2B5EF4-FFF2-40B4-BE49-F238E27FC236}">
                <a16:creationId xmlns:a16="http://schemas.microsoft.com/office/drawing/2014/main" id="{7CAB3797-605B-48A5-9FD6-A75BC6EE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" name="eyebrow-4">
            <a:extLst xmlns:a="http://schemas.openxmlformats.org/drawingml/2006/main">
              <a:ext uri="{FF2B5EF4-FFF2-40B4-BE49-F238E27FC236}">
                <a16:creationId xmlns:a16="http://schemas.microsoft.com/office/drawing/2014/main" id="{703EEDE7-6915-44CB-9194-0C31326C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472D"/>
                </a:solidFill>
              </a:defRPr>
            </a:pPr>
            <a:r>
              <a:rPr sz="975" b="1">
                <a:solidFill>
                  <a:srgbClr val="A8472D"/>
                </a:solidFill>
              </a:rPr>
              <a:t>SYSTEM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8333836C-85D7-41EE-AA6E-B897150F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28231F"/>
                </a:solidFill>
              </a:defRPr>
            </a:pPr>
            <a:r>
              <a:rPr sz="2925" b="1">
                <a:solidFill>
                  <a:srgbClr val="28231F"/>
                </a:solidFill>
              </a:rPr>
              <a:t>Policy 决策，Environment 执行，Verifier 判定</a:t>
            </a:r>
          </a:p>
        </p:txBody>
      </p:sp>
      <p:sp>
        <p:nvSpPr>
          <p:cNvPr id="4" name="subtitle-4">
            <a:extLst xmlns:a="http://schemas.openxmlformats.org/drawingml/2006/main">
              <a:ext uri="{FF2B5EF4-FFF2-40B4-BE49-F238E27FC236}">
                <a16:creationId xmlns:a16="http://schemas.microsoft.com/office/drawing/2014/main" id="{EFA1616D-FB2A-4AB0-8925-EE90CE4C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56B62"/>
                </a:solidFill>
              </a:defRPr>
            </a:pPr>
            <a:r>
              <a:rPr sz="1350" b="0">
                <a:solidFill>
                  <a:srgbClr val="756B62"/>
                </a:solidFill>
              </a:rPr>
              <a:t>模型不能直接改状态，也不能用自然语言给自己判成功。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26E38-50C9-403A-B6CF-A06F7D4E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4986CB7E-8F63-4D57-99AD-997A1CE0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96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56B62"/>
                </a:solidFill>
              </a:defRPr>
            </a:pPr>
            <a:r>
              <a:rPr sz="900" b="0">
                <a:solidFill>
                  <a:srgbClr val="756B62"/>
                </a:solidFill>
              </a:rPr>
              <a:t>04</a:t>
            </a:r>
          </a:p>
        </p:txBody>
      </p:sp>
      <p:sp>
        <p:nvSpPr>
          <p:cNvPr id="7" name="pipeline-node-0">
            <a:extLst xmlns:a="http://schemas.openxmlformats.org/drawingml/2006/main">
              <a:ext uri="{FF2B5EF4-FFF2-40B4-BE49-F238E27FC236}">
                <a16:creationId xmlns:a16="http://schemas.microsoft.com/office/drawing/2014/main" id="{C09B1046-7FFF-4802-9CF6-DAE3AA2C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27146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8" name="pipeline-node-1">
            <a:extLst xmlns:a="http://schemas.openxmlformats.org/drawingml/2006/main">
              <a:ext uri="{FF2B5EF4-FFF2-40B4-BE49-F238E27FC236}">
                <a16:creationId xmlns:a16="http://schemas.microsoft.com/office/drawing/2014/main" id="{31177BA8-B57D-4B5B-9746-678EFAB8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571750"/>
            <a:ext cx="27146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9" name="pipeline-node-2">
            <a:extLst xmlns:a="http://schemas.openxmlformats.org/drawingml/2006/main">
              <a:ext uri="{FF2B5EF4-FFF2-40B4-BE49-F238E27FC236}">
                <a16:creationId xmlns:a16="http://schemas.microsoft.com/office/drawing/2014/main" id="{6F34DF8E-42FB-4D88-B0BE-E286D6FA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571750"/>
            <a:ext cx="27146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EF7F1"/>
          </a:solidFill>
          <a:ln xmlns:a="http://schemas.openxmlformats.org/drawingml/2006/main" w="9525">
            <a:solidFill>
              <a:srgbClr val="2F6F55"/>
            </a:solidFill>
            <a:prstDash val="solid"/>
          </a:ln>
        </p:spPr>
      </p:sp>
      <p:cxnSp>
        <p:nvCxnSpPr>
          <p:cNvPr id="5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19500" y="3548063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472D"/>
            </a:solidFill>
            <a:prstDash val="solid"/>
            <a:tailEnd type="arrow" w="med" len="med"/>
          </a:ln>
        </p:spPr>
      </p:cxnSp>
      <p:cxnSp>
        <p:nvCxnSpPr>
          <p:cNvPr id="5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448550" y="3548063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472D"/>
            </a:solidFill>
            <a:prstDash val="solid"/>
            <a:tailEnd type="arrow" w="med" len="med"/>
          </a:ln>
        </p:spPr>
      </p:cxnSp>
      <p:sp>
        <p:nvSpPr>
          <p:cNvPr id="12" name="pipeline-arrow-1">
            <a:extLst xmlns:a="http://schemas.openxmlformats.org/drawingml/2006/main">
              <a:ext uri="{FF2B5EF4-FFF2-40B4-BE49-F238E27FC236}">
                <a16:creationId xmlns:a16="http://schemas.microsoft.com/office/drawing/2014/main" id="{1A0ECEC3-25C8-42A3-B672-14F8B01A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575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A8472D"/>
                </a:solidFill>
              </a:defRPr>
            </a:pPr>
            <a:r>
              <a:rPr sz="2250" b="1">
                <a:solidFill>
                  <a:srgbClr val="A8472D"/>
                </a:solidFill>
              </a:rPr>
              <a:t>→</a:t>
            </a:r>
          </a:p>
        </p:txBody>
      </p:sp>
      <p:sp>
        <p:nvSpPr>
          <p:cNvPr id="13" name="pipeline-arrow-2">
            <a:extLst xmlns:a="http://schemas.openxmlformats.org/drawingml/2006/main">
              <a:ext uri="{FF2B5EF4-FFF2-40B4-BE49-F238E27FC236}">
                <a16:creationId xmlns:a16="http://schemas.microsoft.com/office/drawing/2014/main" id="{3EE50EC2-B64A-49AF-97B2-C27AD5BB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575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A8472D"/>
                </a:solidFill>
              </a:defRPr>
            </a:pPr>
            <a:r>
              <a:rPr sz="2250" b="1">
                <a:solidFill>
                  <a:srgbClr val="A8472D"/>
                </a:solidFill>
              </a:rPr>
              <a:t>→</a:t>
            </a:r>
          </a:p>
        </p:txBody>
      </p:sp>
      <p:sp>
        <p:nvSpPr>
          <p:cNvPr id="14" name="pipeline-k-0">
            <a:extLst xmlns:a="http://schemas.openxmlformats.org/drawingml/2006/main">
              <a:ext uri="{FF2B5EF4-FFF2-40B4-BE49-F238E27FC236}">
                <a16:creationId xmlns:a16="http://schemas.microsoft.com/office/drawing/2014/main" id="{8894D546-B105-4983-A9E8-41D4AFFD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800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8472D"/>
                </a:solidFill>
              </a:defRPr>
            </a:pPr>
            <a:r>
              <a:rPr sz="1050" b="1">
                <a:solidFill>
                  <a:srgbClr val="A8472D"/>
                </a:solidFill>
              </a:rPr>
              <a:t>POLICY</a:t>
            </a:r>
          </a:p>
        </p:txBody>
      </p:sp>
      <p:sp>
        <p:nvSpPr>
          <p:cNvPr id="15" name="pipeline-b-0">
            <a:extLst xmlns:a="http://schemas.openxmlformats.org/drawingml/2006/main">
              <a:ext uri="{FF2B5EF4-FFF2-40B4-BE49-F238E27FC236}">
                <a16:creationId xmlns:a16="http://schemas.microsoft.com/office/drawing/2014/main" id="{D25FBC70-064F-4B22-8586-6C2DB67C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238500"/>
            <a:ext cx="2238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生成追问与函数调用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给出 JSON 参数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不拥有 side effect</a:t>
            </a:r>
          </a:p>
        </p:txBody>
      </p:sp>
      <p:sp>
        <p:nvSpPr>
          <p:cNvPr id="16" name="pipeline-k-1">
            <a:extLst xmlns:a="http://schemas.openxmlformats.org/drawingml/2006/main">
              <a:ext uri="{FF2B5EF4-FFF2-40B4-BE49-F238E27FC236}">
                <a16:creationId xmlns:a16="http://schemas.microsoft.com/office/drawing/2014/main" id="{0247E296-A695-49AC-B9D3-D90A0DE6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800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8472D"/>
                </a:solidFill>
              </a:defRPr>
            </a:pPr>
            <a:r>
              <a:rPr sz="1050" b="1">
                <a:solidFill>
                  <a:srgbClr val="A8472D"/>
                </a:solidFill>
              </a:rPr>
              <a:t>ENV / TOOLS</a:t>
            </a:r>
          </a:p>
        </p:txBody>
      </p:sp>
      <p:sp>
        <p:nvSpPr>
          <p:cNvPr id="17" name="pipeline-b-1">
            <a:extLst xmlns:a="http://schemas.openxmlformats.org/drawingml/2006/main">
              <a:ext uri="{FF2B5EF4-FFF2-40B4-BE49-F238E27FC236}">
                <a16:creationId xmlns:a16="http://schemas.microsoft.com/office/drawing/2014/main" id="{0284E4EF-E2CB-4ACF-8AF8-C0A17D5B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238500"/>
            <a:ext cx="2238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身份与权限校验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先读后写 + 幂等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执行状态转移</a:t>
            </a:r>
          </a:p>
        </p:txBody>
      </p:sp>
      <p:sp>
        <p:nvSpPr>
          <p:cNvPr id="18" name="pipeline-k-2">
            <a:extLst xmlns:a="http://schemas.openxmlformats.org/drawingml/2006/main">
              <a:ext uri="{FF2B5EF4-FFF2-40B4-BE49-F238E27FC236}">
                <a16:creationId xmlns:a16="http://schemas.microsoft.com/office/drawing/2014/main" id="{04F37FEE-52A8-49EB-9339-845C2727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800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F55"/>
                </a:solidFill>
              </a:defRPr>
            </a:pPr>
            <a:r>
              <a:rPr sz="1050" b="1">
                <a:solidFill>
                  <a:srgbClr val="2F6F55"/>
                </a:solidFill>
              </a:rPr>
              <a:t>VERIFIER</a:t>
            </a:r>
          </a:p>
        </p:txBody>
      </p:sp>
      <p:sp>
        <p:nvSpPr>
          <p:cNvPr id="19" name="pipeline-b-2">
            <a:extLst xmlns:a="http://schemas.openxmlformats.org/drawingml/2006/main">
              <a:ext uri="{FF2B5EF4-FFF2-40B4-BE49-F238E27FC236}">
                <a16:creationId xmlns:a16="http://schemas.microsoft.com/office/drawing/2014/main" id="{76DB9B6C-BBF2-48CA-8D85-BF6705AD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238500"/>
            <a:ext cx="2238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读取最终 state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核对 charge / amount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9 项硬检查</a:t>
            </a:r>
          </a:p>
        </p:txBody>
      </p:sp>
      <p:sp>
        <p:nvSpPr>
          <p:cNvPr id="20" name="pipeline-foot">
            <a:extLst xmlns:a="http://schemas.openxmlformats.org/drawingml/2006/main">
              <a:ext uri="{FF2B5EF4-FFF2-40B4-BE49-F238E27FC236}">
                <a16:creationId xmlns:a16="http://schemas.microsoft.com/office/drawing/2014/main" id="{2E2907AD-6EF4-4B1C-A18F-7926F3A8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86375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756B62"/>
                </a:solidFill>
              </a:defRPr>
            </a:pPr>
            <a:r>
              <a:rPr sz="1425" b="0">
                <a:solidFill>
                  <a:srgbClr val="756B62"/>
                </a:solidFill>
              </a:rPr>
              <a:t>User simulator 提供事实与确认；Trainer 下一步消费多个 trajectory group。</a:t>
            </a:r>
          </a:p>
        </p:txBody>
      </p:sp>
    </p:spTree>
    <p:extLst>
      <p:ext uri="{BB962C8B-B14F-4D97-AF65-F5344CB8AC3E}">
        <p14:creationId xmlns:p14="http://schemas.microsoft.com/office/powerpoint/2010/main" val="19332085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paper-5">
            <a:extLst xmlns:a="http://schemas.openxmlformats.org/drawingml/2006/main">
              <a:ext uri="{FF2B5EF4-FFF2-40B4-BE49-F238E27FC236}">
                <a16:creationId xmlns:a16="http://schemas.microsoft.com/office/drawing/2014/main" id="{A159CD20-7D6F-4E76-98EC-00A3A414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" name="eyebrow-5">
            <a:extLst xmlns:a="http://schemas.openxmlformats.org/drawingml/2006/main">
              <a:ext uri="{FF2B5EF4-FFF2-40B4-BE49-F238E27FC236}">
                <a16:creationId xmlns:a16="http://schemas.microsoft.com/office/drawing/2014/main" id="{07B800BA-D8B2-47DD-B957-131F2B45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472D"/>
                </a:solidFill>
              </a:defRPr>
            </a:pPr>
            <a:r>
              <a:rPr sz="975" b="1">
                <a:solidFill>
                  <a:srgbClr val="A8472D"/>
                </a:solidFill>
              </a:rPr>
              <a:t>TRAJECTORY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DC7DAF0C-419D-47F0-AAE7-3C59195F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28231F"/>
                </a:solidFill>
              </a:defRPr>
            </a:pPr>
            <a:r>
              <a:rPr sz="2925" b="1">
                <a:solidFill>
                  <a:srgbClr val="28231F"/>
                </a:solidFill>
              </a:rPr>
              <a:t>一条安全退款轨迹，先读后写</a:t>
            </a:r>
          </a:p>
        </p:txBody>
      </p:sp>
      <p:sp>
        <p:nvSpPr>
          <p:cNvPr id="4" name="subtitle-5">
            <a:extLst xmlns:a="http://schemas.openxmlformats.org/drawingml/2006/main">
              <a:ext uri="{FF2B5EF4-FFF2-40B4-BE49-F238E27FC236}">
                <a16:creationId xmlns:a16="http://schemas.microsoft.com/office/drawing/2014/main" id="{2AEAE3FC-4DF3-44D3-83EF-D0042030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56B62"/>
                </a:solidFill>
              </a:defRPr>
            </a:pPr>
            <a:r>
              <a:rPr sz="1350" b="0">
                <a:solidFill>
                  <a:srgbClr val="756B62"/>
                </a:solidFill>
              </a:rPr>
              <a:t>从模糊诉求到 side effect：每一步都留下 observation、state 与 reward。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E1FAC-26CB-448E-974A-E15CCB03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6" name="page-5">
            <a:extLst xmlns:a="http://schemas.openxmlformats.org/drawingml/2006/main">
              <a:ext uri="{FF2B5EF4-FFF2-40B4-BE49-F238E27FC236}">
                <a16:creationId xmlns:a16="http://schemas.microsoft.com/office/drawing/2014/main" id="{1D71A765-ADCF-4844-BEEA-8A4342AC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96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56B62"/>
                </a:solidFill>
              </a:defRPr>
            </a:pPr>
            <a:r>
              <a:rPr sz="900" b="0">
                <a:solidFill>
                  <a:srgbClr val="756B62"/>
                </a:solidFill>
              </a:rPr>
              <a:t>05</a:t>
            </a:r>
          </a:p>
        </p:txBody>
      </p:sp>
      <p:sp>
        <p:nvSpPr>
          <p:cNvPr id="7" name="grpo-node-0">
            <a:extLst xmlns:a="http://schemas.openxmlformats.org/drawingml/2006/main">
              <a:ext uri="{FF2B5EF4-FFF2-40B4-BE49-F238E27FC236}">
                <a16:creationId xmlns:a16="http://schemas.microsoft.com/office/drawing/2014/main" id="{A720BF31-EAE7-4D0E-A888-14A5A9AE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4125"/>
            <a:ext cx="2286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8" name="grpo-node-1">
            <a:extLst xmlns:a="http://schemas.openxmlformats.org/drawingml/2006/main">
              <a:ext uri="{FF2B5EF4-FFF2-40B4-BE49-F238E27FC236}">
                <a16:creationId xmlns:a16="http://schemas.microsoft.com/office/drawing/2014/main" id="{F658B9A8-A5BE-498C-8C4D-857259B6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24125"/>
            <a:ext cx="2286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9" name="grpo-node-2">
            <a:extLst xmlns:a="http://schemas.openxmlformats.org/drawingml/2006/main">
              <a:ext uri="{FF2B5EF4-FFF2-40B4-BE49-F238E27FC236}">
                <a16:creationId xmlns:a16="http://schemas.microsoft.com/office/drawing/2014/main" id="{A7C6FAA2-F721-4F2B-BACF-7F87D8DE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24125"/>
            <a:ext cx="2286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10" name="grpo-node-3">
            <a:extLst xmlns:a="http://schemas.openxmlformats.org/drawingml/2006/main">
              <a:ext uri="{FF2B5EF4-FFF2-40B4-BE49-F238E27FC236}">
                <a16:creationId xmlns:a16="http://schemas.microsoft.com/office/drawing/2014/main" id="{FD9AAE09-5ED5-42D2-9097-FAC13C62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24125"/>
            <a:ext cx="2286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EF7F1"/>
          </a:solidFill>
          <a:ln xmlns:a="http://schemas.openxmlformats.org/drawingml/2006/main" w="9525">
            <a:solidFill>
              <a:srgbClr val="2F6F55"/>
            </a:solidFill>
            <a:prstDash val="solid"/>
          </a:ln>
        </p:spPr>
      </p:sp>
      <p:cxnSp>
        <p:nvCxnSpPr>
          <p:cNvPr id="7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67050" y="3381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472D"/>
            </a:solidFill>
            <a:prstDash val="solid"/>
            <a:tailEnd type="arrow" w="med" len="med"/>
          </a:ln>
        </p:spPr>
      </p:cxnSp>
      <p:cxnSp>
        <p:nvCxnSpPr>
          <p:cNvPr id="7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29300" y="3381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472D"/>
            </a:solidFill>
            <a:prstDash val="solid"/>
            <a:tailEnd type="arrow" w="med" len="med"/>
          </a:ln>
        </p:spPr>
      </p:cxnSp>
      <p:cxnSp>
        <p:nvCxnSpPr>
          <p:cNvPr id="7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591550" y="3381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472D"/>
            </a:solidFill>
            <a:prstDash val="solid"/>
            <a:tailEnd type="arrow" w="med" len="med"/>
          </a:ln>
        </p:spPr>
      </p:cxnSp>
      <p:sp>
        <p:nvSpPr>
          <p:cNvPr id="14" name="grpo-arrow-0">
            <a:extLst xmlns:a="http://schemas.openxmlformats.org/drawingml/2006/main">
              <a:ext uri="{FF2B5EF4-FFF2-40B4-BE49-F238E27FC236}">
                <a16:creationId xmlns:a16="http://schemas.microsoft.com/office/drawing/2014/main" id="{A7FDA68E-4C03-4771-86B9-72CA7CEC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432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A8472D"/>
                </a:solidFill>
              </a:defRPr>
            </a:pPr>
            <a:r>
              <a:rPr sz="1875" b="1">
                <a:solidFill>
                  <a:srgbClr val="A8472D"/>
                </a:solidFill>
              </a:rPr>
              <a:t>→</a:t>
            </a:r>
          </a:p>
        </p:txBody>
      </p:sp>
      <p:sp>
        <p:nvSpPr>
          <p:cNvPr id="15" name="grpo-arrow-1">
            <a:extLst xmlns:a="http://schemas.openxmlformats.org/drawingml/2006/main">
              <a:ext uri="{FF2B5EF4-FFF2-40B4-BE49-F238E27FC236}">
                <a16:creationId xmlns:a16="http://schemas.microsoft.com/office/drawing/2014/main" id="{D9D13F19-4C32-4318-B305-0B46E223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432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A8472D"/>
                </a:solidFill>
              </a:defRPr>
            </a:pPr>
            <a:r>
              <a:rPr sz="1875" b="1">
                <a:solidFill>
                  <a:srgbClr val="A8472D"/>
                </a:solidFill>
              </a:rPr>
              <a:t>→</a:t>
            </a:r>
          </a:p>
        </p:txBody>
      </p:sp>
      <p:sp>
        <p:nvSpPr>
          <p:cNvPr id="16" name="grpo-arrow-2">
            <a:extLst xmlns:a="http://schemas.openxmlformats.org/drawingml/2006/main">
              <a:ext uri="{FF2B5EF4-FFF2-40B4-BE49-F238E27FC236}">
                <a16:creationId xmlns:a16="http://schemas.microsoft.com/office/drawing/2014/main" id="{DDB27A32-5F24-4E8D-B990-D98D2D59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A8472D"/>
                </a:solidFill>
              </a:defRPr>
            </a:pPr>
            <a:r>
              <a:rPr sz="1875" b="1">
                <a:solidFill>
                  <a:srgbClr val="A8472D"/>
                </a:solidFill>
              </a:rPr>
              <a:t>→</a:t>
            </a:r>
          </a:p>
        </p:txBody>
      </p:sp>
      <p:sp>
        <p:nvSpPr>
          <p:cNvPr id="17" name="grpo-k-0">
            <a:extLst xmlns:a="http://schemas.openxmlformats.org/drawingml/2006/main">
              <a:ext uri="{FF2B5EF4-FFF2-40B4-BE49-F238E27FC236}">
                <a16:creationId xmlns:a16="http://schemas.microsoft.com/office/drawing/2014/main" id="{EC6BC88C-D41F-4746-999A-D07CF416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336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472D"/>
                </a:solidFill>
              </a:defRPr>
            </a:pPr>
            <a:r>
              <a:rPr sz="975" b="1">
                <a:solidFill>
                  <a:srgbClr val="A8472D"/>
                </a:solidFill>
              </a:rPr>
              <a:t>VERIFY</a:t>
            </a:r>
          </a:p>
        </p:txBody>
      </p:sp>
      <p:sp>
        <p:nvSpPr>
          <p:cNvPr id="18" name="grpo-b-0">
            <a:extLst xmlns:a="http://schemas.openxmlformats.org/drawingml/2006/main">
              <a:ext uri="{FF2B5EF4-FFF2-40B4-BE49-F238E27FC236}">
                <a16:creationId xmlns:a16="http://schemas.microsoft.com/office/drawing/2014/main" id="{ABB8528C-E16A-4CAB-879F-4F0F7400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190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索取 email + last4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lookup_customer</a:t>
            </a:r>
          </a:p>
        </p:txBody>
      </p:sp>
      <p:sp>
        <p:nvSpPr>
          <p:cNvPr id="19" name="grpo-k-1">
            <a:extLst xmlns:a="http://schemas.openxmlformats.org/drawingml/2006/main">
              <a:ext uri="{FF2B5EF4-FFF2-40B4-BE49-F238E27FC236}">
                <a16:creationId xmlns:a16="http://schemas.microsoft.com/office/drawing/2014/main" id="{683F6934-6F31-4831-B418-F18132C2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336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472D"/>
                </a:solidFill>
              </a:defRPr>
            </a:pPr>
            <a:r>
              <a:rPr sz="975" b="1">
                <a:solidFill>
                  <a:srgbClr val="A8472D"/>
                </a:solidFill>
              </a:rPr>
              <a:t>READ</a:t>
            </a:r>
          </a:p>
        </p:txBody>
      </p:sp>
      <p:sp>
        <p:nvSpPr>
          <p:cNvPr id="20" name="grpo-b-1">
            <a:extLst xmlns:a="http://schemas.openxmlformats.org/drawingml/2006/main">
              <a:ext uri="{FF2B5EF4-FFF2-40B4-BE49-F238E27FC236}">
                <a16:creationId xmlns:a16="http://schemas.microsoft.com/office/drawing/2014/main" id="{D13D4D6F-9357-46A6-8FDA-2E1A05E9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190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list_orders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payment → policy</a:t>
            </a:r>
          </a:p>
        </p:txBody>
      </p:sp>
      <p:sp>
        <p:nvSpPr>
          <p:cNvPr id="21" name="grpo-k-2">
            <a:extLst xmlns:a="http://schemas.openxmlformats.org/drawingml/2006/main">
              <a:ext uri="{FF2B5EF4-FFF2-40B4-BE49-F238E27FC236}">
                <a16:creationId xmlns:a16="http://schemas.microsoft.com/office/drawing/2014/main" id="{D610A753-1A17-47F3-B312-BED44F5F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336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472D"/>
                </a:solidFill>
              </a:defRPr>
            </a:pPr>
            <a:r>
              <a:rPr sz="975" b="1">
                <a:solidFill>
                  <a:srgbClr val="A8472D"/>
                </a:solidFill>
              </a:rPr>
              <a:t>CONFIRM</a:t>
            </a:r>
          </a:p>
        </p:txBody>
      </p:sp>
      <p:sp>
        <p:nvSpPr>
          <p:cNvPr id="22" name="grpo-b-2">
            <a:extLst xmlns:a="http://schemas.openxmlformats.org/drawingml/2006/main">
              <a:ext uri="{FF2B5EF4-FFF2-40B4-BE49-F238E27FC236}">
                <a16:creationId xmlns:a16="http://schemas.microsoft.com/office/drawing/2014/main" id="{AC6DFC3F-A2D4-4953-9680-AB6DEFB5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190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指出 CHG-9002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等待明确同意</a:t>
            </a:r>
          </a:p>
        </p:txBody>
      </p:sp>
      <p:sp>
        <p:nvSpPr>
          <p:cNvPr id="23" name="grpo-k-3">
            <a:extLst xmlns:a="http://schemas.openxmlformats.org/drawingml/2006/main">
              <a:ext uri="{FF2B5EF4-FFF2-40B4-BE49-F238E27FC236}">
                <a16:creationId xmlns:a16="http://schemas.microsoft.com/office/drawing/2014/main" id="{5BA88234-2786-4EF3-9679-E36DDE57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336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F55"/>
                </a:solidFill>
              </a:defRPr>
            </a:pPr>
            <a:r>
              <a:rPr sz="975" b="1">
                <a:solidFill>
                  <a:srgbClr val="2F6F55"/>
                </a:solidFill>
              </a:rPr>
              <a:t>WRITE</a:t>
            </a:r>
          </a:p>
        </p:txBody>
      </p:sp>
      <p:sp>
        <p:nvSpPr>
          <p:cNvPr id="24" name="grpo-b-3">
            <a:extLst xmlns:a="http://schemas.openxmlformats.org/drawingml/2006/main">
              <a:ext uri="{FF2B5EF4-FFF2-40B4-BE49-F238E27FC236}">
                <a16:creationId xmlns:a16="http://schemas.microsoft.com/office/drawing/2014/main" id="{AB402E0A-A587-44C7-ABBA-A9062205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38500"/>
            <a:ext cx="190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create_refund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idempotency key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A4B42D-91A4-476C-97C7-46D01BB8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4C75"/>
            </a:solidFill>
            <a:prstDash val="solid"/>
          </a:ln>
        </p:spPr>
      </p:sp>
      <p:sp>
        <p:nvSpPr>
          <p:cNvPr id="26" name="metric-value-layers">
            <a:extLst xmlns:a="http://schemas.openxmlformats.org/drawingml/2006/main">
              <a:ext uri="{FF2B5EF4-FFF2-40B4-BE49-F238E27FC236}">
                <a16:creationId xmlns:a16="http://schemas.microsoft.com/office/drawing/2014/main" id="{D1CAFB59-AF56-469A-9AE8-FDB26C83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48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8231F"/>
                </a:solidFill>
              </a:defRPr>
            </a:pPr>
            <a:r>
              <a:rPr sz="2700" b="1">
                <a:solidFill>
                  <a:srgbClr val="28231F"/>
                </a:solidFill>
              </a:rPr>
              <a:t>8</a:t>
            </a:r>
          </a:p>
        </p:txBody>
      </p:sp>
      <p:sp>
        <p:nvSpPr>
          <p:cNvPr id="27" name="metric-label-layers">
            <a:extLst xmlns:a="http://schemas.openxmlformats.org/drawingml/2006/main">
              <a:ext uri="{FF2B5EF4-FFF2-40B4-BE49-F238E27FC236}">
                <a16:creationId xmlns:a16="http://schemas.microsoft.com/office/drawing/2014/main" id="{951CA4E0-CBEC-4CF8-AEB9-EB001D47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38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56B62"/>
                </a:solidFill>
              </a:defRPr>
            </a:pPr>
            <a:r>
              <a:rPr sz="1200" b="0">
                <a:solidFill>
                  <a:srgbClr val="756B62"/>
                </a:solidFill>
              </a:rPr>
              <a:t>agent turns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088A7D-65D3-4B6B-ABFF-0F31397F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57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4C75"/>
            </a:solidFill>
            <a:prstDash val="solid"/>
          </a:ln>
        </p:spPr>
      </p:sp>
      <p:sp>
        <p:nvSpPr>
          <p:cNvPr id="29" name="metric-value-rank">
            <a:extLst xmlns:a="http://schemas.openxmlformats.org/drawingml/2006/main">
              <a:ext uri="{FF2B5EF4-FFF2-40B4-BE49-F238E27FC236}">
                <a16:creationId xmlns:a16="http://schemas.microsoft.com/office/drawing/2014/main" id="{DA04178C-8823-4322-A855-EDD2B7FA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048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8231F"/>
                </a:solidFill>
              </a:defRPr>
            </a:pPr>
            <a:r>
              <a:rPr sz="2700" b="1">
                <a:solidFill>
                  <a:srgbClr val="28231F"/>
                </a:solidFill>
              </a:rPr>
              <a:t>5</a:t>
            </a:r>
          </a:p>
        </p:txBody>
      </p:sp>
      <p:sp>
        <p:nvSpPr>
          <p:cNvPr id="30" name="metric-label-rank">
            <a:extLst xmlns:a="http://schemas.openxmlformats.org/drawingml/2006/main">
              <a:ext uri="{FF2B5EF4-FFF2-40B4-BE49-F238E27FC236}">
                <a16:creationId xmlns:a16="http://schemas.microsoft.com/office/drawing/2014/main" id="{713B17E8-D9B7-44C5-8725-3043CCC6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638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56B62"/>
                </a:solidFill>
              </a:defRPr>
            </a:pPr>
            <a:r>
              <a:rPr sz="1200" b="0">
                <a:solidFill>
                  <a:srgbClr val="756B62"/>
                </a:solidFill>
              </a:rPr>
              <a:t>tool calls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E4921F-CD88-4F37-ACBE-4B8226E3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57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8472D"/>
            </a:solidFill>
            <a:prstDash val="solid"/>
          </a:ln>
        </p:spPr>
      </p:sp>
      <p:sp>
        <p:nvSpPr>
          <p:cNvPr id="32" name="metric-value-groups">
            <a:extLst xmlns:a="http://schemas.openxmlformats.org/drawingml/2006/main">
              <a:ext uri="{FF2B5EF4-FFF2-40B4-BE49-F238E27FC236}">
                <a16:creationId xmlns:a16="http://schemas.microsoft.com/office/drawing/2014/main" id="{67E7B009-BBC5-49E7-9888-7773316C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48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8231F"/>
                </a:solidFill>
              </a:defRPr>
            </a:pPr>
            <a:r>
              <a:rPr sz="2700" b="1">
                <a:solidFill>
                  <a:srgbClr val="28231F"/>
                </a:solidFill>
              </a:rPr>
              <a:t>16</a:t>
            </a:r>
          </a:p>
        </p:txBody>
      </p:sp>
      <p:sp>
        <p:nvSpPr>
          <p:cNvPr id="33" name="metric-label-groups">
            <a:extLst xmlns:a="http://schemas.openxmlformats.org/drawingml/2006/main">
              <a:ext uri="{FF2B5EF4-FFF2-40B4-BE49-F238E27FC236}">
                <a16:creationId xmlns:a16="http://schemas.microsoft.com/office/drawing/2014/main" id="{BBEE31E6-CAD4-4D5C-B3A6-332D70D7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38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56B62"/>
                </a:solidFill>
              </a:defRPr>
            </a:pPr>
            <a:r>
              <a:rPr sz="1200" b="0">
                <a:solidFill>
                  <a:srgbClr val="756B62"/>
                </a:solidFill>
              </a:rPr>
              <a:t>audited events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86AE2F-F8B9-4DAB-A5E0-8BE4B09E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857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6F55"/>
            </a:solidFill>
            <a:prstDash val="solid"/>
          </a:ln>
        </p:spPr>
      </p:sp>
      <p:sp>
        <p:nvSpPr>
          <p:cNvPr id="35" name="metric-value-steps">
            <a:extLst xmlns:a="http://schemas.openxmlformats.org/drawingml/2006/main">
              <a:ext uri="{FF2B5EF4-FFF2-40B4-BE49-F238E27FC236}">
                <a16:creationId xmlns:a16="http://schemas.microsoft.com/office/drawing/2014/main" id="{FD4E29CA-46D2-4314-9581-600E617D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048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8231F"/>
                </a:solidFill>
              </a:defRPr>
            </a:pPr>
            <a:r>
              <a:rPr sz="2700" b="1">
                <a:solidFill>
                  <a:srgbClr val="28231F"/>
                </a:solidFill>
              </a:rPr>
              <a:t>9/9</a:t>
            </a:r>
          </a:p>
        </p:txBody>
      </p:sp>
      <p:sp>
        <p:nvSpPr>
          <p:cNvPr id="36" name="metric-label-steps">
            <a:extLst xmlns:a="http://schemas.openxmlformats.org/drawingml/2006/main">
              <a:ext uri="{FF2B5EF4-FFF2-40B4-BE49-F238E27FC236}">
                <a16:creationId xmlns:a16="http://schemas.microsoft.com/office/drawing/2014/main" id="{AECD957C-59A3-47B5-810C-8C88DA1F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638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56B62"/>
                </a:solidFill>
              </a:defRPr>
            </a:pPr>
            <a:r>
              <a:rPr sz="1200" b="0">
                <a:solidFill>
                  <a:srgbClr val="756B62"/>
                </a:solidFill>
              </a:rPr>
              <a:t>verifier PASS</a:t>
            </a:r>
          </a:p>
        </p:txBody>
      </p:sp>
    </p:spTree>
    <p:extLst>
      <p:ext uri="{BB962C8B-B14F-4D97-AF65-F5344CB8AC3E}">
        <p14:creationId xmlns:p14="http://schemas.microsoft.com/office/powerpoint/2010/main" val="3101619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per-6">
            <a:extLst xmlns:a="http://schemas.openxmlformats.org/drawingml/2006/main">
              <a:ext uri="{FF2B5EF4-FFF2-40B4-BE49-F238E27FC236}">
                <a16:creationId xmlns:a16="http://schemas.microsoft.com/office/drawing/2014/main" id="{A09C24F9-A0C0-42B1-A4DF-AE341A28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" name="eyebrow-6">
            <a:extLst xmlns:a="http://schemas.openxmlformats.org/drawingml/2006/main">
              <a:ext uri="{FF2B5EF4-FFF2-40B4-BE49-F238E27FC236}">
                <a16:creationId xmlns:a16="http://schemas.microsoft.com/office/drawing/2014/main" id="{ED9D91E4-C83E-491B-B3D9-921F63FF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472D"/>
                </a:solidFill>
              </a:defRPr>
            </a:pPr>
            <a:r>
              <a:rPr sz="975" b="1">
                <a:solidFill>
                  <a:srgbClr val="A8472D"/>
                </a:solidFill>
              </a:rPr>
              <a:t>RESULTS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960B6349-3EDE-4B6B-A87E-E12D7346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28231F"/>
                </a:solidFill>
              </a:defRPr>
            </a:pPr>
            <a:r>
              <a:rPr sz="2925" b="1">
                <a:solidFill>
                  <a:srgbClr val="28231F"/>
                </a:solidFill>
              </a:rPr>
              <a:t>训练前后：提升集中在见过的任务结构</a:t>
            </a:r>
          </a:p>
        </p:txBody>
      </p:sp>
      <p:sp>
        <p:nvSpPr>
          <p:cNvPr id="4" name="subtitle-6">
            <a:extLst xmlns:a="http://schemas.openxmlformats.org/drawingml/2006/main">
              <a:ext uri="{FF2B5EF4-FFF2-40B4-BE49-F238E27FC236}">
                <a16:creationId xmlns:a16="http://schemas.microsoft.com/office/drawing/2014/main" id="{7459A424-DBA3-435D-A176-EA8506CB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56B62"/>
                </a:solidFill>
              </a:defRPr>
            </a:pPr>
            <a:r>
              <a:rPr sz="1350" b="0">
                <a:solidFill>
                  <a:srgbClr val="756B62"/>
                </a:solidFill>
              </a:rPr>
              <a:t>灰色为 before，红色为 after；完全未见任务没有改善。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01C63-3734-4253-BD05-C39E206C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6" name="page-6">
            <a:extLst xmlns:a="http://schemas.openxmlformats.org/drawingml/2006/main">
              <a:ext uri="{FF2B5EF4-FFF2-40B4-BE49-F238E27FC236}">
                <a16:creationId xmlns:a16="http://schemas.microsoft.com/office/drawing/2014/main" id="{99CF4F9D-0E60-45A5-B108-E4D73440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96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56B62"/>
                </a:solidFill>
              </a:defRPr>
            </a:pPr>
            <a:r>
              <a:rPr sz="900" b="0">
                <a:solidFill>
                  <a:srgbClr val="756B62"/>
                </a:solidFill>
              </a:rPr>
              <a:t>06</a:t>
            </a:r>
          </a:p>
        </p:txBody>
      </p:sp>
      <p:sp>
        <p:nvSpPr>
          <p:cNvPr id="7" name="bar-label-train">
            <a:extLst xmlns:a="http://schemas.openxmlformats.org/drawingml/2006/main">
              <a:ext uri="{FF2B5EF4-FFF2-40B4-BE49-F238E27FC236}">
                <a16:creationId xmlns:a16="http://schemas.microsoft.com/office/drawing/2014/main" id="{111ECF12-639C-4E7A-8616-AF084F7A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8231F"/>
                </a:solidFill>
              </a:defRPr>
            </a:pPr>
            <a:r>
              <a:rPr sz="1275" b="1">
                <a:solidFill>
                  <a:srgbClr val="28231F"/>
                </a:solidFill>
              </a:rPr>
              <a:t>Train tasks</a:t>
            </a:r>
          </a:p>
        </p:txBody>
      </p:sp>
      <p:sp>
        <p:nvSpPr>
          <p:cNvPr id="8" name="bar-track-before-train">
            <a:extLst xmlns:a="http://schemas.openxmlformats.org/drawingml/2006/main">
              <a:ext uri="{FF2B5EF4-FFF2-40B4-BE49-F238E27FC236}">
                <a16:creationId xmlns:a16="http://schemas.microsoft.com/office/drawing/2014/main" id="{09238063-88F6-48CF-8A43-6C784C9F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76500"/>
            <a:ext cx="4953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6DC"/>
          </a:solidFill>
          <a:ln xmlns:a="http://schemas.openxmlformats.org/drawingml/2006/main" w="9525">
            <a:solidFill>
              <a:srgbClr val="EEE6DC"/>
            </a:solidFill>
            <a:prstDash val="solid"/>
          </a:ln>
        </p:spPr>
      </p:sp>
      <p:sp>
        <p:nvSpPr>
          <p:cNvPr id="9" name="bar-before-train">
            <a:extLst xmlns:a="http://schemas.openxmlformats.org/drawingml/2006/main">
              <a:ext uri="{FF2B5EF4-FFF2-40B4-BE49-F238E27FC236}">
                <a16:creationId xmlns:a16="http://schemas.microsoft.com/office/drawing/2014/main" id="{051BFA3B-9580-4A4C-B60C-747C0284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76500"/>
            <a:ext cx="12382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ACA0"/>
          </a:solidFill>
          <a:ln xmlns:a="http://schemas.openxmlformats.org/drawingml/2006/main" w="9525">
            <a:solidFill>
              <a:srgbClr val="B9ACA0"/>
            </a:solidFill>
            <a:prstDash val="solid"/>
          </a:ln>
        </p:spPr>
      </p:sp>
      <p:sp>
        <p:nvSpPr>
          <p:cNvPr id="10" name="bar-track-after-train">
            <a:extLst xmlns:a="http://schemas.openxmlformats.org/drawingml/2006/main">
              <a:ext uri="{FF2B5EF4-FFF2-40B4-BE49-F238E27FC236}">
                <a16:creationId xmlns:a16="http://schemas.microsoft.com/office/drawing/2014/main" id="{44C0B313-839C-4D0D-9126-69C62F99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52725"/>
            <a:ext cx="4953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6DC"/>
          </a:solidFill>
          <a:ln xmlns:a="http://schemas.openxmlformats.org/drawingml/2006/main" w="9525">
            <a:solidFill>
              <a:srgbClr val="EEE6DC"/>
            </a:solidFill>
            <a:prstDash val="solid"/>
          </a:ln>
        </p:spPr>
      </p:sp>
      <p:sp>
        <p:nvSpPr>
          <p:cNvPr id="11" name="bar-after-train">
            <a:extLst xmlns:a="http://schemas.openxmlformats.org/drawingml/2006/main">
              <a:ext uri="{FF2B5EF4-FFF2-40B4-BE49-F238E27FC236}">
                <a16:creationId xmlns:a16="http://schemas.microsoft.com/office/drawing/2014/main" id="{EC49D5AA-4802-4F6A-8322-D528D012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52725"/>
            <a:ext cx="1651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472D"/>
          </a:solidFill>
          <a:ln xmlns:a="http://schemas.openxmlformats.org/drawingml/2006/main" w="9525">
            <a:solidFill>
              <a:srgbClr val="A8472D"/>
            </a:solidFill>
            <a:prstDash val="solid"/>
          </a:ln>
        </p:spPr>
      </p:sp>
      <p:sp>
        <p:nvSpPr>
          <p:cNvPr id="12" name="bar-values-train">
            <a:extLst xmlns:a="http://schemas.openxmlformats.org/drawingml/2006/main">
              <a:ext uri="{FF2B5EF4-FFF2-40B4-BE49-F238E27FC236}">
                <a16:creationId xmlns:a16="http://schemas.microsoft.com/office/drawing/2014/main" id="{5611DFFA-C77D-4255-8E47-23811DB1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241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2F6F55"/>
                </a:solidFill>
              </a:defRPr>
            </a:pPr>
            <a:r>
              <a:rPr sz="1500" b="1">
                <a:solidFill>
                  <a:srgbClr val="2F6F55"/>
                </a:solidFill>
              </a:rPr>
              <a:t>25.0%  →  33.3%</a:t>
            </a:r>
          </a:p>
        </p:txBody>
      </p:sp>
      <p:sp>
        <p:nvSpPr>
          <p:cNvPr id="13" name="bar-label-holdout">
            <a:extLst xmlns:a="http://schemas.openxmlformats.org/drawingml/2006/main">
              <a:ext uri="{FF2B5EF4-FFF2-40B4-BE49-F238E27FC236}">
                <a16:creationId xmlns:a16="http://schemas.microsoft.com/office/drawing/2014/main" id="{3846BBFD-6612-4C01-8BC2-B60A1226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8231F"/>
                </a:solidFill>
              </a:defRPr>
            </a:pPr>
            <a:r>
              <a:rPr sz="1275" b="1">
                <a:solidFill>
                  <a:srgbClr val="28231F"/>
                </a:solidFill>
              </a:rPr>
              <a:t>Prompt holdout</a:t>
            </a:r>
          </a:p>
        </p:txBody>
      </p:sp>
      <p:sp>
        <p:nvSpPr>
          <p:cNvPr id="14" name="bar-track-before-holdout">
            <a:extLst xmlns:a="http://schemas.openxmlformats.org/drawingml/2006/main">
              <a:ext uri="{FF2B5EF4-FFF2-40B4-BE49-F238E27FC236}">
                <a16:creationId xmlns:a16="http://schemas.microsoft.com/office/drawing/2014/main" id="{9D9E12C4-8279-4F1E-8A68-656F647C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524250"/>
            <a:ext cx="4953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6DC"/>
          </a:solidFill>
          <a:ln xmlns:a="http://schemas.openxmlformats.org/drawingml/2006/main" w="9525">
            <a:solidFill>
              <a:srgbClr val="EEE6DC"/>
            </a:solidFill>
            <a:prstDash val="solid"/>
          </a:ln>
        </p:spPr>
      </p:sp>
      <p:sp>
        <p:nvSpPr>
          <p:cNvPr id="15" name="bar-before-holdout">
            <a:extLst xmlns:a="http://schemas.openxmlformats.org/drawingml/2006/main">
              <a:ext uri="{FF2B5EF4-FFF2-40B4-BE49-F238E27FC236}">
                <a16:creationId xmlns:a16="http://schemas.microsoft.com/office/drawing/2014/main" id="{FB98D38E-1F0B-4303-8720-BF85FF99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524250"/>
            <a:ext cx="12382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ACA0"/>
          </a:solidFill>
          <a:ln xmlns:a="http://schemas.openxmlformats.org/drawingml/2006/main" w="9525">
            <a:solidFill>
              <a:srgbClr val="B9ACA0"/>
            </a:solidFill>
            <a:prstDash val="solid"/>
          </a:ln>
        </p:spPr>
      </p:sp>
      <p:sp>
        <p:nvSpPr>
          <p:cNvPr id="16" name="bar-track-after-holdout">
            <a:extLst xmlns:a="http://schemas.openxmlformats.org/drawingml/2006/main">
              <a:ext uri="{FF2B5EF4-FFF2-40B4-BE49-F238E27FC236}">
                <a16:creationId xmlns:a16="http://schemas.microsoft.com/office/drawing/2014/main" id="{900DE7F7-0996-4189-AECA-9A66C132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00475"/>
            <a:ext cx="4953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6DC"/>
          </a:solidFill>
          <a:ln xmlns:a="http://schemas.openxmlformats.org/drawingml/2006/main" w="9525">
            <a:solidFill>
              <a:srgbClr val="EEE6DC"/>
            </a:solidFill>
            <a:prstDash val="solid"/>
          </a:ln>
        </p:spPr>
      </p:sp>
      <p:sp>
        <p:nvSpPr>
          <p:cNvPr id="17" name="bar-after-holdout">
            <a:extLst xmlns:a="http://schemas.openxmlformats.org/drawingml/2006/main">
              <a:ext uri="{FF2B5EF4-FFF2-40B4-BE49-F238E27FC236}">
                <a16:creationId xmlns:a16="http://schemas.microsoft.com/office/drawing/2014/main" id="{08D27C30-6B75-4080-BA7F-070866B5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00475"/>
            <a:ext cx="20637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472D"/>
          </a:solidFill>
          <a:ln xmlns:a="http://schemas.openxmlformats.org/drawingml/2006/main" w="9525">
            <a:solidFill>
              <a:srgbClr val="A8472D"/>
            </a:solidFill>
            <a:prstDash val="solid"/>
          </a:ln>
        </p:spPr>
      </p:sp>
      <p:sp>
        <p:nvSpPr>
          <p:cNvPr id="18" name="bar-values-holdout">
            <a:extLst xmlns:a="http://schemas.openxmlformats.org/drawingml/2006/main">
              <a:ext uri="{FF2B5EF4-FFF2-40B4-BE49-F238E27FC236}">
                <a16:creationId xmlns:a16="http://schemas.microsoft.com/office/drawing/2014/main" id="{ADFEAD37-AB86-4B62-B840-8194D3EF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7187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2F6F55"/>
                </a:solidFill>
              </a:defRPr>
            </a:pPr>
            <a:r>
              <a:rPr sz="1500" b="1">
                <a:solidFill>
                  <a:srgbClr val="2F6F55"/>
                </a:solidFill>
              </a:rPr>
              <a:t>25.0%  →  41.7%</a:t>
            </a:r>
          </a:p>
        </p:txBody>
      </p:sp>
      <p:sp>
        <p:nvSpPr>
          <p:cNvPr id="19" name="bar-label-unseen">
            <a:extLst xmlns:a="http://schemas.openxmlformats.org/drawingml/2006/main">
              <a:ext uri="{FF2B5EF4-FFF2-40B4-BE49-F238E27FC236}">
                <a16:creationId xmlns:a16="http://schemas.microsoft.com/office/drawing/2014/main" id="{A8E059AC-45E9-4AB3-853A-C6780089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8231F"/>
                </a:solidFill>
              </a:defRPr>
            </a:pPr>
            <a:r>
              <a:rPr sz="1275" b="1">
                <a:solidFill>
                  <a:srgbClr val="28231F"/>
                </a:solidFill>
              </a:rPr>
              <a:t>Unseen tasks</a:t>
            </a:r>
          </a:p>
        </p:txBody>
      </p:sp>
      <p:sp>
        <p:nvSpPr>
          <p:cNvPr id="20" name="bar-track-before-unseen">
            <a:extLst xmlns:a="http://schemas.openxmlformats.org/drawingml/2006/main">
              <a:ext uri="{FF2B5EF4-FFF2-40B4-BE49-F238E27FC236}">
                <a16:creationId xmlns:a16="http://schemas.microsoft.com/office/drawing/2014/main" id="{B3670A6C-A0F2-4154-A015-96D5EF5D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572000"/>
            <a:ext cx="4953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6DC"/>
          </a:solidFill>
          <a:ln xmlns:a="http://schemas.openxmlformats.org/drawingml/2006/main" w="9525">
            <a:solidFill>
              <a:srgbClr val="EEE6DC"/>
            </a:solidFill>
            <a:prstDash val="solid"/>
          </a:ln>
        </p:spPr>
      </p:sp>
      <p:sp>
        <p:nvSpPr>
          <p:cNvPr id="21" name="bar-before-unseen">
            <a:extLst xmlns:a="http://schemas.openxmlformats.org/drawingml/2006/main">
              <a:ext uri="{FF2B5EF4-FFF2-40B4-BE49-F238E27FC236}">
                <a16:creationId xmlns:a16="http://schemas.microsoft.com/office/drawing/2014/main" id="{A90334E1-187A-489D-9795-BEF4C812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572000"/>
            <a:ext cx="12382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ACA0"/>
          </a:solidFill>
          <a:ln xmlns:a="http://schemas.openxmlformats.org/drawingml/2006/main" w="9525">
            <a:solidFill>
              <a:srgbClr val="B9ACA0"/>
            </a:solidFill>
            <a:prstDash val="solid"/>
          </a:ln>
        </p:spPr>
      </p:sp>
      <p:sp>
        <p:nvSpPr>
          <p:cNvPr id="22" name="bar-track-after-unseen">
            <a:extLst xmlns:a="http://schemas.openxmlformats.org/drawingml/2006/main">
              <a:ext uri="{FF2B5EF4-FFF2-40B4-BE49-F238E27FC236}">
                <a16:creationId xmlns:a16="http://schemas.microsoft.com/office/drawing/2014/main" id="{D7DE98C8-1DD9-490A-A210-8286B3E4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848225"/>
            <a:ext cx="4953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6DC"/>
          </a:solidFill>
          <a:ln xmlns:a="http://schemas.openxmlformats.org/drawingml/2006/main" w="9525">
            <a:solidFill>
              <a:srgbClr val="EEE6DC"/>
            </a:solidFill>
            <a:prstDash val="solid"/>
          </a:ln>
        </p:spPr>
      </p:sp>
      <p:sp>
        <p:nvSpPr>
          <p:cNvPr id="23" name="bar-after-unseen">
            <a:extLst xmlns:a="http://schemas.openxmlformats.org/drawingml/2006/main">
              <a:ext uri="{FF2B5EF4-FFF2-40B4-BE49-F238E27FC236}">
                <a16:creationId xmlns:a16="http://schemas.microsoft.com/office/drawing/2014/main" id="{8F5019A1-7031-4475-A8F9-FBE45D3B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848225"/>
            <a:ext cx="12382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472D"/>
          </a:solidFill>
          <a:ln xmlns:a="http://schemas.openxmlformats.org/drawingml/2006/main" w="9525">
            <a:solidFill>
              <a:srgbClr val="A8472D"/>
            </a:solidFill>
            <a:prstDash val="solid"/>
          </a:ln>
        </p:spPr>
      </p:sp>
      <p:sp>
        <p:nvSpPr>
          <p:cNvPr id="24" name="bar-values-unseen">
            <a:extLst xmlns:a="http://schemas.openxmlformats.org/drawingml/2006/main">
              <a:ext uri="{FF2B5EF4-FFF2-40B4-BE49-F238E27FC236}">
                <a16:creationId xmlns:a16="http://schemas.microsoft.com/office/drawing/2014/main" id="{51BDEBE8-9E54-479A-9F6E-CB3D1ACA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196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756B62"/>
                </a:solidFill>
              </a:defRPr>
            </a:pPr>
            <a:r>
              <a:rPr sz="1500" b="1">
                <a:solidFill>
                  <a:srgbClr val="756B62"/>
                </a:solidFill>
              </a:rPr>
              <a:t>25.0%  →  25.0%</a:t>
            </a:r>
          </a:p>
        </p:txBody>
      </p:sp>
      <p:sp>
        <p:nvSpPr>
          <p:cNvPr id="25" name="result-callout">
            <a:extLst xmlns:a="http://schemas.openxmlformats.org/drawingml/2006/main">
              <a:ext uri="{FF2B5EF4-FFF2-40B4-BE49-F238E27FC236}">
                <a16:creationId xmlns:a16="http://schemas.microsoft.com/office/drawing/2014/main" id="{998DE556-E033-4B16-931D-6FE899E8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1975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713322"/>
                </a:solidFill>
              </a:defRPr>
            </a:pPr>
            <a:r>
              <a:rPr sz="1650" b="1">
                <a:solidFill>
                  <a:srgbClr val="713322"/>
                </a:solidFill>
              </a:rPr>
              <a:t>最有价值的数字不是 41.7%，而是 Unseen 仍为 25.0%。</a:t>
            </a:r>
          </a:p>
        </p:txBody>
      </p:sp>
    </p:spTree>
    <p:extLst>
      <p:ext uri="{BB962C8B-B14F-4D97-AF65-F5344CB8AC3E}">
        <p14:creationId xmlns:p14="http://schemas.microsoft.com/office/powerpoint/2010/main" val="5875221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aper-7">
            <a:extLst xmlns:a="http://schemas.openxmlformats.org/drawingml/2006/main">
              <a:ext uri="{FF2B5EF4-FFF2-40B4-BE49-F238E27FC236}">
                <a16:creationId xmlns:a16="http://schemas.microsoft.com/office/drawing/2014/main" id="{8D5046DC-6190-4BB6-A0E9-16ADFB23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" name="eyebrow-7">
            <a:extLst xmlns:a="http://schemas.openxmlformats.org/drawingml/2006/main">
              <a:ext uri="{FF2B5EF4-FFF2-40B4-BE49-F238E27FC236}">
                <a16:creationId xmlns:a16="http://schemas.microsoft.com/office/drawing/2014/main" id="{DAE4415F-6573-4306-8FCD-F1A418F1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472D"/>
                </a:solidFill>
              </a:defRPr>
            </a:pPr>
            <a:r>
              <a:rPr sz="975" b="1">
                <a:solidFill>
                  <a:srgbClr val="A8472D"/>
                </a:solidFill>
              </a:rPr>
              <a:t>EVIDENCE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CFD8B143-68A5-4323-926C-14CC9B3B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28231F"/>
                </a:solidFill>
              </a:defRPr>
            </a:pPr>
            <a:r>
              <a:rPr sz="2925" b="1">
                <a:solidFill>
                  <a:srgbClr val="28231F"/>
                </a:solidFill>
              </a:rPr>
              <a:t>参数确实变了，而且能从磁盘重放</a:t>
            </a:r>
          </a:p>
        </p:txBody>
      </p:sp>
      <p:sp>
        <p:nvSpPr>
          <p:cNvPr id="4" name="subtitle-7">
            <a:extLst xmlns:a="http://schemas.openxmlformats.org/drawingml/2006/main">
              <a:ext uri="{FF2B5EF4-FFF2-40B4-BE49-F238E27FC236}">
                <a16:creationId xmlns:a16="http://schemas.microsoft.com/office/drawing/2014/main" id="{A3C3A839-AEDF-42A3-8694-B02338CE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56B62"/>
                </a:solidFill>
              </a:defRPr>
            </a:pPr>
            <a:r>
              <a:rPr sz="1350" b="0">
                <a:solidFill>
                  <a:srgbClr val="756B62"/>
                </a:solidFill>
              </a:rPr>
              <a:t>三组独立证据：LoRA norm、adapter hash、fresh-process metrics。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3F521-D454-4D2C-9F5F-B4A59BB0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6" name="page-7">
            <a:extLst xmlns:a="http://schemas.openxmlformats.org/drawingml/2006/main">
              <a:ext uri="{FF2B5EF4-FFF2-40B4-BE49-F238E27FC236}">
                <a16:creationId xmlns:a16="http://schemas.microsoft.com/office/drawing/2014/main" id="{873C7772-9C89-4933-9B0B-BC4F2D28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96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56B62"/>
                </a:solidFill>
              </a:defRPr>
            </a:pPr>
            <a:r>
              <a:rPr sz="900" b="0">
                <a:solidFill>
                  <a:srgbClr val="756B62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43B59-321B-4A55-B77E-B37F9ACF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56B62"/>
            </a:solidFill>
            <a:prstDash val="solid"/>
          </a:ln>
        </p:spPr>
      </p:sp>
      <p:sp>
        <p:nvSpPr>
          <p:cNvPr id="8" name="metric-value-norm-before">
            <a:extLst xmlns:a="http://schemas.openxmlformats.org/drawingml/2006/main">
              <a:ext uri="{FF2B5EF4-FFF2-40B4-BE49-F238E27FC236}">
                <a16:creationId xmlns:a16="http://schemas.microsoft.com/office/drawing/2014/main" id="{AAFE771D-583C-45F9-8BF1-5EAAEB34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8231F"/>
                </a:solidFill>
              </a:defRPr>
            </a:pPr>
            <a:r>
              <a:rPr sz="2700" b="1">
                <a:solidFill>
                  <a:srgbClr val="28231F"/>
                </a:solidFill>
              </a:rPr>
              <a:t>0.000</a:t>
            </a:r>
          </a:p>
        </p:txBody>
      </p:sp>
      <p:sp>
        <p:nvSpPr>
          <p:cNvPr id="9" name="metric-label-norm-before">
            <a:extLst xmlns:a="http://schemas.openxmlformats.org/drawingml/2006/main">
              <a:ext uri="{FF2B5EF4-FFF2-40B4-BE49-F238E27FC236}">
                <a16:creationId xmlns:a16="http://schemas.microsoft.com/office/drawing/2014/main" id="{00B64688-C7C9-4F4F-8666-4359FC59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56B62"/>
                </a:solidFill>
              </a:defRPr>
            </a:pPr>
            <a:r>
              <a:rPr sz="1200" b="0">
                <a:solidFill>
                  <a:srgbClr val="756B62"/>
                </a:solidFill>
              </a:rPr>
              <a:t>LoRA-B norm before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AB4C1-7209-45A4-9766-284CA9AD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860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6F55"/>
            </a:solidFill>
            <a:prstDash val="solid"/>
          </a:ln>
        </p:spPr>
      </p:sp>
      <p:sp>
        <p:nvSpPr>
          <p:cNvPr id="11" name="metric-value-norm-after">
            <a:extLst xmlns:a="http://schemas.openxmlformats.org/drawingml/2006/main">
              <a:ext uri="{FF2B5EF4-FFF2-40B4-BE49-F238E27FC236}">
                <a16:creationId xmlns:a16="http://schemas.microsoft.com/office/drawing/2014/main" id="{91A46E63-703E-48C7-84CC-63A9E8BB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765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8231F"/>
                </a:solidFill>
              </a:defRPr>
            </a:pPr>
            <a:r>
              <a:rPr sz="2700" b="1">
                <a:solidFill>
                  <a:srgbClr val="28231F"/>
                </a:solidFill>
              </a:rPr>
              <a:t>0.267</a:t>
            </a:r>
          </a:p>
        </p:txBody>
      </p:sp>
      <p:sp>
        <p:nvSpPr>
          <p:cNvPr id="12" name="metric-label-norm-after">
            <a:extLst xmlns:a="http://schemas.openxmlformats.org/drawingml/2006/main">
              <a:ext uri="{FF2B5EF4-FFF2-40B4-BE49-F238E27FC236}">
                <a16:creationId xmlns:a16="http://schemas.microsoft.com/office/drawing/2014/main" id="{7D2840CE-2DCF-4DD8-A43A-17695824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670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56B62"/>
                </a:solidFill>
              </a:defRPr>
            </a:pPr>
            <a:r>
              <a:rPr sz="1200" b="0">
                <a:solidFill>
                  <a:srgbClr val="756B62"/>
                </a:solidFill>
              </a:rPr>
              <a:t>LoRA-B norm after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88DEB-24CC-468B-8743-017FED5E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60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4C75"/>
            </a:solidFill>
            <a:prstDash val="solid"/>
          </a:ln>
        </p:spPr>
      </p:sp>
      <p:sp>
        <p:nvSpPr>
          <p:cNvPr id="14" name="metric-value-adapter-size">
            <a:extLst xmlns:a="http://schemas.openxmlformats.org/drawingml/2006/main">
              <a:ext uri="{FF2B5EF4-FFF2-40B4-BE49-F238E27FC236}">
                <a16:creationId xmlns:a16="http://schemas.microsoft.com/office/drawing/2014/main" id="{3495D56D-5D0E-474D-A9FD-8F4E481F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8231F"/>
                </a:solidFill>
              </a:defRPr>
            </a:pPr>
            <a:r>
              <a:rPr sz="2700" b="1">
                <a:solidFill>
                  <a:srgbClr val="28231F"/>
                </a:solidFill>
              </a:rPr>
              <a:t>417 KiB</a:t>
            </a:r>
          </a:p>
        </p:txBody>
      </p:sp>
      <p:sp>
        <p:nvSpPr>
          <p:cNvPr id="15" name="metric-label-adapter-size">
            <a:extLst xmlns:a="http://schemas.openxmlformats.org/drawingml/2006/main">
              <a:ext uri="{FF2B5EF4-FFF2-40B4-BE49-F238E27FC236}">
                <a16:creationId xmlns:a16="http://schemas.microsoft.com/office/drawing/2014/main" id="{230862B7-A5A3-4593-909D-35DB33E1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56B62"/>
                </a:solidFill>
              </a:defRPr>
            </a:pPr>
            <a:r>
              <a:rPr sz="1200" b="0">
                <a:solidFill>
                  <a:srgbClr val="756B62"/>
                </a:solidFill>
              </a:rPr>
              <a:t>final adapter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9E6D0E-942F-4D27-9780-C70CE816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860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6F55"/>
            </a:solidFill>
            <a:prstDash val="solid"/>
          </a:ln>
        </p:spPr>
      </p:sp>
      <p:sp>
        <p:nvSpPr>
          <p:cNvPr id="17" name="metric-value-replay">
            <a:extLst xmlns:a="http://schemas.openxmlformats.org/drawingml/2006/main">
              <a:ext uri="{FF2B5EF4-FFF2-40B4-BE49-F238E27FC236}">
                <a16:creationId xmlns:a16="http://schemas.microsoft.com/office/drawing/2014/main" id="{65B657F5-97D7-48FD-A6E5-200E6C1E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765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8231F"/>
                </a:solidFill>
              </a:defRPr>
            </a:pPr>
            <a:r>
              <a:rPr sz="2700" b="1">
                <a:solidFill>
                  <a:srgbClr val="28231F"/>
                </a:solidFill>
              </a:rPr>
              <a:t>0.0</a:t>
            </a:r>
          </a:p>
        </p:txBody>
      </p:sp>
      <p:sp>
        <p:nvSpPr>
          <p:cNvPr id="18" name="metric-label-replay">
            <a:extLst xmlns:a="http://schemas.openxmlformats.org/drawingml/2006/main">
              <a:ext uri="{FF2B5EF4-FFF2-40B4-BE49-F238E27FC236}">
                <a16:creationId xmlns:a16="http://schemas.microsoft.com/office/drawing/2014/main" id="{A90FEB62-DC06-4BB6-8AB3-3A7D19A8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670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56B62"/>
                </a:solidFill>
              </a:defRPr>
            </a:pPr>
            <a:r>
              <a:rPr sz="1200" b="0">
                <a:solidFill>
                  <a:srgbClr val="756B62"/>
                </a:solidFill>
              </a:rPr>
              <a:t>metric replay delta</a:t>
            </a:r>
          </a:p>
        </p:txBody>
      </p:sp>
      <p:sp>
        <p:nvSpPr>
          <p:cNvPr id="19" name="hash-box">
            <a:extLst xmlns:a="http://schemas.openxmlformats.org/drawingml/2006/main">
              <a:ext uri="{FF2B5EF4-FFF2-40B4-BE49-F238E27FC236}">
                <a16:creationId xmlns:a16="http://schemas.microsoft.com/office/drawing/2014/main" id="{B008CBE6-54FB-43D6-B7C0-C2DE5D15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48125"/>
            <a:ext cx="10287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28231F"/>
          </a:solidFill>
          <a:ln xmlns:a="http://schemas.openxmlformats.org/drawingml/2006/main" w="9525">
            <a:solidFill>
              <a:srgbClr val="28231F"/>
            </a:solidFill>
            <a:prstDash val="solid"/>
          </a:ln>
        </p:spPr>
      </p:sp>
      <p:sp>
        <p:nvSpPr>
          <p:cNvPr id="20" name="hash-text">
            <a:extLst xmlns:a="http://schemas.openxmlformats.org/drawingml/2006/main">
              <a:ext uri="{FF2B5EF4-FFF2-40B4-BE49-F238E27FC236}">
                <a16:creationId xmlns:a16="http://schemas.microsoft.com/office/drawing/2014/main" id="{414ECAB7-B97C-46B7-81F2-3B409391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67200"/>
            <a:ext cx="885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DF9"/>
                </a:solidFill>
              </a:defRPr>
            </a:pPr>
            <a:r>
              <a:rPr sz="1425" b="1">
                <a:solidFill>
                  <a:srgbClr val="FFFDF9"/>
                </a:solidFill>
              </a:rPr>
              <a:t>BASE    fcc83d7537be…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FFFDF9"/>
                </a:solidFill>
              </a:defRPr>
            </a:pPr>
            <a:r>
              <a:rPr sz="1425" b="1">
                <a:solidFill>
                  <a:srgbClr val="FFFDF9"/>
                </a:solidFill>
              </a:rPr>
              <a:t>DATA    044648e2ffbe…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FFFDF9"/>
                </a:solidFill>
              </a:defRPr>
            </a:pPr>
            <a:r>
              <a:rPr sz="1425" b="1">
                <a:solidFill>
                  <a:srgbClr val="FFFDF9"/>
                </a:solidFill>
              </a:rPr>
              <a:t>ADAPTER 64301c0b81ec…</a:t>
            </a:r>
          </a:p>
        </p:txBody>
      </p:sp>
      <p:sp>
        <p:nvSpPr>
          <p:cNvPr id="21" name="hash-badge">
            <a:extLst xmlns:a="http://schemas.openxmlformats.org/drawingml/2006/main">
              <a:ext uri="{FF2B5EF4-FFF2-40B4-BE49-F238E27FC236}">
                <a16:creationId xmlns:a16="http://schemas.microsoft.com/office/drawing/2014/main" id="{954E3856-2B01-4D3F-AB61-FCE81E2B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291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2C7B8"/>
                </a:solidFill>
              </a:defRPr>
            </a:pPr>
            <a:r>
              <a:rPr sz="1050" b="1">
                <a:solidFill>
                  <a:srgbClr val="F2C7B8"/>
                </a:solidFill>
              </a:rPr>
              <a:t>SHA-256</a:t>
            </a:r>
          </a:p>
        </p:txBody>
      </p:sp>
    </p:spTree>
    <p:extLst>
      <p:ext uri="{BB962C8B-B14F-4D97-AF65-F5344CB8AC3E}">
        <p14:creationId xmlns:p14="http://schemas.microsoft.com/office/powerpoint/2010/main" val="13826380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aper-8">
            <a:extLst xmlns:a="http://schemas.openxmlformats.org/drawingml/2006/main">
              <a:ext uri="{FF2B5EF4-FFF2-40B4-BE49-F238E27FC236}">
                <a16:creationId xmlns:a16="http://schemas.microsoft.com/office/drawing/2014/main" id="{9E56510E-276C-4F65-93D6-4177434E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" name="eyebrow-8">
            <a:extLst xmlns:a="http://schemas.openxmlformats.org/drawingml/2006/main">
              <a:ext uri="{FF2B5EF4-FFF2-40B4-BE49-F238E27FC236}">
                <a16:creationId xmlns:a16="http://schemas.microsoft.com/office/drawing/2014/main" id="{85F7354D-9EF2-412F-A868-FFE7B8B0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472D"/>
                </a:solidFill>
              </a:defRPr>
            </a:pPr>
            <a:r>
              <a:rPr sz="975" b="1">
                <a:solidFill>
                  <a:srgbClr val="A8472D"/>
                </a:solidFill>
              </a:rPr>
              <a:t>DIAGNOSIS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50F43598-A6B4-47B4-994E-45529DA2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28231F"/>
                </a:solidFill>
              </a:defRPr>
            </a:pPr>
            <a:r>
              <a:rPr sz="2925" b="1">
                <a:solidFill>
                  <a:srgbClr val="28231F"/>
                </a:solidFill>
              </a:rPr>
              <a:t>关键失败：20/24 rollout groups 没有相对学习信号</a:t>
            </a:r>
          </a:p>
        </p:txBody>
      </p:sp>
      <p:sp>
        <p:nvSpPr>
          <p:cNvPr id="4" name="subtitle-8">
            <a:extLst xmlns:a="http://schemas.openxmlformats.org/drawingml/2006/main">
              <a:ext uri="{FF2B5EF4-FFF2-40B4-BE49-F238E27FC236}">
                <a16:creationId xmlns:a16="http://schemas.microsoft.com/office/drawing/2014/main" id="{DD9177E6-B29D-4A15-98C6-C0599C3A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56B62"/>
                </a:solidFill>
              </a:defRPr>
            </a:pPr>
            <a:r>
              <a:rPr sz="1350" b="0">
                <a:solidFill>
                  <a:srgbClr val="756B62"/>
                </a:solidFill>
              </a:rPr>
              <a:t>离线 PRM-Lite 只重打分，不训练模型；它没有激活任何新 group，是一个有用的负结果。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32C3F-2C16-4EEB-A1B3-59A68D51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6" name="page-8">
            <a:extLst xmlns:a="http://schemas.openxmlformats.org/drawingml/2006/main">
              <a:ext uri="{FF2B5EF4-FFF2-40B4-BE49-F238E27FC236}">
                <a16:creationId xmlns:a16="http://schemas.microsoft.com/office/drawing/2014/main" id="{2199E2B1-1D80-46D1-8868-B6A0DEB3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96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56B62"/>
                </a:solidFill>
              </a:defRPr>
            </a:pPr>
            <a:r>
              <a:rPr sz="900" b="0">
                <a:solidFill>
                  <a:srgbClr val="756B62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B63DE-EA2F-4581-9F89-14477107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4C75"/>
            </a:solidFill>
            <a:prstDash val="solid"/>
          </a:ln>
        </p:spPr>
      </p:sp>
      <p:sp>
        <p:nvSpPr>
          <p:cNvPr id="8" name="metric-value-group-total">
            <a:extLst xmlns:a="http://schemas.openxmlformats.org/drawingml/2006/main">
              <a:ext uri="{FF2B5EF4-FFF2-40B4-BE49-F238E27FC236}">
                <a16:creationId xmlns:a16="http://schemas.microsoft.com/office/drawing/2014/main" id="{A805BC3B-C51E-4F02-99C7-905C5CC8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8231F"/>
                </a:solidFill>
              </a:defRPr>
            </a:pPr>
            <a:r>
              <a:rPr sz="2700" b="1">
                <a:solidFill>
                  <a:srgbClr val="28231F"/>
                </a:solidFill>
              </a:rPr>
              <a:t>24</a:t>
            </a:r>
          </a:p>
        </p:txBody>
      </p:sp>
      <p:sp>
        <p:nvSpPr>
          <p:cNvPr id="9" name="metric-label-group-total">
            <a:extLst xmlns:a="http://schemas.openxmlformats.org/drawingml/2006/main">
              <a:ext uri="{FF2B5EF4-FFF2-40B4-BE49-F238E27FC236}">
                <a16:creationId xmlns:a16="http://schemas.microsoft.com/office/drawing/2014/main" id="{B3DEF3D9-CDFD-4309-B678-0027F7FA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56B62"/>
                </a:solidFill>
              </a:defRPr>
            </a:pPr>
            <a:r>
              <a:rPr sz="1200" b="0">
                <a:solidFill>
                  <a:srgbClr val="756B62"/>
                </a:solidFill>
              </a:rPr>
              <a:t>rollout groups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0F288-80A1-4B8F-8F75-732094F6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6F55"/>
            </a:solidFill>
            <a:prstDash val="solid"/>
          </a:ln>
        </p:spPr>
      </p:sp>
      <p:sp>
        <p:nvSpPr>
          <p:cNvPr id="11" name="metric-value-group-active">
            <a:extLst xmlns:a="http://schemas.openxmlformats.org/drawingml/2006/main">
              <a:ext uri="{FF2B5EF4-FFF2-40B4-BE49-F238E27FC236}">
                <a16:creationId xmlns:a16="http://schemas.microsoft.com/office/drawing/2014/main" id="{CC1B1F10-CBFF-4655-A2CD-4873DE0B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8231F"/>
                </a:solidFill>
              </a:defRPr>
            </a:pPr>
            <a:r>
              <a:rPr sz="2700" b="1">
                <a:solidFill>
                  <a:srgbClr val="28231F"/>
                </a:solidFill>
              </a:rPr>
              <a:t>4</a:t>
            </a:r>
          </a:p>
        </p:txBody>
      </p:sp>
      <p:sp>
        <p:nvSpPr>
          <p:cNvPr id="12" name="metric-label-group-active">
            <a:extLst xmlns:a="http://schemas.openxmlformats.org/drawingml/2006/main">
              <a:ext uri="{FF2B5EF4-FFF2-40B4-BE49-F238E27FC236}">
                <a16:creationId xmlns:a16="http://schemas.microsoft.com/office/drawing/2014/main" id="{2EBC8AC6-1AF2-4DEB-B045-8F77A0A3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71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56B62"/>
                </a:solidFill>
              </a:defRPr>
            </a:pPr>
            <a:r>
              <a:rPr sz="1200" b="0">
                <a:solidFill>
                  <a:srgbClr val="756B62"/>
                </a:solidFill>
              </a:rPr>
              <a:t>non-zero variance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A71E5-150E-44B0-9C3A-4090DAD8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12D2D"/>
            </a:solidFill>
            <a:prstDash val="solid"/>
          </a:ln>
        </p:spPr>
      </p:sp>
      <p:sp>
        <p:nvSpPr>
          <p:cNvPr id="14" name="metric-value-group-flat">
            <a:extLst xmlns:a="http://schemas.openxmlformats.org/drawingml/2006/main">
              <a:ext uri="{FF2B5EF4-FFF2-40B4-BE49-F238E27FC236}">
                <a16:creationId xmlns:a16="http://schemas.microsoft.com/office/drawing/2014/main" id="{67A0B058-3A1D-497E-98C9-BFACB11A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8231F"/>
                </a:solidFill>
              </a:defRPr>
            </a:pPr>
            <a:r>
              <a:rPr sz="2700" b="1">
                <a:solidFill>
                  <a:srgbClr val="28231F"/>
                </a:solidFill>
              </a:rPr>
              <a:t>20</a:t>
            </a:r>
          </a:p>
        </p:txBody>
      </p:sp>
      <p:sp>
        <p:nvSpPr>
          <p:cNvPr id="15" name="metric-label-group-flat">
            <a:extLst xmlns:a="http://schemas.openxmlformats.org/drawingml/2006/main">
              <a:ext uri="{FF2B5EF4-FFF2-40B4-BE49-F238E27FC236}">
                <a16:creationId xmlns:a16="http://schemas.microsoft.com/office/drawing/2014/main" id="{D86739FF-2559-49B0-91A1-02C9F9D6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56B62"/>
                </a:solidFill>
              </a:defRPr>
            </a:pPr>
            <a:r>
              <a:rPr sz="1200" b="0">
                <a:solidFill>
                  <a:srgbClr val="756B62"/>
                </a:solidFill>
              </a:rPr>
              <a:t>saturated groups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1627D9-9036-4033-8DEE-AEDB4FE1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90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36B13"/>
            </a:solidFill>
            <a:prstDash val="solid"/>
          </a:ln>
        </p:spPr>
      </p:sp>
      <p:sp>
        <p:nvSpPr>
          <p:cNvPr id="17" name="metric-value-prm-new">
            <a:extLst xmlns:a="http://schemas.openxmlformats.org/drawingml/2006/main">
              <a:ext uri="{FF2B5EF4-FFF2-40B4-BE49-F238E27FC236}">
                <a16:creationId xmlns:a16="http://schemas.microsoft.com/office/drawing/2014/main" id="{E7C33E47-471B-4CBA-8C85-CEF174DA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81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8231F"/>
                </a:solidFill>
              </a:defRPr>
            </a:pPr>
            <a:r>
              <a:rPr sz="2700" b="1">
                <a:solidFill>
                  <a:srgbClr val="28231F"/>
                </a:solidFill>
              </a:rPr>
              <a:t>0</a:t>
            </a:r>
          </a:p>
        </p:txBody>
      </p:sp>
      <p:sp>
        <p:nvSpPr>
          <p:cNvPr id="18" name="metric-label-prm-new">
            <a:extLst xmlns:a="http://schemas.openxmlformats.org/drawingml/2006/main">
              <a:ext uri="{FF2B5EF4-FFF2-40B4-BE49-F238E27FC236}">
                <a16:creationId xmlns:a16="http://schemas.microsoft.com/office/drawing/2014/main" id="{FDAE0F6A-D330-4564-AD24-D225EC69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71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56B62"/>
                </a:solidFill>
              </a:defRPr>
            </a:pPr>
            <a:r>
              <a:rPr sz="1200" b="0">
                <a:solidFill>
                  <a:srgbClr val="756B62"/>
                </a:solidFill>
              </a:rPr>
              <a:t>PRM newly active</a:t>
            </a:r>
          </a:p>
        </p:txBody>
      </p:sp>
      <p:sp>
        <p:nvSpPr>
          <p:cNvPr id="19" name="ablation-card-0">
            <a:extLst xmlns:a="http://schemas.openxmlformats.org/drawingml/2006/main">
              <a:ext uri="{FF2B5EF4-FFF2-40B4-BE49-F238E27FC236}">
                <a16:creationId xmlns:a16="http://schemas.microsoft.com/office/drawing/2014/main" id="{9A4CC918-66A3-4C86-BEDB-4C7605A0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333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0" name="ablation-name-0">
            <a:extLst xmlns:a="http://schemas.openxmlformats.org/drawingml/2006/main">
              <a:ext uri="{FF2B5EF4-FFF2-40B4-BE49-F238E27FC236}">
                <a16:creationId xmlns:a16="http://schemas.microsoft.com/office/drawing/2014/main" id="{ADCB5523-7C7A-470E-BC50-01D7EFCC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8231F"/>
                </a:solidFill>
              </a:defRPr>
            </a:pPr>
            <a:r>
              <a:rPr sz="1350" b="1">
                <a:solidFill>
                  <a:srgbClr val="28231F"/>
                </a:solidFill>
              </a:rPr>
              <a:t>Turn-Discount</a:t>
            </a:r>
          </a:p>
        </p:txBody>
      </p:sp>
      <p:sp>
        <p:nvSpPr>
          <p:cNvPr id="21" name="ablation-note-0">
            <a:extLst xmlns:a="http://schemas.openxmlformats.org/drawingml/2006/main">
              <a:ext uri="{FF2B5EF4-FFF2-40B4-BE49-F238E27FC236}">
                <a16:creationId xmlns:a16="http://schemas.microsoft.com/office/drawing/2014/main" id="{1FFCCD0C-64A4-49D9-BA39-C04BF62E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756B62"/>
                </a:solidFill>
              </a:defRPr>
            </a:pPr>
            <a:r>
              <a:rPr sz="1125" b="0">
                <a:solidFill>
                  <a:srgbClr val="756B62"/>
                </a:solidFill>
              </a:rPr>
              <a:t>越早决策越高 credit</a:t>
            </a:r>
          </a:p>
        </p:txBody>
      </p:sp>
      <p:sp>
        <p:nvSpPr>
          <p:cNvPr id="22" name="ablation-card-1">
            <a:extLst xmlns:a="http://schemas.openxmlformats.org/drawingml/2006/main">
              <a:ext uri="{FF2B5EF4-FFF2-40B4-BE49-F238E27FC236}">
                <a16:creationId xmlns:a16="http://schemas.microsoft.com/office/drawing/2014/main" id="{28F5D737-61D5-47CB-A5DE-055AD981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00500"/>
            <a:ext cx="2333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A36B13"/>
            </a:solidFill>
            <a:prstDash val="solid"/>
          </a:ln>
        </p:spPr>
      </p:sp>
      <p:sp>
        <p:nvSpPr>
          <p:cNvPr id="23" name="ablation-name-1">
            <a:extLst xmlns:a="http://schemas.openxmlformats.org/drawingml/2006/main">
              <a:ext uri="{FF2B5EF4-FFF2-40B4-BE49-F238E27FC236}">
                <a16:creationId xmlns:a16="http://schemas.microsoft.com/office/drawing/2014/main" id="{AB0B35C8-C292-4A04-9C17-DA4A8745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191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A36B13"/>
                </a:solidFill>
              </a:defRPr>
            </a:pPr>
            <a:r>
              <a:rPr sz="1350" b="1">
                <a:solidFill>
                  <a:srgbClr val="A36B13"/>
                </a:solidFill>
              </a:rPr>
              <a:t>PRM-Lite</a:t>
            </a:r>
          </a:p>
        </p:txBody>
      </p:sp>
      <p:sp>
        <p:nvSpPr>
          <p:cNvPr id="24" name="ablation-note-1">
            <a:extLst xmlns:a="http://schemas.openxmlformats.org/drawingml/2006/main">
              <a:ext uri="{FF2B5EF4-FFF2-40B4-BE49-F238E27FC236}">
                <a16:creationId xmlns:a16="http://schemas.microsoft.com/office/drawing/2014/main" id="{AB858F1A-7EC4-42A2-99A2-EA9E8534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5720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756B62"/>
                </a:solidFill>
              </a:defRPr>
            </a:pPr>
            <a:r>
              <a:rPr sz="1125" b="0">
                <a:solidFill>
                  <a:srgbClr val="756B62"/>
                </a:solidFill>
              </a:rPr>
              <a:t>15 条过程规则</a:t>
            </a:r>
          </a:p>
        </p:txBody>
      </p:sp>
      <p:sp>
        <p:nvSpPr>
          <p:cNvPr id="25" name="ablation-card-2">
            <a:extLst xmlns:a="http://schemas.openxmlformats.org/drawingml/2006/main">
              <a:ext uri="{FF2B5EF4-FFF2-40B4-BE49-F238E27FC236}">
                <a16:creationId xmlns:a16="http://schemas.microsoft.com/office/drawing/2014/main" id="{B07369B4-5634-4A07-8949-BD2ADE08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2333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6" name="ablation-name-2">
            <a:extLst xmlns:a="http://schemas.openxmlformats.org/drawingml/2006/main">
              <a:ext uri="{FF2B5EF4-FFF2-40B4-BE49-F238E27FC236}">
                <a16:creationId xmlns:a16="http://schemas.microsoft.com/office/drawing/2014/main" id="{BFFFECCC-62DE-413E-8A4A-FCDC5B2B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91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8231F"/>
                </a:solidFill>
              </a:defRPr>
            </a:pPr>
            <a:r>
              <a:rPr sz="1350" b="1">
                <a:solidFill>
                  <a:srgbClr val="28231F"/>
                </a:solidFill>
              </a:rPr>
              <a:t>LATA</a:t>
            </a:r>
          </a:p>
        </p:txBody>
      </p:sp>
      <p:sp>
        <p:nvSpPr>
          <p:cNvPr id="27" name="ablation-note-2">
            <a:extLst xmlns:a="http://schemas.openxmlformats.org/drawingml/2006/main">
              <a:ext uri="{FF2B5EF4-FFF2-40B4-BE49-F238E27FC236}">
                <a16:creationId xmlns:a16="http://schemas.microsoft.com/office/drawing/2014/main" id="{E5E979E0-00E8-4260-AEB6-6F5F48EF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720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756B62"/>
                </a:solidFill>
              </a:defRPr>
            </a:pPr>
            <a:r>
              <a:rPr sz="1125" b="0">
                <a:solidFill>
                  <a:srgbClr val="756B62"/>
                </a:solidFill>
              </a:rPr>
              <a:t>A/L 与 A/√L</a:t>
            </a:r>
          </a:p>
        </p:txBody>
      </p:sp>
      <p:sp>
        <p:nvSpPr>
          <p:cNvPr id="28" name="ablation-card-3">
            <a:extLst xmlns:a="http://schemas.openxmlformats.org/drawingml/2006/main">
              <a:ext uri="{FF2B5EF4-FFF2-40B4-BE49-F238E27FC236}">
                <a16:creationId xmlns:a16="http://schemas.microsoft.com/office/drawing/2014/main" id="{E68807E6-369D-46F7-B675-11887A33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000500"/>
            <a:ext cx="2333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9" name="ablation-name-3">
            <a:extLst xmlns:a="http://schemas.openxmlformats.org/drawingml/2006/main">
              <a:ext uri="{FF2B5EF4-FFF2-40B4-BE49-F238E27FC236}">
                <a16:creationId xmlns:a16="http://schemas.microsoft.com/office/drawing/2014/main" id="{7E7F8D29-D2A7-4037-84F1-86B0B929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191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8231F"/>
                </a:solidFill>
              </a:defRPr>
            </a:pPr>
            <a:r>
              <a:rPr sz="1350" b="1">
                <a:solidFill>
                  <a:srgbClr val="28231F"/>
                </a:solidFill>
              </a:rPr>
              <a:t>Joint</a:t>
            </a:r>
          </a:p>
        </p:txBody>
      </p:sp>
      <p:sp>
        <p:nvSpPr>
          <p:cNvPr id="30" name="ablation-note-3">
            <a:extLst xmlns:a="http://schemas.openxmlformats.org/drawingml/2006/main">
              <a:ext uri="{FF2B5EF4-FFF2-40B4-BE49-F238E27FC236}">
                <a16:creationId xmlns:a16="http://schemas.microsoft.com/office/drawing/2014/main" id="{815AB39F-7811-4265-B53A-64C190DA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5720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756B62"/>
                </a:solidFill>
              </a:defRPr>
            </a:pPr>
            <a:r>
              <a:rPr sz="1125" b="0">
                <a:solidFill>
                  <a:srgbClr val="756B62"/>
                </a:solidFill>
              </a:rPr>
              <a:t>PRM + LATA</a:t>
            </a:r>
          </a:p>
        </p:txBody>
      </p:sp>
      <p:sp>
        <p:nvSpPr>
          <p:cNvPr id="31" name="diagnosis-conclusion">
            <a:extLst xmlns:a="http://schemas.openxmlformats.org/drawingml/2006/main">
              <a:ext uri="{FF2B5EF4-FFF2-40B4-BE49-F238E27FC236}">
                <a16:creationId xmlns:a16="http://schemas.microsoft.com/office/drawing/2014/main" id="{B5A6BB56-FC9E-4AB6-9542-70FBA5F9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29250"/>
            <a:ext cx="942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13322"/>
                </a:solidFill>
              </a:defRPr>
            </a:pPr>
            <a:r>
              <a:rPr sz="1350" b="1">
                <a:solidFill>
                  <a:srgbClr val="713322"/>
                </a:solidFill>
              </a:rPr>
              <a:t>zero-variance rate: 83.3% → 83.3% · 说明单步 action token 没有足够过程事件</a:t>
            </a:r>
          </a:p>
        </p:txBody>
      </p:sp>
    </p:spTree>
    <p:extLst>
      <p:ext uri="{BB962C8B-B14F-4D97-AF65-F5344CB8AC3E}">
        <p14:creationId xmlns:p14="http://schemas.microsoft.com/office/powerpoint/2010/main" val="4297809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aper-9">
            <a:extLst xmlns:a="http://schemas.openxmlformats.org/drawingml/2006/main">
              <a:ext uri="{FF2B5EF4-FFF2-40B4-BE49-F238E27FC236}">
                <a16:creationId xmlns:a16="http://schemas.microsoft.com/office/drawing/2014/main" id="{84612318-F3B2-4C80-948A-082638F6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" name="eyebrow-9">
            <a:extLst xmlns:a="http://schemas.openxmlformats.org/drawingml/2006/main">
              <a:ext uri="{FF2B5EF4-FFF2-40B4-BE49-F238E27FC236}">
                <a16:creationId xmlns:a16="http://schemas.microsoft.com/office/drawing/2014/main" id="{5BD6D1F2-5CD5-4810-8193-B6101DC8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472D"/>
                </a:solidFill>
              </a:defRPr>
            </a:pPr>
            <a:r>
              <a:rPr sz="975" b="1">
                <a:solidFill>
                  <a:srgbClr val="A8472D"/>
                </a:solidFill>
              </a:rPr>
              <a:t>SELF-CHECK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921C9C12-E22C-41AB-838A-80B858D6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28231F"/>
                </a:solidFill>
              </a:defRPr>
            </a:pPr>
            <a:r>
              <a:rPr sz="2925" b="1">
                <a:solidFill>
                  <a:srgbClr val="28231F"/>
                </a:solidFill>
              </a:rPr>
              <a:t>四态完成矩阵：跑过、部分跑过、代码就绪、资源阻塞</a:t>
            </a:r>
          </a:p>
        </p:txBody>
      </p:sp>
      <p:sp>
        <p:nvSpPr>
          <p:cNvPr id="4" name="subtitle-9">
            <a:extLst xmlns:a="http://schemas.openxmlformats.org/drawingml/2006/main">
              <a:ext uri="{FF2B5EF4-FFF2-40B4-BE49-F238E27FC236}">
                <a16:creationId xmlns:a16="http://schemas.microsoft.com/office/drawing/2014/main" id="{229A20CC-AF47-4608-9A99-EF230F96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56B62"/>
                </a:solidFill>
              </a:defRPr>
            </a:pPr>
            <a:r>
              <a:rPr sz="1350" b="0">
                <a:solidFill>
                  <a:srgbClr val="756B62"/>
                </a:solidFill>
              </a:rPr>
              <a:t>每个状态都有证据与补完条件；不再把 CODE_READY 写成 COMPLETE。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2A89A-65BA-4AA5-A5E6-DAF948EF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6" name="page-9">
            <a:extLst xmlns:a="http://schemas.openxmlformats.org/drawingml/2006/main">
              <a:ext uri="{FF2B5EF4-FFF2-40B4-BE49-F238E27FC236}">
                <a16:creationId xmlns:a16="http://schemas.microsoft.com/office/drawing/2014/main" id="{06FF5314-43E2-4F80-ACCB-B6974C62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96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56B62"/>
                </a:solidFill>
              </a:defRPr>
            </a:pPr>
            <a:r>
              <a:rPr sz="900" b="0">
                <a:solidFill>
                  <a:srgbClr val="756B62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F55F9-C37D-453D-A2B3-8BFC23D3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6F55"/>
            </a:solidFill>
            <a:prstDash val="solid"/>
          </a:ln>
        </p:spPr>
      </p:sp>
      <p:sp>
        <p:nvSpPr>
          <p:cNvPr id="8" name="metric-value-complete">
            <a:extLst xmlns:a="http://schemas.openxmlformats.org/drawingml/2006/main">
              <a:ext uri="{FF2B5EF4-FFF2-40B4-BE49-F238E27FC236}">
                <a16:creationId xmlns:a16="http://schemas.microsoft.com/office/drawing/2014/main" id="{C5E35F31-74F5-4CDD-98BD-8505255D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8231F"/>
                </a:solidFill>
              </a:defRPr>
            </a:pPr>
            <a:r>
              <a:rPr sz="2700" b="1">
                <a:solidFill>
                  <a:srgbClr val="28231F"/>
                </a:solidFill>
              </a:rPr>
              <a:t>6</a:t>
            </a:r>
          </a:p>
        </p:txBody>
      </p:sp>
      <p:sp>
        <p:nvSpPr>
          <p:cNvPr id="9" name="metric-label-complete">
            <a:extLst xmlns:a="http://schemas.openxmlformats.org/drawingml/2006/main">
              <a:ext uri="{FF2B5EF4-FFF2-40B4-BE49-F238E27FC236}">
                <a16:creationId xmlns:a16="http://schemas.microsoft.com/office/drawing/2014/main" id="{8A898A26-8A2A-46D7-8EAB-DEB78FB8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56B62"/>
                </a:solidFill>
              </a:defRPr>
            </a:pPr>
            <a:r>
              <a:rPr sz="1200" b="0">
                <a:solidFill>
                  <a:srgbClr val="756B62"/>
                </a:solidFill>
              </a:rPr>
              <a:t>COMPLETE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786BA-2E0A-45C0-9D2C-42F5EEAB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36B13"/>
            </a:solidFill>
            <a:prstDash val="solid"/>
          </a:ln>
        </p:spPr>
      </p:sp>
      <p:sp>
        <p:nvSpPr>
          <p:cNvPr id="11" name="metric-value-partial">
            <a:extLst xmlns:a="http://schemas.openxmlformats.org/drawingml/2006/main">
              <a:ext uri="{FF2B5EF4-FFF2-40B4-BE49-F238E27FC236}">
                <a16:creationId xmlns:a16="http://schemas.microsoft.com/office/drawing/2014/main" id="{2AE7FACE-87DF-4572-99C8-06111351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8231F"/>
                </a:solidFill>
              </a:defRPr>
            </a:pPr>
            <a:r>
              <a:rPr sz="2700" b="1">
                <a:solidFill>
                  <a:srgbClr val="28231F"/>
                </a:solidFill>
              </a:rPr>
              <a:t>6</a:t>
            </a:r>
          </a:p>
        </p:txBody>
      </p:sp>
      <p:sp>
        <p:nvSpPr>
          <p:cNvPr id="12" name="metric-label-partial">
            <a:extLst xmlns:a="http://schemas.openxmlformats.org/drawingml/2006/main">
              <a:ext uri="{FF2B5EF4-FFF2-40B4-BE49-F238E27FC236}">
                <a16:creationId xmlns:a16="http://schemas.microsoft.com/office/drawing/2014/main" id="{0A7DCBE0-350C-4EB3-A0A8-60FE6404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71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56B62"/>
                </a:solidFill>
              </a:defRPr>
            </a:pPr>
            <a:r>
              <a:rPr sz="1200" b="0">
                <a:solidFill>
                  <a:srgbClr val="756B62"/>
                </a:solidFill>
              </a:rPr>
              <a:t>PARTIAL_RUN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6BF21-D3A3-454A-8077-E4E8AFCF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4C75"/>
            </a:solidFill>
            <a:prstDash val="solid"/>
          </a:ln>
        </p:spPr>
      </p:sp>
      <p:sp>
        <p:nvSpPr>
          <p:cNvPr id="14" name="metric-value-ready">
            <a:extLst xmlns:a="http://schemas.openxmlformats.org/drawingml/2006/main">
              <a:ext uri="{FF2B5EF4-FFF2-40B4-BE49-F238E27FC236}">
                <a16:creationId xmlns:a16="http://schemas.microsoft.com/office/drawing/2014/main" id="{59FF4F38-9B3C-485A-95BD-EF817C57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8231F"/>
                </a:solidFill>
              </a:defRPr>
            </a:pPr>
            <a:r>
              <a:rPr sz="2700" b="1">
                <a:solidFill>
                  <a:srgbClr val="28231F"/>
                </a:solidFill>
              </a:rPr>
              <a:t>5</a:t>
            </a:r>
          </a:p>
        </p:txBody>
      </p:sp>
      <p:sp>
        <p:nvSpPr>
          <p:cNvPr id="15" name="metric-label-ready">
            <a:extLst xmlns:a="http://schemas.openxmlformats.org/drawingml/2006/main">
              <a:ext uri="{FF2B5EF4-FFF2-40B4-BE49-F238E27FC236}">
                <a16:creationId xmlns:a16="http://schemas.microsoft.com/office/drawing/2014/main" id="{24D52817-5045-415B-B460-4EDF42CF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56B62"/>
                </a:solidFill>
              </a:defRPr>
            </a:pPr>
            <a:r>
              <a:rPr sz="1200" b="0">
                <a:solidFill>
                  <a:srgbClr val="756B62"/>
                </a:solidFill>
              </a:rPr>
              <a:t>CODE_READY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F8D292-DB5F-413A-925D-7CE4D054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90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12D2D"/>
            </a:solidFill>
            <a:prstDash val="solid"/>
          </a:ln>
        </p:spPr>
      </p:sp>
      <p:sp>
        <p:nvSpPr>
          <p:cNvPr id="17" name="metric-value-blocked">
            <a:extLst xmlns:a="http://schemas.openxmlformats.org/drawingml/2006/main">
              <a:ext uri="{FF2B5EF4-FFF2-40B4-BE49-F238E27FC236}">
                <a16:creationId xmlns:a16="http://schemas.microsoft.com/office/drawing/2014/main" id="{A9B9C6F4-A37A-44CC-92A2-A1AA3F0C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81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8231F"/>
                </a:solidFill>
              </a:defRPr>
            </a:pPr>
            <a:r>
              <a:rPr sz="2700" b="1">
                <a:solidFill>
                  <a:srgbClr val="28231F"/>
                </a:solidFill>
              </a:rPr>
              <a:t>2</a:t>
            </a:r>
          </a:p>
        </p:txBody>
      </p:sp>
      <p:sp>
        <p:nvSpPr>
          <p:cNvPr id="18" name="metric-label-blocked">
            <a:extLst xmlns:a="http://schemas.openxmlformats.org/drawingml/2006/main">
              <a:ext uri="{FF2B5EF4-FFF2-40B4-BE49-F238E27FC236}">
                <a16:creationId xmlns:a16="http://schemas.microsoft.com/office/drawing/2014/main" id="{08219520-717C-46BC-B04A-4176C1B5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71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56B62"/>
                </a:solidFill>
              </a:defRPr>
            </a:pPr>
            <a:r>
              <a:rPr sz="1200" b="0">
                <a:solidFill>
                  <a:srgbClr val="756B62"/>
                </a:solidFill>
              </a:rPr>
              <a:t>BLOCKED_RESOURCE</a:t>
            </a:r>
          </a:p>
        </p:txBody>
      </p:sp>
      <p:sp>
        <p:nvSpPr>
          <p:cNvPr id="19" name="verify-box">
            <a:extLst xmlns:a="http://schemas.openxmlformats.org/drawingml/2006/main">
              <a:ext uri="{FF2B5EF4-FFF2-40B4-BE49-F238E27FC236}">
                <a16:creationId xmlns:a16="http://schemas.microsoft.com/office/drawing/2014/main" id="{C7A5472E-EA04-4EF3-AFB1-594E4647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00500"/>
            <a:ext cx="10382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EF7F1"/>
          </a:solidFill>
          <a:ln xmlns:a="http://schemas.openxmlformats.org/drawingml/2006/main" w="9525">
            <a:solidFill>
              <a:srgbClr val="2F6F55"/>
            </a:solidFill>
            <a:prstDash val="solid"/>
          </a:ln>
        </p:spPr>
      </p:sp>
      <p:sp>
        <p:nvSpPr>
          <p:cNvPr id="20" name="verify-title">
            <a:extLst xmlns:a="http://schemas.openxmlformats.org/drawingml/2006/main">
              <a:ext uri="{FF2B5EF4-FFF2-40B4-BE49-F238E27FC236}">
                <a16:creationId xmlns:a16="http://schemas.microsoft.com/office/drawing/2014/main" id="{ED7C1487-B070-4FAF-8A00-3FF34612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00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6F55"/>
                </a:solidFill>
              </a:defRPr>
            </a:pPr>
            <a:r>
              <a:rPr sz="1875" b="1">
                <a:solidFill>
                  <a:srgbClr val="2F6F55"/>
                </a:solidFill>
              </a:rPr>
              <a:t>独立 checkpoint replay · 9 PASS / 0 FAIL</a:t>
            </a:r>
          </a:p>
        </p:txBody>
      </p:sp>
      <p:sp>
        <p:nvSpPr>
          <p:cNvPr id="21" name="verify-detail">
            <a:extLst xmlns:a="http://schemas.openxmlformats.org/drawingml/2006/main">
              <a:ext uri="{FF2B5EF4-FFF2-40B4-BE49-F238E27FC236}">
                <a16:creationId xmlns:a16="http://schemas.microsoft.com/office/drawing/2014/main" id="{A92835C3-07C9-467D-B895-4983FE12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958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56B62"/>
                </a:solidFill>
              </a:defRPr>
            </a:pPr>
            <a:r>
              <a:rPr sz="1275" b="0">
                <a:solidFill>
                  <a:srgbClr val="756B62"/>
                </a:solidFill>
              </a:rPr>
              <a:t>重新加载 base + adapter · 28 个决策样本 · 142.6s · peak 4.86 GiB</a:t>
            </a:r>
          </a:p>
        </p:txBody>
      </p:sp>
      <p:sp>
        <p:nvSpPr>
          <p:cNvPr id="22" name="verify-rule">
            <a:extLst xmlns:a="http://schemas.openxmlformats.org/drawingml/2006/main">
              <a:ext uri="{FF2B5EF4-FFF2-40B4-BE49-F238E27FC236}">
                <a16:creationId xmlns:a16="http://schemas.microsoft.com/office/drawing/2014/main" id="{0A1AC789-95B9-4D02-B98F-29A282B8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29100"/>
            <a:ext cx="119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6F55"/>
                </a:solidFill>
              </a:defRPr>
            </a:pPr>
            <a:r>
              <a:rPr sz="1275" b="1">
                <a:solidFill>
                  <a:srgbClr val="2F6F55"/>
                </a:solidFill>
              </a:rPr>
              <a:t>RULE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2F6F55"/>
                </a:solidFill>
              </a:defRPr>
            </a:pPr>
            <a:r>
              <a:rPr sz="1275" b="1">
                <a:solidFill>
                  <a:srgbClr val="2F6F55"/>
                </a:solidFill>
              </a:rPr>
              <a:t>NO FAKE SCORE</a:t>
            </a:r>
          </a:p>
        </p:txBody>
      </p:sp>
      <p:sp>
        <p:nvSpPr>
          <p:cNvPr id="23" name="matrix-foot">
            <a:extLst xmlns:a="http://schemas.openxmlformats.org/drawingml/2006/main">
              <a:ext uri="{FF2B5EF4-FFF2-40B4-BE49-F238E27FC236}">
                <a16:creationId xmlns:a16="http://schemas.microsoft.com/office/drawing/2014/main" id="{07A2B65A-C433-41A0-A1B2-E6F1C214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245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756B62"/>
                </a:solidFill>
              </a:defRPr>
            </a:pPr>
            <a:r>
              <a:rPr sz="1350" b="0">
                <a:solidFill>
                  <a:srgbClr val="756B62"/>
                </a:solidFill>
              </a:rPr>
              <a:t>完整矩阵逐项列出 evidence 与 completion，不用一个百分比掩盖关键缺口。</a:t>
            </a:r>
          </a:p>
        </p:txBody>
      </p:sp>
    </p:spTree>
    <p:extLst>
      <p:ext uri="{BB962C8B-B14F-4D97-AF65-F5344CB8AC3E}">
        <p14:creationId xmlns:p14="http://schemas.microsoft.com/office/powerpoint/2010/main" val="20848193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per-10">
            <a:extLst xmlns:a="http://schemas.openxmlformats.org/drawingml/2006/main">
              <a:ext uri="{FF2B5EF4-FFF2-40B4-BE49-F238E27FC236}">
                <a16:creationId xmlns:a16="http://schemas.microsoft.com/office/drawing/2014/main" id="{F9649F51-85EA-4641-A7EA-100D5A7B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" name="eyebrow-10">
            <a:extLst xmlns:a="http://schemas.openxmlformats.org/drawingml/2006/main">
              <a:ext uri="{FF2B5EF4-FFF2-40B4-BE49-F238E27FC236}">
                <a16:creationId xmlns:a16="http://schemas.microsoft.com/office/drawing/2014/main" id="{AB8BEDDA-CEBB-4F1A-88FE-EABF7CA4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472D"/>
                </a:solidFill>
              </a:defRPr>
            </a:pPr>
            <a:r>
              <a:rPr sz="975" b="1">
                <a:solidFill>
                  <a:srgbClr val="A8472D"/>
                </a:solidFill>
              </a:rPr>
              <a:t>BENCHMARK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03D97064-7234-402B-A5FC-76B79AFF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28231F"/>
                </a:solidFill>
              </a:defRPr>
            </a:pPr>
            <a:r>
              <a:rPr sz="2925" b="1">
                <a:solidFill>
                  <a:srgbClr val="28231F"/>
                </a:solidFill>
              </a:rPr>
              <a:t>官方 BFCL-V4 与 TAU-2：代码已接通，本次不长跑</a:t>
            </a:r>
          </a:p>
        </p:txBody>
      </p:sp>
      <p:sp>
        <p:nvSpPr>
          <p:cNvPr id="4" name="subtitle-10">
            <a:extLst xmlns:a="http://schemas.openxmlformats.org/drawingml/2006/main">
              <a:ext uri="{FF2B5EF4-FFF2-40B4-BE49-F238E27FC236}">
                <a16:creationId xmlns:a16="http://schemas.microsoft.com/office/drawing/2014/main" id="{EA7B4451-9145-455B-ABF1-105FC679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56B62"/>
                </a:solidFill>
              </a:defRPr>
            </a:pPr>
            <a:r>
              <a:rPr sz="1350" b="0">
                <a:solidFill>
                  <a:srgbClr val="756B62"/>
                </a:solidFill>
              </a:rPr>
              <a:t>base / adapter 两个 variant；smoke 与 paper profile；server、命令、结果目录和 manifest 全部落盘。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299D5-DA5B-461C-AC23-93399321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6" name="page-10">
            <a:extLst xmlns:a="http://schemas.openxmlformats.org/drawingml/2006/main">
              <a:ext uri="{FF2B5EF4-FFF2-40B4-BE49-F238E27FC236}">
                <a16:creationId xmlns:a16="http://schemas.microsoft.com/office/drawing/2014/main" id="{F074716C-8685-49CD-A507-944649BE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96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56B62"/>
                </a:solidFill>
              </a:defRPr>
            </a:pPr>
            <a:r>
              <a:rPr sz="900" b="0">
                <a:solidFill>
                  <a:srgbClr val="756B62"/>
                </a:solidFill>
              </a:rPr>
              <a:t>10</a:t>
            </a:r>
          </a:p>
        </p:txBody>
      </p:sp>
      <p:sp>
        <p:nvSpPr>
          <p:cNvPr id="7" name="next-num-0">
            <a:extLst xmlns:a="http://schemas.openxmlformats.org/drawingml/2006/main">
              <a:ext uri="{FF2B5EF4-FFF2-40B4-BE49-F238E27FC236}">
                <a16:creationId xmlns:a16="http://schemas.microsoft.com/office/drawing/2014/main" id="{7E6D16D1-AA38-4737-A8B7-4E3A3DDE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A8472D"/>
                </a:solidFill>
              </a:defRPr>
            </a:pPr>
            <a:r>
              <a:rPr sz="1875" b="1">
                <a:solidFill>
                  <a:srgbClr val="A8472D"/>
                </a:solidFill>
              </a:rPr>
              <a:t>01</a:t>
            </a:r>
          </a:p>
        </p:txBody>
      </p:sp>
      <p:sp>
        <p:nvSpPr>
          <p:cNvPr id="8" name="next-name-0">
            <a:extLst xmlns:a="http://schemas.openxmlformats.org/drawingml/2006/main">
              <a:ext uri="{FF2B5EF4-FFF2-40B4-BE49-F238E27FC236}">
                <a16:creationId xmlns:a16="http://schemas.microsoft.com/office/drawing/2014/main" id="{93C6C7B3-EBBE-4F20-94D8-57A6D0C8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050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8231F"/>
                </a:solidFill>
              </a:defRPr>
            </a:pPr>
            <a:r>
              <a:rPr sz="1875" b="1">
                <a:solidFill>
                  <a:srgbClr val="28231F"/>
                </a:solidFill>
              </a:rPr>
              <a:t>BFCL-V4</a:t>
            </a:r>
          </a:p>
        </p:txBody>
      </p:sp>
      <p:sp>
        <p:nvSpPr>
          <p:cNvPr id="9" name="next-detail-0">
            <a:extLst xmlns:a="http://schemas.openxmlformats.org/drawingml/2006/main">
              <a:ext uri="{FF2B5EF4-FFF2-40B4-BE49-F238E27FC236}">
                <a16:creationId xmlns:a16="http://schemas.microsoft.com/office/drawing/2014/main" id="{2553F2FC-0851-4DC5-B253-DA03A157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7655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756B62"/>
                </a:solidFill>
              </a:rPr>
              <a:t>20 smoke tasks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756B62"/>
                </a:solidFill>
              </a:rPr>
              <a:t>4 multi-turn categories</a:t>
            </a:r>
          </a:p>
        </p:txBody>
      </p:sp>
      <p:sp>
        <p:nvSpPr>
          <p:cNvPr id="10" name="next-num-1">
            <a:extLst xmlns:a="http://schemas.openxmlformats.org/drawingml/2006/main">
              <a:ext uri="{FF2B5EF4-FFF2-40B4-BE49-F238E27FC236}">
                <a16:creationId xmlns:a16="http://schemas.microsoft.com/office/drawing/2014/main" id="{D6D83D93-E29A-48C3-B63D-26876627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3362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A8472D"/>
                </a:solidFill>
              </a:defRPr>
            </a:pPr>
            <a:r>
              <a:rPr sz="1875" b="1">
                <a:solidFill>
                  <a:srgbClr val="A8472D"/>
                </a:solidFill>
              </a:rPr>
              <a:t>02</a:t>
            </a:r>
          </a:p>
        </p:txBody>
      </p:sp>
      <p:sp>
        <p:nvSpPr>
          <p:cNvPr id="11" name="next-name-1">
            <a:extLst xmlns:a="http://schemas.openxmlformats.org/drawingml/2006/main">
              <a:ext uri="{FF2B5EF4-FFF2-40B4-BE49-F238E27FC236}">
                <a16:creationId xmlns:a16="http://schemas.microsoft.com/office/drawing/2014/main" id="{B586A77A-F8B9-4AE7-BA9F-45BB7958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050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8231F"/>
                </a:solidFill>
              </a:defRPr>
            </a:pPr>
            <a:r>
              <a:rPr sz="1875" b="1">
                <a:solidFill>
                  <a:srgbClr val="28231F"/>
                </a:solidFill>
              </a:rPr>
              <a:t>TAU-2 v0.2.0</a:t>
            </a:r>
          </a:p>
        </p:txBody>
      </p:sp>
      <p:sp>
        <p:nvSpPr>
          <p:cNvPr id="12" name="next-detail-1">
            <a:extLst xmlns:a="http://schemas.openxmlformats.org/drawingml/2006/main">
              <a:ext uri="{FF2B5EF4-FFF2-40B4-BE49-F238E27FC236}">
                <a16:creationId xmlns:a16="http://schemas.microsoft.com/office/drawing/2014/main" id="{93436FE0-C161-4409-ACCA-16560CCB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7655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756B62"/>
                </a:solidFill>
              </a:rPr>
              <a:t>5 smoke/domain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756B62"/>
                </a:solidFill>
              </a:rPr>
              <a:t>airline · retail · telecom</a:t>
            </a:r>
          </a:p>
        </p:txBody>
      </p:sp>
      <p:sp>
        <p:nvSpPr>
          <p:cNvPr id="13" name="next-num-2">
            <a:extLst xmlns:a="http://schemas.openxmlformats.org/drawingml/2006/main">
              <a:ext uri="{FF2B5EF4-FFF2-40B4-BE49-F238E27FC236}">
                <a16:creationId xmlns:a16="http://schemas.microsoft.com/office/drawing/2014/main" id="{68374793-1C26-49F6-B6CC-532A2030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A8472D"/>
                </a:solidFill>
              </a:defRPr>
            </a:pPr>
            <a:r>
              <a:rPr sz="1875" b="1">
                <a:solidFill>
                  <a:srgbClr val="A8472D"/>
                </a:solidFill>
              </a:rPr>
              <a:t>03</a:t>
            </a:r>
          </a:p>
        </p:txBody>
      </p:sp>
      <p:sp>
        <p:nvSpPr>
          <p:cNvPr id="14" name="next-name-2">
            <a:extLst xmlns:a="http://schemas.openxmlformats.org/drawingml/2006/main">
              <a:ext uri="{FF2B5EF4-FFF2-40B4-BE49-F238E27FC236}">
                <a16:creationId xmlns:a16="http://schemas.microsoft.com/office/drawing/2014/main" id="{1029B15E-AA84-473E-9BFB-B51019C7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050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8231F"/>
                </a:solidFill>
              </a:defRPr>
            </a:pPr>
            <a:r>
              <a:rPr sz="1875" b="1">
                <a:solidFill>
                  <a:srgbClr val="28231F"/>
                </a:solidFill>
              </a:rPr>
              <a:t>论文级 profile</a:t>
            </a:r>
          </a:p>
        </p:txBody>
      </p:sp>
      <p:sp>
        <p:nvSpPr>
          <p:cNvPr id="15" name="next-detail-2">
            <a:extLst xmlns:a="http://schemas.openxmlformats.org/drawingml/2006/main">
              <a:ext uri="{FF2B5EF4-FFF2-40B4-BE49-F238E27FC236}">
                <a16:creationId xmlns:a16="http://schemas.microsoft.com/office/drawing/2014/main" id="{8E1A06B4-926D-47F6-A4EE-41BFD95B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7655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756B62"/>
                </a:solidFill>
              </a:rPr>
              <a:t>BFCL 800 tasks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756B62"/>
                </a:solidFill>
              </a:rPr>
              <a:t>TAU all tasks × 4</a:t>
            </a:r>
          </a:p>
        </p:txBody>
      </p:sp>
      <p:sp>
        <p:nvSpPr>
          <p:cNvPr id="16" name="command-box">
            <a:extLst xmlns:a="http://schemas.openxmlformats.org/drawingml/2006/main">
              <a:ext uri="{FF2B5EF4-FFF2-40B4-BE49-F238E27FC236}">
                <a16:creationId xmlns:a16="http://schemas.microsoft.com/office/drawing/2014/main" id="{70FC0E9B-7443-4D0F-AA33-8D5534F8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38625"/>
            <a:ext cx="10001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8231F"/>
          </a:solidFill>
          <a:ln xmlns:a="http://schemas.openxmlformats.org/drawingml/2006/main" w="9525">
            <a:solidFill>
              <a:srgbClr val="28231F"/>
            </a:solidFill>
            <a:prstDash val="solid"/>
          </a:ln>
        </p:spPr>
      </p:sp>
      <p:sp>
        <p:nvSpPr>
          <p:cNvPr id="17" name="command">
            <a:extLst xmlns:a="http://schemas.openxmlformats.org/drawingml/2006/main">
              <a:ext uri="{FF2B5EF4-FFF2-40B4-BE49-F238E27FC236}">
                <a16:creationId xmlns:a16="http://schemas.microsoft.com/office/drawing/2014/main" id="{028E8DB3-C5B9-47A8-95AA-FFEAD5A6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76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DF9"/>
                </a:solidFill>
              </a:defRPr>
            </a:pPr>
            <a:r>
              <a:rPr sz="1725" b="1">
                <a:solidFill>
                  <a:srgbClr val="FFFDF9"/>
                </a:solidFill>
              </a:rPr>
              <a:t>PROFILE=smoke BENCHMARK=all ./run_benchmarks.sh</a:t>
            </a:r>
          </a:p>
        </p:txBody>
      </p:sp>
      <p:sp>
        <p:nvSpPr>
          <p:cNvPr id="18" name="close">
            <a:extLst xmlns:a="http://schemas.openxmlformats.org/drawingml/2006/main">
              <a:ext uri="{FF2B5EF4-FFF2-40B4-BE49-F238E27FC236}">
                <a16:creationId xmlns:a16="http://schemas.microsoft.com/office/drawing/2014/main" id="{02D37260-5217-4D51-84DF-45D6AB3B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6197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713322"/>
                </a:solidFill>
              </a:defRPr>
            </a:pPr>
            <a:r>
              <a:rPr sz="1650" b="1">
                <a:solidFill>
                  <a:srgbClr val="713322"/>
                </a:solidFill>
              </a:rPr>
              <a:t>现在可以真实声称：核心训练跑过、失败被诊断、官方评测路径可执行；仍不能声称论文指标已复现。</a:t>
            </a:r>
          </a:p>
        </p:txBody>
      </p:sp>
    </p:spTree>
    <p:extLst>
      <p:ext uri="{BB962C8B-B14F-4D97-AF65-F5344CB8AC3E}">
        <p14:creationId xmlns:p14="http://schemas.microsoft.com/office/powerpoint/2010/main" val="15725059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2026-08-03T03:39:34.6070000Z</dcterms:created>
  <dcterms:modified xsi:type="dcterms:W3CDTF">2026-08-03T03:39:34.6070000Z</dcterms:modified>
</coreProperties>
</file>